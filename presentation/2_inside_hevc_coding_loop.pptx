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  <Relationship Id="rId25" Type="http://schemas.openxmlformats.org/officeDocument/2006/relationships/slide" Target="slides/slide1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3D5CC8-ACE1-462D-8677-6BBF7B425B77}" type="datetimeFigureOut">
              <a:rPr lang="en-IN" smtClean="0"/>
              <a:t>19-08-2026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CEE873-DDBE-404F-A436-4492DD96598F}" type="slidenum">
              <a:rPr lang="en-IN" smtClean="0"/>
              <a:t>‹#›</a:t>
            </a:fld>
            <a:endParaRPr lang="en-IN"/>
          </a:p>
        </p:txBody>
      </p:sp>
    </p:spTree>
    <p:extLst>
      <p:ext uri="{BB962C8B-B14F-4D97-AF65-F5344CB8AC3E}">
        <p14:creationId xmlns:p14="http://schemas.microsoft.com/office/powerpoint/2010/main" val="3555251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Last time we focused on prediction—how intra and inter coding remove spatial and temporal redundancy. This presentation follows the information that remains. The goal is to understand the complete HEVC coding loop, especially the distinction between the block hierarchy and the residual-coding path.</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a:t>
            </a:fld>
            <a:endParaRPr lang="en-IN"/>
          </a:p>
        </p:txBody>
      </p:sp>
    </p:spTree>
    <p:extLst>
      <p:ext uri="{BB962C8B-B14F-4D97-AF65-F5344CB8AC3E}">
        <p14:creationId xmlns:p14="http://schemas.microsoft.com/office/powerpoint/2010/main" val="1080692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the handoff from Presentation 1. Prediction creates a much smaller error signal, but the codec still needs to describe block decisions, compress the residual, and reconstruct exactly what the decoder will reconstruct. Those four questions organize the rest of the talk.</a:t>
            </a:r>
          </a:p>
          <a:p>
            <a:endParaRPr lang="en-US"/>
          </a:p>
          <a:p>
            <a:r>
              <a:rPr lang="en-US"/>
              <a:t>[Sources]</a:t>
            </a:r>
          </a:p>
          <a:p>
            <a:r>
              <a:rPr lang="en-US"/>
              <a:t>- https://doi.org/10.1109/TCSVT.2012.2221191</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2</a:t>
            </a:fld>
            <a:endParaRPr lang="en-IN"/>
          </a:p>
        </p:txBody>
      </p:sp>
    </p:spTree>
    <p:extLst>
      <p:ext uri="{BB962C8B-B14F-4D97-AF65-F5344CB8AC3E}">
        <p14:creationId xmlns:p14="http://schemas.microsoft.com/office/powerpoint/2010/main" val="450259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upper path from left to right: partition, predict, form the residual, transform it, quantize it, then entropy-code the result. Quantization is where information is deliberately discarded. CABAC only packs the remaining syntax without further loss. The lower path reconstructs the same block the decoder will see and filters it before it can become a future reference.</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3</a:t>
            </a:fld>
            <a:endParaRPr lang="en-IN"/>
          </a:p>
        </p:txBody>
      </p:sp>
    </p:spTree>
    <p:extLst>
      <p:ext uri="{BB962C8B-B14F-4D97-AF65-F5344CB8AC3E}">
        <p14:creationId xmlns:p14="http://schemas.microsoft.com/office/powerpoint/2010/main" val="2905972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encoder should not describe smooth sky with the same granularity as leaves or an object boundary. A large block reduces signaling overhead in uniform regions; smaller blocks can follow local detail and improve prediction. HEVC's recursive partitioning is therefore an efficiency tool, not just a geometric description.</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4</a:t>
            </a:fld>
            <a:endParaRPr lang="en-IN"/>
          </a:p>
        </p:txBody>
      </p:sp>
    </p:spTree>
    <p:extLst>
      <p:ext uri="{BB962C8B-B14F-4D97-AF65-F5344CB8AC3E}">
        <p14:creationId xmlns:p14="http://schemas.microsoft.com/office/powerpoint/2010/main" val="715594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CTU is the top-level region for coding decisions. In the commonly discussed Main-profile case, the maximum luma CTB is 64 by 64. Do not say that every final coded block is 64 by 64—the CTU is the workspace, and its coding tree can be split into smaller units.</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5</a:t>
            </a:fld>
            <a:endParaRPr lang="en-IN"/>
          </a:p>
        </p:txBody>
      </p:sp>
    </p:spTree>
    <p:extLst>
      <p:ext uri="{BB962C8B-B14F-4D97-AF65-F5344CB8AC3E}">
        <p14:creationId xmlns:p14="http://schemas.microsoft.com/office/powerpoint/2010/main" val="1634939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CU is a node in the coding quadtree. The encoder evaluates whether a region should remain large or be split into four children. Each leaf CU carries coding decisions such as intra or inter. Flexible splitting improves prediction but also costs signaling bits and computation, which is why the best visual split is not automatically the best compression decision.</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6</a:t>
            </a:fld>
            <a:endParaRPr lang="en-IN"/>
          </a:p>
        </p:txBody>
      </p:sp>
    </p:spTree>
    <p:extLst>
      <p:ext uri="{BB962C8B-B14F-4D97-AF65-F5344CB8AC3E}">
        <p14:creationId xmlns:p14="http://schemas.microsoft.com/office/powerpoint/2010/main" val="3689589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Prediction Unit is the region associated with prediction information. For intra coding, the PU identifies the block using a spatial prediction mode. For inter coding, it identifies regions sharing reference-picture and motion information. Keep this level intuitive; HEVC also provides asymmetric inter partitions, but listing every legal shape would distract from the main distinction.</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7</a:t>
            </a:fld>
            <a:endParaRPr lang="en-IN"/>
          </a:p>
        </p:txBody>
      </p:sp>
    </p:spTree>
    <p:extLst>
      <p:ext uri="{BB962C8B-B14F-4D97-AF65-F5344CB8AC3E}">
        <p14:creationId xmlns:p14="http://schemas.microsoft.com/office/powerpoint/2010/main" val="1677240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Transform Unit is the block over which the prediction residual is transformed and quantized. Its partitioning can differ from the PU structure because a good prediction shape does not necessarily create a uniformly simple residual. This independence is one of the most important reasons not to treat CTU, CU, PU, and TU as interchangeable block names.</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8</a:t>
            </a:fld>
            <a:endParaRPr lang="en-IN"/>
          </a:p>
        </p:txBody>
      </p:sp>
    </p:spTree>
    <p:extLst>
      <p:ext uri="{BB962C8B-B14F-4D97-AF65-F5344CB8AC3E}">
        <p14:creationId xmlns:p14="http://schemas.microsoft.com/office/powerpoint/2010/main" val="3005120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Pause here and make the vocabulary explicit. CTU is the workspace, CU is the recursive coding decision, PU carries prediction information, and TU carries transform information for the residual. A useful analogy is land: the CTU is the plot, CUs describe subdivision, PUs describe how parcels are predicted, and TUs describe how leftover error is processed.</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9</a:t>
            </a:fld>
            <a:endParaRPr lang="en-IN"/>
          </a:p>
        </p:txBody>
      </p:sp>
    </p:spTree>
    <p:extLst>
      <p:ext uri="{BB962C8B-B14F-4D97-AF65-F5344CB8AC3E}">
        <p14:creationId xmlns:p14="http://schemas.microsoft.com/office/powerpoint/2010/main" val="3129482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example is the anchor for the rest of the deck. The sky can remain in a large CU because it is smooth and predictable. The building boundary and windows create more complex prediction and residual patterns, so deeper splits may pay off. But every split also requires syntax bits, so the encoder must compare total rate and distortion rather than simply chasing visual complexity.</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10</a:t>
            </a:fld>
            <a:endParaRPr lang="en-IN"/>
          </a:p>
        </p:txBody>
      </p:sp>
    </p:spTree>
    <p:extLst>
      <p:ext uri="{BB962C8B-B14F-4D97-AF65-F5344CB8AC3E}">
        <p14:creationId xmlns:p14="http://schemas.microsoft.com/office/powerpoint/2010/main" val="2172929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transform converts spatial residual samples into coefficients that describe different spatial patterns or frequencies. Because nearby residual values are correlated, much of the energy often gathers in a relatively small group of coefficients. The transform itself is reversible apart from implementation details; the deliberate information loss occurs in quantization on the next slide.</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11</a:t>
            </a:fld>
            <a:endParaRPr lang="en-IN"/>
          </a:p>
        </p:txBody>
      </p:sp>
    </p:spTree>
    <p:extLst>
      <p:ext uri="{BB962C8B-B14F-4D97-AF65-F5344CB8AC3E}">
        <p14:creationId xmlns:p14="http://schemas.microsoft.com/office/powerpoint/2010/main" val="1252738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Quantization divides coefficients by a step size and rounds them. Small values become zero, making the coefficient map sparse and easier to entropy-code. QP controls the effective step size: increasing QP usually lowers bitrate but increases reconstruction error. This is the main explicitly lossy operation in the residual-coding path.</a:t>
            </a:r>
          </a:p>
          <a:p>
            <a:endParaRPr lang="en-US"/>
          </a:p>
          <a:p>
            <a:r>
              <a:rPr lang="en-US"/>
              <a:t>[Sources]</a:t>
            </a:r>
          </a:p>
          <a:p>
            <a:r>
              <a:rPr lang="en-US"/>
              <a:t>- https://doi.org/10.1109/TCSVT.2012.2221191</a:t>
            </a:r>
          </a:p>
          <a:p>
            <a:r>
              <a:rPr lang="en-US"/>
              <a:t>- https://link.springer.com/book/10.1007/978-3-319-06895-4</a:t>
            </a:r>
          </a:p>
          <a:p>
            <a:r>
              <a:rPr lang="en-US"/>
              <a:t>- https://arxiv.org/abs/2406.16358</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12</a:t>
            </a:fld>
            <a:endParaRPr lang="en-IN"/>
          </a:p>
        </p:txBody>
      </p:sp>
    </p:spTree>
    <p:extLst>
      <p:ext uri="{BB962C8B-B14F-4D97-AF65-F5344CB8AC3E}">
        <p14:creationId xmlns:p14="http://schemas.microsoft.com/office/powerpoint/2010/main" val="4292671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CABAC means Context-Adaptive Binary Arithmetic Coding. First, syntax elements are represented as binary decisions called bins. Second, context models estimate probabilities using previously coded information. Third, arithmetic coding converts those probabilities into a compact bitstream. CABAC is lossless, but updating context state symbol by symbol creates serial dependency and makes high-throughput implementation challenging.</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13</a:t>
            </a:fld>
            <a:endParaRPr lang="en-IN"/>
          </a:p>
        </p:txBody>
      </p:sp>
    </p:spTree>
    <p:extLst>
      <p:ext uri="{BB962C8B-B14F-4D97-AF65-F5344CB8AC3E}">
        <p14:creationId xmlns:p14="http://schemas.microsoft.com/office/powerpoint/2010/main" val="3723961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decoder never sees the original picture; it only sees the quantized information. Therefore the encoder cannot use the original picture as the future reference. It runs inverse quantization and inverse transform, adds the prediction, and stores the same reconstructed block the decoder will obtain. If the references diverged, future motion-compensated predictions would diverge too, causing drift.</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14</a:t>
            </a:fld>
            <a:endParaRPr lang="en-IN"/>
          </a:p>
        </p:txBody>
      </p:sp>
    </p:spTree>
    <p:extLst>
      <p:ext uri="{BB962C8B-B14F-4D97-AF65-F5344CB8AC3E}">
        <p14:creationId xmlns:p14="http://schemas.microsoft.com/office/powerpoint/2010/main" val="975557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Deblocking targets discontinuities created at coding boundaries. It selectively smooths edges rather than blurring the whole image. SAO follows deblocking and applies signaled offsets to categories of samples, such as intensity bands or edge classes, to reduce systematic reconstruction error. Because both filters operate inside the coding loop, they improve not only display quality but also future reference pictures.</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15</a:t>
            </a:fld>
            <a:endParaRPr lang="en-IN"/>
          </a:p>
        </p:txBody>
      </p:sp>
    </p:spTree>
    <p:extLst>
      <p:ext uri="{BB962C8B-B14F-4D97-AF65-F5344CB8AC3E}">
        <p14:creationId xmlns:p14="http://schemas.microsoft.com/office/powerpoint/2010/main" val="2076620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Rate–distortion optimization formalizes the encoder's trade-off. D measures reconstruction error, R measures the number of bits needed to signal the choice, and lambda gives the relative price of bits. The lowest-distortion candidate can lose if it requires too many bits. This enormous search across partitions, modes, motion data, transforms, and quantization choices is a major source of HEVC encoder complexity.</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16</a:t>
            </a:fld>
            <a:endParaRPr lang="en-IN"/>
          </a:p>
        </p:txBody>
      </p:sp>
    </p:spTree>
    <p:extLst>
      <p:ext uri="{BB962C8B-B14F-4D97-AF65-F5344CB8AC3E}">
        <p14:creationId xmlns:p14="http://schemas.microsoft.com/office/powerpoint/2010/main" val="1195814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combine the entire talk. The encoder partitions a CTU into coding units, selects prediction through PUs, subtracts the prediction, transforms residual blocks through TUs, quantizes coefficients, and packs syntax using CABAC. It then reconstructs and filters the result for reference memory. RDO does not occur only at one box—it evaluates alternatives throughout this journey and chooses the best complete coding decision.</a:t>
            </a:r>
          </a:p>
          <a:p>
            <a:endParaRPr lang="en-US"/>
          </a:p>
          <a:p>
            <a:r>
              <a:rPr lang="en-US"/>
              <a:t>[Sources]</a:t>
            </a:r>
          </a:p>
          <a:p>
            <a:r>
              <a:rPr lang="en-US"/>
              <a:t>- https://doi.org/10.1109/TCSVT.2012.2221191</a:t>
            </a:r>
          </a:p>
          <a:p>
            <a:r>
              <a:rPr lang="en-US"/>
              <a:t>- https://link.springer.com/book/10.1007/978-3-319-06895-4</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17</a:t>
            </a:fld>
            <a:endParaRPr lang="en-IN"/>
          </a:p>
        </p:txBody>
      </p:sp>
    </p:spTree>
    <p:extLst>
      <p:ext uri="{BB962C8B-B14F-4D97-AF65-F5344CB8AC3E}">
        <p14:creationId xmlns:p14="http://schemas.microsoft.com/office/powerpoint/2010/main" val="3048788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by resolving the story: HEVC's efficiency comes from adaptive partitioning, prediction, residual coding, decoder-consistent reconstruction, filtering, and rate–distortion decisions. The price is a very large encoder search space. That naturally motivates the next presentation and the connection to Professor Sen's lab: fast mode decisions, parallel processing, hardware acceleration, and energy-efficient or approximate transform-and-quantization datapaths.</a:t>
            </a:r>
          </a:p>
          <a:p>
            <a:endParaRPr lang="en-US"/>
          </a:p>
          <a:p>
            <a:r>
              <a:rPr lang="en-US"/>
              <a:t>[Sources]</a:t>
            </a:r>
          </a:p>
          <a:p>
            <a:r>
              <a:rPr lang="en-US"/>
              <a:t>- https://doi.org/10.1109/TCSVT.2012.2221191</a:t>
            </a:r>
          </a:p>
          <a:p>
            <a:r>
              <a:rPr lang="en-US"/>
              <a:t>- https://link.springer.com/book/10.1007/978-3-319-06895-4</a:t>
            </a:r>
          </a:p>
          <a:p>
            <a:r>
              <a:rPr lang="en-US"/>
              <a:t>- https://arxiv.org/abs/2406.16358</a:t>
            </a:r>
            <a:endParaRPr lang="en-IN"/>
          </a:p>
        </p:txBody>
      </p:sp>
      <p:sp>
        <p:nvSpPr>
          <p:cNvPr id="4" name="Slide Number Placeholder 3"/>
          <p:cNvSpPr>
            <a:spLocks noGrp="1"/>
          </p:cNvSpPr>
          <p:nvPr>
            <p:ph type="sldNum" sz="quarter" idx="5"/>
          </p:nvPr>
        </p:nvSpPr>
        <p:spPr/>
        <p:txBody>
          <a:bodyPr/>
          <a:lstStyle/>
          <a:p>
            <a:fld id="{2DCEE873-DDBE-404F-A436-4492DD96598F}" type="slidenum">
              <a:rPr lang="en-IN" smtClean="0"/>
              <a:t>18</a:t>
            </a:fld>
            <a:endParaRPr lang="en-IN"/>
          </a:p>
        </p:txBody>
      </p:sp>
    </p:spTree>
    <p:extLst>
      <p:ext uri="{BB962C8B-B14F-4D97-AF65-F5344CB8AC3E}">
        <p14:creationId xmlns:p14="http://schemas.microsoft.com/office/powerpoint/2010/main" val="3401347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38C0-6A78-3B7F-E973-D70B75C320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551C7D-E704-726A-02DC-5A58A1A76F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5EC84A-EB89-6585-BEA3-E875FEDD4397}"/>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B2A29C7C-AADB-7FBA-CEB1-7D1898F43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4F3AF-0F25-708C-B688-845436C43950}"/>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211926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6EEE-EB48-6BDF-1375-798A422893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8A3287-600E-EB0A-E0D3-D4E91E1EF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89E953-D1A7-79E1-D2CA-32C841717426}"/>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94D42620-A1A4-FCF8-A08E-26F81EAA32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132C4B-A9F1-A0B2-6223-1F1E502A1818}"/>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3839603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4A932-F0E0-9BEE-C2A9-3264129615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FF6AF3-4F08-ABB3-E82B-D5423D74DC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AF70-738E-50DA-2A5B-26022FB80239}"/>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1F751FC1-7565-4AE0-74EF-4C98231F33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6D2E0-2ECC-ECFD-5162-8CF2B75875B5}"/>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262696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A9DE2-B6C6-F57E-3D07-B527F78282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71472C-E0F4-14CE-A841-1C35C84DC3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35E48B-86DC-FC7F-89DE-FC5BA330F9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D10E87-E71F-F89F-7478-30868D72DF32}"/>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6" name="Footer Placeholder 5">
            <a:extLst>
              <a:ext uri="{FF2B5EF4-FFF2-40B4-BE49-F238E27FC236}">
                <a16:creationId xmlns:a16="http://schemas.microsoft.com/office/drawing/2014/main" id="{5C519ED8-0543-D627-966C-D8CD3A837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860B9A-0F60-7477-4AA4-3BE2743110BB}"/>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3910304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6C08-32E5-055D-829A-BC01C19165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BBD736-8DD2-0E1B-8773-B9FBA1EB7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F0EF2E-1A7C-9565-8744-DA045EBBC1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176249-07E0-9379-668E-DFEB8A1EFD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53CF1-AD6B-4C10-7BE8-DCC55ECBC9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628728-2895-41F7-A568-988B92A44F56}"/>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8" name="Footer Placeholder 7">
            <a:extLst>
              <a:ext uri="{FF2B5EF4-FFF2-40B4-BE49-F238E27FC236}">
                <a16:creationId xmlns:a16="http://schemas.microsoft.com/office/drawing/2014/main" id="{7EFB79CF-B3D9-1B56-B1ED-FE93CE73FE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F6827A-EC35-F1D0-EAFB-09F14D85C518}"/>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98452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8062C-A106-A06D-CB5C-D9072F76FB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026F0A-7DFC-17ED-2FC5-90D44F480362}"/>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4" name="Footer Placeholder 3">
            <a:extLst>
              <a:ext uri="{FF2B5EF4-FFF2-40B4-BE49-F238E27FC236}">
                <a16:creationId xmlns:a16="http://schemas.microsoft.com/office/drawing/2014/main" id="{3F6E0868-FB92-AAD2-1CF5-EE367D2C09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040757-ECCF-EA5C-3A65-AE9C751BDCD6}"/>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396802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EE09E-5CA6-71A9-EA4D-7661FCDE2129}"/>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3" name="Footer Placeholder 2">
            <a:extLst>
              <a:ext uri="{FF2B5EF4-FFF2-40B4-BE49-F238E27FC236}">
                <a16:creationId xmlns:a16="http://schemas.microsoft.com/office/drawing/2014/main" id="{215D27EE-E913-0ED2-FD1E-17E54847A6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9158FF-4059-8935-9E0B-8382EB6DD47E}"/>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3459802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29636-C397-C2D6-95D6-C17DFE8AE3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C8B2D2-80EA-D108-DD8F-30AC8C69A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996FC0-88C6-9C03-EF27-F29828510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65F199-7B07-7981-17B0-33F0CFF55D1F}"/>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6" name="Footer Placeholder 5">
            <a:extLst>
              <a:ext uri="{FF2B5EF4-FFF2-40B4-BE49-F238E27FC236}">
                <a16:creationId xmlns:a16="http://schemas.microsoft.com/office/drawing/2014/main" id="{F7E030E0-9C60-37B8-855E-3A62CFC2D7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FFE7B-E925-1731-C57A-A2263CBB6BB2}"/>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11494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CD32-2BBF-63AB-DA61-CE13F89625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96880A-C19A-223C-74E2-AE1D9FDCA6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44BE3E-C475-3BD8-6D31-C98C637FA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EC0EB-414C-16A6-04D9-F213DE3287F7}"/>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6" name="Footer Placeholder 5">
            <a:extLst>
              <a:ext uri="{FF2B5EF4-FFF2-40B4-BE49-F238E27FC236}">
                <a16:creationId xmlns:a16="http://schemas.microsoft.com/office/drawing/2014/main" id="{94B66875-68E0-8249-9639-555E5C11C7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368403-D101-D40A-2845-70465EA3581E}"/>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182998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2C1E-92AF-0FB0-3E22-662B4DC839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B00EBD-8974-A347-97A8-8BF7DBD9A8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41DA98-DD7E-673C-3556-BD6AD26FDB47}"/>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A7200AB4-2C67-6136-E220-3C95FC8AEC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952C3D-0C4F-0294-EC9D-50EAFC38FF29}"/>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2116585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8A1A53-D101-7A28-7B23-4617B198E1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A01C4E-E661-D5FD-08AA-9227C63B4C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3CBF7D-FC72-872A-1FCA-C968F63D0E25}"/>
              </a:ext>
            </a:extLst>
          </p:cNvPr>
          <p:cNvSpPr>
            <a:spLocks noGrp="1"/>
          </p:cNvSpPr>
          <p:nvPr>
            <p:ph type="dt" sz="half" idx="10"/>
          </p:nvPr>
        </p:nvSpPr>
        <p:spPr/>
        <p:txBody>
          <a:body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66838698-0760-45F7-75AA-131914E2EA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4C7C83-1C28-B20F-4DFA-08914F26A2D9}"/>
              </a:ext>
            </a:extLst>
          </p:cNvPr>
          <p:cNvSpPr>
            <a:spLocks noGrp="1"/>
          </p:cNvSpPr>
          <p:nvPr>
            <p:ph type="sldNum" sz="quarter" idx="12"/>
          </p:nvPr>
        </p:nvSpPr>
        <p:spPr/>
        <p:txBody>
          <a:bodyPr/>
          <a:lstStyle/>
          <a:p>
            <a:fld id="{A267769C-7ED5-4148-840D-B022A4B23A6C}" type="slidenum">
              <a:rPr lang="en-IN" smtClean="0"/>
              <a:t>‹#›</a:t>
            </a:fld>
            <a:endParaRPr lang="en-IN"/>
          </a:p>
        </p:txBody>
      </p:sp>
    </p:spTree>
    <p:extLst>
      <p:ext uri="{BB962C8B-B14F-4D97-AF65-F5344CB8AC3E}">
        <p14:creationId xmlns:p14="http://schemas.microsoft.com/office/powerpoint/2010/main" val="3690835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3B9BB3-127E-6B9A-B269-748487A33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CFAD09-8916-1A39-0AF5-DF8F675BBD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9D26C3-8FD1-2C28-4C9C-52FB196AA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C1274-AE8D-49A7-9EC9-2B94F7104EA8}" type="datetimeFigureOut">
              <a:rPr lang="en-IN" smtClean="0"/>
              <a:t>19-08-2026</a:t>
            </a:fld>
            <a:endParaRPr lang="en-IN"/>
          </a:p>
        </p:txBody>
      </p:sp>
      <p:sp>
        <p:nvSpPr>
          <p:cNvPr id="5" name="Footer Placeholder 4">
            <a:extLst>
              <a:ext uri="{FF2B5EF4-FFF2-40B4-BE49-F238E27FC236}">
                <a16:creationId xmlns:a16="http://schemas.microsoft.com/office/drawing/2014/main" id="{4BD23241-01D0-92B2-F905-A3BAA229A0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5703675-AE50-1983-7408-B1C3A9393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7769C-7ED5-4148-840D-B022A4B23A6C}" type="slidenum">
              <a:rPr lang="en-IN" smtClean="0"/>
              <a:t>‹#›</a:t>
            </a:fld>
            <a:endParaRPr lang="en-IN"/>
          </a:p>
        </p:txBody>
      </p:sp>
    </p:spTree>
    <p:extLst>
      <p:ext uri="{BB962C8B-B14F-4D97-AF65-F5344CB8AC3E}">
        <p14:creationId xmlns:p14="http://schemas.microsoft.com/office/powerpoint/2010/main" val="84065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9A4998-CE8D-AA85-13C2-0072819561A8}"/>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81CC9A42-9E65-9B6C-0353-3FFC860F8AE5}"/>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0DF679B7-26F7-4B2C-4C53-2F4910CB2C70}"/>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50C9C52-23B8-B400-7D9D-89560116BD35}"/>
              </a:ext>
            </a:extLst>
          </p:cNvPr>
          <p:cNvSpPr txBox="1"/>
          <p:nvPr/>
        </p:nvSpPr>
        <p:spPr>
          <a:xfrm>
            <a:off x="711200" y="1498600"/>
            <a:ext cx="10414000" cy="276999"/>
          </a:xfrm>
          <a:prstGeom prst="rect">
            <a:avLst/>
          </a:prstGeom>
          <a:noFill/>
        </p:spPr>
        <p:txBody>
          <a:bodyPr vert="horz" wrap="square" lIns="0" tIns="0" rIns="0" bIns="0" rtlCol="0">
            <a:noAutofit/>
          </a:bodyPr>
          <a:lstStyle/>
          <a:p>
            <a:r>
              <a:rPr lang="en-US" sz="3400" b="1">
                <a:solidFill>
                  <a:srgbClr val="F5F7FA"/>
                </a:solidFill>
                <a:latin typeface="Aptos Display" panose="020B0004020202020204" pitchFamily="34" charset="0"/>
              </a:rPr>
              <a:t>Inside the High Efficiency Video Coding (HEVC) loop</a:t>
            </a:r>
            <a:endParaRPr lang="en-IN" sz="3400" b="1">
              <a:solidFill>
                <a:srgbClr val="F5F7FA"/>
              </a:solidFill>
              <a:latin typeface="Aptos Display" panose="020B0004020202020204" pitchFamily="34" charset="0"/>
            </a:endParaRPr>
          </a:p>
        </p:txBody>
      </p:sp>
      <p:sp>
        <p:nvSpPr>
          <p:cNvPr id="6" name="TextBox 5">
            <a:extLst>
              <a:ext uri="{FF2B5EF4-FFF2-40B4-BE49-F238E27FC236}">
                <a16:creationId xmlns:a16="http://schemas.microsoft.com/office/drawing/2014/main" id="{5A679D7A-4B5B-0D95-E31A-722F10C81046}"/>
              </a:ext>
            </a:extLst>
          </p:cNvPr>
          <p:cNvSpPr txBox="1"/>
          <p:nvPr/>
        </p:nvSpPr>
        <p:spPr>
          <a:xfrm>
            <a:off x="736600" y="2489200"/>
            <a:ext cx="8255000" cy="276999"/>
          </a:xfrm>
          <a:prstGeom prst="rect">
            <a:avLst/>
          </a:prstGeom>
          <a:noFill/>
        </p:spPr>
        <p:txBody>
          <a:bodyPr vert="horz" wrap="square" lIns="0" tIns="0" rIns="0" bIns="0" rtlCol="0">
            <a:noAutofit/>
          </a:bodyPr>
          <a:lstStyle/>
          <a:p>
            <a:r>
              <a:rPr lang="en-US" sz="2200">
                <a:solidFill>
                  <a:srgbClr val="A7B7C9"/>
                </a:solidFill>
                <a:latin typeface="Aptos" panose="020B0004020202020204" pitchFamily="34" charset="0"/>
              </a:rPr>
              <a:t>How blocks, residuals, and encoder decisions become a decodable bitstream</a:t>
            </a:r>
            <a:endParaRPr lang="en-IN" sz="2200">
              <a:solidFill>
                <a:srgbClr val="A7B7C9"/>
              </a:solidFill>
              <a:latin typeface="Aptos" panose="020B0004020202020204" pitchFamily="34" charset="0"/>
            </a:endParaRPr>
          </a:p>
        </p:txBody>
      </p:sp>
      <p:cxnSp>
        <p:nvCxnSpPr>
          <p:cNvPr id="7" name="Straight Connector 6">
            <a:extLst>
              <a:ext uri="{FF2B5EF4-FFF2-40B4-BE49-F238E27FC236}">
                <a16:creationId xmlns:a16="http://schemas.microsoft.com/office/drawing/2014/main" id="{FD78D6E5-8DE7-9852-7F92-6AFD1D8C4E51}"/>
              </a:ext>
            </a:extLst>
          </p:cNvPr>
          <p:cNvCxnSpPr/>
          <p:nvPr/>
        </p:nvCxnSpPr>
        <p:spPr>
          <a:xfrm>
            <a:off x="736600" y="3581400"/>
            <a:ext cx="98044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53ADE82-F586-27CF-88C7-498054CF789E}"/>
              </a:ext>
            </a:extLst>
          </p:cNvPr>
          <p:cNvSpPr/>
          <p:nvPr/>
        </p:nvSpPr>
        <p:spPr>
          <a:xfrm>
            <a:off x="787400" y="4165600"/>
            <a:ext cx="381000" cy="3810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6E3F2"/>
                </a:solidFill>
                <a:latin typeface="Aptos Display" panose="020B0004020202020204" pitchFamily="34" charset="0"/>
              </a:rPr>
              <a:t>1</a:t>
            </a:r>
          </a:p>
        </p:txBody>
      </p:sp>
      <p:sp>
        <p:nvSpPr>
          <p:cNvPr id="9" name="TextBox 8">
            <a:extLst>
              <a:ext uri="{FF2B5EF4-FFF2-40B4-BE49-F238E27FC236}">
                <a16:creationId xmlns:a16="http://schemas.microsoft.com/office/drawing/2014/main" id="{6CA0DB75-DD47-DD23-CA75-B3E4416ABF19}"/>
              </a:ext>
            </a:extLst>
          </p:cNvPr>
          <p:cNvSpPr txBox="1"/>
          <p:nvPr/>
        </p:nvSpPr>
        <p:spPr>
          <a:xfrm>
            <a:off x="558800" y="4699000"/>
            <a:ext cx="1320800" cy="276999"/>
          </a:xfrm>
          <a:prstGeom prst="rect">
            <a:avLst/>
          </a:prstGeom>
          <a:noFill/>
        </p:spPr>
        <p:txBody>
          <a:bodyPr vert="horz" wrap="square" lIns="0" tIns="0" rIns="0" bIns="0" rtlCol="0">
            <a:noAutofit/>
          </a:bodyPr>
          <a:lstStyle/>
          <a:p>
            <a:pPr algn="ctr"/>
            <a:r>
              <a:rPr lang="en-IN" sz="1100" b="1">
                <a:solidFill>
                  <a:srgbClr val="16E3F2"/>
                </a:solidFill>
                <a:latin typeface="Aptos" panose="020B0004020202020204" pitchFamily="34" charset="0"/>
              </a:rPr>
              <a:t>PARTITION</a:t>
            </a:r>
          </a:p>
        </p:txBody>
      </p:sp>
      <p:cxnSp>
        <p:nvCxnSpPr>
          <p:cNvPr id="10" name="Straight Connector 9">
            <a:extLst>
              <a:ext uri="{FF2B5EF4-FFF2-40B4-BE49-F238E27FC236}">
                <a16:creationId xmlns:a16="http://schemas.microsoft.com/office/drawing/2014/main" id="{43D76E04-E316-3D05-72EA-C00F34EB7E9D}"/>
              </a:ext>
            </a:extLst>
          </p:cNvPr>
          <p:cNvCxnSpPr/>
          <p:nvPr/>
        </p:nvCxnSpPr>
        <p:spPr>
          <a:xfrm>
            <a:off x="1219200" y="4356100"/>
            <a:ext cx="12192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282B77F-EA42-2603-AA2E-1617C899F32F}"/>
              </a:ext>
            </a:extLst>
          </p:cNvPr>
          <p:cNvSpPr/>
          <p:nvPr/>
        </p:nvSpPr>
        <p:spPr>
          <a:xfrm>
            <a:off x="2527300" y="4165600"/>
            <a:ext cx="381000" cy="3810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6E3F2"/>
                </a:solidFill>
                <a:latin typeface="Aptos Display" panose="020B0004020202020204" pitchFamily="34" charset="0"/>
              </a:rPr>
              <a:t>2</a:t>
            </a:r>
          </a:p>
        </p:txBody>
      </p:sp>
      <p:sp>
        <p:nvSpPr>
          <p:cNvPr id="12" name="TextBox 11">
            <a:extLst>
              <a:ext uri="{FF2B5EF4-FFF2-40B4-BE49-F238E27FC236}">
                <a16:creationId xmlns:a16="http://schemas.microsoft.com/office/drawing/2014/main" id="{AC5C83CC-FCD5-6AF4-9F32-9827074A73DE}"/>
              </a:ext>
            </a:extLst>
          </p:cNvPr>
          <p:cNvSpPr txBox="1"/>
          <p:nvPr/>
        </p:nvSpPr>
        <p:spPr>
          <a:xfrm>
            <a:off x="2298700" y="4699000"/>
            <a:ext cx="1320800" cy="276999"/>
          </a:xfrm>
          <a:prstGeom prst="rect">
            <a:avLst/>
          </a:prstGeom>
          <a:noFill/>
        </p:spPr>
        <p:txBody>
          <a:bodyPr vert="horz" wrap="square" lIns="0" tIns="0" rIns="0" bIns="0" rtlCol="0">
            <a:noAutofit/>
          </a:bodyPr>
          <a:lstStyle/>
          <a:p>
            <a:pPr algn="ctr"/>
            <a:r>
              <a:rPr lang="en-IN" sz="1100" b="1">
                <a:solidFill>
                  <a:srgbClr val="16E3F2"/>
                </a:solidFill>
                <a:latin typeface="Aptos" panose="020B0004020202020204" pitchFamily="34" charset="0"/>
              </a:rPr>
              <a:t>PREDICT</a:t>
            </a:r>
          </a:p>
        </p:txBody>
      </p:sp>
      <p:cxnSp>
        <p:nvCxnSpPr>
          <p:cNvPr id="13" name="Straight Connector 12">
            <a:extLst>
              <a:ext uri="{FF2B5EF4-FFF2-40B4-BE49-F238E27FC236}">
                <a16:creationId xmlns:a16="http://schemas.microsoft.com/office/drawing/2014/main" id="{9A6C513B-10C4-A5A6-CF47-DF0EABE757B8}"/>
              </a:ext>
            </a:extLst>
          </p:cNvPr>
          <p:cNvCxnSpPr/>
          <p:nvPr/>
        </p:nvCxnSpPr>
        <p:spPr>
          <a:xfrm>
            <a:off x="2959100" y="4356100"/>
            <a:ext cx="12192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9021788-971F-C96E-E2FB-49F7DD9FC63B}"/>
              </a:ext>
            </a:extLst>
          </p:cNvPr>
          <p:cNvSpPr/>
          <p:nvPr/>
        </p:nvSpPr>
        <p:spPr>
          <a:xfrm>
            <a:off x="4267200" y="4165600"/>
            <a:ext cx="381000" cy="381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3</a:t>
            </a:r>
          </a:p>
        </p:txBody>
      </p:sp>
      <p:sp>
        <p:nvSpPr>
          <p:cNvPr id="15" name="TextBox 14">
            <a:extLst>
              <a:ext uri="{FF2B5EF4-FFF2-40B4-BE49-F238E27FC236}">
                <a16:creationId xmlns:a16="http://schemas.microsoft.com/office/drawing/2014/main" id="{612B3556-951B-8CC4-2924-4550A1E8B161}"/>
              </a:ext>
            </a:extLst>
          </p:cNvPr>
          <p:cNvSpPr txBox="1"/>
          <p:nvPr/>
        </p:nvSpPr>
        <p:spPr>
          <a:xfrm>
            <a:off x="4038600" y="4699000"/>
            <a:ext cx="1320800" cy="276999"/>
          </a:xfrm>
          <a:prstGeom prst="rect">
            <a:avLst/>
          </a:prstGeom>
          <a:noFill/>
        </p:spPr>
        <p:txBody>
          <a:bodyPr vert="horz" wrap="square" lIns="0" tIns="0" rIns="0" bIns="0" rtlCol="0">
            <a:noAutofit/>
          </a:bodyPr>
          <a:lstStyle/>
          <a:p>
            <a:pPr algn="ctr"/>
            <a:r>
              <a:rPr lang="en-IN" sz="1100" b="1">
                <a:solidFill>
                  <a:srgbClr val="1A8BFF"/>
                </a:solidFill>
                <a:latin typeface="Aptos" panose="020B0004020202020204" pitchFamily="34" charset="0"/>
              </a:rPr>
              <a:t>TRANSFORM</a:t>
            </a:r>
          </a:p>
        </p:txBody>
      </p:sp>
      <p:cxnSp>
        <p:nvCxnSpPr>
          <p:cNvPr id="16" name="Straight Connector 15">
            <a:extLst>
              <a:ext uri="{FF2B5EF4-FFF2-40B4-BE49-F238E27FC236}">
                <a16:creationId xmlns:a16="http://schemas.microsoft.com/office/drawing/2014/main" id="{508B3400-B85D-B7C9-C7B0-E808BB472B9C}"/>
              </a:ext>
            </a:extLst>
          </p:cNvPr>
          <p:cNvCxnSpPr/>
          <p:nvPr/>
        </p:nvCxnSpPr>
        <p:spPr>
          <a:xfrm>
            <a:off x="4699000" y="4356100"/>
            <a:ext cx="12192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689DC27D-8FA8-981C-55D2-5B4C34143B3E}"/>
              </a:ext>
            </a:extLst>
          </p:cNvPr>
          <p:cNvSpPr/>
          <p:nvPr/>
        </p:nvSpPr>
        <p:spPr>
          <a:xfrm>
            <a:off x="6007100" y="4165600"/>
            <a:ext cx="381000" cy="381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4</a:t>
            </a:r>
          </a:p>
        </p:txBody>
      </p:sp>
      <p:sp>
        <p:nvSpPr>
          <p:cNvPr id="18" name="TextBox 17">
            <a:extLst>
              <a:ext uri="{FF2B5EF4-FFF2-40B4-BE49-F238E27FC236}">
                <a16:creationId xmlns:a16="http://schemas.microsoft.com/office/drawing/2014/main" id="{D9553654-A61E-F827-E2B4-A29D9C952AB2}"/>
              </a:ext>
            </a:extLst>
          </p:cNvPr>
          <p:cNvSpPr txBox="1"/>
          <p:nvPr/>
        </p:nvSpPr>
        <p:spPr>
          <a:xfrm>
            <a:off x="5778500" y="4699000"/>
            <a:ext cx="1320800" cy="276999"/>
          </a:xfrm>
          <a:prstGeom prst="rect">
            <a:avLst/>
          </a:prstGeom>
          <a:noFill/>
        </p:spPr>
        <p:txBody>
          <a:bodyPr vert="horz" wrap="square" lIns="0" tIns="0" rIns="0" bIns="0" rtlCol="0">
            <a:noAutofit/>
          </a:bodyPr>
          <a:lstStyle/>
          <a:p>
            <a:pPr algn="ctr"/>
            <a:r>
              <a:rPr lang="en-IN" sz="1100" b="1">
                <a:solidFill>
                  <a:srgbClr val="1A8BFF"/>
                </a:solidFill>
                <a:latin typeface="Aptos" panose="020B0004020202020204" pitchFamily="34" charset="0"/>
              </a:rPr>
              <a:t>QUANTIZE</a:t>
            </a:r>
          </a:p>
        </p:txBody>
      </p:sp>
      <p:cxnSp>
        <p:nvCxnSpPr>
          <p:cNvPr id="19" name="Straight Connector 18">
            <a:extLst>
              <a:ext uri="{FF2B5EF4-FFF2-40B4-BE49-F238E27FC236}">
                <a16:creationId xmlns:a16="http://schemas.microsoft.com/office/drawing/2014/main" id="{A7EBFB05-3FF5-1C5F-939E-1532648C665E}"/>
              </a:ext>
            </a:extLst>
          </p:cNvPr>
          <p:cNvCxnSpPr/>
          <p:nvPr/>
        </p:nvCxnSpPr>
        <p:spPr>
          <a:xfrm>
            <a:off x="6438900" y="4356100"/>
            <a:ext cx="12192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FCFAEF76-65F4-4738-B61B-91F851AC2A25}"/>
              </a:ext>
            </a:extLst>
          </p:cNvPr>
          <p:cNvSpPr/>
          <p:nvPr/>
        </p:nvSpPr>
        <p:spPr>
          <a:xfrm>
            <a:off x="7747000" y="4165600"/>
            <a:ext cx="381000" cy="381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5</a:t>
            </a:r>
          </a:p>
        </p:txBody>
      </p:sp>
      <p:sp>
        <p:nvSpPr>
          <p:cNvPr id="21" name="TextBox 20">
            <a:extLst>
              <a:ext uri="{FF2B5EF4-FFF2-40B4-BE49-F238E27FC236}">
                <a16:creationId xmlns:a16="http://schemas.microsoft.com/office/drawing/2014/main" id="{A998E27D-3C6D-272D-E263-FE7C2853B8A8}"/>
              </a:ext>
            </a:extLst>
          </p:cNvPr>
          <p:cNvSpPr txBox="1"/>
          <p:nvPr/>
        </p:nvSpPr>
        <p:spPr>
          <a:xfrm>
            <a:off x="7518400" y="4699000"/>
            <a:ext cx="1320800" cy="276999"/>
          </a:xfrm>
          <a:prstGeom prst="rect">
            <a:avLst/>
          </a:prstGeom>
          <a:noFill/>
        </p:spPr>
        <p:txBody>
          <a:bodyPr vert="horz" wrap="square" lIns="0" tIns="0" rIns="0" bIns="0" rtlCol="0">
            <a:noAutofit/>
          </a:bodyPr>
          <a:lstStyle/>
          <a:p>
            <a:pPr algn="ctr"/>
            <a:r>
              <a:rPr lang="en-IN" sz="1100" b="1">
                <a:solidFill>
                  <a:srgbClr val="1A8BFF"/>
                </a:solidFill>
                <a:latin typeface="Aptos" panose="020B0004020202020204" pitchFamily="34" charset="0"/>
              </a:rPr>
              <a:t>CODE</a:t>
            </a:r>
          </a:p>
        </p:txBody>
      </p:sp>
      <p:cxnSp>
        <p:nvCxnSpPr>
          <p:cNvPr id="22" name="Straight Connector 21">
            <a:extLst>
              <a:ext uri="{FF2B5EF4-FFF2-40B4-BE49-F238E27FC236}">
                <a16:creationId xmlns:a16="http://schemas.microsoft.com/office/drawing/2014/main" id="{0544D9AF-F7DD-0DED-3BC4-A0FC56F86381}"/>
              </a:ext>
            </a:extLst>
          </p:cNvPr>
          <p:cNvCxnSpPr/>
          <p:nvPr/>
        </p:nvCxnSpPr>
        <p:spPr>
          <a:xfrm>
            <a:off x="8178800" y="4356100"/>
            <a:ext cx="12192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6B13C62-0AAD-5642-5D02-C2A1C91DACA2}"/>
              </a:ext>
            </a:extLst>
          </p:cNvPr>
          <p:cNvSpPr/>
          <p:nvPr/>
        </p:nvSpPr>
        <p:spPr>
          <a:xfrm>
            <a:off x="9486900" y="4165600"/>
            <a:ext cx="381000" cy="381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6</a:t>
            </a:r>
          </a:p>
        </p:txBody>
      </p:sp>
      <p:sp>
        <p:nvSpPr>
          <p:cNvPr id="24" name="TextBox 23">
            <a:extLst>
              <a:ext uri="{FF2B5EF4-FFF2-40B4-BE49-F238E27FC236}">
                <a16:creationId xmlns:a16="http://schemas.microsoft.com/office/drawing/2014/main" id="{9931DC87-FD2E-90D4-4C03-ABBEA4D99FA0}"/>
              </a:ext>
            </a:extLst>
          </p:cNvPr>
          <p:cNvSpPr txBox="1"/>
          <p:nvPr/>
        </p:nvSpPr>
        <p:spPr>
          <a:xfrm>
            <a:off x="9258300" y="4699000"/>
            <a:ext cx="1320800" cy="276999"/>
          </a:xfrm>
          <a:prstGeom prst="rect">
            <a:avLst/>
          </a:prstGeom>
          <a:noFill/>
        </p:spPr>
        <p:txBody>
          <a:bodyPr vert="horz" wrap="square" lIns="0" tIns="0" rIns="0" bIns="0" rtlCol="0">
            <a:noAutofit/>
          </a:bodyPr>
          <a:lstStyle/>
          <a:p>
            <a:pPr algn="ctr"/>
            <a:r>
              <a:rPr lang="en-IN" sz="1100" b="1">
                <a:solidFill>
                  <a:srgbClr val="1A8BFF"/>
                </a:solidFill>
                <a:latin typeface="Aptos" panose="020B0004020202020204" pitchFamily="34" charset="0"/>
              </a:rPr>
              <a:t>RECONSTRUCT</a:t>
            </a:r>
          </a:p>
        </p:txBody>
      </p:sp>
      <p:sp>
        <p:nvSpPr>
          <p:cNvPr id="25" name="TextBox 24">
            <a:extLst>
              <a:ext uri="{FF2B5EF4-FFF2-40B4-BE49-F238E27FC236}">
                <a16:creationId xmlns:a16="http://schemas.microsoft.com/office/drawing/2014/main" id="{94B63D2D-C722-128E-5EA8-EB2DCEBEA510}"/>
              </a:ext>
            </a:extLst>
          </p:cNvPr>
          <p:cNvSpPr txBox="1"/>
          <p:nvPr/>
        </p:nvSpPr>
        <p:spPr>
          <a:xfrm>
            <a:off x="736600" y="5905500"/>
            <a:ext cx="6096000" cy="276999"/>
          </a:xfrm>
          <a:prstGeom prst="rect">
            <a:avLst/>
          </a:prstGeom>
          <a:noFill/>
        </p:spPr>
        <p:txBody>
          <a:bodyPr vert="horz" wrap="square" lIns="0" tIns="0" rIns="0" bIns="0" rtlCol="0">
            <a:noAutofit/>
          </a:bodyPr>
          <a:lstStyle/>
          <a:p>
            <a:r>
              <a:rPr lang="en-US" sz="1400" b="1">
                <a:solidFill>
                  <a:srgbClr val="16E3F2"/>
                </a:solidFill>
                <a:latin typeface="Aptos" panose="020B0004020202020204" pitchFamily="34" charset="0"/>
              </a:rPr>
              <a:t>H.265 / High Efficiency Video Coding (HEVC) — Presentation 2</a:t>
            </a:r>
            <a:endParaRPr lang="en-IN" sz="1400" b="1">
              <a:solidFill>
                <a:srgbClr val="16E3F2"/>
              </a:solidFill>
              <a:latin typeface="Aptos" panose="020B0004020202020204" pitchFamily="34" charset="0"/>
            </a:endParaRPr>
          </a:p>
        </p:txBody>
      </p:sp>
      <p:sp>
        <p:nvSpPr>
          <p:cNvPr id="26" name="TextBox 25">
            <a:extLst>
              <a:ext uri="{FF2B5EF4-FFF2-40B4-BE49-F238E27FC236}">
                <a16:creationId xmlns:a16="http://schemas.microsoft.com/office/drawing/2014/main" id="{083AE5C0-4532-A629-C7DF-97C60FAD7098}"/>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01 / 19</a:t>
            </a:r>
          </a:p>
        </p:txBody>
      </p:sp>
    </p:spTree>
    <p:extLst>
      <p:ext uri="{BB962C8B-B14F-4D97-AF65-F5344CB8AC3E}">
        <p14:creationId xmlns:p14="http://schemas.microsoft.com/office/powerpoint/2010/main" val="681752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5BD6CC-3477-53AD-748C-45964F9C0DCC}"/>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DF88A7FA-05E5-BE23-4166-2CBB28D768DB}"/>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02113DAC-F5AD-CFAD-6397-B4F56213B98B}"/>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42CFCCD-0512-91E6-FFB5-42A19B568186}"/>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Prediction reduces repetition—but it does not finish compression</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7B94630E-B9F5-291C-57F9-2ED862CCAF05}"/>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E9CDB25-0585-9B73-BF51-98E3C5AC4C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 y="1371600"/>
            <a:ext cx="6350000" cy="3568700"/>
          </a:xfrm>
          <a:prstGeom prst="rect">
            <a:avLst/>
          </a:prstGeom>
          <a:ln w="19050">
            <a:solidFill>
              <a:schemeClr val="tx1"/>
            </a:solidFill>
          </a:ln>
        </p:spPr>
      </p:pic>
      <p:sp>
        <p:nvSpPr>
          <p:cNvPr id="9" name="TextBox 8">
            <a:extLst>
              <a:ext uri="{FF2B5EF4-FFF2-40B4-BE49-F238E27FC236}">
                <a16:creationId xmlns:a16="http://schemas.microsoft.com/office/drawing/2014/main" id="{026E44C8-ED66-291D-A6B1-6CC19888EF37}"/>
              </a:ext>
            </a:extLst>
          </p:cNvPr>
          <p:cNvSpPr txBox="1"/>
          <p:nvPr/>
        </p:nvSpPr>
        <p:spPr>
          <a:xfrm>
            <a:off x="7620000" y="1460500"/>
            <a:ext cx="3810000" cy="276999"/>
          </a:xfrm>
          <a:prstGeom prst="rect">
            <a:avLst/>
          </a:prstGeom>
          <a:noFill/>
        </p:spPr>
        <p:txBody>
          <a:bodyPr vert="horz" wrap="square" lIns="0" tIns="0" rIns="0" bIns="0" rtlCol="0">
            <a:noAutofit/>
          </a:bodyPr>
          <a:lstStyle/>
          <a:p>
            <a:r>
              <a:rPr lang="en-IN" sz="2100" b="1">
                <a:solidFill>
                  <a:srgbClr val="16E3F2"/>
                </a:solidFill>
                <a:latin typeface="Aptos Display" panose="020B0004020202020204" pitchFamily="34" charset="0"/>
              </a:rPr>
              <a:t>The unresolved questions</a:t>
            </a:r>
          </a:p>
        </p:txBody>
      </p:sp>
      <p:sp>
        <p:nvSpPr>
          <p:cNvPr id="10" name="Oval 9">
            <a:extLst>
              <a:ext uri="{FF2B5EF4-FFF2-40B4-BE49-F238E27FC236}">
                <a16:creationId xmlns:a16="http://schemas.microsoft.com/office/drawing/2014/main" id="{D211437F-8B12-A11C-7CF0-86E9E25BF17A}"/>
              </a:ext>
            </a:extLst>
          </p:cNvPr>
          <p:cNvSpPr/>
          <p:nvPr/>
        </p:nvSpPr>
        <p:spPr>
          <a:xfrm>
            <a:off x="7645400" y="2095500"/>
            <a:ext cx="342900" cy="3429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1</a:t>
            </a:r>
          </a:p>
        </p:txBody>
      </p:sp>
      <p:sp>
        <p:nvSpPr>
          <p:cNvPr id="11" name="TextBox 10">
            <a:extLst>
              <a:ext uri="{FF2B5EF4-FFF2-40B4-BE49-F238E27FC236}">
                <a16:creationId xmlns:a16="http://schemas.microsoft.com/office/drawing/2014/main" id="{DD46F983-6859-D8B0-2FAB-AB181A0B9E1A}"/>
              </a:ext>
            </a:extLst>
          </p:cNvPr>
          <p:cNvSpPr txBox="1"/>
          <p:nvPr/>
        </p:nvSpPr>
        <p:spPr>
          <a:xfrm>
            <a:off x="8153400" y="2070100"/>
            <a:ext cx="342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How large should each coding block be?</a:t>
            </a:r>
            <a:endParaRPr lang="en-IN" sz="1600">
              <a:solidFill>
                <a:srgbClr val="F5F7FA"/>
              </a:solidFill>
              <a:latin typeface="Aptos" panose="020B0004020202020204" pitchFamily="34" charset="0"/>
            </a:endParaRPr>
          </a:p>
        </p:txBody>
      </p:sp>
      <p:sp>
        <p:nvSpPr>
          <p:cNvPr id="12" name="Oval 11">
            <a:extLst>
              <a:ext uri="{FF2B5EF4-FFF2-40B4-BE49-F238E27FC236}">
                <a16:creationId xmlns:a16="http://schemas.microsoft.com/office/drawing/2014/main" id="{3CFFB9CE-97C4-5D05-391C-EAFB937F1EA5}"/>
              </a:ext>
            </a:extLst>
          </p:cNvPr>
          <p:cNvSpPr/>
          <p:nvPr/>
        </p:nvSpPr>
        <p:spPr>
          <a:xfrm>
            <a:off x="7645400" y="2895600"/>
            <a:ext cx="342900" cy="3429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2</a:t>
            </a:r>
          </a:p>
        </p:txBody>
      </p:sp>
      <p:sp>
        <p:nvSpPr>
          <p:cNvPr id="13" name="TextBox 12">
            <a:extLst>
              <a:ext uri="{FF2B5EF4-FFF2-40B4-BE49-F238E27FC236}">
                <a16:creationId xmlns:a16="http://schemas.microsoft.com/office/drawing/2014/main" id="{A0F8C843-4A4D-81C8-F778-B901B98A7D16}"/>
              </a:ext>
            </a:extLst>
          </p:cNvPr>
          <p:cNvSpPr txBox="1"/>
          <p:nvPr/>
        </p:nvSpPr>
        <p:spPr>
          <a:xfrm>
            <a:off x="8153400" y="2870200"/>
            <a:ext cx="342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How is the residual represented compactly?</a:t>
            </a:r>
            <a:endParaRPr lang="en-IN" sz="1600">
              <a:solidFill>
                <a:srgbClr val="F5F7FA"/>
              </a:solidFill>
              <a:latin typeface="Aptos" panose="020B0004020202020204" pitchFamily="34" charset="0"/>
            </a:endParaRPr>
          </a:p>
        </p:txBody>
      </p:sp>
      <p:sp>
        <p:nvSpPr>
          <p:cNvPr id="14" name="Oval 13">
            <a:extLst>
              <a:ext uri="{FF2B5EF4-FFF2-40B4-BE49-F238E27FC236}">
                <a16:creationId xmlns:a16="http://schemas.microsoft.com/office/drawing/2014/main" id="{256D2802-70E1-6EF8-891F-9B2BA55EEA16}"/>
              </a:ext>
            </a:extLst>
          </p:cNvPr>
          <p:cNvSpPr/>
          <p:nvPr/>
        </p:nvSpPr>
        <p:spPr>
          <a:xfrm>
            <a:off x="7645400" y="3695700"/>
            <a:ext cx="342900" cy="3429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3</a:t>
            </a:r>
          </a:p>
        </p:txBody>
      </p:sp>
      <p:sp>
        <p:nvSpPr>
          <p:cNvPr id="15" name="TextBox 14">
            <a:extLst>
              <a:ext uri="{FF2B5EF4-FFF2-40B4-BE49-F238E27FC236}">
                <a16:creationId xmlns:a16="http://schemas.microsoft.com/office/drawing/2014/main" id="{CBC78089-D10B-9F5F-9673-2211873BF88B}"/>
              </a:ext>
            </a:extLst>
          </p:cNvPr>
          <p:cNvSpPr txBox="1"/>
          <p:nvPr/>
        </p:nvSpPr>
        <p:spPr>
          <a:xfrm>
            <a:off x="8153400" y="3670300"/>
            <a:ext cx="342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How does the encoder choose among many legal options?</a:t>
            </a:r>
            <a:endParaRPr lang="en-IN" sz="1600">
              <a:solidFill>
                <a:srgbClr val="F5F7FA"/>
              </a:solidFill>
              <a:latin typeface="Aptos" panose="020B0004020202020204" pitchFamily="34" charset="0"/>
            </a:endParaRPr>
          </a:p>
        </p:txBody>
      </p:sp>
      <p:sp>
        <p:nvSpPr>
          <p:cNvPr id="16" name="Oval 15">
            <a:extLst>
              <a:ext uri="{FF2B5EF4-FFF2-40B4-BE49-F238E27FC236}">
                <a16:creationId xmlns:a16="http://schemas.microsoft.com/office/drawing/2014/main" id="{FD4AEF4C-9076-B4CC-8188-899DF04CDE59}"/>
              </a:ext>
            </a:extLst>
          </p:cNvPr>
          <p:cNvSpPr/>
          <p:nvPr/>
        </p:nvSpPr>
        <p:spPr>
          <a:xfrm>
            <a:off x="7645400" y="4495800"/>
            <a:ext cx="342900" cy="3429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4</a:t>
            </a:r>
          </a:p>
        </p:txBody>
      </p:sp>
      <p:sp>
        <p:nvSpPr>
          <p:cNvPr id="17" name="TextBox 16">
            <a:extLst>
              <a:ext uri="{FF2B5EF4-FFF2-40B4-BE49-F238E27FC236}">
                <a16:creationId xmlns:a16="http://schemas.microsoft.com/office/drawing/2014/main" id="{A9D9513A-A131-7331-ADA1-DDD1FFA79736}"/>
              </a:ext>
            </a:extLst>
          </p:cNvPr>
          <p:cNvSpPr txBox="1"/>
          <p:nvPr/>
        </p:nvSpPr>
        <p:spPr>
          <a:xfrm>
            <a:off x="8153400" y="4470400"/>
            <a:ext cx="342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Why must the encoder reconstruct its own output?</a:t>
            </a:r>
            <a:endParaRPr lang="en-IN" sz="1600">
              <a:solidFill>
                <a:srgbClr val="F5F7FA"/>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78B107EA-23A7-7D6B-A142-F1960E089D99}"/>
              </a:ext>
            </a:extLst>
          </p:cNvPr>
          <p:cNvSpPr/>
          <p:nvPr/>
        </p:nvSpPr>
        <p:spPr>
          <a:xfrm>
            <a:off x="660400" y="5334000"/>
            <a:ext cx="10922000" cy="838200"/>
          </a:xfrm>
          <a:prstGeom prst="roundRect">
            <a:avLst/>
          </a:prstGeom>
          <a:solidFill>
            <a:srgbClr val="071E35">
              <a:alpha val="96000"/>
            </a:srgbClr>
          </a:solidFill>
          <a:ln w="1778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0D415740-4FA4-2410-AE74-BBCFF2EFC350}"/>
              </a:ext>
            </a:extLst>
          </p:cNvPr>
          <p:cNvSpPr txBox="1"/>
          <p:nvPr/>
        </p:nvSpPr>
        <p:spPr>
          <a:xfrm>
            <a:off x="952500" y="5537200"/>
            <a:ext cx="10312400" cy="276999"/>
          </a:xfrm>
          <a:prstGeom prst="rect">
            <a:avLst/>
          </a:prstGeom>
          <a:noFill/>
        </p:spPr>
        <p:txBody>
          <a:bodyPr vert="horz" wrap="square" lIns="0" tIns="0" rIns="0" bIns="0" rtlCol="0">
            <a:noAutofit/>
          </a:bodyPr>
          <a:lstStyle/>
          <a:p>
            <a:pPr algn="ctr"/>
            <a:r>
              <a:rPr lang="en-US" sz="2100" b="1">
                <a:solidFill>
                  <a:srgbClr val="F5F7FA"/>
                </a:solidFill>
                <a:latin typeface="Aptos Display" panose="020B0004020202020204" pitchFamily="34" charset="0"/>
              </a:rPr>
              <a:t>Today: follow one block from partitioning to a filtered reference picture.</a:t>
            </a:r>
            <a:endParaRPr lang="en-IN" sz="2100" b="1">
              <a:solidFill>
                <a:srgbClr val="F5F7FA"/>
              </a:solidFill>
              <a:latin typeface="Aptos Display" panose="020B0004020202020204" pitchFamily="34" charset="0"/>
            </a:endParaRPr>
          </a:p>
        </p:txBody>
      </p:sp>
      <p:sp>
        <p:nvSpPr>
          <p:cNvPr id="20" name="TextBox 19">
            <a:extLst>
              <a:ext uri="{FF2B5EF4-FFF2-40B4-BE49-F238E27FC236}">
                <a16:creationId xmlns:a16="http://schemas.microsoft.com/office/drawing/2014/main" id="{858FB33D-9C79-6342-5E06-8E052148D95E}"/>
              </a:ext>
            </a:extLst>
          </p:cNvPr>
          <p:cNvSpPr txBox="1"/>
          <p:nvPr/>
        </p:nvSpPr>
        <p:spPr>
          <a:xfrm>
            <a:off x="673100" y="4991100"/>
            <a:ext cx="10871200" cy="276999"/>
          </a:xfrm>
          <a:prstGeom prst="rect">
            <a:avLst/>
          </a:prstGeom>
          <a:noFill/>
        </p:spPr>
        <p:txBody>
          <a:bodyPr vert="horz" wrap="square" lIns="0" tIns="0" rIns="0" bIns="0" rtlCol="0">
            <a:noAutofit/>
          </a:bodyPr>
          <a:lstStyle/>
          <a:p>
            <a:pPr algn="ctr"/>
            <a:r>
              <a:rPr lang="en-IN" sz="800">
                <a:solidFill>
                  <a:srgbClr val="A7B7C9"/>
                </a:solidFill>
                <a:latin typeface="Aptos" panose="020B0004020202020204" pitchFamily="34" charset="0"/>
              </a:rPr>
              <a:t>HEVC: High Efficiency Video Coding • CTU: Coding Tree Unit • CU: Coding Unit • PU: Prediction Unit • TU: Transform Unit</a:t>
            </a:r>
          </a:p>
        </p:txBody>
      </p:sp>
      <p:sp>
        <p:nvSpPr>
          <p:cNvPr id="21" name="TextBox 20">
            <a:extLst>
              <a:ext uri="{FF2B5EF4-FFF2-40B4-BE49-F238E27FC236}">
                <a16:creationId xmlns:a16="http://schemas.microsoft.com/office/drawing/2014/main" id="{57CD1F30-6F6C-9415-A7DC-DB17215C5C9F}"/>
              </a:ext>
            </a:extLst>
          </p:cNvPr>
          <p:cNvSpPr txBox="1"/>
          <p:nvPr/>
        </p:nvSpPr>
        <p:spPr>
          <a:xfrm>
            <a:off x="673100" y="5156200"/>
            <a:ext cx="10871200" cy="276999"/>
          </a:xfrm>
          <a:prstGeom prst="rect">
            <a:avLst/>
          </a:prstGeom>
          <a:noFill/>
        </p:spPr>
        <p:txBody>
          <a:bodyPr vert="horz" wrap="square" lIns="0" tIns="0" rIns="0" bIns="0" rtlCol="0">
            <a:noAutofit/>
          </a:bodyPr>
          <a:lstStyle/>
          <a:p>
            <a:pPr algn="ctr"/>
            <a:r>
              <a:rPr lang="en-US" sz="800">
                <a:solidFill>
                  <a:srgbClr val="A7B7C9"/>
                </a:solidFill>
                <a:latin typeface="Aptos" panose="020B0004020202020204" pitchFamily="34" charset="0"/>
              </a:rPr>
              <a:t>CABAC: Context-Adaptive Binary Arithmetic Coding • SAO: Sample Adaptive Offset</a:t>
            </a:r>
            <a:endParaRPr lang="en-IN" sz="800">
              <a:solidFill>
                <a:srgbClr val="A7B7C9"/>
              </a:solidFill>
              <a:latin typeface="Aptos" panose="020B0004020202020204" pitchFamily="34" charset="0"/>
            </a:endParaRPr>
          </a:p>
        </p:txBody>
      </p:sp>
      <p:sp>
        <p:nvSpPr>
          <p:cNvPr id="22" name="TextBox 21">
            <a:extLst>
              <a:ext uri="{FF2B5EF4-FFF2-40B4-BE49-F238E27FC236}">
                <a16:creationId xmlns:a16="http://schemas.microsoft.com/office/drawing/2014/main" id="{0980ED1E-8EE1-2E90-5832-B2DA0BB0F89A}"/>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02 / 19</a:t>
            </a:r>
          </a:p>
        </p:txBody>
      </p:sp>
    </p:spTree>
    <p:extLst>
      <p:ext uri="{BB962C8B-B14F-4D97-AF65-F5344CB8AC3E}">
        <p14:creationId xmlns:p14="http://schemas.microsoft.com/office/powerpoint/2010/main" val="207325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C886C8-05A4-00C7-7CFA-2892CBF34E66}"/>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C4ED6410-EF34-1ADF-2554-8D02E2CE6D2C}"/>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22D79700-C4A1-0D6C-48BD-2C992159646D}"/>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C3431BB-4176-3791-4435-60BF0260CCE7}"/>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The bitstream path and reconstruction path form one closed loop</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FAABC344-B388-F102-6FC6-AB72EEB18AA9}"/>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D85F0983-150D-F999-7B98-313777A9FB75}"/>
              </a:ext>
            </a:extLst>
          </p:cNvPr>
          <p:cNvSpPr/>
          <p:nvPr/>
        </p:nvSpPr>
        <p:spPr>
          <a:xfrm>
            <a:off x="533400" y="2095500"/>
            <a:ext cx="1473200" cy="787400"/>
          </a:xfrm>
          <a:prstGeom prst="roundRect">
            <a:avLst/>
          </a:prstGeom>
          <a:solidFill>
            <a:srgbClr val="071E35"/>
          </a:solidFill>
          <a:ln w="2159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55F5F84-AC77-59AD-4ED6-BA9079752FF4}"/>
              </a:ext>
            </a:extLst>
          </p:cNvPr>
          <p:cNvSpPr txBox="1"/>
          <p:nvPr/>
        </p:nvSpPr>
        <p:spPr>
          <a:xfrm>
            <a:off x="5334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Partition</a:t>
            </a:r>
          </a:p>
        </p:txBody>
      </p:sp>
      <p:cxnSp>
        <p:nvCxnSpPr>
          <p:cNvPr id="9" name="Straight Connector 8">
            <a:extLst>
              <a:ext uri="{FF2B5EF4-FFF2-40B4-BE49-F238E27FC236}">
                <a16:creationId xmlns:a16="http://schemas.microsoft.com/office/drawing/2014/main" id="{3CF9E993-D5B5-93ED-B513-762AA0BBA89D}"/>
              </a:ext>
            </a:extLst>
          </p:cNvPr>
          <p:cNvCxnSpPr/>
          <p:nvPr/>
        </p:nvCxnSpPr>
        <p:spPr>
          <a:xfrm>
            <a:off x="2032000" y="2489200"/>
            <a:ext cx="2794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314E662-C1CF-679F-44CA-D5FD6373F13B}"/>
              </a:ext>
            </a:extLst>
          </p:cNvPr>
          <p:cNvSpPr/>
          <p:nvPr/>
        </p:nvSpPr>
        <p:spPr>
          <a:xfrm>
            <a:off x="2374900" y="2095500"/>
            <a:ext cx="1473200" cy="787400"/>
          </a:xfrm>
          <a:prstGeom prst="roundRect">
            <a:avLst/>
          </a:prstGeom>
          <a:solidFill>
            <a:srgbClr val="071E35"/>
          </a:solidFill>
          <a:ln w="2159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E3F1998-72EE-DE79-85F3-C2592B0C9364}"/>
              </a:ext>
            </a:extLst>
          </p:cNvPr>
          <p:cNvSpPr txBox="1"/>
          <p:nvPr/>
        </p:nvSpPr>
        <p:spPr>
          <a:xfrm>
            <a:off x="23749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Predict</a:t>
            </a:r>
          </a:p>
        </p:txBody>
      </p:sp>
      <p:cxnSp>
        <p:nvCxnSpPr>
          <p:cNvPr id="12" name="Straight Connector 11">
            <a:extLst>
              <a:ext uri="{FF2B5EF4-FFF2-40B4-BE49-F238E27FC236}">
                <a16:creationId xmlns:a16="http://schemas.microsoft.com/office/drawing/2014/main" id="{CA618D7A-8D4E-C3AD-ACC5-CBEA05395A2C}"/>
              </a:ext>
            </a:extLst>
          </p:cNvPr>
          <p:cNvCxnSpPr/>
          <p:nvPr/>
        </p:nvCxnSpPr>
        <p:spPr>
          <a:xfrm>
            <a:off x="3873500" y="2489200"/>
            <a:ext cx="2794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E5C3BC93-B511-9B32-DF3B-DD70774FAE39}"/>
              </a:ext>
            </a:extLst>
          </p:cNvPr>
          <p:cNvSpPr/>
          <p:nvPr/>
        </p:nvSpPr>
        <p:spPr>
          <a:xfrm>
            <a:off x="4216400" y="2095500"/>
            <a:ext cx="1473200" cy="787400"/>
          </a:xfrm>
          <a:prstGeom prst="roundRect">
            <a:avLst/>
          </a:prstGeom>
          <a:solidFill>
            <a:srgbClr val="071E35"/>
          </a:solidFill>
          <a:ln w="2159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511B1CC-CC8B-9212-D775-1ADC3C081720}"/>
              </a:ext>
            </a:extLst>
          </p:cNvPr>
          <p:cNvSpPr txBox="1"/>
          <p:nvPr/>
        </p:nvSpPr>
        <p:spPr>
          <a:xfrm>
            <a:off x="42164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Residual</a:t>
            </a:r>
          </a:p>
        </p:txBody>
      </p:sp>
      <p:cxnSp>
        <p:nvCxnSpPr>
          <p:cNvPr id="15" name="Straight Connector 14">
            <a:extLst>
              <a:ext uri="{FF2B5EF4-FFF2-40B4-BE49-F238E27FC236}">
                <a16:creationId xmlns:a16="http://schemas.microsoft.com/office/drawing/2014/main" id="{2EDC400E-7B63-4A95-C37E-7EAEDCF39D96}"/>
              </a:ext>
            </a:extLst>
          </p:cNvPr>
          <p:cNvCxnSpPr/>
          <p:nvPr/>
        </p:nvCxnSpPr>
        <p:spPr>
          <a:xfrm>
            <a:off x="5715000" y="2489200"/>
            <a:ext cx="2794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0EA0B0CE-33B5-35AD-CC91-D55EBB968D5C}"/>
              </a:ext>
            </a:extLst>
          </p:cNvPr>
          <p:cNvSpPr/>
          <p:nvPr/>
        </p:nvSpPr>
        <p:spPr>
          <a:xfrm>
            <a:off x="6057900" y="2095500"/>
            <a:ext cx="1473200" cy="787400"/>
          </a:xfrm>
          <a:prstGeom prst="roundRect">
            <a:avLst/>
          </a:prstGeom>
          <a:solidFill>
            <a:srgbClr val="071E35"/>
          </a:solidFill>
          <a:ln w="2159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495F6EA-3464-23B3-CC6C-B28FA72FA28E}"/>
              </a:ext>
            </a:extLst>
          </p:cNvPr>
          <p:cNvSpPr txBox="1"/>
          <p:nvPr/>
        </p:nvSpPr>
        <p:spPr>
          <a:xfrm>
            <a:off x="60579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Transform</a:t>
            </a:r>
          </a:p>
        </p:txBody>
      </p:sp>
      <p:cxnSp>
        <p:nvCxnSpPr>
          <p:cNvPr id="18" name="Straight Connector 17">
            <a:extLst>
              <a:ext uri="{FF2B5EF4-FFF2-40B4-BE49-F238E27FC236}">
                <a16:creationId xmlns:a16="http://schemas.microsoft.com/office/drawing/2014/main" id="{9F3F9688-07E4-EBD5-D30E-E4520F5E8BB0}"/>
              </a:ext>
            </a:extLst>
          </p:cNvPr>
          <p:cNvCxnSpPr/>
          <p:nvPr/>
        </p:nvCxnSpPr>
        <p:spPr>
          <a:xfrm>
            <a:off x="7556500" y="2489200"/>
            <a:ext cx="2794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3851F1D9-2B18-03D5-1BBE-B86F11A42A13}"/>
              </a:ext>
            </a:extLst>
          </p:cNvPr>
          <p:cNvSpPr/>
          <p:nvPr/>
        </p:nvSpPr>
        <p:spPr>
          <a:xfrm>
            <a:off x="7899400" y="2095500"/>
            <a:ext cx="1473200" cy="787400"/>
          </a:xfrm>
          <a:prstGeom prst="roundRect">
            <a:avLst/>
          </a:prstGeom>
          <a:solidFill>
            <a:srgbClr val="071E35"/>
          </a:solidFill>
          <a:ln w="2159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0A3A1F0-5461-45EA-E9BA-36D2FAEB9754}"/>
              </a:ext>
            </a:extLst>
          </p:cNvPr>
          <p:cNvSpPr txBox="1"/>
          <p:nvPr/>
        </p:nvSpPr>
        <p:spPr>
          <a:xfrm>
            <a:off x="78994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Quantize</a:t>
            </a:r>
          </a:p>
        </p:txBody>
      </p:sp>
      <p:cxnSp>
        <p:nvCxnSpPr>
          <p:cNvPr id="21" name="Straight Connector 20">
            <a:extLst>
              <a:ext uri="{FF2B5EF4-FFF2-40B4-BE49-F238E27FC236}">
                <a16:creationId xmlns:a16="http://schemas.microsoft.com/office/drawing/2014/main" id="{C0A1E890-9E38-72FD-5DE2-43B5B38296D7}"/>
              </a:ext>
            </a:extLst>
          </p:cNvPr>
          <p:cNvCxnSpPr/>
          <p:nvPr/>
        </p:nvCxnSpPr>
        <p:spPr>
          <a:xfrm>
            <a:off x="9398000" y="2489200"/>
            <a:ext cx="2794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C7E828AF-4F0B-B72A-0251-2EA7C51A1F2B}"/>
              </a:ext>
            </a:extLst>
          </p:cNvPr>
          <p:cNvSpPr/>
          <p:nvPr/>
        </p:nvSpPr>
        <p:spPr>
          <a:xfrm>
            <a:off x="9740900" y="2095500"/>
            <a:ext cx="1473200" cy="787400"/>
          </a:xfrm>
          <a:prstGeom prst="roundRect">
            <a:avLst/>
          </a:prstGeom>
          <a:solidFill>
            <a:srgbClr val="071E35"/>
          </a:solidFill>
          <a:ln w="2159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C8F1DB11-5508-827E-2B8E-EDB00CCF478B}"/>
              </a:ext>
            </a:extLst>
          </p:cNvPr>
          <p:cNvSpPr txBox="1"/>
          <p:nvPr/>
        </p:nvSpPr>
        <p:spPr>
          <a:xfrm>
            <a:off x="9740900" y="2298700"/>
            <a:ext cx="1473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Entropy code</a:t>
            </a:r>
          </a:p>
        </p:txBody>
      </p:sp>
      <p:sp>
        <p:nvSpPr>
          <p:cNvPr id="24" name="Rectangle: Rounded Corners 23">
            <a:extLst>
              <a:ext uri="{FF2B5EF4-FFF2-40B4-BE49-F238E27FC236}">
                <a16:creationId xmlns:a16="http://schemas.microsoft.com/office/drawing/2014/main" id="{D76F754A-098E-12EB-C478-01D0FEC3E5CC}"/>
              </a:ext>
            </a:extLst>
          </p:cNvPr>
          <p:cNvSpPr/>
          <p:nvPr/>
        </p:nvSpPr>
        <p:spPr>
          <a:xfrm>
            <a:off x="9779000" y="3530600"/>
            <a:ext cx="1828800" cy="736600"/>
          </a:xfrm>
          <a:prstGeom prst="roundRect">
            <a:avLst/>
          </a:prstGeom>
          <a:solidFill>
            <a:srgbClr val="071E35"/>
          </a:solidFill>
          <a:ln w="2159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66DCB8EE-3845-28E4-6096-14A7959378E5}"/>
              </a:ext>
            </a:extLst>
          </p:cNvPr>
          <p:cNvSpPr txBox="1"/>
          <p:nvPr/>
        </p:nvSpPr>
        <p:spPr>
          <a:xfrm>
            <a:off x="9779000" y="3746500"/>
            <a:ext cx="1828800" cy="276999"/>
          </a:xfrm>
          <a:prstGeom prst="rect">
            <a:avLst/>
          </a:prstGeom>
          <a:noFill/>
        </p:spPr>
        <p:txBody>
          <a:bodyPr vert="horz" wrap="square" lIns="0" tIns="0" rIns="0" bIns="0" rtlCol="0">
            <a:noAutofit/>
          </a:bodyPr>
          <a:lstStyle/>
          <a:p>
            <a:pPr algn="ctr"/>
            <a:r>
              <a:rPr lang="en-IN" sz="1700" b="1">
                <a:solidFill>
                  <a:srgbClr val="1A8BFF"/>
                </a:solidFill>
                <a:latin typeface="Aptos" panose="020B0004020202020204" pitchFamily="34" charset="0"/>
              </a:rPr>
              <a:t>BITSTREAM</a:t>
            </a:r>
          </a:p>
        </p:txBody>
      </p:sp>
      <p:cxnSp>
        <p:nvCxnSpPr>
          <p:cNvPr id="26" name="Straight Connector 25">
            <a:extLst>
              <a:ext uri="{FF2B5EF4-FFF2-40B4-BE49-F238E27FC236}">
                <a16:creationId xmlns:a16="http://schemas.microsoft.com/office/drawing/2014/main" id="{9CD10904-86B0-6962-C6F7-5E3FC94F72D8}"/>
              </a:ext>
            </a:extLst>
          </p:cNvPr>
          <p:cNvCxnSpPr/>
          <p:nvPr/>
        </p:nvCxnSpPr>
        <p:spPr>
          <a:xfrm>
            <a:off x="10693400" y="2895600"/>
            <a:ext cx="0" cy="609600"/>
          </a:xfrm>
          <a:prstGeom prst="line">
            <a:avLst/>
          </a:prstGeom>
          <a:ln w="25400">
            <a:solidFill>
              <a:srgbClr val="1A8BFF"/>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E5B62A68-52D1-8598-4C74-7AAEE658631A}"/>
              </a:ext>
            </a:extLst>
          </p:cNvPr>
          <p:cNvSpPr/>
          <p:nvPr/>
        </p:nvSpPr>
        <p:spPr>
          <a:xfrm>
            <a:off x="5613400" y="4089400"/>
            <a:ext cx="2336800" cy="787400"/>
          </a:xfrm>
          <a:prstGeom prst="roundRect">
            <a:avLst/>
          </a:prstGeom>
          <a:solidFill>
            <a:srgbClr val="071E35"/>
          </a:solidFill>
          <a:ln w="2159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EA9535A2-1C85-E7D1-DE02-798E9D026CE0}"/>
              </a:ext>
            </a:extLst>
          </p:cNvPr>
          <p:cNvSpPr txBox="1"/>
          <p:nvPr/>
        </p:nvSpPr>
        <p:spPr>
          <a:xfrm>
            <a:off x="5613400" y="4279900"/>
            <a:ext cx="2336800" cy="276999"/>
          </a:xfrm>
          <a:prstGeom prst="rect">
            <a:avLst/>
          </a:prstGeom>
          <a:noFill/>
        </p:spPr>
        <p:txBody>
          <a:bodyPr vert="horz" wrap="square" lIns="0" tIns="0" rIns="0" bIns="0" rtlCol="0">
            <a:noAutofit/>
          </a:bodyPr>
          <a:lstStyle/>
          <a:p>
            <a:pPr algn="ctr"/>
            <a:r>
              <a:rPr lang="en-IN" sz="1400" b="1">
                <a:solidFill>
                  <a:srgbClr val="F5F7FA"/>
                </a:solidFill>
                <a:latin typeface="Aptos" panose="020B0004020202020204" pitchFamily="34" charset="0"/>
              </a:rPr>
              <a:t>Inverse quantization + transform</a:t>
            </a:r>
          </a:p>
        </p:txBody>
      </p:sp>
      <p:cxnSp>
        <p:nvCxnSpPr>
          <p:cNvPr id="29" name="Straight Connector 28">
            <a:extLst>
              <a:ext uri="{FF2B5EF4-FFF2-40B4-BE49-F238E27FC236}">
                <a16:creationId xmlns:a16="http://schemas.microsoft.com/office/drawing/2014/main" id="{89C31279-FF30-BDE1-3F1F-6E0505FB84FB}"/>
              </a:ext>
            </a:extLst>
          </p:cNvPr>
          <p:cNvCxnSpPr/>
          <p:nvPr/>
        </p:nvCxnSpPr>
        <p:spPr>
          <a:xfrm flipH="1">
            <a:off x="7289800" y="2895600"/>
            <a:ext cx="1549400" cy="116840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0D51099A-9B65-0E7F-FE35-5167D4E9EA8D}"/>
              </a:ext>
            </a:extLst>
          </p:cNvPr>
          <p:cNvSpPr/>
          <p:nvPr/>
        </p:nvSpPr>
        <p:spPr>
          <a:xfrm>
            <a:off x="2946400" y="4089400"/>
            <a:ext cx="2032000" cy="787400"/>
          </a:xfrm>
          <a:prstGeom prst="roundRect">
            <a:avLst/>
          </a:prstGeom>
          <a:solidFill>
            <a:srgbClr val="071E35"/>
          </a:solidFill>
          <a:ln w="2159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7C3BE575-17ED-1D9F-02C9-5A1B673F9839}"/>
              </a:ext>
            </a:extLst>
          </p:cNvPr>
          <p:cNvSpPr txBox="1"/>
          <p:nvPr/>
        </p:nvSpPr>
        <p:spPr>
          <a:xfrm>
            <a:off x="2946400" y="4318000"/>
            <a:ext cx="20320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 prediction</a:t>
            </a:r>
          </a:p>
        </p:txBody>
      </p:sp>
      <p:cxnSp>
        <p:nvCxnSpPr>
          <p:cNvPr id="32" name="Straight Connector 31">
            <a:extLst>
              <a:ext uri="{FF2B5EF4-FFF2-40B4-BE49-F238E27FC236}">
                <a16:creationId xmlns:a16="http://schemas.microsoft.com/office/drawing/2014/main" id="{58DAAF57-6529-A968-F193-7589B7FA775E}"/>
              </a:ext>
            </a:extLst>
          </p:cNvPr>
          <p:cNvCxnSpPr/>
          <p:nvPr/>
        </p:nvCxnSpPr>
        <p:spPr>
          <a:xfrm flipH="1">
            <a:off x="5029200" y="4483100"/>
            <a:ext cx="558800" cy="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1CB2739-6673-097D-E3B9-498DB38C5BB0}"/>
              </a:ext>
            </a:extLst>
          </p:cNvPr>
          <p:cNvSpPr/>
          <p:nvPr/>
        </p:nvSpPr>
        <p:spPr>
          <a:xfrm>
            <a:off x="584200" y="4089400"/>
            <a:ext cx="1778000" cy="787400"/>
          </a:xfrm>
          <a:prstGeom prst="roundRect">
            <a:avLst/>
          </a:prstGeom>
          <a:solidFill>
            <a:srgbClr val="071E35"/>
          </a:solidFill>
          <a:ln w="2159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CD5792EA-DB33-E186-B60A-FFBD34D6E98D}"/>
              </a:ext>
            </a:extLst>
          </p:cNvPr>
          <p:cNvSpPr txBox="1"/>
          <p:nvPr/>
        </p:nvSpPr>
        <p:spPr>
          <a:xfrm>
            <a:off x="584200" y="4254500"/>
            <a:ext cx="1778000" cy="276999"/>
          </a:xfrm>
          <a:prstGeom prst="rect">
            <a:avLst/>
          </a:prstGeom>
          <a:noFill/>
        </p:spPr>
        <p:txBody>
          <a:bodyPr vert="horz" wrap="square" lIns="0" tIns="0" rIns="0" bIns="0" rtlCol="0">
            <a:noAutofit/>
          </a:bodyPr>
          <a:lstStyle/>
          <a:p>
            <a:pPr algn="ctr"/>
            <a:r>
              <a:rPr lang="en-IN" sz="1300" b="1">
                <a:solidFill>
                  <a:srgbClr val="F5F7FA"/>
                </a:solidFill>
                <a:latin typeface="Aptos" panose="020B0004020202020204" pitchFamily="34" charset="0"/>
              </a:rPr>
              <a:t>Deblocking + Sample Adaptive Offset</a:t>
            </a:r>
          </a:p>
        </p:txBody>
      </p:sp>
      <p:cxnSp>
        <p:nvCxnSpPr>
          <p:cNvPr id="35" name="Straight Connector 34">
            <a:extLst>
              <a:ext uri="{FF2B5EF4-FFF2-40B4-BE49-F238E27FC236}">
                <a16:creationId xmlns:a16="http://schemas.microsoft.com/office/drawing/2014/main" id="{02D0558F-2D3B-6398-AD8B-F96EE2B5D106}"/>
              </a:ext>
            </a:extLst>
          </p:cNvPr>
          <p:cNvCxnSpPr/>
          <p:nvPr/>
        </p:nvCxnSpPr>
        <p:spPr>
          <a:xfrm flipH="1">
            <a:off x="2413000" y="4483100"/>
            <a:ext cx="508000" cy="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480DC7D-B8CF-A9D0-36D1-F5EA29E8292E}"/>
              </a:ext>
            </a:extLst>
          </p:cNvPr>
          <p:cNvCxnSpPr/>
          <p:nvPr/>
        </p:nvCxnSpPr>
        <p:spPr>
          <a:xfrm flipV="1">
            <a:off x="1473200" y="3302000"/>
            <a:ext cx="0" cy="762000"/>
          </a:xfrm>
          <a:prstGeom prst="line">
            <a:avLst/>
          </a:prstGeom>
          <a:ln w="25400">
            <a:solidFill>
              <a:srgbClr val="55E6A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DF589EA-5607-FB04-61A8-92FD2CE3FF56}"/>
              </a:ext>
            </a:extLst>
          </p:cNvPr>
          <p:cNvCxnSpPr/>
          <p:nvPr/>
        </p:nvCxnSpPr>
        <p:spPr>
          <a:xfrm>
            <a:off x="1473200" y="3302000"/>
            <a:ext cx="914400" cy="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2A61C30-1B8C-FA92-7576-E6D911354FBF}"/>
              </a:ext>
            </a:extLst>
          </p:cNvPr>
          <p:cNvSpPr txBox="1"/>
          <p:nvPr/>
        </p:nvSpPr>
        <p:spPr>
          <a:xfrm>
            <a:off x="584200" y="5181600"/>
            <a:ext cx="4394200" cy="276999"/>
          </a:xfrm>
          <a:prstGeom prst="rect">
            <a:avLst/>
          </a:prstGeom>
          <a:noFill/>
        </p:spPr>
        <p:txBody>
          <a:bodyPr vert="horz" wrap="square" lIns="0" tIns="0" rIns="0" bIns="0" rtlCol="0">
            <a:noAutofit/>
          </a:bodyPr>
          <a:lstStyle/>
          <a:p>
            <a:r>
              <a:rPr lang="en-US" sz="1500" b="1">
                <a:solidFill>
                  <a:srgbClr val="55E6A5"/>
                </a:solidFill>
                <a:latin typeface="Aptos" panose="020B0004020202020204" pitchFamily="34" charset="0"/>
              </a:rPr>
              <a:t>reference picture used by future prediction</a:t>
            </a:r>
            <a:endParaRPr lang="en-IN" sz="1500" b="1">
              <a:solidFill>
                <a:srgbClr val="55E6A5"/>
              </a:solidFill>
              <a:latin typeface="Aptos" panose="020B0004020202020204" pitchFamily="34" charset="0"/>
            </a:endParaRPr>
          </a:p>
        </p:txBody>
      </p:sp>
      <p:sp>
        <p:nvSpPr>
          <p:cNvPr id="39" name="TextBox 38">
            <a:extLst>
              <a:ext uri="{FF2B5EF4-FFF2-40B4-BE49-F238E27FC236}">
                <a16:creationId xmlns:a16="http://schemas.microsoft.com/office/drawing/2014/main" id="{8691A0CB-9D4D-2613-1527-A33E64C86B15}"/>
              </a:ext>
            </a:extLst>
          </p:cNvPr>
          <p:cNvSpPr txBox="1"/>
          <p:nvPr/>
        </p:nvSpPr>
        <p:spPr>
          <a:xfrm>
            <a:off x="7797800" y="3124200"/>
            <a:ext cx="1397000" cy="276999"/>
          </a:xfrm>
          <a:prstGeom prst="rect">
            <a:avLst/>
          </a:prstGeom>
          <a:noFill/>
        </p:spPr>
        <p:txBody>
          <a:bodyPr vert="horz" wrap="square" lIns="0" tIns="0" rIns="0" bIns="0" rtlCol="0">
            <a:noAutofit/>
          </a:bodyPr>
          <a:lstStyle/>
          <a:p>
            <a:pPr algn="ctr"/>
            <a:r>
              <a:rPr lang="en-IN" sz="1200" b="1">
                <a:solidFill>
                  <a:srgbClr val="FFB454"/>
                </a:solidFill>
                <a:latin typeface="Aptos" panose="020B0004020202020204" pitchFamily="34" charset="0"/>
              </a:rPr>
              <a:t>Lossy decision</a:t>
            </a:r>
          </a:p>
        </p:txBody>
      </p:sp>
      <p:sp>
        <p:nvSpPr>
          <p:cNvPr id="40" name="TextBox 39">
            <a:extLst>
              <a:ext uri="{FF2B5EF4-FFF2-40B4-BE49-F238E27FC236}">
                <a16:creationId xmlns:a16="http://schemas.microsoft.com/office/drawing/2014/main" id="{3B3F7141-B977-3C69-AB2A-52ADB93ACCD2}"/>
              </a:ext>
            </a:extLst>
          </p:cNvPr>
          <p:cNvSpPr txBox="1"/>
          <p:nvPr/>
        </p:nvSpPr>
        <p:spPr>
          <a:xfrm>
            <a:off x="9779000" y="3124200"/>
            <a:ext cx="1803400" cy="276999"/>
          </a:xfrm>
          <a:prstGeom prst="rect">
            <a:avLst/>
          </a:prstGeom>
          <a:noFill/>
        </p:spPr>
        <p:txBody>
          <a:bodyPr vert="horz" wrap="square" lIns="0" tIns="0" rIns="0" bIns="0" rtlCol="0">
            <a:noAutofit/>
          </a:bodyPr>
          <a:lstStyle/>
          <a:p>
            <a:pPr algn="ctr"/>
            <a:r>
              <a:rPr lang="en-IN" sz="1200" b="1">
                <a:solidFill>
                  <a:srgbClr val="1A8BFF"/>
                </a:solidFill>
                <a:latin typeface="Aptos" panose="020B0004020202020204" pitchFamily="34" charset="0"/>
              </a:rPr>
              <a:t>Lossless packing</a:t>
            </a:r>
          </a:p>
        </p:txBody>
      </p:sp>
      <p:sp>
        <p:nvSpPr>
          <p:cNvPr id="41" name="TextBox 40">
            <a:extLst>
              <a:ext uri="{FF2B5EF4-FFF2-40B4-BE49-F238E27FC236}">
                <a16:creationId xmlns:a16="http://schemas.microsoft.com/office/drawing/2014/main" id="{E322625E-F510-C8A6-330C-31D5E90C108A}"/>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03 / 19</a:t>
            </a:r>
          </a:p>
        </p:txBody>
      </p:sp>
    </p:spTree>
    <p:extLst>
      <p:ext uri="{BB962C8B-B14F-4D97-AF65-F5344CB8AC3E}">
        <p14:creationId xmlns:p14="http://schemas.microsoft.com/office/powerpoint/2010/main" val="3729449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3E0118-D511-0903-BA98-35DCFEDBA5A6}"/>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44ECDF22-9204-F452-E9D1-DF690D212B3A}"/>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F45CF8A0-288F-BE9F-E46E-06E631E85E50}"/>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F38D1DD-8FDA-E5F4-AC33-8BF315D29408}"/>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One block size cannot represent every part of an image efficiently</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43FC5253-CA80-D071-8006-B8A363BB4E6C}"/>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42659F-98E0-C95C-A707-696975A580BB}"/>
              </a:ext>
            </a:extLst>
          </p:cNvPr>
          <p:cNvSpPr txBox="1"/>
          <p:nvPr/>
        </p:nvSpPr>
        <p:spPr>
          <a:xfrm>
            <a:off x="812800" y="1333500"/>
            <a:ext cx="2794000" cy="276999"/>
          </a:xfrm>
          <a:prstGeom prst="rect">
            <a:avLst/>
          </a:prstGeom>
          <a:noFill/>
        </p:spPr>
        <p:txBody>
          <a:bodyPr vert="horz" wrap="square" lIns="0" tIns="0" rIns="0" bIns="0" rtlCol="0">
            <a:noAutofit/>
          </a:bodyPr>
          <a:lstStyle/>
          <a:p>
            <a:pPr algn="ctr"/>
            <a:r>
              <a:rPr lang="en-IN" b="1">
                <a:solidFill>
                  <a:srgbClr val="16E3F2"/>
                </a:solidFill>
                <a:latin typeface="Aptos" panose="020B0004020202020204" pitchFamily="34" charset="0"/>
              </a:rPr>
              <a:t>Smooth region</a:t>
            </a:r>
          </a:p>
        </p:txBody>
      </p:sp>
      <p:sp>
        <p:nvSpPr>
          <p:cNvPr id="8" name="TextBox 7">
            <a:extLst>
              <a:ext uri="{FF2B5EF4-FFF2-40B4-BE49-F238E27FC236}">
                <a16:creationId xmlns:a16="http://schemas.microsoft.com/office/drawing/2014/main" id="{2954AD2E-E182-94E8-CAD4-29EF3EA53589}"/>
              </a:ext>
            </a:extLst>
          </p:cNvPr>
          <p:cNvSpPr txBox="1"/>
          <p:nvPr/>
        </p:nvSpPr>
        <p:spPr>
          <a:xfrm>
            <a:off x="4673600" y="1333500"/>
            <a:ext cx="2794000" cy="276999"/>
          </a:xfrm>
          <a:prstGeom prst="rect">
            <a:avLst/>
          </a:prstGeom>
          <a:noFill/>
        </p:spPr>
        <p:txBody>
          <a:bodyPr vert="horz" wrap="square" lIns="0" tIns="0" rIns="0" bIns="0" rtlCol="0">
            <a:noAutofit/>
          </a:bodyPr>
          <a:lstStyle/>
          <a:p>
            <a:pPr algn="ctr"/>
            <a:r>
              <a:rPr lang="en-IN" b="1">
                <a:solidFill>
                  <a:srgbClr val="FFB454"/>
                </a:solidFill>
                <a:latin typeface="Aptos" panose="020B0004020202020204" pitchFamily="34" charset="0"/>
              </a:rPr>
              <a:t>Object boundary</a:t>
            </a:r>
          </a:p>
        </p:txBody>
      </p:sp>
      <p:sp>
        <p:nvSpPr>
          <p:cNvPr id="9" name="TextBox 8">
            <a:extLst>
              <a:ext uri="{FF2B5EF4-FFF2-40B4-BE49-F238E27FC236}">
                <a16:creationId xmlns:a16="http://schemas.microsoft.com/office/drawing/2014/main" id="{20809835-8376-0DDC-8238-F19BAB448F5C}"/>
              </a:ext>
            </a:extLst>
          </p:cNvPr>
          <p:cNvSpPr txBox="1"/>
          <p:nvPr/>
        </p:nvSpPr>
        <p:spPr>
          <a:xfrm>
            <a:off x="8559800" y="1333500"/>
            <a:ext cx="2794000" cy="276999"/>
          </a:xfrm>
          <a:prstGeom prst="rect">
            <a:avLst/>
          </a:prstGeom>
          <a:noFill/>
        </p:spPr>
        <p:txBody>
          <a:bodyPr vert="horz" wrap="square" lIns="0" tIns="0" rIns="0" bIns="0" rtlCol="0">
            <a:noAutofit/>
          </a:bodyPr>
          <a:lstStyle/>
          <a:p>
            <a:pPr algn="ctr"/>
            <a:r>
              <a:rPr lang="en-IN" b="1">
                <a:solidFill>
                  <a:srgbClr val="1A8BFF"/>
                </a:solidFill>
                <a:latin typeface="Aptos" panose="020B0004020202020204" pitchFamily="34" charset="0"/>
              </a:rPr>
              <a:t>Fine texture</a:t>
            </a:r>
          </a:p>
        </p:txBody>
      </p:sp>
      <p:sp>
        <p:nvSpPr>
          <p:cNvPr id="10" name="Rectangle 9">
            <a:extLst>
              <a:ext uri="{FF2B5EF4-FFF2-40B4-BE49-F238E27FC236}">
                <a16:creationId xmlns:a16="http://schemas.microsoft.com/office/drawing/2014/main" id="{BA0A8E2E-8996-AE6C-FF99-CF17AA6628DB}"/>
              </a:ext>
            </a:extLst>
          </p:cNvPr>
          <p:cNvSpPr/>
          <p:nvPr/>
        </p:nvSpPr>
        <p:spPr>
          <a:xfrm>
            <a:off x="787400" y="1841500"/>
            <a:ext cx="2844800" cy="2844800"/>
          </a:xfrm>
          <a:prstGeom prst="rect">
            <a:avLst/>
          </a:prstGeom>
          <a:solidFill>
            <a:srgbClr val="06182B"/>
          </a:solidFill>
          <a:ln w="2159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2F07C8E-74E0-2453-2172-E458A52D9515}"/>
              </a:ext>
            </a:extLst>
          </p:cNvPr>
          <p:cNvSpPr/>
          <p:nvPr/>
        </p:nvSpPr>
        <p:spPr>
          <a:xfrm>
            <a:off x="787400" y="1841500"/>
            <a:ext cx="2844800" cy="2844800"/>
          </a:xfrm>
          <a:prstGeom prst="rect">
            <a:avLst/>
          </a:prstGeom>
          <a:solidFill>
            <a:srgbClr val="0C42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E4F40244-E601-3982-BBBD-9DEA7C085123}"/>
              </a:ext>
            </a:extLst>
          </p:cNvPr>
          <p:cNvCxnSpPr/>
          <p:nvPr/>
        </p:nvCxnSpPr>
        <p:spPr>
          <a:xfrm>
            <a:off x="2209800" y="1841500"/>
            <a:ext cx="0" cy="2844800"/>
          </a:xfrm>
          <a:prstGeom prst="line">
            <a:avLst/>
          </a:prstGeom>
          <a:ln w="1270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B2B70D-D2F7-EA27-2445-15A92233DFF1}"/>
              </a:ext>
            </a:extLst>
          </p:cNvPr>
          <p:cNvCxnSpPr/>
          <p:nvPr/>
        </p:nvCxnSpPr>
        <p:spPr>
          <a:xfrm>
            <a:off x="787400" y="3263900"/>
            <a:ext cx="2844800" cy="0"/>
          </a:xfrm>
          <a:prstGeom prst="line">
            <a:avLst/>
          </a:prstGeom>
          <a:ln w="12700">
            <a:solidFill>
              <a:srgbClr val="16E3F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AAE2B4C-50AB-CDB9-1E7C-C202A91D5D41}"/>
              </a:ext>
            </a:extLst>
          </p:cNvPr>
          <p:cNvSpPr/>
          <p:nvPr/>
        </p:nvSpPr>
        <p:spPr>
          <a:xfrm>
            <a:off x="4673600" y="1841500"/>
            <a:ext cx="2844800" cy="2844800"/>
          </a:xfrm>
          <a:prstGeom prst="rect">
            <a:avLst/>
          </a:prstGeom>
          <a:solidFill>
            <a:srgbClr val="06182B"/>
          </a:solidFill>
          <a:ln w="2159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FAA7686A-A725-C805-EAF2-8FE11D210652}"/>
              </a:ext>
            </a:extLst>
          </p:cNvPr>
          <p:cNvCxnSpPr/>
          <p:nvPr/>
        </p:nvCxnSpPr>
        <p:spPr>
          <a:xfrm>
            <a:off x="4673600" y="18415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BF4DB9-DBF4-22DD-FFCE-F06FE7B76BF0}"/>
              </a:ext>
            </a:extLst>
          </p:cNvPr>
          <p:cNvCxnSpPr/>
          <p:nvPr/>
        </p:nvCxnSpPr>
        <p:spPr>
          <a:xfrm>
            <a:off x="4673600" y="21971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F1728AA-7FB9-312B-131B-897BFB8BE9F2}"/>
              </a:ext>
            </a:extLst>
          </p:cNvPr>
          <p:cNvCxnSpPr/>
          <p:nvPr/>
        </p:nvCxnSpPr>
        <p:spPr>
          <a:xfrm>
            <a:off x="4673600" y="25527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1038AA-6EED-B5B8-E7B1-1936E9311DD0}"/>
              </a:ext>
            </a:extLst>
          </p:cNvPr>
          <p:cNvCxnSpPr/>
          <p:nvPr/>
        </p:nvCxnSpPr>
        <p:spPr>
          <a:xfrm>
            <a:off x="4673600" y="29083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75156D-5B33-802B-8703-CF9D40C3E79C}"/>
              </a:ext>
            </a:extLst>
          </p:cNvPr>
          <p:cNvCxnSpPr/>
          <p:nvPr/>
        </p:nvCxnSpPr>
        <p:spPr>
          <a:xfrm>
            <a:off x="4673600" y="32639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5AF142-542C-8447-380A-F3497A22A654}"/>
              </a:ext>
            </a:extLst>
          </p:cNvPr>
          <p:cNvCxnSpPr/>
          <p:nvPr/>
        </p:nvCxnSpPr>
        <p:spPr>
          <a:xfrm>
            <a:off x="4673600" y="36195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51AD5E2-1E72-CD20-27AE-5C96DC534C2F}"/>
              </a:ext>
            </a:extLst>
          </p:cNvPr>
          <p:cNvCxnSpPr/>
          <p:nvPr/>
        </p:nvCxnSpPr>
        <p:spPr>
          <a:xfrm>
            <a:off x="4673600" y="39751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6B479EB-64B8-FDFA-C2B7-17A3666B7CD6}"/>
              </a:ext>
            </a:extLst>
          </p:cNvPr>
          <p:cNvCxnSpPr/>
          <p:nvPr/>
        </p:nvCxnSpPr>
        <p:spPr>
          <a:xfrm>
            <a:off x="4673600" y="4330700"/>
            <a:ext cx="28448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3DCBB27-67A9-D6F6-6966-CC3C36A9982A}"/>
              </a:ext>
            </a:extLst>
          </p:cNvPr>
          <p:cNvCxnSpPr/>
          <p:nvPr/>
        </p:nvCxnSpPr>
        <p:spPr>
          <a:xfrm flipV="1">
            <a:off x="5207000" y="1841500"/>
            <a:ext cx="1778000" cy="2844800"/>
          </a:xfrm>
          <a:prstGeom prst="line">
            <a:avLst/>
          </a:prstGeom>
          <a:ln w="63500">
            <a:solidFill>
              <a:srgbClr val="FFB454"/>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482080E-F74E-86F3-913A-2FE3430E1087}"/>
              </a:ext>
            </a:extLst>
          </p:cNvPr>
          <p:cNvSpPr/>
          <p:nvPr/>
        </p:nvSpPr>
        <p:spPr>
          <a:xfrm>
            <a:off x="8559800" y="1841500"/>
            <a:ext cx="2844800" cy="2844800"/>
          </a:xfrm>
          <a:prstGeom prst="rect">
            <a:avLst/>
          </a:prstGeom>
          <a:solidFill>
            <a:srgbClr val="06182B"/>
          </a:solidFill>
          <a:ln w="2159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F1187870-286F-72DA-00AB-5EBCBAD27716}"/>
              </a:ext>
            </a:extLst>
          </p:cNvPr>
          <p:cNvSpPr/>
          <p:nvPr/>
        </p:nvSpPr>
        <p:spPr>
          <a:xfrm>
            <a:off x="8559800" y="1841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7591955-C5D8-E00A-7D6E-2E8FA891E51C}"/>
              </a:ext>
            </a:extLst>
          </p:cNvPr>
          <p:cNvSpPr/>
          <p:nvPr/>
        </p:nvSpPr>
        <p:spPr>
          <a:xfrm>
            <a:off x="8915400" y="18415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F73124B2-560F-957B-518C-A808DF779441}"/>
              </a:ext>
            </a:extLst>
          </p:cNvPr>
          <p:cNvSpPr/>
          <p:nvPr/>
        </p:nvSpPr>
        <p:spPr>
          <a:xfrm>
            <a:off x="9271000" y="18415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55A1B741-32D9-D021-2F60-4D40F2CBCC84}"/>
              </a:ext>
            </a:extLst>
          </p:cNvPr>
          <p:cNvSpPr/>
          <p:nvPr/>
        </p:nvSpPr>
        <p:spPr>
          <a:xfrm>
            <a:off x="9626600" y="1841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3DB51738-E359-B91D-E0A2-484EF84021AB}"/>
              </a:ext>
            </a:extLst>
          </p:cNvPr>
          <p:cNvSpPr/>
          <p:nvPr/>
        </p:nvSpPr>
        <p:spPr>
          <a:xfrm>
            <a:off x="9982200" y="18415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573A4B4F-0785-0905-C546-AFE0C1643AEC}"/>
              </a:ext>
            </a:extLst>
          </p:cNvPr>
          <p:cNvSpPr/>
          <p:nvPr/>
        </p:nvSpPr>
        <p:spPr>
          <a:xfrm>
            <a:off x="10337800" y="18415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B3760B1B-8793-357B-1863-5849C8028073}"/>
              </a:ext>
            </a:extLst>
          </p:cNvPr>
          <p:cNvSpPr/>
          <p:nvPr/>
        </p:nvSpPr>
        <p:spPr>
          <a:xfrm>
            <a:off x="10693400" y="1841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2D2D56DD-E5C4-DD2B-EA81-4BD41B31FAE3}"/>
              </a:ext>
            </a:extLst>
          </p:cNvPr>
          <p:cNvSpPr/>
          <p:nvPr/>
        </p:nvSpPr>
        <p:spPr>
          <a:xfrm>
            <a:off x="11049000" y="18415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E72D9A92-19BF-36CD-7D45-EDAA93532C38}"/>
              </a:ext>
            </a:extLst>
          </p:cNvPr>
          <p:cNvSpPr/>
          <p:nvPr/>
        </p:nvSpPr>
        <p:spPr>
          <a:xfrm>
            <a:off x="8559800" y="2197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31115CCF-8286-7998-A844-FEE967601DD2}"/>
              </a:ext>
            </a:extLst>
          </p:cNvPr>
          <p:cNvSpPr/>
          <p:nvPr/>
        </p:nvSpPr>
        <p:spPr>
          <a:xfrm>
            <a:off x="8915400" y="21971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0107826-22D8-0C78-43A7-2FD8E672CC27}"/>
              </a:ext>
            </a:extLst>
          </p:cNvPr>
          <p:cNvSpPr/>
          <p:nvPr/>
        </p:nvSpPr>
        <p:spPr>
          <a:xfrm>
            <a:off x="9271000" y="21971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B70E2385-EE64-FE4C-3DAE-71E188826285}"/>
              </a:ext>
            </a:extLst>
          </p:cNvPr>
          <p:cNvSpPr/>
          <p:nvPr/>
        </p:nvSpPr>
        <p:spPr>
          <a:xfrm>
            <a:off x="9626600" y="2197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2AF8D5D7-8CCF-373E-2272-596501600FA7}"/>
              </a:ext>
            </a:extLst>
          </p:cNvPr>
          <p:cNvSpPr/>
          <p:nvPr/>
        </p:nvSpPr>
        <p:spPr>
          <a:xfrm>
            <a:off x="9982200" y="21971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FA90C64A-6B40-EA79-6460-DADBEA74053F}"/>
              </a:ext>
            </a:extLst>
          </p:cNvPr>
          <p:cNvSpPr/>
          <p:nvPr/>
        </p:nvSpPr>
        <p:spPr>
          <a:xfrm>
            <a:off x="10337800" y="21971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3994665C-887D-3BC6-15F3-1A5847E00406}"/>
              </a:ext>
            </a:extLst>
          </p:cNvPr>
          <p:cNvSpPr/>
          <p:nvPr/>
        </p:nvSpPr>
        <p:spPr>
          <a:xfrm>
            <a:off x="10693400" y="2197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16A323B2-32C4-E8D2-1B84-47BFB3C44511}"/>
              </a:ext>
            </a:extLst>
          </p:cNvPr>
          <p:cNvSpPr/>
          <p:nvPr/>
        </p:nvSpPr>
        <p:spPr>
          <a:xfrm>
            <a:off x="11049000" y="21971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7E5FAF06-584D-9DDB-31A8-E250DC170CFC}"/>
              </a:ext>
            </a:extLst>
          </p:cNvPr>
          <p:cNvSpPr/>
          <p:nvPr/>
        </p:nvSpPr>
        <p:spPr>
          <a:xfrm>
            <a:off x="8559800" y="2552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41">
            <a:extLst>
              <a:ext uri="{FF2B5EF4-FFF2-40B4-BE49-F238E27FC236}">
                <a16:creationId xmlns:a16="http://schemas.microsoft.com/office/drawing/2014/main" id="{BD1CEAFA-6AA7-D16C-ABD7-D5F3890B1E19}"/>
              </a:ext>
            </a:extLst>
          </p:cNvPr>
          <p:cNvSpPr/>
          <p:nvPr/>
        </p:nvSpPr>
        <p:spPr>
          <a:xfrm>
            <a:off x="8915400" y="25527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BB7672AA-006A-40CF-D17C-3C2C5C141F82}"/>
              </a:ext>
            </a:extLst>
          </p:cNvPr>
          <p:cNvSpPr/>
          <p:nvPr/>
        </p:nvSpPr>
        <p:spPr>
          <a:xfrm>
            <a:off x="9271000" y="25527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3FF262E0-C9C6-9D76-5FED-CB48DED417FA}"/>
              </a:ext>
            </a:extLst>
          </p:cNvPr>
          <p:cNvSpPr/>
          <p:nvPr/>
        </p:nvSpPr>
        <p:spPr>
          <a:xfrm>
            <a:off x="9626600" y="2552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49D91084-3B0D-6204-2C45-38E65FCD00D6}"/>
              </a:ext>
            </a:extLst>
          </p:cNvPr>
          <p:cNvSpPr/>
          <p:nvPr/>
        </p:nvSpPr>
        <p:spPr>
          <a:xfrm>
            <a:off x="9982200" y="25527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64DB0A9F-4130-295C-1EE1-325308AE7323}"/>
              </a:ext>
            </a:extLst>
          </p:cNvPr>
          <p:cNvSpPr/>
          <p:nvPr/>
        </p:nvSpPr>
        <p:spPr>
          <a:xfrm>
            <a:off x="10337800" y="25527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E3F98B56-620D-ADB9-6DFC-71633D07376E}"/>
              </a:ext>
            </a:extLst>
          </p:cNvPr>
          <p:cNvSpPr/>
          <p:nvPr/>
        </p:nvSpPr>
        <p:spPr>
          <a:xfrm>
            <a:off x="10693400" y="2552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F11C81A8-6FDF-45A1-F0A4-38A0015E44C4}"/>
              </a:ext>
            </a:extLst>
          </p:cNvPr>
          <p:cNvSpPr/>
          <p:nvPr/>
        </p:nvSpPr>
        <p:spPr>
          <a:xfrm>
            <a:off x="11049000" y="25527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a:extLst>
              <a:ext uri="{FF2B5EF4-FFF2-40B4-BE49-F238E27FC236}">
                <a16:creationId xmlns:a16="http://schemas.microsoft.com/office/drawing/2014/main" id="{1557A646-116C-FDD4-5AA9-06042C3EAE2D}"/>
              </a:ext>
            </a:extLst>
          </p:cNvPr>
          <p:cNvSpPr/>
          <p:nvPr/>
        </p:nvSpPr>
        <p:spPr>
          <a:xfrm>
            <a:off x="8559800" y="29083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8DCC66E8-E767-56BB-49F7-E280778511B3}"/>
              </a:ext>
            </a:extLst>
          </p:cNvPr>
          <p:cNvSpPr/>
          <p:nvPr/>
        </p:nvSpPr>
        <p:spPr>
          <a:xfrm>
            <a:off x="8915400" y="29083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62108092-25B2-C269-F234-5D3D38AB5F1A}"/>
              </a:ext>
            </a:extLst>
          </p:cNvPr>
          <p:cNvSpPr/>
          <p:nvPr/>
        </p:nvSpPr>
        <p:spPr>
          <a:xfrm>
            <a:off x="9271000" y="29083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a:extLst>
              <a:ext uri="{FF2B5EF4-FFF2-40B4-BE49-F238E27FC236}">
                <a16:creationId xmlns:a16="http://schemas.microsoft.com/office/drawing/2014/main" id="{2391C241-A7DC-F8AD-157E-094B48E4B501}"/>
              </a:ext>
            </a:extLst>
          </p:cNvPr>
          <p:cNvSpPr/>
          <p:nvPr/>
        </p:nvSpPr>
        <p:spPr>
          <a:xfrm>
            <a:off x="9626600" y="29083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extLst>
              <a:ext uri="{FF2B5EF4-FFF2-40B4-BE49-F238E27FC236}">
                <a16:creationId xmlns:a16="http://schemas.microsoft.com/office/drawing/2014/main" id="{8E538120-EB59-D6C8-6621-0FCB68848036}"/>
              </a:ext>
            </a:extLst>
          </p:cNvPr>
          <p:cNvSpPr/>
          <p:nvPr/>
        </p:nvSpPr>
        <p:spPr>
          <a:xfrm>
            <a:off x="9982200" y="29083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38EC95E8-90E6-0006-9382-751BFDDBADA1}"/>
              </a:ext>
            </a:extLst>
          </p:cNvPr>
          <p:cNvSpPr/>
          <p:nvPr/>
        </p:nvSpPr>
        <p:spPr>
          <a:xfrm>
            <a:off x="10337800" y="29083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54">
            <a:extLst>
              <a:ext uri="{FF2B5EF4-FFF2-40B4-BE49-F238E27FC236}">
                <a16:creationId xmlns:a16="http://schemas.microsoft.com/office/drawing/2014/main" id="{4F5D6634-F25F-793D-6A06-CC3D7D7BDBAE}"/>
              </a:ext>
            </a:extLst>
          </p:cNvPr>
          <p:cNvSpPr/>
          <p:nvPr/>
        </p:nvSpPr>
        <p:spPr>
          <a:xfrm>
            <a:off x="10693400" y="29083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a:extLst>
              <a:ext uri="{FF2B5EF4-FFF2-40B4-BE49-F238E27FC236}">
                <a16:creationId xmlns:a16="http://schemas.microsoft.com/office/drawing/2014/main" id="{35051DA3-5438-37DC-0B2D-813F02B25408}"/>
              </a:ext>
            </a:extLst>
          </p:cNvPr>
          <p:cNvSpPr/>
          <p:nvPr/>
        </p:nvSpPr>
        <p:spPr>
          <a:xfrm>
            <a:off x="11049000" y="29083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56">
            <a:extLst>
              <a:ext uri="{FF2B5EF4-FFF2-40B4-BE49-F238E27FC236}">
                <a16:creationId xmlns:a16="http://schemas.microsoft.com/office/drawing/2014/main" id="{1A876519-6D89-2F0F-E2C0-CFF7B56AA19D}"/>
              </a:ext>
            </a:extLst>
          </p:cNvPr>
          <p:cNvSpPr/>
          <p:nvPr/>
        </p:nvSpPr>
        <p:spPr>
          <a:xfrm>
            <a:off x="8559800" y="32639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57">
            <a:extLst>
              <a:ext uri="{FF2B5EF4-FFF2-40B4-BE49-F238E27FC236}">
                <a16:creationId xmlns:a16="http://schemas.microsoft.com/office/drawing/2014/main" id="{803D281D-3396-09C5-9E74-55594E07B145}"/>
              </a:ext>
            </a:extLst>
          </p:cNvPr>
          <p:cNvSpPr/>
          <p:nvPr/>
        </p:nvSpPr>
        <p:spPr>
          <a:xfrm>
            <a:off x="8915400" y="32639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ectangle 58">
            <a:extLst>
              <a:ext uri="{FF2B5EF4-FFF2-40B4-BE49-F238E27FC236}">
                <a16:creationId xmlns:a16="http://schemas.microsoft.com/office/drawing/2014/main" id="{F67BF1AE-002E-7A5B-D435-9B8F700445D3}"/>
              </a:ext>
            </a:extLst>
          </p:cNvPr>
          <p:cNvSpPr/>
          <p:nvPr/>
        </p:nvSpPr>
        <p:spPr>
          <a:xfrm>
            <a:off x="9271000" y="32639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56CB133C-18FE-03F9-3EE9-ED0D3155BBF4}"/>
              </a:ext>
            </a:extLst>
          </p:cNvPr>
          <p:cNvSpPr/>
          <p:nvPr/>
        </p:nvSpPr>
        <p:spPr>
          <a:xfrm>
            <a:off x="9626600" y="32639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60">
            <a:extLst>
              <a:ext uri="{FF2B5EF4-FFF2-40B4-BE49-F238E27FC236}">
                <a16:creationId xmlns:a16="http://schemas.microsoft.com/office/drawing/2014/main" id="{DCB2E209-3DF7-94D7-EF8B-B60562145897}"/>
              </a:ext>
            </a:extLst>
          </p:cNvPr>
          <p:cNvSpPr/>
          <p:nvPr/>
        </p:nvSpPr>
        <p:spPr>
          <a:xfrm>
            <a:off x="9982200" y="32639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ectangle 61">
            <a:extLst>
              <a:ext uri="{FF2B5EF4-FFF2-40B4-BE49-F238E27FC236}">
                <a16:creationId xmlns:a16="http://schemas.microsoft.com/office/drawing/2014/main" id="{33A39966-1365-E0DB-8D9B-4D6DD13B6D03}"/>
              </a:ext>
            </a:extLst>
          </p:cNvPr>
          <p:cNvSpPr/>
          <p:nvPr/>
        </p:nvSpPr>
        <p:spPr>
          <a:xfrm>
            <a:off x="10337800" y="32639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62">
            <a:extLst>
              <a:ext uri="{FF2B5EF4-FFF2-40B4-BE49-F238E27FC236}">
                <a16:creationId xmlns:a16="http://schemas.microsoft.com/office/drawing/2014/main" id="{9637FAAC-9B8E-C268-7D36-6FAF9D3B5BE5}"/>
              </a:ext>
            </a:extLst>
          </p:cNvPr>
          <p:cNvSpPr/>
          <p:nvPr/>
        </p:nvSpPr>
        <p:spPr>
          <a:xfrm>
            <a:off x="10693400" y="32639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ectangle 63">
            <a:extLst>
              <a:ext uri="{FF2B5EF4-FFF2-40B4-BE49-F238E27FC236}">
                <a16:creationId xmlns:a16="http://schemas.microsoft.com/office/drawing/2014/main" id="{61707FD4-6F12-C13A-FCEC-7FD650CC1F96}"/>
              </a:ext>
            </a:extLst>
          </p:cNvPr>
          <p:cNvSpPr/>
          <p:nvPr/>
        </p:nvSpPr>
        <p:spPr>
          <a:xfrm>
            <a:off x="11049000" y="32639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64">
            <a:extLst>
              <a:ext uri="{FF2B5EF4-FFF2-40B4-BE49-F238E27FC236}">
                <a16:creationId xmlns:a16="http://schemas.microsoft.com/office/drawing/2014/main" id="{A62A83B8-A31E-77C9-2D9D-84153C7D9010}"/>
              </a:ext>
            </a:extLst>
          </p:cNvPr>
          <p:cNvSpPr/>
          <p:nvPr/>
        </p:nvSpPr>
        <p:spPr>
          <a:xfrm>
            <a:off x="8559800" y="36195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ectangle 65">
            <a:extLst>
              <a:ext uri="{FF2B5EF4-FFF2-40B4-BE49-F238E27FC236}">
                <a16:creationId xmlns:a16="http://schemas.microsoft.com/office/drawing/2014/main" id="{588F9C0D-2602-1709-E1B1-EBC4A14E8B82}"/>
              </a:ext>
            </a:extLst>
          </p:cNvPr>
          <p:cNvSpPr/>
          <p:nvPr/>
        </p:nvSpPr>
        <p:spPr>
          <a:xfrm>
            <a:off x="8915400" y="3619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66">
            <a:extLst>
              <a:ext uri="{FF2B5EF4-FFF2-40B4-BE49-F238E27FC236}">
                <a16:creationId xmlns:a16="http://schemas.microsoft.com/office/drawing/2014/main" id="{7F8F23BA-EB4C-5178-7BC6-C3C496D0E48C}"/>
              </a:ext>
            </a:extLst>
          </p:cNvPr>
          <p:cNvSpPr/>
          <p:nvPr/>
        </p:nvSpPr>
        <p:spPr>
          <a:xfrm>
            <a:off x="9271000" y="36195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ectangle 67">
            <a:extLst>
              <a:ext uri="{FF2B5EF4-FFF2-40B4-BE49-F238E27FC236}">
                <a16:creationId xmlns:a16="http://schemas.microsoft.com/office/drawing/2014/main" id="{F9450DA9-9677-F7B2-AFC5-110488FE99E6}"/>
              </a:ext>
            </a:extLst>
          </p:cNvPr>
          <p:cNvSpPr/>
          <p:nvPr/>
        </p:nvSpPr>
        <p:spPr>
          <a:xfrm>
            <a:off x="9626600" y="36195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Rectangle 68">
            <a:extLst>
              <a:ext uri="{FF2B5EF4-FFF2-40B4-BE49-F238E27FC236}">
                <a16:creationId xmlns:a16="http://schemas.microsoft.com/office/drawing/2014/main" id="{DB0B6DFF-D420-E71F-466F-EF44426066D5}"/>
              </a:ext>
            </a:extLst>
          </p:cNvPr>
          <p:cNvSpPr/>
          <p:nvPr/>
        </p:nvSpPr>
        <p:spPr>
          <a:xfrm>
            <a:off x="9982200" y="3619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a:extLst>
              <a:ext uri="{FF2B5EF4-FFF2-40B4-BE49-F238E27FC236}">
                <a16:creationId xmlns:a16="http://schemas.microsoft.com/office/drawing/2014/main" id="{03AA4691-A33F-0E64-5918-0CF627137CEC}"/>
              </a:ext>
            </a:extLst>
          </p:cNvPr>
          <p:cNvSpPr/>
          <p:nvPr/>
        </p:nvSpPr>
        <p:spPr>
          <a:xfrm>
            <a:off x="10337800" y="36195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70">
            <a:extLst>
              <a:ext uri="{FF2B5EF4-FFF2-40B4-BE49-F238E27FC236}">
                <a16:creationId xmlns:a16="http://schemas.microsoft.com/office/drawing/2014/main" id="{D7D8D6D3-363F-AE79-243D-36E34DA51E61}"/>
              </a:ext>
            </a:extLst>
          </p:cNvPr>
          <p:cNvSpPr/>
          <p:nvPr/>
        </p:nvSpPr>
        <p:spPr>
          <a:xfrm>
            <a:off x="10693400" y="36195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Rectangle 71">
            <a:extLst>
              <a:ext uri="{FF2B5EF4-FFF2-40B4-BE49-F238E27FC236}">
                <a16:creationId xmlns:a16="http://schemas.microsoft.com/office/drawing/2014/main" id="{968AC646-3DC0-59B5-FAC5-E918071E5DBA}"/>
              </a:ext>
            </a:extLst>
          </p:cNvPr>
          <p:cNvSpPr/>
          <p:nvPr/>
        </p:nvSpPr>
        <p:spPr>
          <a:xfrm>
            <a:off x="11049000" y="36195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Rectangle 72">
            <a:extLst>
              <a:ext uri="{FF2B5EF4-FFF2-40B4-BE49-F238E27FC236}">
                <a16:creationId xmlns:a16="http://schemas.microsoft.com/office/drawing/2014/main" id="{59E2368E-3E15-850D-393A-0A41FB599358}"/>
              </a:ext>
            </a:extLst>
          </p:cNvPr>
          <p:cNvSpPr/>
          <p:nvPr/>
        </p:nvSpPr>
        <p:spPr>
          <a:xfrm>
            <a:off x="8559800" y="39751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Rectangle 73">
            <a:extLst>
              <a:ext uri="{FF2B5EF4-FFF2-40B4-BE49-F238E27FC236}">
                <a16:creationId xmlns:a16="http://schemas.microsoft.com/office/drawing/2014/main" id="{1115D0A1-F0EF-AECA-5423-5F0140CC3BE0}"/>
              </a:ext>
            </a:extLst>
          </p:cNvPr>
          <p:cNvSpPr/>
          <p:nvPr/>
        </p:nvSpPr>
        <p:spPr>
          <a:xfrm>
            <a:off x="8915400" y="3975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74">
            <a:extLst>
              <a:ext uri="{FF2B5EF4-FFF2-40B4-BE49-F238E27FC236}">
                <a16:creationId xmlns:a16="http://schemas.microsoft.com/office/drawing/2014/main" id="{21734B5E-91CC-02E2-2487-AAC26DDBB925}"/>
              </a:ext>
            </a:extLst>
          </p:cNvPr>
          <p:cNvSpPr/>
          <p:nvPr/>
        </p:nvSpPr>
        <p:spPr>
          <a:xfrm>
            <a:off x="9271000" y="39751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56DA2E02-87F0-CB3B-418A-3533A7642405}"/>
              </a:ext>
            </a:extLst>
          </p:cNvPr>
          <p:cNvSpPr/>
          <p:nvPr/>
        </p:nvSpPr>
        <p:spPr>
          <a:xfrm>
            <a:off x="9626600" y="39751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Rectangle 76">
            <a:extLst>
              <a:ext uri="{FF2B5EF4-FFF2-40B4-BE49-F238E27FC236}">
                <a16:creationId xmlns:a16="http://schemas.microsoft.com/office/drawing/2014/main" id="{76E460AF-3FFB-DEE1-5178-3CC0356326DB}"/>
              </a:ext>
            </a:extLst>
          </p:cNvPr>
          <p:cNvSpPr/>
          <p:nvPr/>
        </p:nvSpPr>
        <p:spPr>
          <a:xfrm>
            <a:off x="9982200" y="3975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Rectangle 77">
            <a:extLst>
              <a:ext uri="{FF2B5EF4-FFF2-40B4-BE49-F238E27FC236}">
                <a16:creationId xmlns:a16="http://schemas.microsoft.com/office/drawing/2014/main" id="{C22ED8AF-60B5-BA41-1AD3-C26D135E1353}"/>
              </a:ext>
            </a:extLst>
          </p:cNvPr>
          <p:cNvSpPr/>
          <p:nvPr/>
        </p:nvSpPr>
        <p:spPr>
          <a:xfrm>
            <a:off x="10337800" y="39751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78">
            <a:extLst>
              <a:ext uri="{FF2B5EF4-FFF2-40B4-BE49-F238E27FC236}">
                <a16:creationId xmlns:a16="http://schemas.microsoft.com/office/drawing/2014/main" id="{14883F88-F3F4-7683-74FB-1CAB09FAD666}"/>
              </a:ext>
            </a:extLst>
          </p:cNvPr>
          <p:cNvSpPr/>
          <p:nvPr/>
        </p:nvSpPr>
        <p:spPr>
          <a:xfrm>
            <a:off x="10693400" y="39751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Rectangle 79">
            <a:extLst>
              <a:ext uri="{FF2B5EF4-FFF2-40B4-BE49-F238E27FC236}">
                <a16:creationId xmlns:a16="http://schemas.microsoft.com/office/drawing/2014/main" id="{1984C4D7-96C2-0331-84A3-ABECD3AB2DF5}"/>
              </a:ext>
            </a:extLst>
          </p:cNvPr>
          <p:cNvSpPr/>
          <p:nvPr/>
        </p:nvSpPr>
        <p:spPr>
          <a:xfrm>
            <a:off x="11049000" y="39751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Rectangle 80">
            <a:extLst>
              <a:ext uri="{FF2B5EF4-FFF2-40B4-BE49-F238E27FC236}">
                <a16:creationId xmlns:a16="http://schemas.microsoft.com/office/drawing/2014/main" id="{43250E68-AEE4-5EE8-92EA-9EE1D89D2244}"/>
              </a:ext>
            </a:extLst>
          </p:cNvPr>
          <p:cNvSpPr/>
          <p:nvPr/>
        </p:nvSpPr>
        <p:spPr>
          <a:xfrm>
            <a:off x="8559800" y="43307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Rectangle 81">
            <a:extLst>
              <a:ext uri="{FF2B5EF4-FFF2-40B4-BE49-F238E27FC236}">
                <a16:creationId xmlns:a16="http://schemas.microsoft.com/office/drawing/2014/main" id="{B2D1AE68-0D94-C07E-9B93-5CDED03B5085}"/>
              </a:ext>
            </a:extLst>
          </p:cNvPr>
          <p:cNvSpPr/>
          <p:nvPr/>
        </p:nvSpPr>
        <p:spPr>
          <a:xfrm>
            <a:off x="8915400" y="4330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Rectangle 82">
            <a:extLst>
              <a:ext uri="{FF2B5EF4-FFF2-40B4-BE49-F238E27FC236}">
                <a16:creationId xmlns:a16="http://schemas.microsoft.com/office/drawing/2014/main" id="{2F47AD53-CE88-C997-0F36-B6D4468A2256}"/>
              </a:ext>
            </a:extLst>
          </p:cNvPr>
          <p:cNvSpPr/>
          <p:nvPr/>
        </p:nvSpPr>
        <p:spPr>
          <a:xfrm>
            <a:off x="9271000" y="43307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Rectangle 83">
            <a:extLst>
              <a:ext uri="{FF2B5EF4-FFF2-40B4-BE49-F238E27FC236}">
                <a16:creationId xmlns:a16="http://schemas.microsoft.com/office/drawing/2014/main" id="{F8863BCB-671F-4F33-F5BC-23BF3B0D7E79}"/>
              </a:ext>
            </a:extLst>
          </p:cNvPr>
          <p:cNvSpPr/>
          <p:nvPr/>
        </p:nvSpPr>
        <p:spPr>
          <a:xfrm>
            <a:off x="9626600" y="43307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84">
            <a:extLst>
              <a:ext uri="{FF2B5EF4-FFF2-40B4-BE49-F238E27FC236}">
                <a16:creationId xmlns:a16="http://schemas.microsoft.com/office/drawing/2014/main" id="{25857818-0431-56F0-B194-AAF0D4F19E98}"/>
              </a:ext>
            </a:extLst>
          </p:cNvPr>
          <p:cNvSpPr/>
          <p:nvPr/>
        </p:nvSpPr>
        <p:spPr>
          <a:xfrm>
            <a:off x="9982200" y="4330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85">
            <a:extLst>
              <a:ext uri="{FF2B5EF4-FFF2-40B4-BE49-F238E27FC236}">
                <a16:creationId xmlns:a16="http://schemas.microsoft.com/office/drawing/2014/main" id="{E524E138-DDD6-A1FD-218B-86933540CB80}"/>
              </a:ext>
            </a:extLst>
          </p:cNvPr>
          <p:cNvSpPr/>
          <p:nvPr/>
        </p:nvSpPr>
        <p:spPr>
          <a:xfrm>
            <a:off x="10337800" y="4330700"/>
            <a:ext cx="355600" cy="355600"/>
          </a:xfrm>
          <a:prstGeom prst="rect">
            <a:avLst/>
          </a:prstGeom>
          <a:solidFill>
            <a:srgbClr val="1A8BFF"/>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Rectangle 86">
            <a:extLst>
              <a:ext uri="{FF2B5EF4-FFF2-40B4-BE49-F238E27FC236}">
                <a16:creationId xmlns:a16="http://schemas.microsoft.com/office/drawing/2014/main" id="{31FC2348-B6CA-689A-FD80-176482E015C6}"/>
              </a:ext>
            </a:extLst>
          </p:cNvPr>
          <p:cNvSpPr/>
          <p:nvPr/>
        </p:nvSpPr>
        <p:spPr>
          <a:xfrm>
            <a:off x="10693400" y="4330700"/>
            <a:ext cx="355600" cy="355600"/>
          </a:xfrm>
          <a:prstGeom prst="rect">
            <a:avLst/>
          </a:prstGeom>
          <a:solidFill>
            <a:srgbClr val="071E35"/>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Rectangle 87">
            <a:extLst>
              <a:ext uri="{FF2B5EF4-FFF2-40B4-BE49-F238E27FC236}">
                <a16:creationId xmlns:a16="http://schemas.microsoft.com/office/drawing/2014/main" id="{00C241BB-2C98-F894-CDF7-3966D65BB6D5}"/>
              </a:ext>
            </a:extLst>
          </p:cNvPr>
          <p:cNvSpPr/>
          <p:nvPr/>
        </p:nvSpPr>
        <p:spPr>
          <a:xfrm>
            <a:off x="11049000" y="4330700"/>
            <a:ext cx="355600" cy="355600"/>
          </a:xfrm>
          <a:prstGeom prst="rect">
            <a:avLst/>
          </a:prstGeom>
          <a:solidFill>
            <a:srgbClr val="17486B"/>
          </a:solidFill>
          <a:ln w="6350">
            <a:solidFill>
              <a:srgbClr val="0618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TextBox 88">
            <a:extLst>
              <a:ext uri="{FF2B5EF4-FFF2-40B4-BE49-F238E27FC236}">
                <a16:creationId xmlns:a16="http://schemas.microsoft.com/office/drawing/2014/main" id="{57B705E0-377A-58B8-642D-F4F3B3724C13}"/>
              </a:ext>
            </a:extLst>
          </p:cNvPr>
          <p:cNvSpPr txBox="1"/>
          <p:nvPr/>
        </p:nvSpPr>
        <p:spPr>
          <a:xfrm>
            <a:off x="812800" y="4927600"/>
            <a:ext cx="2794000" cy="276999"/>
          </a:xfrm>
          <a:prstGeom prst="rect">
            <a:avLst/>
          </a:prstGeom>
          <a:noFill/>
        </p:spPr>
        <p:txBody>
          <a:bodyPr vert="horz" wrap="square" lIns="0" tIns="0" rIns="0" bIns="0" rtlCol="0">
            <a:noAutofit/>
          </a:bodyPr>
          <a:lstStyle/>
          <a:p>
            <a:pPr algn="ctr"/>
            <a:r>
              <a:rPr lang="en-IN" sz="1700" b="1">
                <a:solidFill>
                  <a:srgbClr val="55E6A5"/>
                </a:solidFill>
                <a:latin typeface="Aptos" panose="020B0004020202020204" pitchFamily="34" charset="0"/>
              </a:rPr>
              <a:t>Large block</a:t>
            </a:r>
          </a:p>
        </p:txBody>
      </p:sp>
      <p:sp>
        <p:nvSpPr>
          <p:cNvPr id="90" name="TextBox 89">
            <a:extLst>
              <a:ext uri="{FF2B5EF4-FFF2-40B4-BE49-F238E27FC236}">
                <a16:creationId xmlns:a16="http://schemas.microsoft.com/office/drawing/2014/main" id="{430BA6E1-3AA2-203D-E7F8-8E5A72361247}"/>
              </a:ext>
            </a:extLst>
          </p:cNvPr>
          <p:cNvSpPr txBox="1"/>
          <p:nvPr/>
        </p:nvSpPr>
        <p:spPr>
          <a:xfrm>
            <a:off x="4673600" y="4927600"/>
            <a:ext cx="2794000" cy="276999"/>
          </a:xfrm>
          <a:prstGeom prst="rect">
            <a:avLst/>
          </a:prstGeom>
          <a:noFill/>
        </p:spPr>
        <p:txBody>
          <a:bodyPr vert="horz" wrap="square" lIns="0" tIns="0" rIns="0" bIns="0" rtlCol="0">
            <a:noAutofit/>
          </a:bodyPr>
          <a:lstStyle/>
          <a:p>
            <a:pPr algn="ctr"/>
            <a:r>
              <a:rPr lang="en-IN" sz="1700" b="1">
                <a:solidFill>
                  <a:srgbClr val="55E6A5"/>
                </a:solidFill>
                <a:latin typeface="Aptos" panose="020B0004020202020204" pitchFamily="34" charset="0"/>
              </a:rPr>
              <a:t>Split around the edge</a:t>
            </a:r>
          </a:p>
        </p:txBody>
      </p:sp>
      <p:sp>
        <p:nvSpPr>
          <p:cNvPr id="91" name="TextBox 90">
            <a:extLst>
              <a:ext uri="{FF2B5EF4-FFF2-40B4-BE49-F238E27FC236}">
                <a16:creationId xmlns:a16="http://schemas.microsoft.com/office/drawing/2014/main" id="{8AFD1F10-C30F-059E-460A-D30D43A61E3F}"/>
              </a:ext>
            </a:extLst>
          </p:cNvPr>
          <p:cNvSpPr txBox="1"/>
          <p:nvPr/>
        </p:nvSpPr>
        <p:spPr>
          <a:xfrm>
            <a:off x="8559800" y="4927600"/>
            <a:ext cx="2794000" cy="276999"/>
          </a:xfrm>
          <a:prstGeom prst="rect">
            <a:avLst/>
          </a:prstGeom>
          <a:noFill/>
        </p:spPr>
        <p:txBody>
          <a:bodyPr vert="horz" wrap="square" lIns="0" tIns="0" rIns="0" bIns="0" rtlCol="0">
            <a:noAutofit/>
          </a:bodyPr>
          <a:lstStyle/>
          <a:p>
            <a:pPr algn="ctr"/>
            <a:r>
              <a:rPr lang="en-IN" sz="1700" b="1">
                <a:solidFill>
                  <a:srgbClr val="55E6A5"/>
                </a:solidFill>
                <a:latin typeface="Aptos" panose="020B0004020202020204" pitchFamily="34" charset="0"/>
              </a:rPr>
              <a:t>Smaller blocks</a:t>
            </a:r>
          </a:p>
        </p:txBody>
      </p:sp>
      <p:sp>
        <p:nvSpPr>
          <p:cNvPr id="92" name="Rectangle: Rounded Corners 91">
            <a:extLst>
              <a:ext uri="{FF2B5EF4-FFF2-40B4-BE49-F238E27FC236}">
                <a16:creationId xmlns:a16="http://schemas.microsoft.com/office/drawing/2014/main" id="{9967A9B5-9812-DA49-C11D-A9FA068F1B40}"/>
              </a:ext>
            </a:extLst>
          </p:cNvPr>
          <p:cNvSpPr/>
          <p:nvPr/>
        </p:nvSpPr>
        <p:spPr>
          <a:xfrm>
            <a:off x="2006600" y="5651500"/>
            <a:ext cx="8178800" cy="558800"/>
          </a:xfrm>
          <a:prstGeom prst="roundRect">
            <a:avLst/>
          </a:prstGeom>
          <a:solidFill>
            <a:srgbClr val="071E35">
              <a:alpha val="97000"/>
            </a:srgbClr>
          </a:solidFill>
          <a:ln w="1651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TextBox 92">
            <a:extLst>
              <a:ext uri="{FF2B5EF4-FFF2-40B4-BE49-F238E27FC236}">
                <a16:creationId xmlns:a16="http://schemas.microsoft.com/office/drawing/2014/main" id="{D282D141-9763-7D00-A806-2CEC90A7A583}"/>
              </a:ext>
            </a:extLst>
          </p:cNvPr>
          <p:cNvSpPr txBox="1"/>
          <p:nvPr/>
        </p:nvSpPr>
        <p:spPr>
          <a:xfrm>
            <a:off x="1854200" y="5765800"/>
            <a:ext cx="8483600" cy="276999"/>
          </a:xfrm>
          <a:prstGeom prst="rect">
            <a:avLst/>
          </a:prstGeom>
          <a:noFill/>
        </p:spPr>
        <p:txBody>
          <a:bodyPr vert="horz" wrap="square" lIns="0" tIns="0" rIns="0" bIns="0" rtlCol="0">
            <a:noAutofit/>
          </a:bodyPr>
          <a:lstStyle/>
          <a:p>
            <a:pPr algn="ctr"/>
            <a:r>
              <a:rPr lang="en-US" sz="1700" b="1">
                <a:solidFill>
                  <a:srgbClr val="F5F7FA"/>
                </a:solidFill>
                <a:latin typeface="Aptos Display" panose="020B0004020202020204" pitchFamily="34" charset="0"/>
              </a:rPr>
              <a:t>High Efficiency Video Coding spends partitioning detail only where the picture needs it.</a:t>
            </a:r>
            <a:endParaRPr lang="en-IN" sz="1700" b="1">
              <a:solidFill>
                <a:srgbClr val="F5F7FA"/>
              </a:solidFill>
              <a:latin typeface="Aptos Display" panose="020B0004020202020204" pitchFamily="34" charset="0"/>
            </a:endParaRPr>
          </a:p>
        </p:txBody>
      </p:sp>
      <p:sp>
        <p:nvSpPr>
          <p:cNvPr id="94" name="TextBox 93">
            <a:extLst>
              <a:ext uri="{FF2B5EF4-FFF2-40B4-BE49-F238E27FC236}">
                <a16:creationId xmlns:a16="http://schemas.microsoft.com/office/drawing/2014/main" id="{32C6AED6-553B-E0F3-8B40-75C9138D9EB3}"/>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04 / 19</a:t>
            </a:r>
          </a:p>
        </p:txBody>
      </p:sp>
    </p:spTree>
    <p:extLst>
      <p:ext uri="{BB962C8B-B14F-4D97-AF65-F5344CB8AC3E}">
        <p14:creationId xmlns:p14="http://schemas.microsoft.com/office/powerpoint/2010/main" val="114603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CC284C-9B81-B346-1B93-2D3FDCDC7024}"/>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E6EC235D-B8F0-71B6-C6B1-7BD11F3867CA}"/>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B3EF86E8-B72F-6CEE-C13D-D8B862B108A9}"/>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EE95B6-1F01-C639-F584-CE44353339B2}"/>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Coding Tree Units are the largest High Efficiency Video Coding workspaces</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AB41F772-ABB1-7270-0B3A-E47083145108}"/>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10AC572-629D-4A15-0A4E-F775D873D71C}"/>
              </a:ext>
            </a:extLst>
          </p:cNvPr>
          <p:cNvSpPr/>
          <p:nvPr/>
        </p:nvSpPr>
        <p:spPr>
          <a:xfrm>
            <a:off x="1168400" y="1676400"/>
            <a:ext cx="3683000" cy="3683000"/>
          </a:xfrm>
          <a:prstGeom prst="rect">
            <a:avLst/>
          </a:prstGeom>
          <a:solidFill>
            <a:srgbClr val="06182B"/>
          </a:solidFill>
          <a:ln w="1905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90A31007-5AF5-FC08-B69C-7C7F451BFB66}"/>
              </a:ext>
            </a:extLst>
          </p:cNvPr>
          <p:cNvCxnSpPr/>
          <p:nvPr/>
        </p:nvCxnSpPr>
        <p:spPr>
          <a:xfrm>
            <a:off x="1628775"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72C23D1-1C84-905B-A2BF-24E072E923E8}"/>
              </a:ext>
            </a:extLst>
          </p:cNvPr>
          <p:cNvCxnSpPr/>
          <p:nvPr/>
        </p:nvCxnSpPr>
        <p:spPr>
          <a:xfrm>
            <a:off x="1168400" y="2136775"/>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F673A87-D273-09F4-C905-B608ED021AAC}"/>
              </a:ext>
            </a:extLst>
          </p:cNvPr>
          <p:cNvCxnSpPr/>
          <p:nvPr/>
        </p:nvCxnSpPr>
        <p:spPr>
          <a:xfrm>
            <a:off x="2089150"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81F6DFA-5208-2A19-8A61-F3B38A12997F}"/>
              </a:ext>
            </a:extLst>
          </p:cNvPr>
          <p:cNvCxnSpPr/>
          <p:nvPr/>
        </p:nvCxnSpPr>
        <p:spPr>
          <a:xfrm>
            <a:off x="1168400" y="2597150"/>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983857C-EE66-65A0-9971-C3590ADEB0A3}"/>
              </a:ext>
            </a:extLst>
          </p:cNvPr>
          <p:cNvCxnSpPr/>
          <p:nvPr/>
        </p:nvCxnSpPr>
        <p:spPr>
          <a:xfrm>
            <a:off x="2549525"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13817B6-E8B7-FF42-2F79-370F1C219A23}"/>
              </a:ext>
            </a:extLst>
          </p:cNvPr>
          <p:cNvCxnSpPr/>
          <p:nvPr/>
        </p:nvCxnSpPr>
        <p:spPr>
          <a:xfrm>
            <a:off x="1168400" y="3057525"/>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B0397A-4EF3-15D9-25E0-AAC934567955}"/>
              </a:ext>
            </a:extLst>
          </p:cNvPr>
          <p:cNvCxnSpPr/>
          <p:nvPr/>
        </p:nvCxnSpPr>
        <p:spPr>
          <a:xfrm>
            <a:off x="3009900"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276BFB-86B1-11B1-C243-2DAC8AE8AACD}"/>
              </a:ext>
            </a:extLst>
          </p:cNvPr>
          <p:cNvCxnSpPr/>
          <p:nvPr/>
        </p:nvCxnSpPr>
        <p:spPr>
          <a:xfrm>
            <a:off x="1168400" y="3517900"/>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AAA167-F9F8-0F4E-808F-E38AB8E3C1A1}"/>
              </a:ext>
            </a:extLst>
          </p:cNvPr>
          <p:cNvCxnSpPr/>
          <p:nvPr/>
        </p:nvCxnSpPr>
        <p:spPr>
          <a:xfrm>
            <a:off x="3470275"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8709E1-EDDC-D9B8-21C7-9AF1A71BF2EA}"/>
              </a:ext>
            </a:extLst>
          </p:cNvPr>
          <p:cNvCxnSpPr/>
          <p:nvPr/>
        </p:nvCxnSpPr>
        <p:spPr>
          <a:xfrm>
            <a:off x="1168400" y="3978275"/>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CA8B00-49CF-4FF5-DCD6-96FE9EB3AA64}"/>
              </a:ext>
            </a:extLst>
          </p:cNvPr>
          <p:cNvCxnSpPr/>
          <p:nvPr/>
        </p:nvCxnSpPr>
        <p:spPr>
          <a:xfrm>
            <a:off x="3930650"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A69389E-592B-3B45-0152-E8D03C3D2867}"/>
              </a:ext>
            </a:extLst>
          </p:cNvPr>
          <p:cNvCxnSpPr/>
          <p:nvPr/>
        </p:nvCxnSpPr>
        <p:spPr>
          <a:xfrm>
            <a:off x="1168400" y="4438650"/>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9E2E316-9882-4476-C16C-C6FC8F1FFBEC}"/>
              </a:ext>
            </a:extLst>
          </p:cNvPr>
          <p:cNvCxnSpPr/>
          <p:nvPr/>
        </p:nvCxnSpPr>
        <p:spPr>
          <a:xfrm>
            <a:off x="4391025" y="1676400"/>
            <a:ext cx="0" cy="368300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A88276-1893-8738-6472-7F01E3635849}"/>
              </a:ext>
            </a:extLst>
          </p:cNvPr>
          <p:cNvCxnSpPr/>
          <p:nvPr/>
        </p:nvCxnSpPr>
        <p:spPr>
          <a:xfrm>
            <a:off x="1168400" y="4899025"/>
            <a:ext cx="3683000" cy="0"/>
          </a:xfrm>
          <a:prstGeom prst="line">
            <a:avLst/>
          </a:prstGeom>
          <a:ln w="8890">
            <a:solidFill>
              <a:srgbClr val="17486B"/>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4F0CAB4-1E41-7FD3-B976-9F5DCA97B675}"/>
              </a:ext>
            </a:extLst>
          </p:cNvPr>
          <p:cNvSpPr txBox="1"/>
          <p:nvPr/>
        </p:nvSpPr>
        <p:spPr>
          <a:xfrm>
            <a:off x="1320800" y="5562600"/>
            <a:ext cx="3365500" cy="276999"/>
          </a:xfrm>
          <a:prstGeom prst="rect">
            <a:avLst/>
          </a:prstGeom>
          <a:noFill/>
        </p:spPr>
        <p:txBody>
          <a:bodyPr vert="horz" wrap="square" lIns="0" tIns="0" rIns="0" bIns="0" rtlCol="0">
            <a:noAutofit/>
          </a:bodyPr>
          <a:lstStyle/>
          <a:p>
            <a:pPr algn="ctr"/>
            <a:r>
              <a:rPr lang="en-IN" sz="2200" b="1">
                <a:solidFill>
                  <a:srgbClr val="16E3F2"/>
                </a:solidFill>
                <a:latin typeface="Aptos Display" panose="020B0004020202020204" pitchFamily="34" charset="0"/>
              </a:rPr>
              <a:t>64 × 64 luma samples</a:t>
            </a:r>
          </a:p>
        </p:txBody>
      </p:sp>
      <p:sp>
        <p:nvSpPr>
          <p:cNvPr id="23" name="TextBox 22">
            <a:extLst>
              <a:ext uri="{FF2B5EF4-FFF2-40B4-BE49-F238E27FC236}">
                <a16:creationId xmlns:a16="http://schemas.microsoft.com/office/drawing/2014/main" id="{3C142212-440D-C275-52E8-ABFF526BFF23}"/>
              </a:ext>
            </a:extLst>
          </p:cNvPr>
          <p:cNvSpPr txBox="1"/>
          <p:nvPr/>
        </p:nvSpPr>
        <p:spPr>
          <a:xfrm>
            <a:off x="5994400" y="1651000"/>
            <a:ext cx="4953000" cy="276999"/>
          </a:xfrm>
          <a:prstGeom prst="rect">
            <a:avLst/>
          </a:prstGeom>
          <a:noFill/>
        </p:spPr>
        <p:txBody>
          <a:bodyPr vert="horz" wrap="square" lIns="0" tIns="0" rIns="0" bIns="0" rtlCol="0">
            <a:noAutofit/>
          </a:bodyPr>
          <a:lstStyle/>
          <a:p>
            <a:r>
              <a:rPr lang="en-IN" sz="2700" b="1">
                <a:solidFill>
                  <a:srgbClr val="F5F7FA"/>
                </a:solidFill>
                <a:latin typeface="Aptos Display" panose="020B0004020202020204" pitchFamily="34" charset="0"/>
              </a:rPr>
              <a:t>Coding Tree Unit (CTU)</a:t>
            </a:r>
          </a:p>
        </p:txBody>
      </p:sp>
      <p:sp>
        <p:nvSpPr>
          <p:cNvPr id="24" name="Oval 23">
            <a:extLst>
              <a:ext uri="{FF2B5EF4-FFF2-40B4-BE49-F238E27FC236}">
                <a16:creationId xmlns:a16="http://schemas.microsoft.com/office/drawing/2014/main" id="{43D577E3-4300-84F4-1E73-755CE0B91D4A}"/>
              </a:ext>
            </a:extLst>
          </p:cNvPr>
          <p:cNvSpPr/>
          <p:nvPr/>
        </p:nvSpPr>
        <p:spPr>
          <a:xfrm>
            <a:off x="6019800" y="2476500"/>
            <a:ext cx="330200" cy="3302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200" b="1">
                <a:solidFill>
                  <a:srgbClr val="16E3F2"/>
                </a:solidFill>
                <a:latin typeface="Aptos Display" panose="020B0004020202020204" pitchFamily="34" charset="0"/>
              </a:rPr>
              <a:t>1</a:t>
            </a:r>
          </a:p>
        </p:txBody>
      </p:sp>
      <p:sp>
        <p:nvSpPr>
          <p:cNvPr id="25" name="TextBox 24">
            <a:extLst>
              <a:ext uri="{FF2B5EF4-FFF2-40B4-BE49-F238E27FC236}">
                <a16:creationId xmlns:a16="http://schemas.microsoft.com/office/drawing/2014/main" id="{E3B49773-1649-49FC-68BE-79CE4AE06101}"/>
              </a:ext>
            </a:extLst>
          </p:cNvPr>
          <p:cNvSpPr txBox="1"/>
          <p:nvPr/>
        </p:nvSpPr>
        <p:spPr>
          <a:xfrm>
            <a:off x="6527800" y="2438400"/>
            <a:ext cx="4572000" cy="276999"/>
          </a:xfrm>
          <a:prstGeom prst="rect">
            <a:avLst/>
          </a:prstGeom>
          <a:noFill/>
        </p:spPr>
        <p:txBody>
          <a:bodyPr vert="horz" wrap="square" lIns="0" tIns="0" rIns="0" bIns="0" rtlCol="0">
            <a:noAutofit/>
          </a:bodyPr>
          <a:lstStyle/>
          <a:p>
            <a:r>
              <a:rPr lang="en-US" sz="1600">
                <a:solidFill>
                  <a:srgbClr val="A7B7C9"/>
                </a:solidFill>
                <a:latin typeface="Aptos" panose="020B0004020202020204" pitchFamily="34" charset="0"/>
              </a:rPr>
              <a:t>A picture is tiled into CTUs.</a:t>
            </a:r>
            <a:endParaRPr lang="en-IN" sz="1600">
              <a:solidFill>
                <a:srgbClr val="A7B7C9"/>
              </a:solidFill>
              <a:latin typeface="Aptos" panose="020B0004020202020204" pitchFamily="34" charset="0"/>
            </a:endParaRPr>
          </a:p>
        </p:txBody>
      </p:sp>
      <p:sp>
        <p:nvSpPr>
          <p:cNvPr id="26" name="Oval 25">
            <a:extLst>
              <a:ext uri="{FF2B5EF4-FFF2-40B4-BE49-F238E27FC236}">
                <a16:creationId xmlns:a16="http://schemas.microsoft.com/office/drawing/2014/main" id="{1921D139-0389-9019-3C09-8BEBABAAD1E3}"/>
              </a:ext>
            </a:extLst>
          </p:cNvPr>
          <p:cNvSpPr/>
          <p:nvPr/>
        </p:nvSpPr>
        <p:spPr>
          <a:xfrm>
            <a:off x="6019800" y="3238500"/>
            <a:ext cx="330200" cy="3302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200" b="1">
                <a:solidFill>
                  <a:srgbClr val="16E3F2"/>
                </a:solidFill>
                <a:latin typeface="Aptos Display" panose="020B0004020202020204" pitchFamily="34" charset="0"/>
              </a:rPr>
              <a:t>2</a:t>
            </a:r>
          </a:p>
        </p:txBody>
      </p:sp>
      <p:sp>
        <p:nvSpPr>
          <p:cNvPr id="27" name="TextBox 26">
            <a:extLst>
              <a:ext uri="{FF2B5EF4-FFF2-40B4-BE49-F238E27FC236}">
                <a16:creationId xmlns:a16="http://schemas.microsoft.com/office/drawing/2014/main" id="{42298AD7-C8C5-B4AF-E65A-54E66D962DAF}"/>
              </a:ext>
            </a:extLst>
          </p:cNvPr>
          <p:cNvSpPr txBox="1"/>
          <p:nvPr/>
        </p:nvSpPr>
        <p:spPr>
          <a:xfrm>
            <a:off x="6527800" y="3200400"/>
            <a:ext cx="4572000" cy="276999"/>
          </a:xfrm>
          <a:prstGeom prst="rect">
            <a:avLst/>
          </a:prstGeom>
          <a:noFill/>
        </p:spPr>
        <p:txBody>
          <a:bodyPr vert="horz" wrap="square" lIns="0" tIns="0" rIns="0" bIns="0" rtlCol="0">
            <a:noAutofit/>
          </a:bodyPr>
          <a:lstStyle/>
          <a:p>
            <a:r>
              <a:rPr lang="en-US" sz="1600">
                <a:solidFill>
                  <a:srgbClr val="A7B7C9"/>
                </a:solidFill>
                <a:latin typeface="Aptos" panose="020B0004020202020204" pitchFamily="34" charset="0"/>
              </a:rPr>
              <a:t>A CTU contains one luma coding-tree block and corresponding chroma blocks.</a:t>
            </a:r>
            <a:endParaRPr lang="en-IN" sz="1600">
              <a:solidFill>
                <a:srgbClr val="A7B7C9"/>
              </a:solidFill>
              <a:latin typeface="Aptos" panose="020B0004020202020204" pitchFamily="34" charset="0"/>
            </a:endParaRPr>
          </a:p>
        </p:txBody>
      </p:sp>
      <p:sp>
        <p:nvSpPr>
          <p:cNvPr id="28" name="Oval 27">
            <a:extLst>
              <a:ext uri="{FF2B5EF4-FFF2-40B4-BE49-F238E27FC236}">
                <a16:creationId xmlns:a16="http://schemas.microsoft.com/office/drawing/2014/main" id="{0A9E78C2-03F2-7E6B-8A86-E3B3DC5453A4}"/>
              </a:ext>
            </a:extLst>
          </p:cNvPr>
          <p:cNvSpPr/>
          <p:nvPr/>
        </p:nvSpPr>
        <p:spPr>
          <a:xfrm>
            <a:off x="6019800" y="4000500"/>
            <a:ext cx="330200" cy="3302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200" b="1">
                <a:solidFill>
                  <a:srgbClr val="1A8BFF"/>
                </a:solidFill>
                <a:latin typeface="Aptos Display" panose="020B0004020202020204" pitchFamily="34" charset="0"/>
              </a:rPr>
              <a:t>3</a:t>
            </a:r>
          </a:p>
        </p:txBody>
      </p:sp>
      <p:sp>
        <p:nvSpPr>
          <p:cNvPr id="29" name="TextBox 28">
            <a:extLst>
              <a:ext uri="{FF2B5EF4-FFF2-40B4-BE49-F238E27FC236}">
                <a16:creationId xmlns:a16="http://schemas.microsoft.com/office/drawing/2014/main" id="{E543918F-3269-2B02-30BB-30A8CFE64CBC}"/>
              </a:ext>
            </a:extLst>
          </p:cNvPr>
          <p:cNvSpPr txBox="1"/>
          <p:nvPr/>
        </p:nvSpPr>
        <p:spPr>
          <a:xfrm>
            <a:off x="6527800" y="3962400"/>
            <a:ext cx="4572000" cy="276999"/>
          </a:xfrm>
          <a:prstGeom prst="rect">
            <a:avLst/>
          </a:prstGeom>
          <a:noFill/>
        </p:spPr>
        <p:txBody>
          <a:bodyPr vert="horz" wrap="square" lIns="0" tIns="0" rIns="0" bIns="0" rtlCol="0">
            <a:noAutofit/>
          </a:bodyPr>
          <a:lstStyle/>
          <a:p>
            <a:r>
              <a:rPr lang="en-US" sz="1600">
                <a:solidFill>
                  <a:srgbClr val="A7B7C9"/>
                </a:solidFill>
                <a:latin typeface="Aptos" panose="020B0004020202020204" pitchFamily="34" charset="0"/>
              </a:rPr>
              <a:t>The encoder can keep it large or recursively split it.</a:t>
            </a:r>
            <a:endParaRPr lang="en-IN" sz="1600">
              <a:solidFill>
                <a:srgbClr val="A7B7C9"/>
              </a:solidFill>
              <a:latin typeface="Aptos" panose="020B0004020202020204" pitchFamily="34" charset="0"/>
            </a:endParaRPr>
          </a:p>
        </p:txBody>
      </p:sp>
      <p:sp>
        <p:nvSpPr>
          <p:cNvPr id="30" name="Oval 29">
            <a:extLst>
              <a:ext uri="{FF2B5EF4-FFF2-40B4-BE49-F238E27FC236}">
                <a16:creationId xmlns:a16="http://schemas.microsoft.com/office/drawing/2014/main" id="{A1AB1EEF-FF15-475A-DE41-5BC3A0CC1617}"/>
              </a:ext>
            </a:extLst>
          </p:cNvPr>
          <p:cNvSpPr/>
          <p:nvPr/>
        </p:nvSpPr>
        <p:spPr>
          <a:xfrm>
            <a:off x="6019800" y="4762500"/>
            <a:ext cx="330200" cy="3302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200" b="1">
                <a:solidFill>
                  <a:srgbClr val="1A8BFF"/>
                </a:solidFill>
                <a:latin typeface="Aptos Display" panose="020B0004020202020204" pitchFamily="34" charset="0"/>
              </a:rPr>
              <a:t>4</a:t>
            </a:r>
          </a:p>
        </p:txBody>
      </p:sp>
      <p:sp>
        <p:nvSpPr>
          <p:cNvPr id="31" name="TextBox 30">
            <a:extLst>
              <a:ext uri="{FF2B5EF4-FFF2-40B4-BE49-F238E27FC236}">
                <a16:creationId xmlns:a16="http://schemas.microsoft.com/office/drawing/2014/main" id="{8CE1A5E2-3601-8833-C302-00511CDA0817}"/>
              </a:ext>
            </a:extLst>
          </p:cNvPr>
          <p:cNvSpPr txBox="1"/>
          <p:nvPr/>
        </p:nvSpPr>
        <p:spPr>
          <a:xfrm>
            <a:off x="6527800" y="4724400"/>
            <a:ext cx="4572000" cy="276999"/>
          </a:xfrm>
          <a:prstGeom prst="rect">
            <a:avLst/>
          </a:prstGeom>
          <a:noFill/>
        </p:spPr>
        <p:txBody>
          <a:bodyPr vert="horz" wrap="square" lIns="0" tIns="0" rIns="0" bIns="0" rtlCol="0">
            <a:noAutofit/>
          </a:bodyPr>
          <a:lstStyle/>
          <a:p>
            <a:r>
              <a:rPr lang="en-US" sz="1600">
                <a:solidFill>
                  <a:srgbClr val="A7B7C9"/>
                </a:solidFill>
                <a:latin typeface="Aptos" panose="020B0004020202020204" pitchFamily="34" charset="0"/>
              </a:rPr>
              <a:t>CTU size improves flexibility and parallel-processing opportunities.</a:t>
            </a:r>
            <a:endParaRPr lang="en-IN" sz="1600">
              <a:solidFill>
                <a:srgbClr val="A7B7C9"/>
              </a:solidFill>
              <a:latin typeface="Aptos" panose="020B0004020202020204" pitchFamily="34" charset="0"/>
            </a:endParaRPr>
          </a:p>
        </p:txBody>
      </p:sp>
      <p:sp>
        <p:nvSpPr>
          <p:cNvPr id="32" name="Rectangle: Rounded Corners 31">
            <a:extLst>
              <a:ext uri="{FF2B5EF4-FFF2-40B4-BE49-F238E27FC236}">
                <a16:creationId xmlns:a16="http://schemas.microsoft.com/office/drawing/2014/main" id="{6349F534-8099-FF2E-3D90-A9CE1A4F0EDE}"/>
              </a:ext>
            </a:extLst>
          </p:cNvPr>
          <p:cNvSpPr/>
          <p:nvPr/>
        </p:nvSpPr>
        <p:spPr>
          <a:xfrm>
            <a:off x="5969000" y="5626100"/>
            <a:ext cx="5054600" cy="533400"/>
          </a:xfrm>
          <a:prstGeom prst="roundRect">
            <a:avLst/>
          </a:prstGeom>
          <a:solidFill>
            <a:srgbClr val="071E35">
              <a:alpha val="97000"/>
            </a:srgbClr>
          </a:solidFill>
          <a:ln w="1524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AD5B4221-C389-963E-4056-10E551D113BF}"/>
              </a:ext>
            </a:extLst>
          </p:cNvPr>
          <p:cNvSpPr txBox="1"/>
          <p:nvPr/>
        </p:nvSpPr>
        <p:spPr>
          <a:xfrm>
            <a:off x="6172200" y="5740400"/>
            <a:ext cx="4648200" cy="276999"/>
          </a:xfrm>
          <a:prstGeom prst="rect">
            <a:avLst/>
          </a:prstGeom>
          <a:noFill/>
        </p:spPr>
        <p:txBody>
          <a:bodyPr vert="horz" wrap="square" lIns="0" tIns="0" rIns="0" bIns="0" rtlCol="0">
            <a:noAutofit/>
          </a:bodyPr>
          <a:lstStyle/>
          <a:p>
            <a:pPr algn="ctr"/>
            <a:r>
              <a:rPr lang="en-US" sz="1700" b="1">
                <a:solidFill>
                  <a:srgbClr val="F5F7FA"/>
                </a:solidFill>
                <a:latin typeface="Aptos" panose="020B0004020202020204" pitchFamily="34" charset="0"/>
              </a:rPr>
              <a:t>Think: the encoder's current workspace.</a:t>
            </a:r>
            <a:endParaRPr lang="en-IN" sz="1700" b="1">
              <a:solidFill>
                <a:srgbClr val="F5F7FA"/>
              </a:solidFill>
              <a:latin typeface="Aptos" panose="020B0004020202020204" pitchFamily="34" charset="0"/>
            </a:endParaRPr>
          </a:p>
        </p:txBody>
      </p:sp>
      <p:sp>
        <p:nvSpPr>
          <p:cNvPr id="34" name="TextBox 33">
            <a:extLst>
              <a:ext uri="{FF2B5EF4-FFF2-40B4-BE49-F238E27FC236}">
                <a16:creationId xmlns:a16="http://schemas.microsoft.com/office/drawing/2014/main" id="{A3E6ACB8-CC1D-0266-A207-C660AEC50128}"/>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05 / 19</a:t>
            </a:r>
          </a:p>
        </p:txBody>
      </p:sp>
    </p:spTree>
    <p:extLst>
      <p:ext uri="{BB962C8B-B14F-4D97-AF65-F5344CB8AC3E}">
        <p14:creationId xmlns:p14="http://schemas.microsoft.com/office/powerpoint/2010/main" val="1448052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E7AEC9-7CCA-4C52-7A1A-F3FB74E5CFE7}"/>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E28DAC9B-BE09-D579-21E5-BE0AAB893E30}"/>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8B0D83DD-D941-0F81-815D-BB99621F515F}"/>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1086C11-8F6B-DF99-2A57-A3D91C152DEB}"/>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The Coding Unit (CU) quadtree splits only where more detail is useful</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EFA8E500-AD7D-005F-79EF-40A1A8A0D375}"/>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2122F5A-4B49-50D1-50BB-FFD2C3F0F9F9}"/>
              </a:ext>
            </a:extLst>
          </p:cNvPr>
          <p:cNvSpPr/>
          <p:nvPr/>
        </p:nvSpPr>
        <p:spPr>
          <a:xfrm>
            <a:off x="838200" y="1498600"/>
            <a:ext cx="4445000" cy="4445000"/>
          </a:xfrm>
          <a:prstGeom prst="rect">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0A56CF1E-F8D3-89F0-B8F1-80065ECE6BB7}"/>
              </a:ext>
            </a:extLst>
          </p:cNvPr>
          <p:cNvCxnSpPr/>
          <p:nvPr/>
        </p:nvCxnSpPr>
        <p:spPr>
          <a:xfrm>
            <a:off x="3060700" y="1498600"/>
            <a:ext cx="0" cy="4445000"/>
          </a:xfrm>
          <a:prstGeom prst="line">
            <a:avLst/>
          </a:prstGeom>
          <a:ln w="2540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48F6203-F9EA-F71B-19BA-ABB969A7AD4A}"/>
              </a:ext>
            </a:extLst>
          </p:cNvPr>
          <p:cNvCxnSpPr/>
          <p:nvPr/>
        </p:nvCxnSpPr>
        <p:spPr>
          <a:xfrm>
            <a:off x="838200" y="3721100"/>
            <a:ext cx="4445000" cy="0"/>
          </a:xfrm>
          <a:prstGeom prst="line">
            <a:avLst/>
          </a:prstGeom>
          <a:ln w="2540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3D5361F-2913-3C08-9885-B08E04617BCE}"/>
              </a:ext>
            </a:extLst>
          </p:cNvPr>
          <p:cNvCxnSpPr/>
          <p:nvPr/>
        </p:nvCxnSpPr>
        <p:spPr>
          <a:xfrm>
            <a:off x="838200" y="2603500"/>
            <a:ext cx="2222500" cy="0"/>
          </a:xfrm>
          <a:prstGeom prst="line">
            <a:avLst/>
          </a:prstGeom>
          <a:ln w="2032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251E9A7-7165-45F2-4945-5C7062AABAFD}"/>
              </a:ext>
            </a:extLst>
          </p:cNvPr>
          <p:cNvCxnSpPr/>
          <p:nvPr/>
        </p:nvCxnSpPr>
        <p:spPr>
          <a:xfrm>
            <a:off x="1943100" y="1498600"/>
            <a:ext cx="0" cy="2222500"/>
          </a:xfrm>
          <a:prstGeom prst="line">
            <a:avLst/>
          </a:prstGeom>
          <a:ln w="2032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EE22D81-24C2-19B9-534B-9C0BBCCB5129}"/>
              </a:ext>
            </a:extLst>
          </p:cNvPr>
          <p:cNvCxnSpPr/>
          <p:nvPr/>
        </p:nvCxnSpPr>
        <p:spPr>
          <a:xfrm>
            <a:off x="3060700" y="4826000"/>
            <a:ext cx="2222500" cy="0"/>
          </a:xfrm>
          <a:prstGeom prst="line">
            <a:avLst/>
          </a:prstGeom>
          <a:ln w="2032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5286645-C544-9FF8-267E-D89024950088}"/>
              </a:ext>
            </a:extLst>
          </p:cNvPr>
          <p:cNvCxnSpPr/>
          <p:nvPr/>
        </p:nvCxnSpPr>
        <p:spPr>
          <a:xfrm>
            <a:off x="4165600" y="3721100"/>
            <a:ext cx="0" cy="2222500"/>
          </a:xfrm>
          <a:prstGeom prst="line">
            <a:avLst/>
          </a:prstGeom>
          <a:ln w="20320">
            <a:solidFill>
              <a:srgbClr val="1A8BF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E3335D9-C1DA-6E3A-36DD-8CDB63E3E8ED}"/>
              </a:ext>
            </a:extLst>
          </p:cNvPr>
          <p:cNvSpPr txBox="1"/>
          <p:nvPr/>
        </p:nvSpPr>
        <p:spPr>
          <a:xfrm>
            <a:off x="3200400" y="2616200"/>
            <a:ext cx="1905000" cy="276999"/>
          </a:xfrm>
          <a:prstGeom prst="rect">
            <a:avLst/>
          </a:prstGeom>
          <a:noFill/>
        </p:spPr>
        <p:txBody>
          <a:bodyPr vert="horz" wrap="square" lIns="0" tIns="0" rIns="0" bIns="0" rtlCol="0">
            <a:noAutofit/>
          </a:bodyPr>
          <a:lstStyle/>
          <a:p>
            <a:pPr algn="ctr"/>
            <a:r>
              <a:rPr lang="en-IN" sz="1600" b="1">
                <a:solidFill>
                  <a:srgbClr val="55E6A5"/>
                </a:solidFill>
                <a:latin typeface="Aptos" panose="020B0004020202020204" pitchFamily="34" charset="0"/>
              </a:rPr>
              <a:t>large CU</a:t>
            </a:r>
          </a:p>
        </p:txBody>
      </p:sp>
      <p:sp>
        <p:nvSpPr>
          <p:cNvPr id="15" name="TextBox 14">
            <a:extLst>
              <a:ext uri="{FF2B5EF4-FFF2-40B4-BE49-F238E27FC236}">
                <a16:creationId xmlns:a16="http://schemas.microsoft.com/office/drawing/2014/main" id="{7475D51A-0760-84C4-8A08-BC44A6376F94}"/>
              </a:ext>
            </a:extLst>
          </p:cNvPr>
          <p:cNvSpPr txBox="1"/>
          <p:nvPr/>
        </p:nvSpPr>
        <p:spPr>
          <a:xfrm>
            <a:off x="990600" y="2984500"/>
            <a:ext cx="1905000" cy="276999"/>
          </a:xfrm>
          <a:prstGeom prst="rect">
            <a:avLst/>
          </a:prstGeom>
          <a:noFill/>
        </p:spPr>
        <p:txBody>
          <a:bodyPr vert="horz" wrap="square" lIns="0" tIns="0" rIns="0" bIns="0" rtlCol="0">
            <a:noAutofit/>
          </a:bodyPr>
          <a:lstStyle/>
          <a:p>
            <a:pPr algn="ctr"/>
            <a:r>
              <a:rPr lang="en-IN" sz="1600" b="1">
                <a:solidFill>
                  <a:srgbClr val="1A8BFF"/>
                </a:solidFill>
                <a:latin typeface="Aptos" panose="020B0004020202020204" pitchFamily="34" charset="0"/>
              </a:rPr>
              <a:t>smaller CUs</a:t>
            </a:r>
          </a:p>
        </p:txBody>
      </p:sp>
      <p:sp>
        <p:nvSpPr>
          <p:cNvPr id="16" name="TextBox 15">
            <a:extLst>
              <a:ext uri="{FF2B5EF4-FFF2-40B4-BE49-F238E27FC236}">
                <a16:creationId xmlns:a16="http://schemas.microsoft.com/office/drawing/2014/main" id="{6D317AF4-8C71-0598-5914-53025E24CEA5}"/>
              </a:ext>
            </a:extLst>
          </p:cNvPr>
          <p:cNvSpPr txBox="1"/>
          <p:nvPr/>
        </p:nvSpPr>
        <p:spPr>
          <a:xfrm>
            <a:off x="3200400" y="5105400"/>
            <a:ext cx="1905000" cy="276999"/>
          </a:xfrm>
          <a:prstGeom prst="rect">
            <a:avLst/>
          </a:prstGeom>
          <a:noFill/>
        </p:spPr>
        <p:txBody>
          <a:bodyPr vert="horz" wrap="square" lIns="0" tIns="0" rIns="0" bIns="0" rtlCol="0">
            <a:noAutofit/>
          </a:bodyPr>
          <a:lstStyle/>
          <a:p>
            <a:pPr algn="ctr"/>
            <a:r>
              <a:rPr lang="en-IN" sz="1500" b="1">
                <a:solidFill>
                  <a:srgbClr val="1A8BFF"/>
                </a:solidFill>
                <a:latin typeface="Aptos" panose="020B0004020202020204" pitchFamily="34" charset="0"/>
              </a:rPr>
              <a:t>complex region → deeper split</a:t>
            </a:r>
          </a:p>
        </p:txBody>
      </p:sp>
      <p:sp>
        <p:nvSpPr>
          <p:cNvPr id="17" name="TextBox 16">
            <a:extLst>
              <a:ext uri="{FF2B5EF4-FFF2-40B4-BE49-F238E27FC236}">
                <a16:creationId xmlns:a16="http://schemas.microsoft.com/office/drawing/2014/main" id="{ADD6D2ED-6D56-E309-E4E7-10A38D1B4C98}"/>
              </a:ext>
            </a:extLst>
          </p:cNvPr>
          <p:cNvSpPr txBox="1"/>
          <p:nvPr/>
        </p:nvSpPr>
        <p:spPr>
          <a:xfrm>
            <a:off x="6350000" y="1625600"/>
            <a:ext cx="4318000" cy="276999"/>
          </a:xfrm>
          <a:prstGeom prst="rect">
            <a:avLst/>
          </a:prstGeom>
          <a:noFill/>
        </p:spPr>
        <p:txBody>
          <a:bodyPr vert="horz" wrap="square" lIns="0" tIns="0" rIns="0" bIns="0" rtlCol="0">
            <a:noAutofit/>
          </a:bodyPr>
          <a:lstStyle/>
          <a:p>
            <a:r>
              <a:rPr lang="en-IN" sz="2700" b="1">
                <a:solidFill>
                  <a:srgbClr val="F5F7FA"/>
                </a:solidFill>
                <a:latin typeface="Aptos Display" panose="020B0004020202020204" pitchFamily="34" charset="0"/>
              </a:rPr>
              <a:t>Coding Unit (CU)</a:t>
            </a:r>
          </a:p>
        </p:txBody>
      </p:sp>
      <p:sp>
        <p:nvSpPr>
          <p:cNvPr id="18" name="TextBox 17">
            <a:extLst>
              <a:ext uri="{FF2B5EF4-FFF2-40B4-BE49-F238E27FC236}">
                <a16:creationId xmlns:a16="http://schemas.microsoft.com/office/drawing/2014/main" id="{8331862B-9F63-0741-D478-2F4C0C905623}"/>
              </a:ext>
            </a:extLst>
          </p:cNvPr>
          <p:cNvSpPr txBox="1"/>
          <p:nvPr/>
        </p:nvSpPr>
        <p:spPr>
          <a:xfrm>
            <a:off x="6375400" y="2463800"/>
            <a:ext cx="4191000" cy="276999"/>
          </a:xfrm>
          <a:prstGeom prst="rect">
            <a:avLst/>
          </a:prstGeom>
          <a:noFill/>
        </p:spPr>
        <p:txBody>
          <a:bodyPr vert="horz" wrap="square" lIns="0" tIns="0" rIns="0" bIns="0" rtlCol="0">
            <a:noAutofit/>
          </a:bodyPr>
          <a:lstStyle/>
          <a:p>
            <a:r>
              <a:rPr lang="en-US" b="1">
                <a:solidFill>
                  <a:srgbClr val="16E3F2"/>
                </a:solidFill>
                <a:latin typeface="Aptos" panose="020B0004020202020204" pitchFamily="34" charset="0"/>
              </a:rPr>
              <a:t>At each node, the encoder asks:</a:t>
            </a:r>
            <a:endParaRPr lang="en-IN" b="1">
              <a:solidFill>
                <a:srgbClr val="16E3F2"/>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B6F196D5-0559-0BF6-4953-872E7DEE159B}"/>
              </a:ext>
            </a:extLst>
          </p:cNvPr>
          <p:cNvSpPr/>
          <p:nvPr/>
        </p:nvSpPr>
        <p:spPr>
          <a:xfrm>
            <a:off x="6375400" y="3048000"/>
            <a:ext cx="4191000" cy="558800"/>
          </a:xfrm>
          <a:prstGeom prst="roundRect">
            <a:avLst/>
          </a:prstGeom>
          <a:solidFill>
            <a:srgbClr val="071E35">
              <a:alpha val="98000"/>
            </a:srgbClr>
          </a:solidFill>
          <a:ln w="1524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6509D9C-6772-B955-6754-51AD297AC811}"/>
              </a:ext>
            </a:extLst>
          </p:cNvPr>
          <p:cNvSpPr txBox="1"/>
          <p:nvPr/>
        </p:nvSpPr>
        <p:spPr>
          <a:xfrm>
            <a:off x="6591300" y="3187700"/>
            <a:ext cx="3759200" cy="276999"/>
          </a:xfrm>
          <a:prstGeom prst="rect">
            <a:avLst/>
          </a:prstGeom>
          <a:noFill/>
        </p:spPr>
        <p:txBody>
          <a:bodyPr vert="horz" wrap="square" lIns="0" tIns="0" rIns="0" bIns="0" rtlCol="0">
            <a:noAutofit/>
          </a:bodyPr>
          <a:lstStyle/>
          <a:p>
            <a:r>
              <a:rPr lang="en-US" sz="1700" b="1">
                <a:solidFill>
                  <a:srgbClr val="F5F7FA"/>
                </a:solidFill>
                <a:latin typeface="Aptos" panose="020B0004020202020204" pitchFamily="34" charset="0"/>
              </a:rPr>
              <a:t>Keep this CU as one region?</a:t>
            </a:r>
            <a:endParaRPr lang="en-IN" sz="1700" b="1">
              <a:solidFill>
                <a:srgbClr val="F5F7FA"/>
              </a:solidFill>
              <a:latin typeface="Aptos" panose="020B0004020202020204" pitchFamily="34" charset="0"/>
            </a:endParaRPr>
          </a:p>
        </p:txBody>
      </p:sp>
      <p:sp>
        <p:nvSpPr>
          <p:cNvPr id="21" name="Rectangle: Rounded Corners 20">
            <a:extLst>
              <a:ext uri="{FF2B5EF4-FFF2-40B4-BE49-F238E27FC236}">
                <a16:creationId xmlns:a16="http://schemas.microsoft.com/office/drawing/2014/main" id="{5CAE464E-5234-263D-C89F-4386B0446C08}"/>
              </a:ext>
            </a:extLst>
          </p:cNvPr>
          <p:cNvSpPr/>
          <p:nvPr/>
        </p:nvSpPr>
        <p:spPr>
          <a:xfrm>
            <a:off x="6375400" y="3835400"/>
            <a:ext cx="4191000" cy="558800"/>
          </a:xfrm>
          <a:prstGeom prst="roundRect">
            <a:avLst/>
          </a:prstGeom>
          <a:solidFill>
            <a:srgbClr val="071E35">
              <a:alpha val="98000"/>
            </a:srgbClr>
          </a:solidFill>
          <a:ln w="1524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00E3C0E7-81E6-1561-6205-4A2BEC1D252F}"/>
              </a:ext>
            </a:extLst>
          </p:cNvPr>
          <p:cNvSpPr txBox="1"/>
          <p:nvPr/>
        </p:nvSpPr>
        <p:spPr>
          <a:xfrm>
            <a:off x="6591300" y="3975100"/>
            <a:ext cx="3759200" cy="276999"/>
          </a:xfrm>
          <a:prstGeom prst="rect">
            <a:avLst/>
          </a:prstGeom>
          <a:noFill/>
        </p:spPr>
        <p:txBody>
          <a:bodyPr vert="horz" wrap="square" lIns="0" tIns="0" rIns="0" bIns="0" rtlCol="0">
            <a:noAutofit/>
          </a:bodyPr>
          <a:lstStyle/>
          <a:p>
            <a:r>
              <a:rPr lang="en-US" sz="1700" b="1">
                <a:solidFill>
                  <a:srgbClr val="F5F7FA"/>
                </a:solidFill>
                <a:latin typeface="Aptos" panose="020B0004020202020204" pitchFamily="34" charset="0"/>
              </a:rPr>
              <a:t>Or split it into four smaller CUs?</a:t>
            </a:r>
            <a:endParaRPr lang="en-IN" sz="1700" b="1">
              <a:solidFill>
                <a:srgbClr val="F5F7FA"/>
              </a:solidFill>
              <a:latin typeface="Aptos" panose="020B0004020202020204" pitchFamily="34" charset="0"/>
            </a:endParaRPr>
          </a:p>
        </p:txBody>
      </p:sp>
      <p:sp>
        <p:nvSpPr>
          <p:cNvPr id="23" name="Rectangle: Rounded Corners 22">
            <a:extLst>
              <a:ext uri="{FF2B5EF4-FFF2-40B4-BE49-F238E27FC236}">
                <a16:creationId xmlns:a16="http://schemas.microsoft.com/office/drawing/2014/main" id="{D5DCD2A9-DEE6-60AE-71F9-D85895124B80}"/>
              </a:ext>
            </a:extLst>
          </p:cNvPr>
          <p:cNvSpPr/>
          <p:nvPr/>
        </p:nvSpPr>
        <p:spPr>
          <a:xfrm>
            <a:off x="6375400" y="4622800"/>
            <a:ext cx="4191000" cy="558800"/>
          </a:xfrm>
          <a:prstGeom prst="roundRect">
            <a:avLst/>
          </a:prstGeom>
          <a:solidFill>
            <a:srgbClr val="071E35">
              <a:alpha val="98000"/>
            </a:srgbClr>
          </a:solidFill>
          <a:ln w="1524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27DD59F3-3940-FB12-1CBE-23446F356C21}"/>
              </a:ext>
            </a:extLst>
          </p:cNvPr>
          <p:cNvSpPr txBox="1"/>
          <p:nvPr/>
        </p:nvSpPr>
        <p:spPr>
          <a:xfrm>
            <a:off x="6591300" y="4762500"/>
            <a:ext cx="3759200" cy="276999"/>
          </a:xfrm>
          <a:prstGeom prst="rect">
            <a:avLst/>
          </a:prstGeom>
          <a:noFill/>
        </p:spPr>
        <p:txBody>
          <a:bodyPr vert="horz" wrap="square" lIns="0" tIns="0" rIns="0" bIns="0" rtlCol="0">
            <a:noAutofit/>
          </a:bodyPr>
          <a:lstStyle/>
          <a:p>
            <a:r>
              <a:rPr lang="en-US" sz="1700" b="1">
                <a:solidFill>
                  <a:srgbClr val="F5F7FA"/>
                </a:solidFill>
                <a:latin typeface="Aptos" panose="020B0004020202020204" pitchFamily="34" charset="0"/>
              </a:rPr>
              <a:t>Use intra or inter coding here?</a:t>
            </a:r>
            <a:endParaRPr lang="en-IN" sz="1700" b="1">
              <a:solidFill>
                <a:srgbClr val="F5F7FA"/>
              </a:solidFill>
              <a:latin typeface="Aptos" panose="020B0004020202020204" pitchFamily="34" charset="0"/>
            </a:endParaRPr>
          </a:p>
        </p:txBody>
      </p:sp>
      <p:sp>
        <p:nvSpPr>
          <p:cNvPr id="25" name="TextBox 24">
            <a:extLst>
              <a:ext uri="{FF2B5EF4-FFF2-40B4-BE49-F238E27FC236}">
                <a16:creationId xmlns:a16="http://schemas.microsoft.com/office/drawing/2014/main" id="{68F4EA23-2B4C-D85A-9854-867B7168F1AB}"/>
              </a:ext>
            </a:extLst>
          </p:cNvPr>
          <p:cNvSpPr txBox="1"/>
          <p:nvPr/>
        </p:nvSpPr>
        <p:spPr>
          <a:xfrm>
            <a:off x="6388100" y="5651500"/>
            <a:ext cx="4292600" cy="276999"/>
          </a:xfrm>
          <a:prstGeom prst="rect">
            <a:avLst/>
          </a:prstGeom>
          <a:noFill/>
        </p:spPr>
        <p:txBody>
          <a:bodyPr vert="horz" wrap="square" lIns="0" tIns="0" rIns="0" bIns="0" rtlCol="0">
            <a:noAutofit/>
          </a:bodyPr>
          <a:lstStyle/>
          <a:p>
            <a:r>
              <a:rPr lang="en-US" sz="1500">
                <a:solidFill>
                  <a:srgbClr val="A7B7C9"/>
                </a:solidFill>
                <a:latin typeface="Aptos" panose="020B0004020202020204" pitchFamily="34" charset="0"/>
              </a:rPr>
              <a:t>The split pattern itself must be signaled in the bitstream.</a:t>
            </a:r>
            <a:endParaRPr lang="en-IN" sz="1500">
              <a:solidFill>
                <a:srgbClr val="A7B7C9"/>
              </a:solidFill>
              <a:latin typeface="Aptos" panose="020B0004020202020204" pitchFamily="34" charset="0"/>
            </a:endParaRPr>
          </a:p>
        </p:txBody>
      </p:sp>
      <p:sp>
        <p:nvSpPr>
          <p:cNvPr id="26" name="TextBox 25">
            <a:extLst>
              <a:ext uri="{FF2B5EF4-FFF2-40B4-BE49-F238E27FC236}">
                <a16:creationId xmlns:a16="http://schemas.microsoft.com/office/drawing/2014/main" id="{3BAE1258-822E-208A-AC61-5AE3E1DD0CE4}"/>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06 / 19</a:t>
            </a:r>
          </a:p>
        </p:txBody>
      </p:sp>
    </p:spTree>
    <p:extLst>
      <p:ext uri="{BB962C8B-B14F-4D97-AF65-F5344CB8AC3E}">
        <p14:creationId xmlns:p14="http://schemas.microsoft.com/office/powerpoint/2010/main" val="269288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B2F085-5E2C-B573-2462-AF89D86DC07D}"/>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333B50A5-667B-8490-D927-A5A29C0E8526}"/>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0CCCDAAA-513D-9083-FF24-AB4A7801F318}"/>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79E69AD-85C1-47FD-0E07-4FDA93C93004}"/>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Prediction Units (PUs) define how Coding Units (CUs) are predicted</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BF91660A-0A56-3980-FAC3-C1B29F2B2683}"/>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E33E27A-916E-02BA-489C-D744F894FD12}"/>
              </a:ext>
            </a:extLst>
          </p:cNvPr>
          <p:cNvSpPr/>
          <p:nvPr/>
        </p:nvSpPr>
        <p:spPr>
          <a:xfrm>
            <a:off x="939800" y="1879600"/>
            <a:ext cx="2032000" cy="2032000"/>
          </a:xfrm>
          <a:prstGeom prst="rect">
            <a:avLst/>
          </a:prstGeom>
          <a:solidFill>
            <a:srgbClr val="06182B"/>
          </a:solidFill>
          <a:ln w="203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2EB565D-441F-EF3F-4345-F003DA0FA002}"/>
              </a:ext>
            </a:extLst>
          </p:cNvPr>
          <p:cNvSpPr txBox="1"/>
          <p:nvPr/>
        </p:nvSpPr>
        <p:spPr>
          <a:xfrm>
            <a:off x="939800" y="4140200"/>
            <a:ext cx="2032000" cy="276999"/>
          </a:xfrm>
          <a:prstGeom prst="rect">
            <a:avLst/>
          </a:prstGeom>
          <a:noFill/>
        </p:spPr>
        <p:txBody>
          <a:bodyPr vert="horz" wrap="square" lIns="0" tIns="0" rIns="0" bIns="0" rtlCol="0">
            <a:noAutofit/>
          </a:bodyPr>
          <a:lstStyle/>
          <a:p>
            <a:pPr algn="ctr"/>
            <a:r>
              <a:rPr lang="en-IN" b="1">
                <a:solidFill>
                  <a:srgbClr val="16E3F2"/>
                </a:solidFill>
                <a:latin typeface="Aptos Display" panose="020B0004020202020204" pitchFamily="34" charset="0"/>
              </a:rPr>
              <a:t>2N × 2N</a:t>
            </a:r>
          </a:p>
        </p:txBody>
      </p:sp>
      <p:sp>
        <p:nvSpPr>
          <p:cNvPr id="9" name="Rectangle 8">
            <a:extLst>
              <a:ext uri="{FF2B5EF4-FFF2-40B4-BE49-F238E27FC236}">
                <a16:creationId xmlns:a16="http://schemas.microsoft.com/office/drawing/2014/main" id="{8C3CDAB6-BF82-E64F-C063-9420F5D84ED1}"/>
              </a:ext>
            </a:extLst>
          </p:cNvPr>
          <p:cNvSpPr/>
          <p:nvPr/>
        </p:nvSpPr>
        <p:spPr>
          <a:xfrm>
            <a:off x="3657600" y="1879600"/>
            <a:ext cx="2032000" cy="2032000"/>
          </a:xfrm>
          <a:prstGeom prst="rect">
            <a:avLst/>
          </a:prstGeom>
          <a:solidFill>
            <a:srgbClr val="06182B"/>
          </a:solidFill>
          <a:ln w="203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4D6790A-403C-2445-1D10-6528CCE7AC2B}"/>
              </a:ext>
            </a:extLst>
          </p:cNvPr>
          <p:cNvCxnSpPr/>
          <p:nvPr/>
        </p:nvCxnSpPr>
        <p:spPr>
          <a:xfrm>
            <a:off x="3657600" y="2895600"/>
            <a:ext cx="2032000" cy="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F60FC85-07CE-4E94-D511-1204FADD87C5}"/>
              </a:ext>
            </a:extLst>
          </p:cNvPr>
          <p:cNvSpPr txBox="1"/>
          <p:nvPr/>
        </p:nvSpPr>
        <p:spPr>
          <a:xfrm>
            <a:off x="3657600" y="4140200"/>
            <a:ext cx="2032000" cy="276999"/>
          </a:xfrm>
          <a:prstGeom prst="rect">
            <a:avLst/>
          </a:prstGeom>
          <a:noFill/>
        </p:spPr>
        <p:txBody>
          <a:bodyPr vert="horz" wrap="square" lIns="0" tIns="0" rIns="0" bIns="0" rtlCol="0">
            <a:noAutofit/>
          </a:bodyPr>
          <a:lstStyle/>
          <a:p>
            <a:pPr algn="ctr"/>
            <a:r>
              <a:rPr lang="en-IN" b="1">
                <a:solidFill>
                  <a:srgbClr val="1A8BFF"/>
                </a:solidFill>
                <a:latin typeface="Aptos Display" panose="020B0004020202020204" pitchFamily="34" charset="0"/>
              </a:rPr>
              <a:t>2N × N</a:t>
            </a:r>
          </a:p>
        </p:txBody>
      </p:sp>
      <p:sp>
        <p:nvSpPr>
          <p:cNvPr id="12" name="Rectangle 11">
            <a:extLst>
              <a:ext uri="{FF2B5EF4-FFF2-40B4-BE49-F238E27FC236}">
                <a16:creationId xmlns:a16="http://schemas.microsoft.com/office/drawing/2014/main" id="{2196550A-2093-A896-D111-46D7ED3A1CED}"/>
              </a:ext>
            </a:extLst>
          </p:cNvPr>
          <p:cNvSpPr/>
          <p:nvPr/>
        </p:nvSpPr>
        <p:spPr>
          <a:xfrm>
            <a:off x="6375400" y="1879600"/>
            <a:ext cx="2032000" cy="2032000"/>
          </a:xfrm>
          <a:prstGeom prst="rect">
            <a:avLst/>
          </a:prstGeom>
          <a:solidFill>
            <a:srgbClr val="06182B"/>
          </a:solidFill>
          <a:ln w="203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CED174D8-10DD-73E2-E2F0-D33A3E8BC1F7}"/>
              </a:ext>
            </a:extLst>
          </p:cNvPr>
          <p:cNvCxnSpPr/>
          <p:nvPr/>
        </p:nvCxnSpPr>
        <p:spPr>
          <a:xfrm>
            <a:off x="7391400" y="1879600"/>
            <a:ext cx="0" cy="203200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D769E3F-5D5D-A449-1935-F7F5BB1A89F4}"/>
              </a:ext>
            </a:extLst>
          </p:cNvPr>
          <p:cNvSpPr txBox="1"/>
          <p:nvPr/>
        </p:nvSpPr>
        <p:spPr>
          <a:xfrm>
            <a:off x="6375400" y="4140200"/>
            <a:ext cx="2032000" cy="276999"/>
          </a:xfrm>
          <a:prstGeom prst="rect">
            <a:avLst/>
          </a:prstGeom>
          <a:noFill/>
        </p:spPr>
        <p:txBody>
          <a:bodyPr vert="horz" wrap="square" lIns="0" tIns="0" rIns="0" bIns="0" rtlCol="0">
            <a:noAutofit/>
          </a:bodyPr>
          <a:lstStyle/>
          <a:p>
            <a:pPr algn="ctr"/>
            <a:r>
              <a:rPr lang="en-IN" b="1">
                <a:solidFill>
                  <a:srgbClr val="1A8BFF"/>
                </a:solidFill>
                <a:latin typeface="Aptos Display" panose="020B0004020202020204" pitchFamily="34" charset="0"/>
              </a:rPr>
              <a:t>N × 2N</a:t>
            </a:r>
          </a:p>
        </p:txBody>
      </p:sp>
      <p:sp>
        <p:nvSpPr>
          <p:cNvPr id="15" name="Rectangle 14">
            <a:extLst>
              <a:ext uri="{FF2B5EF4-FFF2-40B4-BE49-F238E27FC236}">
                <a16:creationId xmlns:a16="http://schemas.microsoft.com/office/drawing/2014/main" id="{67F31487-554B-AA41-2EF4-D484A1D5A90C}"/>
              </a:ext>
            </a:extLst>
          </p:cNvPr>
          <p:cNvSpPr/>
          <p:nvPr/>
        </p:nvSpPr>
        <p:spPr>
          <a:xfrm>
            <a:off x="9093200" y="1879600"/>
            <a:ext cx="2032000" cy="2032000"/>
          </a:xfrm>
          <a:prstGeom prst="rect">
            <a:avLst/>
          </a:prstGeom>
          <a:solidFill>
            <a:srgbClr val="06182B"/>
          </a:solidFill>
          <a:ln w="203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id="{CC77A359-E9E7-906E-8E22-69E5617EFEBB}"/>
              </a:ext>
            </a:extLst>
          </p:cNvPr>
          <p:cNvCxnSpPr/>
          <p:nvPr/>
        </p:nvCxnSpPr>
        <p:spPr>
          <a:xfrm>
            <a:off x="10109200" y="1879600"/>
            <a:ext cx="0" cy="203200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CBA0237-73F4-30D3-C4A5-72C7E0604588}"/>
              </a:ext>
            </a:extLst>
          </p:cNvPr>
          <p:cNvCxnSpPr/>
          <p:nvPr/>
        </p:nvCxnSpPr>
        <p:spPr>
          <a:xfrm>
            <a:off x="9093200" y="2895600"/>
            <a:ext cx="2032000" cy="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F00A17E-32E6-FF7D-EC1B-24017461E44D}"/>
              </a:ext>
            </a:extLst>
          </p:cNvPr>
          <p:cNvSpPr txBox="1"/>
          <p:nvPr/>
        </p:nvSpPr>
        <p:spPr>
          <a:xfrm>
            <a:off x="9093200" y="4140200"/>
            <a:ext cx="2032000" cy="276999"/>
          </a:xfrm>
          <a:prstGeom prst="rect">
            <a:avLst/>
          </a:prstGeom>
          <a:noFill/>
        </p:spPr>
        <p:txBody>
          <a:bodyPr vert="horz" wrap="square" lIns="0" tIns="0" rIns="0" bIns="0" rtlCol="0">
            <a:noAutofit/>
          </a:bodyPr>
          <a:lstStyle/>
          <a:p>
            <a:pPr algn="ctr"/>
            <a:r>
              <a:rPr lang="en-IN" b="1">
                <a:solidFill>
                  <a:srgbClr val="1A8BFF"/>
                </a:solidFill>
                <a:latin typeface="Aptos Display" panose="020B0004020202020204" pitchFamily="34" charset="0"/>
              </a:rPr>
              <a:t>N × N</a:t>
            </a:r>
          </a:p>
        </p:txBody>
      </p:sp>
      <p:sp>
        <p:nvSpPr>
          <p:cNvPr id="19" name="Rectangle: Rounded Corners 18">
            <a:extLst>
              <a:ext uri="{FF2B5EF4-FFF2-40B4-BE49-F238E27FC236}">
                <a16:creationId xmlns:a16="http://schemas.microsoft.com/office/drawing/2014/main" id="{8EF229D5-F648-89C9-4832-5E4E8A262FFE}"/>
              </a:ext>
            </a:extLst>
          </p:cNvPr>
          <p:cNvSpPr/>
          <p:nvPr/>
        </p:nvSpPr>
        <p:spPr>
          <a:xfrm>
            <a:off x="965200" y="5016500"/>
            <a:ext cx="10261600" cy="838200"/>
          </a:xfrm>
          <a:prstGeom prst="roundRect">
            <a:avLst/>
          </a:prstGeom>
          <a:solidFill>
            <a:srgbClr val="071E35">
              <a:alpha val="97000"/>
            </a:srgbClr>
          </a:solidFill>
          <a:ln w="1778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29583EC6-3CEF-51E9-A064-9ED434535F5E}"/>
              </a:ext>
            </a:extLst>
          </p:cNvPr>
          <p:cNvSpPr txBox="1"/>
          <p:nvPr/>
        </p:nvSpPr>
        <p:spPr>
          <a:xfrm>
            <a:off x="1066800" y="5207000"/>
            <a:ext cx="4699000" cy="276999"/>
          </a:xfrm>
          <a:prstGeom prst="rect">
            <a:avLst/>
          </a:prstGeom>
          <a:noFill/>
        </p:spPr>
        <p:txBody>
          <a:bodyPr vert="horz" wrap="square" lIns="0" tIns="0" rIns="0" bIns="0" rtlCol="0">
            <a:noAutofit/>
          </a:bodyPr>
          <a:lstStyle/>
          <a:p>
            <a:pPr algn="ctr"/>
            <a:r>
              <a:rPr lang="en-IN" sz="1600" b="1">
                <a:solidFill>
                  <a:srgbClr val="16E3F2"/>
                </a:solidFill>
                <a:latin typeface="Aptos" panose="020B0004020202020204" pitchFamily="34" charset="0"/>
              </a:rPr>
              <a:t>Intra Prediction Unit (PU): which spatial mode?</a:t>
            </a:r>
          </a:p>
        </p:txBody>
      </p:sp>
      <p:cxnSp>
        <p:nvCxnSpPr>
          <p:cNvPr id="21" name="Straight Connector 20">
            <a:extLst>
              <a:ext uri="{FF2B5EF4-FFF2-40B4-BE49-F238E27FC236}">
                <a16:creationId xmlns:a16="http://schemas.microsoft.com/office/drawing/2014/main" id="{5A9115F3-A3F3-CA2C-BB2F-6FD1BFBBDA80}"/>
              </a:ext>
            </a:extLst>
          </p:cNvPr>
          <p:cNvCxnSpPr/>
          <p:nvPr/>
        </p:nvCxnSpPr>
        <p:spPr>
          <a:xfrm>
            <a:off x="6096000" y="5181600"/>
            <a:ext cx="0" cy="508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31D4245-211F-4E75-B5B8-298516D8C60C}"/>
              </a:ext>
            </a:extLst>
          </p:cNvPr>
          <p:cNvSpPr txBox="1"/>
          <p:nvPr/>
        </p:nvSpPr>
        <p:spPr>
          <a:xfrm>
            <a:off x="6223000" y="5207000"/>
            <a:ext cx="4876800" cy="276999"/>
          </a:xfrm>
          <a:prstGeom prst="rect">
            <a:avLst/>
          </a:prstGeom>
          <a:noFill/>
        </p:spPr>
        <p:txBody>
          <a:bodyPr vert="horz" wrap="square" lIns="0" tIns="0" rIns="0" bIns="0" rtlCol="0">
            <a:noAutofit/>
          </a:bodyPr>
          <a:lstStyle/>
          <a:p>
            <a:pPr algn="ctr"/>
            <a:r>
              <a:rPr lang="en-IN" sz="1600" b="1">
                <a:solidFill>
                  <a:srgbClr val="1A8BFF"/>
                </a:solidFill>
                <a:latin typeface="Aptos" panose="020B0004020202020204" pitchFamily="34" charset="0"/>
              </a:rPr>
              <a:t>Inter Prediction Unit (PU): which reference + motion vector?</a:t>
            </a:r>
          </a:p>
        </p:txBody>
      </p:sp>
      <p:sp>
        <p:nvSpPr>
          <p:cNvPr id="23" name="TextBox 22">
            <a:extLst>
              <a:ext uri="{FF2B5EF4-FFF2-40B4-BE49-F238E27FC236}">
                <a16:creationId xmlns:a16="http://schemas.microsoft.com/office/drawing/2014/main" id="{C59407AB-42B0-8104-7A04-A76EE643B8FD}"/>
              </a:ext>
            </a:extLst>
          </p:cNvPr>
          <p:cNvSpPr txBox="1"/>
          <p:nvPr/>
        </p:nvSpPr>
        <p:spPr>
          <a:xfrm>
            <a:off x="1943100" y="6032500"/>
            <a:ext cx="8318500" cy="276999"/>
          </a:xfrm>
          <a:prstGeom prst="rect">
            <a:avLst/>
          </a:prstGeom>
          <a:noFill/>
        </p:spPr>
        <p:txBody>
          <a:bodyPr vert="horz" wrap="square" lIns="0" tIns="0" rIns="0" bIns="0" rtlCol="0">
            <a:noAutofit/>
          </a:bodyPr>
          <a:lstStyle/>
          <a:p>
            <a:pPr algn="ctr"/>
            <a:r>
              <a:rPr lang="en-US" sz="1600">
                <a:solidFill>
                  <a:srgbClr val="A7B7C9"/>
                </a:solidFill>
                <a:latin typeface="Aptos" panose="020B0004020202020204" pitchFamily="34" charset="0"/>
              </a:rPr>
              <a:t>Prediction Unit boundaries group samples that share prediction information.</a:t>
            </a:r>
            <a:endParaRPr lang="en-IN" sz="1600">
              <a:solidFill>
                <a:srgbClr val="A7B7C9"/>
              </a:solidFill>
              <a:latin typeface="Aptos" panose="020B0004020202020204" pitchFamily="34" charset="0"/>
            </a:endParaRPr>
          </a:p>
        </p:txBody>
      </p:sp>
      <p:sp>
        <p:nvSpPr>
          <p:cNvPr id="24" name="TextBox 23">
            <a:extLst>
              <a:ext uri="{FF2B5EF4-FFF2-40B4-BE49-F238E27FC236}">
                <a16:creationId xmlns:a16="http://schemas.microsoft.com/office/drawing/2014/main" id="{5703D2FB-0D00-5FD9-03A0-54F800063D8B}"/>
              </a:ext>
            </a:extLst>
          </p:cNvPr>
          <p:cNvSpPr txBox="1"/>
          <p:nvPr/>
        </p:nvSpPr>
        <p:spPr>
          <a:xfrm>
            <a:off x="3429000" y="4572000"/>
            <a:ext cx="5334000" cy="276999"/>
          </a:xfrm>
          <a:prstGeom prst="rect">
            <a:avLst/>
          </a:prstGeom>
          <a:noFill/>
        </p:spPr>
        <p:txBody>
          <a:bodyPr vert="horz" wrap="square" lIns="0" tIns="0" rIns="0" bIns="0" rtlCol="0">
            <a:noAutofit/>
          </a:bodyPr>
          <a:lstStyle/>
          <a:p>
            <a:pPr algn="ctr"/>
            <a:r>
              <a:rPr lang="en-US" sz="1400">
                <a:solidFill>
                  <a:srgbClr val="A7B7C9"/>
                </a:solidFill>
                <a:latin typeface="Aptos" panose="020B0004020202020204" pitchFamily="34" charset="0"/>
              </a:rPr>
              <a:t>N = half of the Coding Unit width or height.</a:t>
            </a:r>
            <a:endParaRPr lang="en-IN" sz="1400">
              <a:solidFill>
                <a:srgbClr val="A7B7C9"/>
              </a:solidFill>
              <a:latin typeface="Aptos" panose="020B0004020202020204" pitchFamily="34" charset="0"/>
            </a:endParaRPr>
          </a:p>
        </p:txBody>
      </p:sp>
      <p:sp>
        <p:nvSpPr>
          <p:cNvPr id="25" name="TextBox 24">
            <a:extLst>
              <a:ext uri="{FF2B5EF4-FFF2-40B4-BE49-F238E27FC236}">
                <a16:creationId xmlns:a16="http://schemas.microsoft.com/office/drawing/2014/main" id="{E5DF4DF3-ABB4-2449-ADB5-91476BDC2CBC}"/>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07 / 19</a:t>
            </a:r>
          </a:p>
        </p:txBody>
      </p:sp>
    </p:spTree>
    <p:extLst>
      <p:ext uri="{BB962C8B-B14F-4D97-AF65-F5344CB8AC3E}">
        <p14:creationId xmlns:p14="http://schemas.microsoft.com/office/powerpoint/2010/main" val="2819833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D689F2-C0B1-AD65-6185-3ECDA7A624EE}"/>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478A5653-2F8B-6B80-E20F-AE5C6014940E}"/>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C1BC496B-1D25-3A12-7B34-5EC1362A3032}"/>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55FF483-2EB0-4A9D-6826-E442D696427B}"/>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TU partitioning can differ from prediction partitioning</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099257CB-28CF-5A44-5956-AA00D1CDEBFD}"/>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0F4E6E4-45B1-CE6A-DAA5-360F96AE1972}"/>
              </a:ext>
            </a:extLst>
          </p:cNvPr>
          <p:cNvSpPr txBox="1"/>
          <p:nvPr/>
        </p:nvSpPr>
        <p:spPr>
          <a:xfrm>
            <a:off x="990600" y="1422400"/>
            <a:ext cx="4191000" cy="276999"/>
          </a:xfrm>
          <a:prstGeom prst="rect">
            <a:avLst/>
          </a:prstGeom>
          <a:noFill/>
        </p:spPr>
        <p:txBody>
          <a:bodyPr vert="horz" wrap="square" lIns="0" tIns="0" rIns="0" bIns="0" rtlCol="0">
            <a:noAutofit/>
          </a:bodyPr>
          <a:lstStyle/>
          <a:p>
            <a:pPr algn="ctr"/>
            <a:r>
              <a:rPr lang="en-IN" sz="1900" b="1">
                <a:solidFill>
                  <a:srgbClr val="16E3F2"/>
                </a:solidFill>
                <a:latin typeface="Aptos Display" panose="020B0004020202020204" pitchFamily="34" charset="0"/>
              </a:rPr>
              <a:t>Prediction Unit (PU) partition</a:t>
            </a:r>
          </a:p>
        </p:txBody>
      </p:sp>
      <p:sp>
        <p:nvSpPr>
          <p:cNvPr id="8" name="Rectangle 7">
            <a:extLst>
              <a:ext uri="{FF2B5EF4-FFF2-40B4-BE49-F238E27FC236}">
                <a16:creationId xmlns:a16="http://schemas.microsoft.com/office/drawing/2014/main" id="{A168E07B-2C34-E9E6-A4D4-314AB1762B2E}"/>
              </a:ext>
            </a:extLst>
          </p:cNvPr>
          <p:cNvSpPr/>
          <p:nvPr/>
        </p:nvSpPr>
        <p:spPr>
          <a:xfrm>
            <a:off x="1524000" y="1968500"/>
            <a:ext cx="3175000" cy="3175000"/>
          </a:xfrm>
          <a:prstGeom prst="rect">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5215FC4E-BFB7-9F72-786D-EA5EB69A5F2A}"/>
              </a:ext>
            </a:extLst>
          </p:cNvPr>
          <p:cNvCxnSpPr/>
          <p:nvPr/>
        </p:nvCxnSpPr>
        <p:spPr>
          <a:xfrm>
            <a:off x="3111500" y="1968500"/>
            <a:ext cx="0" cy="3175000"/>
          </a:xfrm>
          <a:prstGeom prst="line">
            <a:avLst/>
          </a:prstGeom>
          <a:ln w="25400">
            <a:solidFill>
              <a:srgbClr val="16E3F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519872-5D7F-D64E-E541-6A676431C2A4}"/>
              </a:ext>
            </a:extLst>
          </p:cNvPr>
          <p:cNvSpPr txBox="1"/>
          <p:nvPr/>
        </p:nvSpPr>
        <p:spPr>
          <a:xfrm>
            <a:off x="1600200" y="3403600"/>
            <a:ext cx="1397000" cy="276999"/>
          </a:xfrm>
          <a:prstGeom prst="rect">
            <a:avLst/>
          </a:prstGeom>
          <a:noFill/>
        </p:spPr>
        <p:txBody>
          <a:bodyPr vert="horz" wrap="square" lIns="0" tIns="0" rIns="0" bIns="0" rtlCol="0">
            <a:noAutofit/>
          </a:bodyPr>
          <a:lstStyle/>
          <a:p>
            <a:pPr algn="ctr"/>
            <a:r>
              <a:rPr lang="en-IN" sz="1700" b="1">
                <a:solidFill>
                  <a:srgbClr val="16E3F2"/>
                </a:solidFill>
                <a:latin typeface="Aptos" panose="020B0004020202020204" pitchFamily="34" charset="0"/>
              </a:rPr>
              <a:t>PU 1</a:t>
            </a:r>
          </a:p>
        </p:txBody>
      </p:sp>
      <p:sp>
        <p:nvSpPr>
          <p:cNvPr id="11" name="TextBox 10">
            <a:extLst>
              <a:ext uri="{FF2B5EF4-FFF2-40B4-BE49-F238E27FC236}">
                <a16:creationId xmlns:a16="http://schemas.microsoft.com/office/drawing/2014/main" id="{0A85513A-3023-F678-4B24-A22666D17417}"/>
              </a:ext>
            </a:extLst>
          </p:cNvPr>
          <p:cNvSpPr txBox="1"/>
          <p:nvPr/>
        </p:nvSpPr>
        <p:spPr>
          <a:xfrm>
            <a:off x="3200400" y="3403600"/>
            <a:ext cx="1397000" cy="276999"/>
          </a:xfrm>
          <a:prstGeom prst="rect">
            <a:avLst/>
          </a:prstGeom>
          <a:noFill/>
        </p:spPr>
        <p:txBody>
          <a:bodyPr vert="horz" wrap="square" lIns="0" tIns="0" rIns="0" bIns="0" rtlCol="0">
            <a:noAutofit/>
          </a:bodyPr>
          <a:lstStyle/>
          <a:p>
            <a:pPr algn="ctr"/>
            <a:r>
              <a:rPr lang="en-IN" sz="1700" b="1">
                <a:solidFill>
                  <a:srgbClr val="16E3F2"/>
                </a:solidFill>
                <a:latin typeface="Aptos" panose="020B0004020202020204" pitchFamily="34" charset="0"/>
              </a:rPr>
              <a:t>PU 2</a:t>
            </a:r>
          </a:p>
        </p:txBody>
      </p:sp>
      <p:cxnSp>
        <p:nvCxnSpPr>
          <p:cNvPr id="12" name="Straight Connector 11">
            <a:extLst>
              <a:ext uri="{FF2B5EF4-FFF2-40B4-BE49-F238E27FC236}">
                <a16:creationId xmlns:a16="http://schemas.microsoft.com/office/drawing/2014/main" id="{3C616592-3142-1EF0-6955-EBF7E86F0B24}"/>
              </a:ext>
            </a:extLst>
          </p:cNvPr>
          <p:cNvCxnSpPr/>
          <p:nvPr/>
        </p:nvCxnSpPr>
        <p:spPr>
          <a:xfrm>
            <a:off x="5562600" y="3556000"/>
            <a:ext cx="850900" cy="0"/>
          </a:xfrm>
          <a:prstGeom prst="line">
            <a:avLst/>
          </a:prstGeom>
          <a:ln w="25400">
            <a:solidFill>
              <a:srgbClr val="A7B7C9"/>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FCA82-99FB-C1EE-5543-F256A1E4EDDA}"/>
              </a:ext>
            </a:extLst>
          </p:cNvPr>
          <p:cNvSpPr txBox="1"/>
          <p:nvPr/>
        </p:nvSpPr>
        <p:spPr>
          <a:xfrm>
            <a:off x="6731000" y="1422400"/>
            <a:ext cx="4699000" cy="276999"/>
          </a:xfrm>
          <a:prstGeom prst="rect">
            <a:avLst/>
          </a:prstGeom>
          <a:noFill/>
        </p:spPr>
        <p:txBody>
          <a:bodyPr vert="horz" wrap="square" lIns="0" tIns="0" rIns="0" bIns="0" rtlCol="0">
            <a:noAutofit/>
          </a:bodyPr>
          <a:lstStyle/>
          <a:p>
            <a:pPr algn="ctr"/>
            <a:r>
              <a:rPr lang="fr-FR" b="1">
                <a:solidFill>
                  <a:srgbClr val="1A8BFF"/>
                </a:solidFill>
                <a:latin typeface="Aptos Display" panose="020B0004020202020204" pitchFamily="34" charset="0"/>
              </a:rPr>
              <a:t>Transform Unit (TU) residual partition</a:t>
            </a:r>
            <a:endParaRPr lang="en-IN" b="1">
              <a:solidFill>
                <a:srgbClr val="1A8BFF"/>
              </a:solidFill>
              <a:latin typeface="Aptos Display" panose="020B0004020202020204" pitchFamily="34" charset="0"/>
            </a:endParaRPr>
          </a:p>
        </p:txBody>
      </p:sp>
      <p:sp>
        <p:nvSpPr>
          <p:cNvPr id="14" name="Rectangle 13">
            <a:extLst>
              <a:ext uri="{FF2B5EF4-FFF2-40B4-BE49-F238E27FC236}">
                <a16:creationId xmlns:a16="http://schemas.microsoft.com/office/drawing/2014/main" id="{AA9E771B-7891-6E77-1059-E52F21042D6F}"/>
              </a:ext>
            </a:extLst>
          </p:cNvPr>
          <p:cNvSpPr/>
          <p:nvPr/>
        </p:nvSpPr>
        <p:spPr>
          <a:xfrm>
            <a:off x="7493000" y="1968500"/>
            <a:ext cx="3175000" cy="3175000"/>
          </a:xfrm>
          <a:prstGeom prst="rect">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4BAF4D83-1D18-C120-F962-4B36E9B93ABA}"/>
              </a:ext>
            </a:extLst>
          </p:cNvPr>
          <p:cNvCxnSpPr/>
          <p:nvPr/>
        </p:nvCxnSpPr>
        <p:spPr>
          <a:xfrm>
            <a:off x="9080500" y="1968500"/>
            <a:ext cx="0" cy="317500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96B9F7-0BAF-89E7-7E92-12CB04762026}"/>
              </a:ext>
            </a:extLst>
          </p:cNvPr>
          <p:cNvCxnSpPr/>
          <p:nvPr/>
        </p:nvCxnSpPr>
        <p:spPr>
          <a:xfrm>
            <a:off x="7493000" y="3556000"/>
            <a:ext cx="3175000" cy="0"/>
          </a:xfrm>
          <a:prstGeom prst="line">
            <a:avLst/>
          </a:prstGeom>
          <a:ln w="2540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754B68A-24F6-E52E-1CC4-B13C23E7092C}"/>
              </a:ext>
            </a:extLst>
          </p:cNvPr>
          <p:cNvCxnSpPr/>
          <p:nvPr/>
        </p:nvCxnSpPr>
        <p:spPr>
          <a:xfrm>
            <a:off x="8286750" y="3556000"/>
            <a:ext cx="0" cy="1587500"/>
          </a:xfrm>
          <a:prstGeom prst="line">
            <a:avLst/>
          </a:prstGeom>
          <a:ln w="1905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662919-0193-BE1C-F7AA-16F550CFE140}"/>
              </a:ext>
            </a:extLst>
          </p:cNvPr>
          <p:cNvCxnSpPr/>
          <p:nvPr/>
        </p:nvCxnSpPr>
        <p:spPr>
          <a:xfrm>
            <a:off x="9874250" y="3556000"/>
            <a:ext cx="0" cy="1587500"/>
          </a:xfrm>
          <a:prstGeom prst="line">
            <a:avLst/>
          </a:prstGeom>
          <a:ln w="1905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BF6FC5-4439-128E-FD7F-AC00BA84DE33}"/>
              </a:ext>
            </a:extLst>
          </p:cNvPr>
          <p:cNvCxnSpPr/>
          <p:nvPr/>
        </p:nvCxnSpPr>
        <p:spPr>
          <a:xfrm>
            <a:off x="7493000" y="4349750"/>
            <a:ext cx="3175000" cy="0"/>
          </a:xfrm>
          <a:prstGeom prst="line">
            <a:avLst/>
          </a:prstGeom>
          <a:ln w="19050">
            <a:solidFill>
              <a:srgbClr val="17486B"/>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4E61E41-BD55-3E74-7B1B-975339DB7B5E}"/>
              </a:ext>
            </a:extLst>
          </p:cNvPr>
          <p:cNvSpPr txBox="1"/>
          <p:nvPr/>
        </p:nvSpPr>
        <p:spPr>
          <a:xfrm>
            <a:off x="7594600" y="2628900"/>
            <a:ext cx="1397000" cy="276999"/>
          </a:xfrm>
          <a:prstGeom prst="rect">
            <a:avLst/>
          </a:prstGeom>
          <a:noFill/>
        </p:spPr>
        <p:txBody>
          <a:bodyPr vert="horz" wrap="square" lIns="0" tIns="0" rIns="0" bIns="0" rtlCol="0">
            <a:noAutofit/>
          </a:bodyPr>
          <a:lstStyle/>
          <a:p>
            <a:pPr algn="ctr"/>
            <a:r>
              <a:rPr lang="en-IN" sz="1600" b="1">
                <a:solidFill>
                  <a:srgbClr val="1A8BFF"/>
                </a:solidFill>
                <a:latin typeface="Aptos" panose="020B0004020202020204" pitchFamily="34" charset="0"/>
              </a:rPr>
              <a:t>large TU</a:t>
            </a:r>
          </a:p>
        </p:txBody>
      </p:sp>
      <p:sp>
        <p:nvSpPr>
          <p:cNvPr id="21" name="TextBox 20">
            <a:extLst>
              <a:ext uri="{FF2B5EF4-FFF2-40B4-BE49-F238E27FC236}">
                <a16:creationId xmlns:a16="http://schemas.microsoft.com/office/drawing/2014/main" id="{8E532C70-4D7A-709A-D69F-874259681B70}"/>
              </a:ext>
            </a:extLst>
          </p:cNvPr>
          <p:cNvSpPr txBox="1"/>
          <p:nvPr/>
        </p:nvSpPr>
        <p:spPr>
          <a:xfrm>
            <a:off x="7645400" y="3860800"/>
            <a:ext cx="2870200" cy="276999"/>
          </a:xfrm>
          <a:prstGeom prst="rect">
            <a:avLst/>
          </a:prstGeom>
          <a:noFill/>
        </p:spPr>
        <p:txBody>
          <a:bodyPr vert="horz" wrap="square" lIns="0" tIns="0" rIns="0" bIns="0" rtlCol="0">
            <a:noAutofit/>
          </a:bodyPr>
          <a:lstStyle/>
          <a:p>
            <a:pPr algn="ctr"/>
            <a:r>
              <a:rPr lang="en-US" sz="1500" b="1">
                <a:solidFill>
                  <a:srgbClr val="F5F7FA"/>
                </a:solidFill>
                <a:latin typeface="Aptos" panose="020B0004020202020204" pitchFamily="34" charset="0"/>
              </a:rPr>
              <a:t>smaller TUs where residual is complex</a:t>
            </a:r>
            <a:endParaRPr lang="en-IN" sz="1500" b="1">
              <a:solidFill>
                <a:srgbClr val="F5F7FA"/>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97CE2ACF-D293-A909-BFDD-3B1CE38EC867}"/>
              </a:ext>
            </a:extLst>
          </p:cNvPr>
          <p:cNvSpPr/>
          <p:nvPr/>
        </p:nvSpPr>
        <p:spPr>
          <a:xfrm>
            <a:off x="2425700" y="5664200"/>
            <a:ext cx="7340600" cy="558800"/>
          </a:xfrm>
          <a:prstGeom prst="roundRect">
            <a:avLst/>
          </a:prstGeom>
          <a:solidFill>
            <a:srgbClr val="071E35">
              <a:alpha val="97000"/>
            </a:srgbClr>
          </a:solidFill>
          <a:ln w="1651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36E116B5-2A8A-A60D-F4F7-D5810AA25521}"/>
              </a:ext>
            </a:extLst>
          </p:cNvPr>
          <p:cNvSpPr txBox="1"/>
          <p:nvPr/>
        </p:nvSpPr>
        <p:spPr>
          <a:xfrm>
            <a:off x="2628900" y="5791200"/>
            <a:ext cx="6934200" cy="276999"/>
          </a:xfrm>
          <a:prstGeom prst="rect">
            <a:avLst/>
          </a:prstGeom>
          <a:noFill/>
        </p:spPr>
        <p:txBody>
          <a:bodyPr vert="horz" wrap="square" lIns="0" tIns="0" rIns="0" bIns="0" rtlCol="0">
            <a:noAutofit/>
          </a:bodyPr>
          <a:lstStyle/>
          <a:p>
            <a:pPr algn="ctr"/>
            <a:r>
              <a:rPr lang="en-US" b="1">
                <a:solidFill>
                  <a:srgbClr val="F5F7FA"/>
                </a:solidFill>
                <a:latin typeface="Aptos Display" panose="020B0004020202020204" pitchFamily="34" charset="0"/>
              </a:rPr>
              <a:t>Prediction geometry and transform geometry solve different problems.</a:t>
            </a:r>
            <a:endParaRPr lang="en-IN" b="1">
              <a:solidFill>
                <a:srgbClr val="F5F7FA"/>
              </a:solidFill>
              <a:latin typeface="Aptos Display" panose="020B0004020202020204" pitchFamily="34" charset="0"/>
            </a:endParaRPr>
          </a:p>
        </p:txBody>
      </p:sp>
      <p:sp>
        <p:nvSpPr>
          <p:cNvPr id="24" name="TextBox 23">
            <a:extLst>
              <a:ext uri="{FF2B5EF4-FFF2-40B4-BE49-F238E27FC236}">
                <a16:creationId xmlns:a16="http://schemas.microsoft.com/office/drawing/2014/main" id="{588262BC-05A4-DCC7-8966-63FCE5ECE394}"/>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08 / 19</a:t>
            </a:r>
          </a:p>
        </p:txBody>
      </p:sp>
    </p:spTree>
    <p:extLst>
      <p:ext uri="{BB962C8B-B14F-4D97-AF65-F5344CB8AC3E}">
        <p14:creationId xmlns:p14="http://schemas.microsoft.com/office/powerpoint/2010/main" val="321206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46B55E-7F88-966B-B3ED-D86BF6DD468F}"/>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5279E1FA-791C-517C-FCBF-A58D9C7631B2}"/>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2581AB61-5655-B802-F218-07DBCB0C46E3}"/>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BE94CEC-1D20-32DB-DF9D-01F33D58210A}"/>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The four coding units answer four different questions</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5AA78DB5-81B8-A756-09CF-0C7488AE11FB}"/>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91D7A63-C4EA-8FA9-A0BD-18956C3E418A}"/>
              </a:ext>
            </a:extLst>
          </p:cNvPr>
          <p:cNvSpPr/>
          <p:nvPr/>
        </p:nvSpPr>
        <p:spPr>
          <a:xfrm>
            <a:off x="863600" y="1422400"/>
            <a:ext cx="698500" cy="6985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6E3F2"/>
                </a:solidFill>
                <a:latin typeface="Aptos Display" panose="020B0004020202020204" pitchFamily="34" charset="0"/>
              </a:rPr>
              <a:t>CTU</a:t>
            </a:r>
          </a:p>
        </p:txBody>
      </p:sp>
      <p:sp>
        <p:nvSpPr>
          <p:cNvPr id="8" name="TextBox 7">
            <a:extLst>
              <a:ext uri="{FF2B5EF4-FFF2-40B4-BE49-F238E27FC236}">
                <a16:creationId xmlns:a16="http://schemas.microsoft.com/office/drawing/2014/main" id="{473CA687-6E3C-21AE-80AC-DA3F82737CE4}"/>
              </a:ext>
            </a:extLst>
          </p:cNvPr>
          <p:cNvSpPr txBox="1"/>
          <p:nvPr/>
        </p:nvSpPr>
        <p:spPr>
          <a:xfrm>
            <a:off x="1955800" y="1447800"/>
            <a:ext cx="4445000" cy="276999"/>
          </a:xfrm>
          <a:prstGeom prst="rect">
            <a:avLst/>
          </a:prstGeom>
          <a:noFill/>
        </p:spPr>
        <p:txBody>
          <a:bodyPr vert="horz" wrap="square" lIns="0" tIns="0" rIns="0" bIns="0" rtlCol="0">
            <a:noAutofit/>
          </a:bodyPr>
          <a:lstStyle/>
          <a:p>
            <a:r>
              <a:rPr lang="en-US" sz="2100" b="1">
                <a:solidFill>
                  <a:srgbClr val="F5F7FA"/>
                </a:solidFill>
                <a:latin typeface="Aptos Display" panose="020B0004020202020204" pitchFamily="34" charset="0"/>
              </a:rPr>
              <a:t>Where is the encoder working?</a:t>
            </a:r>
            <a:endParaRPr lang="en-IN" sz="2100" b="1">
              <a:solidFill>
                <a:srgbClr val="F5F7FA"/>
              </a:solidFill>
              <a:latin typeface="Aptos Display" panose="020B0004020202020204" pitchFamily="34" charset="0"/>
            </a:endParaRPr>
          </a:p>
        </p:txBody>
      </p:sp>
      <p:sp>
        <p:nvSpPr>
          <p:cNvPr id="9" name="TextBox 8">
            <a:extLst>
              <a:ext uri="{FF2B5EF4-FFF2-40B4-BE49-F238E27FC236}">
                <a16:creationId xmlns:a16="http://schemas.microsoft.com/office/drawing/2014/main" id="{31B00BC1-EDA4-BABC-BBEA-F9E223EF19F8}"/>
              </a:ext>
            </a:extLst>
          </p:cNvPr>
          <p:cNvSpPr txBox="1"/>
          <p:nvPr/>
        </p:nvSpPr>
        <p:spPr>
          <a:xfrm>
            <a:off x="1955800" y="1892300"/>
            <a:ext cx="4191000" cy="276999"/>
          </a:xfrm>
          <a:prstGeom prst="rect">
            <a:avLst/>
          </a:prstGeom>
          <a:noFill/>
        </p:spPr>
        <p:txBody>
          <a:bodyPr vert="horz" wrap="square" lIns="0" tIns="0" rIns="0" bIns="0" rtlCol="0">
            <a:noAutofit/>
          </a:bodyPr>
          <a:lstStyle/>
          <a:p>
            <a:r>
              <a:rPr lang="en-US" sz="1500">
                <a:solidFill>
                  <a:srgbClr val="A7B7C9"/>
                </a:solidFill>
                <a:latin typeface="Aptos" panose="020B0004020202020204" pitchFamily="34" charset="0"/>
              </a:rPr>
              <a:t>Coding Tree Unit (CTU): largest workspace</a:t>
            </a:r>
            <a:endParaRPr lang="en-IN" sz="1500">
              <a:solidFill>
                <a:srgbClr val="A7B7C9"/>
              </a:solidFill>
              <a:latin typeface="Aptos" panose="020B0004020202020204" pitchFamily="34" charset="0"/>
            </a:endParaRPr>
          </a:p>
        </p:txBody>
      </p:sp>
      <p:cxnSp>
        <p:nvCxnSpPr>
          <p:cNvPr id="10" name="Straight Connector 9">
            <a:extLst>
              <a:ext uri="{FF2B5EF4-FFF2-40B4-BE49-F238E27FC236}">
                <a16:creationId xmlns:a16="http://schemas.microsoft.com/office/drawing/2014/main" id="{F3DCA922-3944-D7A9-DC81-363D43FFDEB1}"/>
              </a:ext>
            </a:extLst>
          </p:cNvPr>
          <p:cNvCxnSpPr/>
          <p:nvPr/>
        </p:nvCxnSpPr>
        <p:spPr>
          <a:xfrm>
            <a:off x="6604000" y="1765300"/>
            <a:ext cx="571500" cy="0"/>
          </a:xfrm>
          <a:prstGeom prst="line">
            <a:avLst/>
          </a:prstGeom>
          <a:ln w="2540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2EE03DB3-8569-7A54-F66D-1AB70BB9273A}"/>
              </a:ext>
            </a:extLst>
          </p:cNvPr>
          <p:cNvSpPr/>
          <p:nvPr/>
        </p:nvSpPr>
        <p:spPr>
          <a:xfrm>
            <a:off x="7493000" y="1371600"/>
            <a:ext cx="3556000" cy="787400"/>
          </a:xfrm>
          <a:prstGeom prst="roundRect">
            <a:avLst/>
          </a:prstGeom>
          <a:solidFill>
            <a:srgbClr val="071E35">
              <a:alpha val="98000"/>
            </a:srgbClr>
          </a:solidFill>
          <a:ln w="1778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F0DB0DC-45CB-C897-97DC-BEF273F4301C}"/>
              </a:ext>
            </a:extLst>
          </p:cNvPr>
          <p:cNvSpPr txBox="1"/>
          <p:nvPr/>
        </p:nvSpPr>
        <p:spPr>
          <a:xfrm>
            <a:off x="7696200" y="1587500"/>
            <a:ext cx="3149600" cy="276999"/>
          </a:xfrm>
          <a:prstGeom prst="rect">
            <a:avLst/>
          </a:prstGeom>
          <a:noFill/>
        </p:spPr>
        <p:txBody>
          <a:bodyPr vert="horz" wrap="square" lIns="0" tIns="0" rIns="0" bIns="0" rtlCol="0">
            <a:noAutofit/>
          </a:bodyPr>
          <a:lstStyle/>
          <a:p>
            <a:pPr algn="ctr"/>
            <a:r>
              <a:rPr lang="en-IN" sz="1700" b="1">
                <a:solidFill>
                  <a:srgbClr val="16E3F2"/>
                </a:solidFill>
                <a:latin typeface="Aptos" panose="020B0004020202020204" pitchFamily="34" charset="0"/>
              </a:rPr>
              <a:t>plot of land</a:t>
            </a:r>
          </a:p>
        </p:txBody>
      </p:sp>
      <p:sp>
        <p:nvSpPr>
          <p:cNvPr id="13" name="Oval 12">
            <a:extLst>
              <a:ext uri="{FF2B5EF4-FFF2-40B4-BE49-F238E27FC236}">
                <a16:creationId xmlns:a16="http://schemas.microsoft.com/office/drawing/2014/main" id="{EAE87F0D-70EF-B484-814D-EB161B6793AC}"/>
              </a:ext>
            </a:extLst>
          </p:cNvPr>
          <p:cNvSpPr/>
          <p:nvPr/>
        </p:nvSpPr>
        <p:spPr>
          <a:xfrm>
            <a:off x="863600" y="2578100"/>
            <a:ext cx="698500" cy="6985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CU</a:t>
            </a:r>
          </a:p>
        </p:txBody>
      </p:sp>
      <p:sp>
        <p:nvSpPr>
          <p:cNvPr id="14" name="TextBox 13">
            <a:extLst>
              <a:ext uri="{FF2B5EF4-FFF2-40B4-BE49-F238E27FC236}">
                <a16:creationId xmlns:a16="http://schemas.microsoft.com/office/drawing/2014/main" id="{F2F0751B-564A-542C-1193-27DB21D6225D}"/>
              </a:ext>
            </a:extLst>
          </p:cNvPr>
          <p:cNvSpPr txBox="1"/>
          <p:nvPr/>
        </p:nvSpPr>
        <p:spPr>
          <a:xfrm>
            <a:off x="1955800" y="2603500"/>
            <a:ext cx="4445000" cy="276999"/>
          </a:xfrm>
          <a:prstGeom prst="rect">
            <a:avLst/>
          </a:prstGeom>
          <a:noFill/>
        </p:spPr>
        <p:txBody>
          <a:bodyPr vert="horz" wrap="square" lIns="0" tIns="0" rIns="0" bIns="0" rtlCol="0">
            <a:noAutofit/>
          </a:bodyPr>
          <a:lstStyle/>
          <a:p>
            <a:r>
              <a:rPr lang="en-IN" sz="2100" b="1">
                <a:solidFill>
                  <a:srgbClr val="F5F7FA"/>
                </a:solidFill>
                <a:latin typeface="Aptos Display" panose="020B0004020202020204" pitchFamily="34" charset="0"/>
              </a:rPr>
              <a:t>Should this region split?</a:t>
            </a:r>
          </a:p>
        </p:txBody>
      </p:sp>
      <p:sp>
        <p:nvSpPr>
          <p:cNvPr id="15" name="TextBox 14">
            <a:extLst>
              <a:ext uri="{FF2B5EF4-FFF2-40B4-BE49-F238E27FC236}">
                <a16:creationId xmlns:a16="http://schemas.microsoft.com/office/drawing/2014/main" id="{C571D67A-5265-C4AF-415E-7722E5CBAF0A}"/>
              </a:ext>
            </a:extLst>
          </p:cNvPr>
          <p:cNvSpPr txBox="1"/>
          <p:nvPr/>
        </p:nvSpPr>
        <p:spPr>
          <a:xfrm>
            <a:off x="1955800" y="3048000"/>
            <a:ext cx="4191000" cy="276999"/>
          </a:xfrm>
          <a:prstGeom prst="rect">
            <a:avLst/>
          </a:prstGeom>
          <a:noFill/>
        </p:spPr>
        <p:txBody>
          <a:bodyPr vert="horz" wrap="square" lIns="0" tIns="0" rIns="0" bIns="0" rtlCol="0">
            <a:noAutofit/>
          </a:bodyPr>
          <a:lstStyle/>
          <a:p>
            <a:r>
              <a:rPr lang="en-US" sz="1500">
                <a:solidFill>
                  <a:srgbClr val="A7B7C9"/>
                </a:solidFill>
                <a:latin typeface="Aptos" panose="020B0004020202020204" pitchFamily="34" charset="0"/>
              </a:rPr>
              <a:t>Coding Unit (CU): coding-decision node</a:t>
            </a:r>
            <a:endParaRPr lang="en-IN" sz="1500">
              <a:solidFill>
                <a:srgbClr val="A7B7C9"/>
              </a:solidFill>
              <a:latin typeface="Aptos" panose="020B0004020202020204" pitchFamily="34" charset="0"/>
            </a:endParaRPr>
          </a:p>
        </p:txBody>
      </p:sp>
      <p:cxnSp>
        <p:nvCxnSpPr>
          <p:cNvPr id="16" name="Straight Connector 15">
            <a:extLst>
              <a:ext uri="{FF2B5EF4-FFF2-40B4-BE49-F238E27FC236}">
                <a16:creationId xmlns:a16="http://schemas.microsoft.com/office/drawing/2014/main" id="{5FDD5FE6-AC2F-8855-0F6D-AAFAC1B3EFA4}"/>
              </a:ext>
            </a:extLst>
          </p:cNvPr>
          <p:cNvCxnSpPr/>
          <p:nvPr/>
        </p:nvCxnSpPr>
        <p:spPr>
          <a:xfrm>
            <a:off x="6604000" y="2921000"/>
            <a:ext cx="571500" cy="0"/>
          </a:xfrm>
          <a:prstGeom prst="line">
            <a:avLst/>
          </a:prstGeom>
          <a:ln w="25400">
            <a:solidFill>
              <a:srgbClr val="1A8BFF"/>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612293A0-DA2F-CB4A-EC04-C522F999BDFA}"/>
              </a:ext>
            </a:extLst>
          </p:cNvPr>
          <p:cNvSpPr/>
          <p:nvPr/>
        </p:nvSpPr>
        <p:spPr>
          <a:xfrm>
            <a:off x="7493000" y="2527300"/>
            <a:ext cx="3556000" cy="787400"/>
          </a:xfrm>
          <a:prstGeom prst="roundRect">
            <a:avLst/>
          </a:prstGeom>
          <a:solidFill>
            <a:srgbClr val="071E35">
              <a:alpha val="98000"/>
            </a:srgbClr>
          </a:solidFill>
          <a:ln w="1778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09C8D80-06BC-5D2B-A767-5890E286EAC5}"/>
              </a:ext>
            </a:extLst>
          </p:cNvPr>
          <p:cNvSpPr txBox="1"/>
          <p:nvPr/>
        </p:nvSpPr>
        <p:spPr>
          <a:xfrm>
            <a:off x="7696200" y="2743200"/>
            <a:ext cx="3149600" cy="276999"/>
          </a:xfrm>
          <a:prstGeom prst="rect">
            <a:avLst/>
          </a:prstGeom>
          <a:noFill/>
        </p:spPr>
        <p:txBody>
          <a:bodyPr vert="horz" wrap="square" lIns="0" tIns="0" rIns="0" bIns="0" rtlCol="0">
            <a:noAutofit/>
          </a:bodyPr>
          <a:lstStyle/>
          <a:p>
            <a:pPr algn="ctr"/>
            <a:r>
              <a:rPr lang="en-US" sz="1700" b="1">
                <a:solidFill>
                  <a:srgbClr val="1A8BFF"/>
                </a:solidFill>
                <a:latin typeface="Aptos" panose="020B0004020202020204" pitchFamily="34" charset="0"/>
              </a:rPr>
              <a:t>how the plot is divided</a:t>
            </a:r>
            <a:endParaRPr lang="en-IN" sz="1700" b="1">
              <a:solidFill>
                <a:srgbClr val="1A8BFF"/>
              </a:solidFill>
              <a:latin typeface="Aptos" panose="020B0004020202020204" pitchFamily="34" charset="0"/>
            </a:endParaRPr>
          </a:p>
        </p:txBody>
      </p:sp>
      <p:sp>
        <p:nvSpPr>
          <p:cNvPr id="19" name="Oval 18">
            <a:extLst>
              <a:ext uri="{FF2B5EF4-FFF2-40B4-BE49-F238E27FC236}">
                <a16:creationId xmlns:a16="http://schemas.microsoft.com/office/drawing/2014/main" id="{E8EAB87A-33AC-88A5-3CBB-F5BAE2F0A9B4}"/>
              </a:ext>
            </a:extLst>
          </p:cNvPr>
          <p:cNvSpPr/>
          <p:nvPr/>
        </p:nvSpPr>
        <p:spPr>
          <a:xfrm>
            <a:off x="863600" y="3733800"/>
            <a:ext cx="698500" cy="6985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55E6A5"/>
                </a:solidFill>
                <a:latin typeface="Aptos Display" panose="020B0004020202020204" pitchFamily="34" charset="0"/>
              </a:rPr>
              <a:t>PU</a:t>
            </a:r>
          </a:p>
        </p:txBody>
      </p:sp>
      <p:sp>
        <p:nvSpPr>
          <p:cNvPr id="20" name="TextBox 19">
            <a:extLst>
              <a:ext uri="{FF2B5EF4-FFF2-40B4-BE49-F238E27FC236}">
                <a16:creationId xmlns:a16="http://schemas.microsoft.com/office/drawing/2014/main" id="{676D6606-EA1C-7DBB-6E04-37C59C2A0DAE}"/>
              </a:ext>
            </a:extLst>
          </p:cNvPr>
          <p:cNvSpPr txBox="1"/>
          <p:nvPr/>
        </p:nvSpPr>
        <p:spPr>
          <a:xfrm>
            <a:off x="1955800" y="3759200"/>
            <a:ext cx="4445000" cy="276999"/>
          </a:xfrm>
          <a:prstGeom prst="rect">
            <a:avLst/>
          </a:prstGeom>
          <a:noFill/>
        </p:spPr>
        <p:txBody>
          <a:bodyPr vert="horz" wrap="square" lIns="0" tIns="0" rIns="0" bIns="0" rtlCol="0">
            <a:noAutofit/>
          </a:bodyPr>
          <a:lstStyle/>
          <a:p>
            <a:r>
              <a:rPr lang="en-IN" sz="2100" b="1">
                <a:solidFill>
                  <a:srgbClr val="F5F7FA"/>
                </a:solidFill>
                <a:latin typeface="Aptos Display" panose="020B0004020202020204" pitchFamily="34" charset="0"/>
              </a:rPr>
              <a:t>How is it predicted?</a:t>
            </a:r>
          </a:p>
        </p:txBody>
      </p:sp>
      <p:sp>
        <p:nvSpPr>
          <p:cNvPr id="21" name="TextBox 20">
            <a:extLst>
              <a:ext uri="{FF2B5EF4-FFF2-40B4-BE49-F238E27FC236}">
                <a16:creationId xmlns:a16="http://schemas.microsoft.com/office/drawing/2014/main" id="{1297D414-15D3-35C4-E18E-714C17D9E3D1}"/>
              </a:ext>
            </a:extLst>
          </p:cNvPr>
          <p:cNvSpPr txBox="1"/>
          <p:nvPr/>
        </p:nvSpPr>
        <p:spPr>
          <a:xfrm>
            <a:off x="1955800" y="4203700"/>
            <a:ext cx="4191000" cy="276999"/>
          </a:xfrm>
          <a:prstGeom prst="rect">
            <a:avLst/>
          </a:prstGeom>
          <a:noFill/>
        </p:spPr>
        <p:txBody>
          <a:bodyPr vert="horz" wrap="square" lIns="0" tIns="0" rIns="0" bIns="0" rtlCol="0">
            <a:noAutofit/>
          </a:bodyPr>
          <a:lstStyle/>
          <a:p>
            <a:r>
              <a:rPr lang="en-IN" sz="1500">
                <a:solidFill>
                  <a:srgbClr val="A7B7C9"/>
                </a:solidFill>
                <a:latin typeface="Aptos" panose="020B0004020202020204" pitchFamily="34" charset="0"/>
              </a:rPr>
              <a:t>Prediction Unit (PU): prediction geometry</a:t>
            </a:r>
          </a:p>
        </p:txBody>
      </p:sp>
      <p:cxnSp>
        <p:nvCxnSpPr>
          <p:cNvPr id="22" name="Straight Connector 21">
            <a:extLst>
              <a:ext uri="{FF2B5EF4-FFF2-40B4-BE49-F238E27FC236}">
                <a16:creationId xmlns:a16="http://schemas.microsoft.com/office/drawing/2014/main" id="{73768B82-5CF4-288A-6591-D7F967610D95}"/>
              </a:ext>
            </a:extLst>
          </p:cNvPr>
          <p:cNvCxnSpPr/>
          <p:nvPr/>
        </p:nvCxnSpPr>
        <p:spPr>
          <a:xfrm>
            <a:off x="6604000" y="4076700"/>
            <a:ext cx="571500" cy="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83B48B2F-8212-F8E7-E6CC-F0114FA37109}"/>
              </a:ext>
            </a:extLst>
          </p:cNvPr>
          <p:cNvSpPr/>
          <p:nvPr/>
        </p:nvSpPr>
        <p:spPr>
          <a:xfrm>
            <a:off x="7493000" y="3683000"/>
            <a:ext cx="3556000" cy="787400"/>
          </a:xfrm>
          <a:prstGeom prst="roundRect">
            <a:avLst/>
          </a:prstGeom>
          <a:solidFill>
            <a:srgbClr val="071E35">
              <a:alpha val="98000"/>
            </a:srgbClr>
          </a:solidFill>
          <a:ln w="1778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0FF68571-12BA-1E98-B889-CB44287E2728}"/>
              </a:ext>
            </a:extLst>
          </p:cNvPr>
          <p:cNvSpPr txBox="1"/>
          <p:nvPr/>
        </p:nvSpPr>
        <p:spPr>
          <a:xfrm>
            <a:off x="7696200" y="3898900"/>
            <a:ext cx="3149600" cy="276999"/>
          </a:xfrm>
          <a:prstGeom prst="rect">
            <a:avLst/>
          </a:prstGeom>
          <a:noFill/>
        </p:spPr>
        <p:txBody>
          <a:bodyPr vert="horz" wrap="square" lIns="0" tIns="0" rIns="0" bIns="0" rtlCol="0">
            <a:noAutofit/>
          </a:bodyPr>
          <a:lstStyle/>
          <a:p>
            <a:pPr algn="ctr"/>
            <a:r>
              <a:rPr lang="en-US" sz="1700" b="1">
                <a:solidFill>
                  <a:srgbClr val="55E6A5"/>
                </a:solidFill>
                <a:latin typeface="Aptos" panose="020B0004020202020204" pitchFamily="34" charset="0"/>
              </a:rPr>
              <a:t>how each parcel is predicted</a:t>
            </a:r>
            <a:endParaRPr lang="en-IN" sz="1700" b="1">
              <a:solidFill>
                <a:srgbClr val="55E6A5"/>
              </a:solidFill>
              <a:latin typeface="Aptos" panose="020B0004020202020204" pitchFamily="34" charset="0"/>
            </a:endParaRPr>
          </a:p>
        </p:txBody>
      </p:sp>
      <p:sp>
        <p:nvSpPr>
          <p:cNvPr id="25" name="Oval 24">
            <a:extLst>
              <a:ext uri="{FF2B5EF4-FFF2-40B4-BE49-F238E27FC236}">
                <a16:creationId xmlns:a16="http://schemas.microsoft.com/office/drawing/2014/main" id="{A2120B8C-8669-029A-3A3F-8D943A6DA694}"/>
              </a:ext>
            </a:extLst>
          </p:cNvPr>
          <p:cNvSpPr/>
          <p:nvPr/>
        </p:nvSpPr>
        <p:spPr>
          <a:xfrm>
            <a:off x="863600" y="4889500"/>
            <a:ext cx="698500" cy="698500"/>
          </a:xfrm>
          <a:prstGeom prst="ellipse">
            <a:avLst/>
          </a:prstGeom>
          <a:solidFill>
            <a:srgbClr val="06182B"/>
          </a:solidFill>
          <a:ln w="2540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FFB454"/>
                </a:solidFill>
                <a:latin typeface="Aptos Display" panose="020B0004020202020204" pitchFamily="34" charset="0"/>
              </a:rPr>
              <a:t>TU</a:t>
            </a:r>
          </a:p>
        </p:txBody>
      </p:sp>
      <p:sp>
        <p:nvSpPr>
          <p:cNvPr id="26" name="TextBox 25">
            <a:extLst>
              <a:ext uri="{FF2B5EF4-FFF2-40B4-BE49-F238E27FC236}">
                <a16:creationId xmlns:a16="http://schemas.microsoft.com/office/drawing/2014/main" id="{F17B7632-07F4-E203-F437-7BEB6C867BB4}"/>
              </a:ext>
            </a:extLst>
          </p:cNvPr>
          <p:cNvSpPr txBox="1"/>
          <p:nvPr/>
        </p:nvSpPr>
        <p:spPr>
          <a:xfrm>
            <a:off x="1955800" y="4914900"/>
            <a:ext cx="4445000" cy="276999"/>
          </a:xfrm>
          <a:prstGeom prst="rect">
            <a:avLst/>
          </a:prstGeom>
          <a:noFill/>
        </p:spPr>
        <p:txBody>
          <a:bodyPr vert="horz" wrap="square" lIns="0" tIns="0" rIns="0" bIns="0" rtlCol="0">
            <a:noAutofit/>
          </a:bodyPr>
          <a:lstStyle/>
          <a:p>
            <a:r>
              <a:rPr lang="en-US" sz="2100" b="1">
                <a:solidFill>
                  <a:srgbClr val="F5F7FA"/>
                </a:solidFill>
                <a:latin typeface="Aptos Display" panose="020B0004020202020204" pitchFamily="34" charset="0"/>
              </a:rPr>
              <a:t>How is the residual transformed?</a:t>
            </a:r>
            <a:endParaRPr lang="en-IN" sz="2100" b="1">
              <a:solidFill>
                <a:srgbClr val="F5F7FA"/>
              </a:solidFill>
              <a:latin typeface="Aptos Display" panose="020B0004020202020204" pitchFamily="34" charset="0"/>
            </a:endParaRPr>
          </a:p>
        </p:txBody>
      </p:sp>
      <p:sp>
        <p:nvSpPr>
          <p:cNvPr id="27" name="TextBox 26">
            <a:extLst>
              <a:ext uri="{FF2B5EF4-FFF2-40B4-BE49-F238E27FC236}">
                <a16:creationId xmlns:a16="http://schemas.microsoft.com/office/drawing/2014/main" id="{0066042E-8A42-88E1-005B-0BDECF4E7C2C}"/>
              </a:ext>
            </a:extLst>
          </p:cNvPr>
          <p:cNvSpPr txBox="1"/>
          <p:nvPr/>
        </p:nvSpPr>
        <p:spPr>
          <a:xfrm>
            <a:off x="1955800" y="5359400"/>
            <a:ext cx="4191000" cy="276999"/>
          </a:xfrm>
          <a:prstGeom prst="rect">
            <a:avLst/>
          </a:prstGeom>
          <a:noFill/>
        </p:spPr>
        <p:txBody>
          <a:bodyPr vert="horz" wrap="square" lIns="0" tIns="0" rIns="0" bIns="0" rtlCol="0">
            <a:noAutofit/>
          </a:bodyPr>
          <a:lstStyle/>
          <a:p>
            <a:r>
              <a:rPr lang="en-IN" sz="1500">
                <a:solidFill>
                  <a:srgbClr val="A7B7C9"/>
                </a:solidFill>
                <a:latin typeface="Aptos" panose="020B0004020202020204" pitchFamily="34" charset="0"/>
              </a:rPr>
              <a:t>Transform Unit (TU): residual geometry</a:t>
            </a:r>
          </a:p>
        </p:txBody>
      </p:sp>
      <p:cxnSp>
        <p:nvCxnSpPr>
          <p:cNvPr id="28" name="Straight Connector 27">
            <a:extLst>
              <a:ext uri="{FF2B5EF4-FFF2-40B4-BE49-F238E27FC236}">
                <a16:creationId xmlns:a16="http://schemas.microsoft.com/office/drawing/2014/main" id="{5B1E96BC-C6C5-C50F-FACC-BA1E2074165A}"/>
              </a:ext>
            </a:extLst>
          </p:cNvPr>
          <p:cNvCxnSpPr/>
          <p:nvPr/>
        </p:nvCxnSpPr>
        <p:spPr>
          <a:xfrm>
            <a:off x="6604000" y="5232400"/>
            <a:ext cx="571500" cy="0"/>
          </a:xfrm>
          <a:prstGeom prst="line">
            <a:avLst/>
          </a:prstGeom>
          <a:ln w="25400">
            <a:solidFill>
              <a:srgbClr val="FFB454"/>
            </a:solidFill>
            <a:tailEnd type="arrow"/>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B3909252-4FE8-860E-94CF-A7CFA4F0A261}"/>
              </a:ext>
            </a:extLst>
          </p:cNvPr>
          <p:cNvSpPr/>
          <p:nvPr/>
        </p:nvSpPr>
        <p:spPr>
          <a:xfrm>
            <a:off x="7493000" y="4838700"/>
            <a:ext cx="3556000" cy="787400"/>
          </a:xfrm>
          <a:prstGeom prst="roundRect">
            <a:avLst/>
          </a:prstGeom>
          <a:solidFill>
            <a:srgbClr val="071E35">
              <a:alpha val="98000"/>
            </a:srgbClr>
          </a:solidFill>
          <a:ln w="1778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CBB92182-1B9B-E659-D5A0-2E7433DA85F3}"/>
              </a:ext>
            </a:extLst>
          </p:cNvPr>
          <p:cNvSpPr txBox="1"/>
          <p:nvPr/>
        </p:nvSpPr>
        <p:spPr>
          <a:xfrm>
            <a:off x="7696200" y="5054600"/>
            <a:ext cx="3149600" cy="276999"/>
          </a:xfrm>
          <a:prstGeom prst="rect">
            <a:avLst/>
          </a:prstGeom>
          <a:noFill/>
        </p:spPr>
        <p:txBody>
          <a:bodyPr vert="horz" wrap="square" lIns="0" tIns="0" rIns="0" bIns="0" rtlCol="0">
            <a:noAutofit/>
          </a:bodyPr>
          <a:lstStyle/>
          <a:p>
            <a:pPr algn="ctr"/>
            <a:r>
              <a:rPr lang="en-US" sz="1700" b="1">
                <a:solidFill>
                  <a:srgbClr val="FFB454"/>
                </a:solidFill>
                <a:latin typeface="Aptos" panose="020B0004020202020204" pitchFamily="34" charset="0"/>
              </a:rPr>
              <a:t>how leftover error is processed</a:t>
            </a:r>
            <a:endParaRPr lang="en-IN" sz="1700" b="1">
              <a:solidFill>
                <a:srgbClr val="FFB454"/>
              </a:solidFill>
              <a:latin typeface="Aptos" panose="020B0004020202020204" pitchFamily="34" charset="0"/>
            </a:endParaRPr>
          </a:p>
        </p:txBody>
      </p:sp>
      <p:sp>
        <p:nvSpPr>
          <p:cNvPr id="31" name="TextBox 30">
            <a:extLst>
              <a:ext uri="{FF2B5EF4-FFF2-40B4-BE49-F238E27FC236}">
                <a16:creationId xmlns:a16="http://schemas.microsoft.com/office/drawing/2014/main" id="{5765FD77-1F83-A938-2AEB-F5885B1E200C}"/>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09 / 19</a:t>
            </a:r>
          </a:p>
        </p:txBody>
      </p:sp>
    </p:spTree>
    <p:extLst>
      <p:ext uri="{BB962C8B-B14F-4D97-AF65-F5344CB8AC3E}">
        <p14:creationId xmlns:p14="http://schemas.microsoft.com/office/powerpoint/2010/main" val="7294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43CCB8-F4F6-4C81-3384-3E07D663B220}"/>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0B432E11-DBD0-AF12-FB5B-F6A8109705FB}"/>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50C76E5-C02F-E3FF-00CA-2B5D94CBB1A6}"/>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9E90B3-523C-6434-D4F3-294D28F5B083}"/>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One Coding Tree Unit (CTU) can adapt to smooth and detailed regions</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AEFEE013-5452-2FE1-15AE-4FA4643566AB}"/>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9EEFE32-1280-3CC9-86DB-4108D5C18E68}"/>
              </a:ext>
            </a:extLst>
          </p:cNvPr>
          <p:cNvSpPr/>
          <p:nvPr/>
        </p:nvSpPr>
        <p:spPr>
          <a:xfrm>
            <a:off x="787400" y="1498600"/>
            <a:ext cx="4318000" cy="4318000"/>
          </a:xfrm>
          <a:prstGeom prst="rect">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E18A43D2-6640-087F-9D2B-0AA73D5018E0}"/>
              </a:ext>
            </a:extLst>
          </p:cNvPr>
          <p:cNvSpPr/>
          <p:nvPr/>
        </p:nvSpPr>
        <p:spPr>
          <a:xfrm>
            <a:off x="800100" y="1511300"/>
            <a:ext cx="4292600" cy="2095500"/>
          </a:xfrm>
          <a:prstGeom prst="rect">
            <a:avLst/>
          </a:prstGeom>
          <a:solidFill>
            <a:srgbClr val="0A41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53B79CF-00B9-AF4D-E454-54F7F6E4FCE3}"/>
              </a:ext>
            </a:extLst>
          </p:cNvPr>
          <p:cNvSpPr/>
          <p:nvPr/>
        </p:nvSpPr>
        <p:spPr>
          <a:xfrm>
            <a:off x="800100" y="3606800"/>
            <a:ext cx="4292600" cy="2197100"/>
          </a:xfrm>
          <a:prstGeom prst="rect">
            <a:avLst/>
          </a:prstGeom>
          <a:solidFill>
            <a:srgbClr val="0824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165CE15-545B-68AF-318B-D4F3FD9FA034}"/>
              </a:ext>
            </a:extLst>
          </p:cNvPr>
          <p:cNvSpPr/>
          <p:nvPr/>
        </p:nvSpPr>
        <p:spPr>
          <a:xfrm>
            <a:off x="2946400" y="2603500"/>
            <a:ext cx="1600200" cy="3200400"/>
          </a:xfrm>
          <a:prstGeom prst="rect">
            <a:avLst/>
          </a:prstGeom>
          <a:solidFill>
            <a:srgbClr val="17618D"/>
          </a:solidFill>
          <a:ln w="127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E08AFD9-6C9E-31FB-1ED0-2AA32BC1DED9}"/>
              </a:ext>
            </a:extLst>
          </p:cNvPr>
          <p:cNvSpPr/>
          <p:nvPr/>
        </p:nvSpPr>
        <p:spPr>
          <a:xfrm>
            <a:off x="3124200" y="28956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AF8F8C5-F209-14D1-C09E-F4E38DE9005E}"/>
              </a:ext>
            </a:extLst>
          </p:cNvPr>
          <p:cNvSpPr/>
          <p:nvPr/>
        </p:nvSpPr>
        <p:spPr>
          <a:xfrm>
            <a:off x="3530600" y="28956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2981267-9559-3D5B-FCF2-A4B1C34503D0}"/>
              </a:ext>
            </a:extLst>
          </p:cNvPr>
          <p:cNvSpPr/>
          <p:nvPr/>
        </p:nvSpPr>
        <p:spPr>
          <a:xfrm>
            <a:off x="3937000" y="28956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0B5B1B4-38C0-731B-03CB-B48A3E61090E}"/>
              </a:ext>
            </a:extLst>
          </p:cNvPr>
          <p:cNvSpPr/>
          <p:nvPr/>
        </p:nvSpPr>
        <p:spPr>
          <a:xfrm>
            <a:off x="3124200" y="34417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5A1D5673-2C94-163A-0655-7CC82C62622D}"/>
              </a:ext>
            </a:extLst>
          </p:cNvPr>
          <p:cNvSpPr/>
          <p:nvPr/>
        </p:nvSpPr>
        <p:spPr>
          <a:xfrm>
            <a:off x="3530600" y="34417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4ADBB3E4-2DE7-BEEB-0D0B-C3A5869CD257}"/>
              </a:ext>
            </a:extLst>
          </p:cNvPr>
          <p:cNvSpPr/>
          <p:nvPr/>
        </p:nvSpPr>
        <p:spPr>
          <a:xfrm>
            <a:off x="3937000" y="34417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5FE7C62-6280-4664-9E92-CCB25F933166}"/>
              </a:ext>
            </a:extLst>
          </p:cNvPr>
          <p:cNvSpPr/>
          <p:nvPr/>
        </p:nvSpPr>
        <p:spPr>
          <a:xfrm>
            <a:off x="3124200" y="39878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C27BE4C7-C63E-4CB5-E688-58C4AD9E9EE9}"/>
              </a:ext>
            </a:extLst>
          </p:cNvPr>
          <p:cNvSpPr/>
          <p:nvPr/>
        </p:nvSpPr>
        <p:spPr>
          <a:xfrm>
            <a:off x="3530600" y="39878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823F9D68-A048-620F-3D07-C5206002B892}"/>
              </a:ext>
            </a:extLst>
          </p:cNvPr>
          <p:cNvSpPr/>
          <p:nvPr/>
        </p:nvSpPr>
        <p:spPr>
          <a:xfrm>
            <a:off x="3937000" y="39878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4BAF2F3-C415-0956-5FA3-A873082DC592}"/>
              </a:ext>
            </a:extLst>
          </p:cNvPr>
          <p:cNvSpPr/>
          <p:nvPr/>
        </p:nvSpPr>
        <p:spPr>
          <a:xfrm>
            <a:off x="3124200" y="45339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4779D9E6-0AEC-299A-84F0-D59F2FE2376E}"/>
              </a:ext>
            </a:extLst>
          </p:cNvPr>
          <p:cNvSpPr/>
          <p:nvPr/>
        </p:nvSpPr>
        <p:spPr>
          <a:xfrm>
            <a:off x="3530600" y="4533900"/>
            <a:ext cx="190500" cy="254000"/>
          </a:xfrm>
          <a:prstGeom prst="rect">
            <a:avLst/>
          </a:prstGeom>
          <a:solidFill>
            <a:srgbClr val="FFB4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B1EB1ED2-EC23-8A8A-636E-340C337FC3EB}"/>
              </a:ext>
            </a:extLst>
          </p:cNvPr>
          <p:cNvSpPr/>
          <p:nvPr/>
        </p:nvSpPr>
        <p:spPr>
          <a:xfrm>
            <a:off x="3937000" y="4533900"/>
            <a:ext cx="190500" cy="2540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FB797230-5627-0D90-E861-9DD8C9391102}"/>
              </a:ext>
            </a:extLst>
          </p:cNvPr>
          <p:cNvCxnSpPr/>
          <p:nvPr/>
        </p:nvCxnSpPr>
        <p:spPr>
          <a:xfrm>
            <a:off x="2946400" y="1498600"/>
            <a:ext cx="0" cy="4318000"/>
          </a:xfrm>
          <a:prstGeom prst="line">
            <a:avLst/>
          </a:prstGeom>
          <a:ln w="2540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4EDB8B-4B63-51DE-C07C-8CC351FFC4C5}"/>
              </a:ext>
            </a:extLst>
          </p:cNvPr>
          <p:cNvCxnSpPr/>
          <p:nvPr/>
        </p:nvCxnSpPr>
        <p:spPr>
          <a:xfrm>
            <a:off x="787400" y="3657600"/>
            <a:ext cx="4318000" cy="0"/>
          </a:xfrm>
          <a:prstGeom prst="line">
            <a:avLst/>
          </a:prstGeom>
          <a:ln w="2540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E81DCB-84FD-233B-1351-36C39B27C760}"/>
              </a:ext>
            </a:extLst>
          </p:cNvPr>
          <p:cNvCxnSpPr/>
          <p:nvPr/>
        </p:nvCxnSpPr>
        <p:spPr>
          <a:xfrm>
            <a:off x="2946400" y="2578100"/>
            <a:ext cx="2159000" cy="0"/>
          </a:xfrm>
          <a:prstGeom prst="line">
            <a:avLst/>
          </a:prstGeom>
          <a:ln w="1905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BDDC82-1AFC-EEDD-7EA8-1FCE0E60E5DE}"/>
              </a:ext>
            </a:extLst>
          </p:cNvPr>
          <p:cNvCxnSpPr/>
          <p:nvPr/>
        </p:nvCxnSpPr>
        <p:spPr>
          <a:xfrm>
            <a:off x="4025900" y="1498600"/>
            <a:ext cx="0" cy="2159000"/>
          </a:xfrm>
          <a:prstGeom prst="line">
            <a:avLst/>
          </a:prstGeom>
          <a:ln w="1905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B6007AB-DB99-DECC-6DAF-F4E0181B8521}"/>
              </a:ext>
            </a:extLst>
          </p:cNvPr>
          <p:cNvCxnSpPr/>
          <p:nvPr/>
        </p:nvCxnSpPr>
        <p:spPr>
          <a:xfrm>
            <a:off x="2946400" y="4737100"/>
            <a:ext cx="2159000" cy="0"/>
          </a:xfrm>
          <a:prstGeom prst="line">
            <a:avLst/>
          </a:prstGeom>
          <a:ln w="19050">
            <a:solidFill>
              <a:srgbClr val="1A8BF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C5A59B-266D-892A-5C27-A16FAEAE21FF}"/>
              </a:ext>
            </a:extLst>
          </p:cNvPr>
          <p:cNvCxnSpPr/>
          <p:nvPr/>
        </p:nvCxnSpPr>
        <p:spPr>
          <a:xfrm>
            <a:off x="4025900" y="3657600"/>
            <a:ext cx="0" cy="2159000"/>
          </a:xfrm>
          <a:prstGeom prst="line">
            <a:avLst/>
          </a:prstGeom>
          <a:ln w="19050">
            <a:solidFill>
              <a:srgbClr val="1A8BFF"/>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EF56F00-F666-8E8D-830F-AC7744E7F536}"/>
              </a:ext>
            </a:extLst>
          </p:cNvPr>
          <p:cNvSpPr txBox="1"/>
          <p:nvPr/>
        </p:nvSpPr>
        <p:spPr>
          <a:xfrm>
            <a:off x="914400" y="1778000"/>
            <a:ext cx="1905000" cy="276999"/>
          </a:xfrm>
          <a:prstGeom prst="rect">
            <a:avLst/>
          </a:prstGeom>
          <a:noFill/>
        </p:spPr>
        <p:txBody>
          <a:bodyPr vert="horz" wrap="square" lIns="0" tIns="0" rIns="0" bIns="0" rtlCol="0">
            <a:noAutofit/>
          </a:bodyPr>
          <a:lstStyle/>
          <a:p>
            <a:pPr algn="ctr"/>
            <a:r>
              <a:rPr lang="en-US" sz="1300" b="1">
                <a:solidFill>
                  <a:srgbClr val="55E6A5"/>
                </a:solidFill>
                <a:latin typeface="Aptos" panose="020B0004020202020204" pitchFamily="34" charset="0"/>
              </a:rPr>
              <a:t>large smooth Coding Unit (CU)</a:t>
            </a:r>
            <a:endParaRPr lang="en-IN" sz="1300" b="1">
              <a:solidFill>
                <a:srgbClr val="55E6A5"/>
              </a:solidFill>
              <a:latin typeface="Aptos" panose="020B0004020202020204" pitchFamily="34" charset="0"/>
            </a:endParaRPr>
          </a:p>
        </p:txBody>
      </p:sp>
      <p:sp>
        <p:nvSpPr>
          <p:cNvPr id="30" name="TextBox 29">
            <a:extLst>
              <a:ext uri="{FF2B5EF4-FFF2-40B4-BE49-F238E27FC236}">
                <a16:creationId xmlns:a16="http://schemas.microsoft.com/office/drawing/2014/main" id="{909A43CA-2DC2-CBF3-F93C-6A0449F33AF7}"/>
              </a:ext>
            </a:extLst>
          </p:cNvPr>
          <p:cNvSpPr txBox="1"/>
          <p:nvPr/>
        </p:nvSpPr>
        <p:spPr>
          <a:xfrm>
            <a:off x="3098800" y="5207000"/>
            <a:ext cx="1828800" cy="276999"/>
          </a:xfrm>
          <a:prstGeom prst="rect">
            <a:avLst/>
          </a:prstGeom>
          <a:noFill/>
        </p:spPr>
        <p:txBody>
          <a:bodyPr vert="horz" wrap="square" lIns="0" tIns="0" rIns="0" bIns="0" rtlCol="0">
            <a:noAutofit/>
          </a:bodyPr>
          <a:lstStyle/>
          <a:p>
            <a:pPr algn="ctr"/>
            <a:r>
              <a:rPr lang="en-IN" sz="1400" b="1">
                <a:solidFill>
                  <a:srgbClr val="FFB454"/>
                </a:solidFill>
                <a:latin typeface="Aptos" panose="020B0004020202020204" pitchFamily="34" charset="0"/>
              </a:rPr>
              <a:t>deeper split near detail</a:t>
            </a:r>
          </a:p>
        </p:txBody>
      </p:sp>
      <p:sp>
        <p:nvSpPr>
          <p:cNvPr id="31" name="TextBox 30">
            <a:extLst>
              <a:ext uri="{FF2B5EF4-FFF2-40B4-BE49-F238E27FC236}">
                <a16:creationId xmlns:a16="http://schemas.microsoft.com/office/drawing/2014/main" id="{6304ECA5-F460-3960-F7F8-60EC2146D13C}"/>
              </a:ext>
            </a:extLst>
          </p:cNvPr>
          <p:cNvSpPr txBox="1"/>
          <p:nvPr/>
        </p:nvSpPr>
        <p:spPr>
          <a:xfrm>
            <a:off x="6096000" y="1524000"/>
            <a:ext cx="4445000" cy="276999"/>
          </a:xfrm>
          <a:prstGeom prst="rect">
            <a:avLst/>
          </a:prstGeom>
          <a:noFill/>
        </p:spPr>
        <p:txBody>
          <a:bodyPr vert="horz" wrap="square" lIns="0" tIns="0" rIns="0" bIns="0" rtlCol="0">
            <a:noAutofit/>
          </a:bodyPr>
          <a:lstStyle/>
          <a:p>
            <a:r>
              <a:rPr lang="en-IN" sz="2300" b="1">
                <a:solidFill>
                  <a:srgbClr val="F5F7FA"/>
                </a:solidFill>
                <a:latin typeface="Aptos Display" panose="020B0004020202020204" pitchFamily="34" charset="0"/>
              </a:rPr>
              <a:t>What the encoder evaluates</a:t>
            </a:r>
          </a:p>
        </p:txBody>
      </p:sp>
      <p:sp>
        <p:nvSpPr>
          <p:cNvPr id="32" name="Oval 31">
            <a:extLst>
              <a:ext uri="{FF2B5EF4-FFF2-40B4-BE49-F238E27FC236}">
                <a16:creationId xmlns:a16="http://schemas.microsoft.com/office/drawing/2014/main" id="{EF5C3BB8-DDEC-49BE-545D-93C23404FFB2}"/>
              </a:ext>
            </a:extLst>
          </p:cNvPr>
          <p:cNvSpPr/>
          <p:nvPr/>
        </p:nvSpPr>
        <p:spPr>
          <a:xfrm>
            <a:off x="6096000" y="2260600"/>
            <a:ext cx="381000" cy="3810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6E3F2"/>
                </a:solidFill>
                <a:latin typeface="Aptos Display" panose="020B0004020202020204" pitchFamily="34" charset="0"/>
              </a:rPr>
              <a:t>1</a:t>
            </a:r>
          </a:p>
        </p:txBody>
      </p:sp>
      <p:sp>
        <p:nvSpPr>
          <p:cNvPr id="33" name="TextBox 32">
            <a:extLst>
              <a:ext uri="{FF2B5EF4-FFF2-40B4-BE49-F238E27FC236}">
                <a16:creationId xmlns:a16="http://schemas.microsoft.com/office/drawing/2014/main" id="{A88C6DB1-C5C3-50DC-A6BD-17483126B2A3}"/>
              </a:ext>
            </a:extLst>
          </p:cNvPr>
          <p:cNvSpPr txBox="1"/>
          <p:nvPr/>
        </p:nvSpPr>
        <p:spPr>
          <a:xfrm>
            <a:off x="6642100" y="2209800"/>
            <a:ext cx="2667000" cy="276999"/>
          </a:xfrm>
          <a:prstGeom prst="rect">
            <a:avLst/>
          </a:prstGeom>
          <a:noFill/>
        </p:spPr>
        <p:txBody>
          <a:bodyPr vert="horz" wrap="square" lIns="0" tIns="0" rIns="0" bIns="0" rtlCol="0">
            <a:noAutofit/>
          </a:bodyPr>
          <a:lstStyle/>
          <a:p>
            <a:r>
              <a:rPr lang="en-IN" sz="1400" b="1">
                <a:solidFill>
                  <a:srgbClr val="16E3F2"/>
                </a:solidFill>
                <a:latin typeface="Aptos" panose="020B0004020202020204" pitchFamily="34" charset="0"/>
              </a:rPr>
              <a:t>Coding Unit (CU) split</a:t>
            </a:r>
          </a:p>
        </p:txBody>
      </p:sp>
      <p:sp>
        <p:nvSpPr>
          <p:cNvPr id="34" name="TextBox 33">
            <a:extLst>
              <a:ext uri="{FF2B5EF4-FFF2-40B4-BE49-F238E27FC236}">
                <a16:creationId xmlns:a16="http://schemas.microsoft.com/office/drawing/2014/main" id="{BFE86A40-1377-2404-8C3D-8B2DAE051165}"/>
              </a:ext>
            </a:extLst>
          </p:cNvPr>
          <p:cNvSpPr txBox="1"/>
          <p:nvPr/>
        </p:nvSpPr>
        <p:spPr>
          <a:xfrm>
            <a:off x="6642100" y="2590800"/>
            <a:ext cx="4140200" cy="276999"/>
          </a:xfrm>
          <a:prstGeom prst="rect">
            <a:avLst/>
          </a:prstGeom>
          <a:noFill/>
        </p:spPr>
        <p:txBody>
          <a:bodyPr vert="horz" wrap="square" lIns="0" tIns="0" rIns="0" bIns="0" rtlCol="0">
            <a:noAutofit/>
          </a:bodyPr>
          <a:lstStyle/>
          <a:p>
            <a:r>
              <a:rPr lang="en-US" sz="1300">
                <a:solidFill>
                  <a:srgbClr val="A7B7C9"/>
                </a:solidFill>
                <a:latin typeface="Aptos" panose="020B0004020202020204" pitchFamily="34" charset="0"/>
              </a:rPr>
              <a:t>Does smaller geometry reduce prediction error enough?</a:t>
            </a:r>
            <a:endParaRPr lang="en-IN" sz="1300">
              <a:solidFill>
                <a:srgbClr val="A7B7C9"/>
              </a:solidFill>
              <a:latin typeface="Aptos" panose="020B0004020202020204" pitchFamily="34" charset="0"/>
            </a:endParaRPr>
          </a:p>
        </p:txBody>
      </p:sp>
      <p:sp>
        <p:nvSpPr>
          <p:cNvPr id="35" name="Oval 34">
            <a:extLst>
              <a:ext uri="{FF2B5EF4-FFF2-40B4-BE49-F238E27FC236}">
                <a16:creationId xmlns:a16="http://schemas.microsoft.com/office/drawing/2014/main" id="{C3EAFFA7-4440-DD26-43A2-CC3D8DB05A86}"/>
              </a:ext>
            </a:extLst>
          </p:cNvPr>
          <p:cNvSpPr/>
          <p:nvPr/>
        </p:nvSpPr>
        <p:spPr>
          <a:xfrm>
            <a:off x="6096000" y="3149600"/>
            <a:ext cx="381000" cy="3810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55E6A5"/>
                </a:solidFill>
                <a:latin typeface="Aptos Display" panose="020B0004020202020204" pitchFamily="34" charset="0"/>
              </a:rPr>
              <a:t>2</a:t>
            </a:r>
          </a:p>
        </p:txBody>
      </p:sp>
      <p:sp>
        <p:nvSpPr>
          <p:cNvPr id="36" name="TextBox 35">
            <a:extLst>
              <a:ext uri="{FF2B5EF4-FFF2-40B4-BE49-F238E27FC236}">
                <a16:creationId xmlns:a16="http://schemas.microsoft.com/office/drawing/2014/main" id="{69C946DE-CFED-3BC8-0CEF-5A7C3CE71177}"/>
              </a:ext>
            </a:extLst>
          </p:cNvPr>
          <p:cNvSpPr txBox="1"/>
          <p:nvPr/>
        </p:nvSpPr>
        <p:spPr>
          <a:xfrm>
            <a:off x="6642100" y="3098800"/>
            <a:ext cx="2667000" cy="276999"/>
          </a:xfrm>
          <a:prstGeom prst="rect">
            <a:avLst/>
          </a:prstGeom>
          <a:noFill/>
        </p:spPr>
        <p:txBody>
          <a:bodyPr vert="horz" wrap="square" lIns="0" tIns="0" rIns="0" bIns="0" rtlCol="0">
            <a:noAutofit/>
          </a:bodyPr>
          <a:lstStyle/>
          <a:p>
            <a:r>
              <a:rPr lang="en-IN" sz="1400" b="1">
                <a:solidFill>
                  <a:srgbClr val="55E6A5"/>
                </a:solidFill>
                <a:latin typeface="Aptos" panose="020B0004020202020204" pitchFamily="34" charset="0"/>
              </a:rPr>
              <a:t>Prediction Unit (PU) choice</a:t>
            </a:r>
          </a:p>
        </p:txBody>
      </p:sp>
      <p:sp>
        <p:nvSpPr>
          <p:cNvPr id="37" name="TextBox 36">
            <a:extLst>
              <a:ext uri="{FF2B5EF4-FFF2-40B4-BE49-F238E27FC236}">
                <a16:creationId xmlns:a16="http://schemas.microsoft.com/office/drawing/2014/main" id="{DC6A5C56-EF23-61C6-9691-48EC3675E482}"/>
              </a:ext>
            </a:extLst>
          </p:cNvPr>
          <p:cNvSpPr txBox="1"/>
          <p:nvPr/>
        </p:nvSpPr>
        <p:spPr>
          <a:xfrm>
            <a:off x="6642100" y="3479800"/>
            <a:ext cx="4140200" cy="276999"/>
          </a:xfrm>
          <a:prstGeom prst="rect">
            <a:avLst/>
          </a:prstGeom>
          <a:noFill/>
        </p:spPr>
        <p:txBody>
          <a:bodyPr vert="horz" wrap="square" lIns="0" tIns="0" rIns="0" bIns="0" rtlCol="0">
            <a:noAutofit/>
          </a:bodyPr>
          <a:lstStyle/>
          <a:p>
            <a:r>
              <a:rPr lang="en-US" sz="1300">
                <a:solidFill>
                  <a:srgbClr val="A7B7C9"/>
                </a:solidFill>
                <a:latin typeface="Aptos" panose="020B0004020202020204" pitchFamily="34" charset="0"/>
              </a:rPr>
              <a:t>Which intra mode or motion model predicts each area?</a:t>
            </a:r>
            <a:endParaRPr lang="en-IN" sz="1300">
              <a:solidFill>
                <a:srgbClr val="A7B7C9"/>
              </a:solidFill>
              <a:latin typeface="Aptos" panose="020B0004020202020204" pitchFamily="34" charset="0"/>
            </a:endParaRPr>
          </a:p>
        </p:txBody>
      </p:sp>
      <p:sp>
        <p:nvSpPr>
          <p:cNvPr id="38" name="Oval 37">
            <a:extLst>
              <a:ext uri="{FF2B5EF4-FFF2-40B4-BE49-F238E27FC236}">
                <a16:creationId xmlns:a16="http://schemas.microsoft.com/office/drawing/2014/main" id="{177BB7A4-2316-2107-4F77-49A49C71B139}"/>
              </a:ext>
            </a:extLst>
          </p:cNvPr>
          <p:cNvSpPr/>
          <p:nvPr/>
        </p:nvSpPr>
        <p:spPr>
          <a:xfrm>
            <a:off x="6096000" y="4038600"/>
            <a:ext cx="381000" cy="381000"/>
          </a:xfrm>
          <a:prstGeom prst="ellipse">
            <a:avLst/>
          </a:prstGeom>
          <a:solidFill>
            <a:srgbClr val="06182B"/>
          </a:solidFill>
          <a:ln w="2540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FFB454"/>
                </a:solidFill>
                <a:latin typeface="Aptos Display" panose="020B0004020202020204" pitchFamily="34" charset="0"/>
              </a:rPr>
              <a:t>3</a:t>
            </a:r>
          </a:p>
        </p:txBody>
      </p:sp>
      <p:sp>
        <p:nvSpPr>
          <p:cNvPr id="39" name="TextBox 38">
            <a:extLst>
              <a:ext uri="{FF2B5EF4-FFF2-40B4-BE49-F238E27FC236}">
                <a16:creationId xmlns:a16="http://schemas.microsoft.com/office/drawing/2014/main" id="{BCBC1426-EF04-3A23-30AC-ACBB681100ED}"/>
              </a:ext>
            </a:extLst>
          </p:cNvPr>
          <p:cNvSpPr txBox="1"/>
          <p:nvPr/>
        </p:nvSpPr>
        <p:spPr>
          <a:xfrm>
            <a:off x="6642100" y="3987800"/>
            <a:ext cx="2667000" cy="276999"/>
          </a:xfrm>
          <a:prstGeom prst="rect">
            <a:avLst/>
          </a:prstGeom>
          <a:noFill/>
        </p:spPr>
        <p:txBody>
          <a:bodyPr vert="horz" wrap="square" lIns="0" tIns="0" rIns="0" bIns="0" rtlCol="0">
            <a:noAutofit/>
          </a:bodyPr>
          <a:lstStyle/>
          <a:p>
            <a:r>
              <a:rPr lang="en-IN" sz="1400" b="1">
                <a:solidFill>
                  <a:srgbClr val="FFB454"/>
                </a:solidFill>
                <a:latin typeface="Aptos" panose="020B0004020202020204" pitchFamily="34" charset="0"/>
              </a:rPr>
              <a:t>Transform Unit (TU) split</a:t>
            </a:r>
          </a:p>
        </p:txBody>
      </p:sp>
      <p:sp>
        <p:nvSpPr>
          <p:cNvPr id="40" name="TextBox 39">
            <a:extLst>
              <a:ext uri="{FF2B5EF4-FFF2-40B4-BE49-F238E27FC236}">
                <a16:creationId xmlns:a16="http://schemas.microsoft.com/office/drawing/2014/main" id="{F8D58DE1-C603-EA40-D05B-4193EEA8DF3E}"/>
              </a:ext>
            </a:extLst>
          </p:cNvPr>
          <p:cNvSpPr txBox="1"/>
          <p:nvPr/>
        </p:nvSpPr>
        <p:spPr>
          <a:xfrm>
            <a:off x="6642100" y="4368800"/>
            <a:ext cx="4140200" cy="276999"/>
          </a:xfrm>
          <a:prstGeom prst="rect">
            <a:avLst/>
          </a:prstGeom>
          <a:noFill/>
        </p:spPr>
        <p:txBody>
          <a:bodyPr vert="horz" wrap="square" lIns="0" tIns="0" rIns="0" bIns="0" rtlCol="0">
            <a:noAutofit/>
          </a:bodyPr>
          <a:lstStyle/>
          <a:p>
            <a:r>
              <a:rPr lang="en-US" sz="1300">
                <a:solidFill>
                  <a:srgbClr val="A7B7C9"/>
                </a:solidFill>
                <a:latin typeface="Aptos" panose="020B0004020202020204" pitchFamily="34" charset="0"/>
              </a:rPr>
              <a:t>Where does the residual need a smaller transform?</a:t>
            </a:r>
            <a:endParaRPr lang="en-IN" sz="1300">
              <a:solidFill>
                <a:srgbClr val="A7B7C9"/>
              </a:solidFill>
              <a:latin typeface="Aptos" panose="020B0004020202020204" pitchFamily="34" charset="0"/>
            </a:endParaRPr>
          </a:p>
        </p:txBody>
      </p:sp>
      <p:sp>
        <p:nvSpPr>
          <p:cNvPr id="41" name="Oval 40">
            <a:extLst>
              <a:ext uri="{FF2B5EF4-FFF2-40B4-BE49-F238E27FC236}">
                <a16:creationId xmlns:a16="http://schemas.microsoft.com/office/drawing/2014/main" id="{285757D7-A9D4-55B7-0111-73A263975ED2}"/>
              </a:ext>
            </a:extLst>
          </p:cNvPr>
          <p:cNvSpPr/>
          <p:nvPr/>
        </p:nvSpPr>
        <p:spPr>
          <a:xfrm>
            <a:off x="6096000" y="4927600"/>
            <a:ext cx="381000" cy="381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4</a:t>
            </a:r>
          </a:p>
        </p:txBody>
      </p:sp>
      <p:sp>
        <p:nvSpPr>
          <p:cNvPr id="42" name="TextBox 41">
            <a:extLst>
              <a:ext uri="{FF2B5EF4-FFF2-40B4-BE49-F238E27FC236}">
                <a16:creationId xmlns:a16="http://schemas.microsoft.com/office/drawing/2014/main" id="{99E546E4-526A-09AD-EC67-85683CE09674}"/>
              </a:ext>
            </a:extLst>
          </p:cNvPr>
          <p:cNvSpPr txBox="1"/>
          <p:nvPr/>
        </p:nvSpPr>
        <p:spPr>
          <a:xfrm>
            <a:off x="6642100" y="4876800"/>
            <a:ext cx="2667000" cy="276999"/>
          </a:xfrm>
          <a:prstGeom prst="rect">
            <a:avLst/>
          </a:prstGeom>
          <a:noFill/>
        </p:spPr>
        <p:txBody>
          <a:bodyPr vert="horz" wrap="square" lIns="0" tIns="0" rIns="0" bIns="0" rtlCol="0">
            <a:noAutofit/>
          </a:bodyPr>
          <a:lstStyle/>
          <a:p>
            <a:r>
              <a:rPr lang="en-IN" sz="1400" b="1">
                <a:solidFill>
                  <a:srgbClr val="1A8BFF"/>
                </a:solidFill>
                <a:latin typeface="Aptos" panose="020B0004020202020204" pitchFamily="34" charset="0"/>
              </a:rPr>
              <a:t>Bit cost</a:t>
            </a:r>
          </a:p>
        </p:txBody>
      </p:sp>
      <p:sp>
        <p:nvSpPr>
          <p:cNvPr id="43" name="TextBox 42">
            <a:extLst>
              <a:ext uri="{FF2B5EF4-FFF2-40B4-BE49-F238E27FC236}">
                <a16:creationId xmlns:a16="http://schemas.microsoft.com/office/drawing/2014/main" id="{EB51D405-803C-EE8A-464A-3C1680741BD0}"/>
              </a:ext>
            </a:extLst>
          </p:cNvPr>
          <p:cNvSpPr txBox="1"/>
          <p:nvPr/>
        </p:nvSpPr>
        <p:spPr>
          <a:xfrm>
            <a:off x="6642100" y="5257800"/>
            <a:ext cx="4140200" cy="276999"/>
          </a:xfrm>
          <a:prstGeom prst="rect">
            <a:avLst/>
          </a:prstGeom>
          <a:noFill/>
        </p:spPr>
        <p:txBody>
          <a:bodyPr vert="horz" wrap="square" lIns="0" tIns="0" rIns="0" bIns="0" rtlCol="0">
            <a:noAutofit/>
          </a:bodyPr>
          <a:lstStyle/>
          <a:p>
            <a:r>
              <a:rPr lang="en-US" sz="1300">
                <a:solidFill>
                  <a:srgbClr val="A7B7C9"/>
                </a:solidFill>
                <a:latin typeface="Aptos" panose="020B0004020202020204" pitchFamily="34" charset="0"/>
              </a:rPr>
              <a:t>Are the extra split flags worth transmitting?</a:t>
            </a:r>
            <a:endParaRPr lang="en-IN" sz="1300">
              <a:solidFill>
                <a:srgbClr val="A7B7C9"/>
              </a:solidFill>
              <a:latin typeface="Aptos" panose="020B0004020202020204" pitchFamily="34" charset="0"/>
            </a:endParaRPr>
          </a:p>
        </p:txBody>
      </p:sp>
      <p:sp>
        <p:nvSpPr>
          <p:cNvPr id="44" name="TextBox 43">
            <a:extLst>
              <a:ext uri="{FF2B5EF4-FFF2-40B4-BE49-F238E27FC236}">
                <a16:creationId xmlns:a16="http://schemas.microsoft.com/office/drawing/2014/main" id="{24B7B7D7-6836-0727-AF82-D071FD3B0AB7}"/>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10 / 19</a:t>
            </a:r>
          </a:p>
        </p:txBody>
      </p:sp>
    </p:spTree>
    <p:extLst>
      <p:ext uri="{BB962C8B-B14F-4D97-AF65-F5344CB8AC3E}">
        <p14:creationId xmlns:p14="http://schemas.microsoft.com/office/powerpoint/2010/main" val="3798835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A91AD-3BFA-4969-5B71-C15C96157EA7}"/>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FCBFA356-4F5A-5F24-9636-B12AE30575B4}"/>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59F707E4-21BE-E5E0-AE8B-5D0686F96F44}"/>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31A59D8-FD04-0911-A1EF-411B30C69660}"/>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The transform concentrates residual energy into fewer coefficients</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153F7BA0-E532-A679-E85E-9FBAAF3A8F43}"/>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B78AD01-46C6-4A62-D36B-541411775343}"/>
              </a:ext>
            </a:extLst>
          </p:cNvPr>
          <p:cNvSpPr txBox="1"/>
          <p:nvPr/>
        </p:nvSpPr>
        <p:spPr>
          <a:xfrm>
            <a:off x="736600" y="1371600"/>
            <a:ext cx="3810000" cy="276999"/>
          </a:xfrm>
          <a:prstGeom prst="rect">
            <a:avLst/>
          </a:prstGeom>
          <a:noFill/>
        </p:spPr>
        <p:txBody>
          <a:bodyPr vert="horz" wrap="square" lIns="0" tIns="0" rIns="0" bIns="0" rtlCol="0">
            <a:noAutofit/>
          </a:bodyPr>
          <a:lstStyle/>
          <a:p>
            <a:pPr algn="ctr"/>
            <a:r>
              <a:rPr lang="en-IN" sz="1900" b="1">
                <a:solidFill>
                  <a:srgbClr val="16E3F2"/>
                </a:solidFill>
                <a:latin typeface="Aptos Display" panose="020B0004020202020204" pitchFamily="34" charset="0"/>
              </a:rPr>
              <a:t>Correlated residual samples</a:t>
            </a:r>
          </a:p>
        </p:txBody>
      </p:sp>
      <p:sp>
        <p:nvSpPr>
          <p:cNvPr id="8" name="Rectangle 7">
            <a:extLst>
              <a:ext uri="{FF2B5EF4-FFF2-40B4-BE49-F238E27FC236}">
                <a16:creationId xmlns:a16="http://schemas.microsoft.com/office/drawing/2014/main" id="{F3CC5CFA-E8B5-F728-1D41-6EF08C76F028}"/>
              </a:ext>
            </a:extLst>
          </p:cNvPr>
          <p:cNvSpPr/>
          <p:nvPr/>
        </p:nvSpPr>
        <p:spPr>
          <a:xfrm>
            <a:off x="1117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09918AB-278B-4581-5954-F62A72D75E7C}"/>
              </a:ext>
            </a:extLst>
          </p:cNvPr>
          <p:cNvSpPr txBox="1"/>
          <p:nvPr/>
        </p:nvSpPr>
        <p:spPr>
          <a:xfrm>
            <a:off x="1117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8</a:t>
            </a:r>
          </a:p>
        </p:txBody>
      </p:sp>
      <p:sp>
        <p:nvSpPr>
          <p:cNvPr id="10" name="Rectangle 9">
            <a:extLst>
              <a:ext uri="{FF2B5EF4-FFF2-40B4-BE49-F238E27FC236}">
                <a16:creationId xmlns:a16="http://schemas.microsoft.com/office/drawing/2014/main" id="{F7DF70D6-9778-771C-1CC5-4ECE78A628EC}"/>
              </a:ext>
            </a:extLst>
          </p:cNvPr>
          <p:cNvSpPr/>
          <p:nvPr/>
        </p:nvSpPr>
        <p:spPr>
          <a:xfrm>
            <a:off x="1498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BFDD8D0-ADFA-1A9F-C79C-90466EB6CFE9}"/>
              </a:ext>
            </a:extLst>
          </p:cNvPr>
          <p:cNvSpPr txBox="1"/>
          <p:nvPr/>
        </p:nvSpPr>
        <p:spPr>
          <a:xfrm>
            <a:off x="1498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7</a:t>
            </a:r>
          </a:p>
        </p:txBody>
      </p:sp>
      <p:sp>
        <p:nvSpPr>
          <p:cNvPr id="12" name="Rectangle 11">
            <a:extLst>
              <a:ext uri="{FF2B5EF4-FFF2-40B4-BE49-F238E27FC236}">
                <a16:creationId xmlns:a16="http://schemas.microsoft.com/office/drawing/2014/main" id="{3502A849-BABA-36A0-67BD-4FA96879240E}"/>
              </a:ext>
            </a:extLst>
          </p:cNvPr>
          <p:cNvSpPr/>
          <p:nvPr/>
        </p:nvSpPr>
        <p:spPr>
          <a:xfrm>
            <a:off x="1879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11931BF-3245-AC3F-E8DC-2BA73DBFF0B3}"/>
              </a:ext>
            </a:extLst>
          </p:cNvPr>
          <p:cNvSpPr txBox="1"/>
          <p:nvPr/>
        </p:nvSpPr>
        <p:spPr>
          <a:xfrm>
            <a:off x="1879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6</a:t>
            </a:r>
          </a:p>
        </p:txBody>
      </p:sp>
      <p:sp>
        <p:nvSpPr>
          <p:cNvPr id="14" name="Rectangle 13">
            <a:extLst>
              <a:ext uri="{FF2B5EF4-FFF2-40B4-BE49-F238E27FC236}">
                <a16:creationId xmlns:a16="http://schemas.microsoft.com/office/drawing/2014/main" id="{A0C52302-7359-64FD-E1C5-42E5C2528B0E}"/>
              </a:ext>
            </a:extLst>
          </p:cNvPr>
          <p:cNvSpPr/>
          <p:nvPr/>
        </p:nvSpPr>
        <p:spPr>
          <a:xfrm>
            <a:off x="2260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F24BDFE-113B-65BC-C175-19A31C7F0B04}"/>
              </a:ext>
            </a:extLst>
          </p:cNvPr>
          <p:cNvSpPr txBox="1"/>
          <p:nvPr/>
        </p:nvSpPr>
        <p:spPr>
          <a:xfrm>
            <a:off x="2260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5</a:t>
            </a:r>
          </a:p>
        </p:txBody>
      </p:sp>
      <p:sp>
        <p:nvSpPr>
          <p:cNvPr id="16" name="Rectangle 15">
            <a:extLst>
              <a:ext uri="{FF2B5EF4-FFF2-40B4-BE49-F238E27FC236}">
                <a16:creationId xmlns:a16="http://schemas.microsoft.com/office/drawing/2014/main" id="{4A5838E2-91C9-C99C-0BDB-3EE74B40AA9E}"/>
              </a:ext>
            </a:extLst>
          </p:cNvPr>
          <p:cNvSpPr/>
          <p:nvPr/>
        </p:nvSpPr>
        <p:spPr>
          <a:xfrm>
            <a:off x="2641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0E36D12-7CE3-9D17-436B-1D44A6BA961A}"/>
              </a:ext>
            </a:extLst>
          </p:cNvPr>
          <p:cNvSpPr txBox="1"/>
          <p:nvPr/>
        </p:nvSpPr>
        <p:spPr>
          <a:xfrm>
            <a:off x="2641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18" name="Rectangle 17">
            <a:extLst>
              <a:ext uri="{FF2B5EF4-FFF2-40B4-BE49-F238E27FC236}">
                <a16:creationId xmlns:a16="http://schemas.microsoft.com/office/drawing/2014/main" id="{C92901B9-C79E-DB3D-A4AF-B8A44680B374}"/>
              </a:ext>
            </a:extLst>
          </p:cNvPr>
          <p:cNvSpPr/>
          <p:nvPr/>
        </p:nvSpPr>
        <p:spPr>
          <a:xfrm>
            <a:off x="3022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DD5078A5-531D-05C3-1303-99123CE7FFC1}"/>
              </a:ext>
            </a:extLst>
          </p:cNvPr>
          <p:cNvSpPr txBox="1"/>
          <p:nvPr/>
        </p:nvSpPr>
        <p:spPr>
          <a:xfrm>
            <a:off x="3022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20" name="Rectangle 19">
            <a:extLst>
              <a:ext uri="{FF2B5EF4-FFF2-40B4-BE49-F238E27FC236}">
                <a16:creationId xmlns:a16="http://schemas.microsoft.com/office/drawing/2014/main" id="{07F20633-0A43-043D-9EB5-7C5A8E0E0826}"/>
              </a:ext>
            </a:extLst>
          </p:cNvPr>
          <p:cNvSpPr/>
          <p:nvPr/>
        </p:nvSpPr>
        <p:spPr>
          <a:xfrm>
            <a:off x="3403600" y="1905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AE4F898-84B9-34DF-9464-5F37E2C6D311}"/>
              </a:ext>
            </a:extLst>
          </p:cNvPr>
          <p:cNvSpPr txBox="1"/>
          <p:nvPr/>
        </p:nvSpPr>
        <p:spPr>
          <a:xfrm>
            <a:off x="34036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22" name="Rectangle 21">
            <a:extLst>
              <a:ext uri="{FF2B5EF4-FFF2-40B4-BE49-F238E27FC236}">
                <a16:creationId xmlns:a16="http://schemas.microsoft.com/office/drawing/2014/main" id="{E3B78B5D-295A-1152-A2AE-D5FD6B7E62F2}"/>
              </a:ext>
            </a:extLst>
          </p:cNvPr>
          <p:cNvSpPr/>
          <p:nvPr/>
        </p:nvSpPr>
        <p:spPr>
          <a:xfrm>
            <a:off x="3784600" y="1905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317CEF61-827F-3152-7247-21E688D496A0}"/>
              </a:ext>
            </a:extLst>
          </p:cNvPr>
          <p:cNvSpPr txBox="1"/>
          <p:nvPr/>
        </p:nvSpPr>
        <p:spPr>
          <a:xfrm>
            <a:off x="3784600" y="1917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 name="Rectangle 23">
            <a:extLst>
              <a:ext uri="{FF2B5EF4-FFF2-40B4-BE49-F238E27FC236}">
                <a16:creationId xmlns:a16="http://schemas.microsoft.com/office/drawing/2014/main" id="{8868E3AA-4CE7-E317-60B4-57DA979B253D}"/>
              </a:ext>
            </a:extLst>
          </p:cNvPr>
          <p:cNvSpPr/>
          <p:nvPr/>
        </p:nvSpPr>
        <p:spPr>
          <a:xfrm>
            <a:off x="1117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B713470-7406-0949-0517-4EC192D4F35B}"/>
              </a:ext>
            </a:extLst>
          </p:cNvPr>
          <p:cNvSpPr txBox="1"/>
          <p:nvPr/>
        </p:nvSpPr>
        <p:spPr>
          <a:xfrm>
            <a:off x="1117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7</a:t>
            </a:r>
          </a:p>
        </p:txBody>
      </p:sp>
      <p:sp>
        <p:nvSpPr>
          <p:cNvPr id="26" name="Rectangle 25">
            <a:extLst>
              <a:ext uri="{FF2B5EF4-FFF2-40B4-BE49-F238E27FC236}">
                <a16:creationId xmlns:a16="http://schemas.microsoft.com/office/drawing/2014/main" id="{9111F444-CDB4-BD6C-3A6F-16AB99C97B36}"/>
              </a:ext>
            </a:extLst>
          </p:cNvPr>
          <p:cNvSpPr/>
          <p:nvPr/>
        </p:nvSpPr>
        <p:spPr>
          <a:xfrm>
            <a:off x="1498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4178BC67-E085-25FF-7E47-676E1A6B418E}"/>
              </a:ext>
            </a:extLst>
          </p:cNvPr>
          <p:cNvSpPr txBox="1"/>
          <p:nvPr/>
        </p:nvSpPr>
        <p:spPr>
          <a:xfrm>
            <a:off x="1498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7</a:t>
            </a:r>
          </a:p>
        </p:txBody>
      </p:sp>
      <p:sp>
        <p:nvSpPr>
          <p:cNvPr id="28" name="Rectangle 27">
            <a:extLst>
              <a:ext uri="{FF2B5EF4-FFF2-40B4-BE49-F238E27FC236}">
                <a16:creationId xmlns:a16="http://schemas.microsoft.com/office/drawing/2014/main" id="{ACFF21EC-8AC2-C295-2138-43C5F31F2EF7}"/>
              </a:ext>
            </a:extLst>
          </p:cNvPr>
          <p:cNvSpPr/>
          <p:nvPr/>
        </p:nvSpPr>
        <p:spPr>
          <a:xfrm>
            <a:off x="1879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9741F02C-5166-0B55-41CE-B9C930F95264}"/>
              </a:ext>
            </a:extLst>
          </p:cNvPr>
          <p:cNvSpPr txBox="1"/>
          <p:nvPr/>
        </p:nvSpPr>
        <p:spPr>
          <a:xfrm>
            <a:off x="1879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6</a:t>
            </a:r>
          </a:p>
        </p:txBody>
      </p:sp>
      <p:sp>
        <p:nvSpPr>
          <p:cNvPr id="30" name="Rectangle 29">
            <a:extLst>
              <a:ext uri="{FF2B5EF4-FFF2-40B4-BE49-F238E27FC236}">
                <a16:creationId xmlns:a16="http://schemas.microsoft.com/office/drawing/2014/main" id="{24D8AFAB-679F-865F-9BF5-7B3BEABA41D7}"/>
              </a:ext>
            </a:extLst>
          </p:cNvPr>
          <p:cNvSpPr/>
          <p:nvPr/>
        </p:nvSpPr>
        <p:spPr>
          <a:xfrm>
            <a:off x="2260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F3B18203-12F9-60F8-84BA-CCC2F189F418}"/>
              </a:ext>
            </a:extLst>
          </p:cNvPr>
          <p:cNvSpPr txBox="1"/>
          <p:nvPr/>
        </p:nvSpPr>
        <p:spPr>
          <a:xfrm>
            <a:off x="2260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32" name="Rectangle 31">
            <a:extLst>
              <a:ext uri="{FF2B5EF4-FFF2-40B4-BE49-F238E27FC236}">
                <a16:creationId xmlns:a16="http://schemas.microsoft.com/office/drawing/2014/main" id="{7D8841D7-DB53-361E-EC7A-695A98F5F78B}"/>
              </a:ext>
            </a:extLst>
          </p:cNvPr>
          <p:cNvSpPr/>
          <p:nvPr/>
        </p:nvSpPr>
        <p:spPr>
          <a:xfrm>
            <a:off x="2641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08D0C6C4-711B-699D-7ABF-A5E202BC8A61}"/>
              </a:ext>
            </a:extLst>
          </p:cNvPr>
          <p:cNvSpPr txBox="1"/>
          <p:nvPr/>
        </p:nvSpPr>
        <p:spPr>
          <a:xfrm>
            <a:off x="2641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34" name="Rectangle 33">
            <a:extLst>
              <a:ext uri="{FF2B5EF4-FFF2-40B4-BE49-F238E27FC236}">
                <a16:creationId xmlns:a16="http://schemas.microsoft.com/office/drawing/2014/main" id="{2B6725DD-22BE-1521-2488-5125A696B9F8}"/>
              </a:ext>
            </a:extLst>
          </p:cNvPr>
          <p:cNvSpPr/>
          <p:nvPr/>
        </p:nvSpPr>
        <p:spPr>
          <a:xfrm>
            <a:off x="3022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0305711C-AFFB-F53F-1770-7743EBBADBFB}"/>
              </a:ext>
            </a:extLst>
          </p:cNvPr>
          <p:cNvSpPr txBox="1"/>
          <p:nvPr/>
        </p:nvSpPr>
        <p:spPr>
          <a:xfrm>
            <a:off x="3022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36" name="Rectangle 35">
            <a:extLst>
              <a:ext uri="{FF2B5EF4-FFF2-40B4-BE49-F238E27FC236}">
                <a16:creationId xmlns:a16="http://schemas.microsoft.com/office/drawing/2014/main" id="{FB84DCD4-2249-97B7-9EAA-2EB2B6F83107}"/>
              </a:ext>
            </a:extLst>
          </p:cNvPr>
          <p:cNvSpPr/>
          <p:nvPr/>
        </p:nvSpPr>
        <p:spPr>
          <a:xfrm>
            <a:off x="3403600" y="2286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6FD15C7B-2AB3-E656-0629-E465EDF657EC}"/>
              </a:ext>
            </a:extLst>
          </p:cNvPr>
          <p:cNvSpPr txBox="1"/>
          <p:nvPr/>
        </p:nvSpPr>
        <p:spPr>
          <a:xfrm>
            <a:off x="34036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38" name="Rectangle 37">
            <a:extLst>
              <a:ext uri="{FF2B5EF4-FFF2-40B4-BE49-F238E27FC236}">
                <a16:creationId xmlns:a16="http://schemas.microsoft.com/office/drawing/2014/main" id="{91CC5EA8-EF00-9047-0B8D-3AEBE885C7EC}"/>
              </a:ext>
            </a:extLst>
          </p:cNvPr>
          <p:cNvSpPr/>
          <p:nvPr/>
        </p:nvSpPr>
        <p:spPr>
          <a:xfrm>
            <a:off x="37846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E871423C-BF5B-D54C-A84C-1B06D31899BC}"/>
              </a:ext>
            </a:extLst>
          </p:cNvPr>
          <p:cNvSpPr txBox="1"/>
          <p:nvPr/>
        </p:nvSpPr>
        <p:spPr>
          <a:xfrm>
            <a:off x="37846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40" name="Rectangle 39">
            <a:extLst>
              <a:ext uri="{FF2B5EF4-FFF2-40B4-BE49-F238E27FC236}">
                <a16:creationId xmlns:a16="http://schemas.microsoft.com/office/drawing/2014/main" id="{76ECE1CB-F491-EFC0-D92C-AE3DA293656D}"/>
              </a:ext>
            </a:extLst>
          </p:cNvPr>
          <p:cNvSpPr/>
          <p:nvPr/>
        </p:nvSpPr>
        <p:spPr>
          <a:xfrm>
            <a:off x="1117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9B6AB2A7-64F1-0C41-C9AC-FCF69DB5724A}"/>
              </a:ext>
            </a:extLst>
          </p:cNvPr>
          <p:cNvSpPr txBox="1"/>
          <p:nvPr/>
        </p:nvSpPr>
        <p:spPr>
          <a:xfrm>
            <a:off x="1117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6</a:t>
            </a:r>
          </a:p>
        </p:txBody>
      </p:sp>
      <p:sp>
        <p:nvSpPr>
          <p:cNvPr id="42" name="Rectangle 41">
            <a:extLst>
              <a:ext uri="{FF2B5EF4-FFF2-40B4-BE49-F238E27FC236}">
                <a16:creationId xmlns:a16="http://schemas.microsoft.com/office/drawing/2014/main" id="{77B7F294-1B9D-C049-3619-C1C156087B3F}"/>
              </a:ext>
            </a:extLst>
          </p:cNvPr>
          <p:cNvSpPr/>
          <p:nvPr/>
        </p:nvSpPr>
        <p:spPr>
          <a:xfrm>
            <a:off x="1498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353D76C4-BEE0-1C7D-F7AE-E1911ABBB784}"/>
              </a:ext>
            </a:extLst>
          </p:cNvPr>
          <p:cNvSpPr txBox="1"/>
          <p:nvPr/>
        </p:nvSpPr>
        <p:spPr>
          <a:xfrm>
            <a:off x="1498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6</a:t>
            </a:r>
          </a:p>
        </p:txBody>
      </p:sp>
      <p:sp>
        <p:nvSpPr>
          <p:cNvPr id="44" name="Rectangle 43">
            <a:extLst>
              <a:ext uri="{FF2B5EF4-FFF2-40B4-BE49-F238E27FC236}">
                <a16:creationId xmlns:a16="http://schemas.microsoft.com/office/drawing/2014/main" id="{9EEAEB19-7632-D436-F03C-E2836CC15431}"/>
              </a:ext>
            </a:extLst>
          </p:cNvPr>
          <p:cNvSpPr/>
          <p:nvPr/>
        </p:nvSpPr>
        <p:spPr>
          <a:xfrm>
            <a:off x="1879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E33AF6C2-927E-4583-2075-8662C94CF801}"/>
              </a:ext>
            </a:extLst>
          </p:cNvPr>
          <p:cNvSpPr txBox="1"/>
          <p:nvPr/>
        </p:nvSpPr>
        <p:spPr>
          <a:xfrm>
            <a:off x="1879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5</a:t>
            </a:r>
          </a:p>
        </p:txBody>
      </p:sp>
      <p:sp>
        <p:nvSpPr>
          <p:cNvPr id="46" name="Rectangle 45">
            <a:extLst>
              <a:ext uri="{FF2B5EF4-FFF2-40B4-BE49-F238E27FC236}">
                <a16:creationId xmlns:a16="http://schemas.microsoft.com/office/drawing/2014/main" id="{AE3704C5-7AB9-8E5D-2927-772F102E94F8}"/>
              </a:ext>
            </a:extLst>
          </p:cNvPr>
          <p:cNvSpPr/>
          <p:nvPr/>
        </p:nvSpPr>
        <p:spPr>
          <a:xfrm>
            <a:off x="2260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C3055CD7-BAD6-497D-6E25-12100CD1C483}"/>
              </a:ext>
            </a:extLst>
          </p:cNvPr>
          <p:cNvSpPr txBox="1"/>
          <p:nvPr/>
        </p:nvSpPr>
        <p:spPr>
          <a:xfrm>
            <a:off x="2260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48" name="Rectangle 47">
            <a:extLst>
              <a:ext uri="{FF2B5EF4-FFF2-40B4-BE49-F238E27FC236}">
                <a16:creationId xmlns:a16="http://schemas.microsoft.com/office/drawing/2014/main" id="{F448907F-A12D-ACC0-B0E2-1717A32620DC}"/>
              </a:ext>
            </a:extLst>
          </p:cNvPr>
          <p:cNvSpPr/>
          <p:nvPr/>
        </p:nvSpPr>
        <p:spPr>
          <a:xfrm>
            <a:off x="2641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0AD7901-3EFA-AE7E-E6B7-F5A58D7F0B78}"/>
              </a:ext>
            </a:extLst>
          </p:cNvPr>
          <p:cNvSpPr txBox="1"/>
          <p:nvPr/>
        </p:nvSpPr>
        <p:spPr>
          <a:xfrm>
            <a:off x="2641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50" name="Rectangle 49">
            <a:extLst>
              <a:ext uri="{FF2B5EF4-FFF2-40B4-BE49-F238E27FC236}">
                <a16:creationId xmlns:a16="http://schemas.microsoft.com/office/drawing/2014/main" id="{04FE1212-04D8-9233-315D-1EB5491F4C5C}"/>
              </a:ext>
            </a:extLst>
          </p:cNvPr>
          <p:cNvSpPr/>
          <p:nvPr/>
        </p:nvSpPr>
        <p:spPr>
          <a:xfrm>
            <a:off x="3022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62D1120E-A57F-1B62-63B8-95DE94FC2A81}"/>
              </a:ext>
            </a:extLst>
          </p:cNvPr>
          <p:cNvSpPr txBox="1"/>
          <p:nvPr/>
        </p:nvSpPr>
        <p:spPr>
          <a:xfrm>
            <a:off x="3022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52" name="Rectangle 51">
            <a:extLst>
              <a:ext uri="{FF2B5EF4-FFF2-40B4-BE49-F238E27FC236}">
                <a16:creationId xmlns:a16="http://schemas.microsoft.com/office/drawing/2014/main" id="{F469803B-7C80-DD5A-3D09-612C637DFE8F}"/>
              </a:ext>
            </a:extLst>
          </p:cNvPr>
          <p:cNvSpPr/>
          <p:nvPr/>
        </p:nvSpPr>
        <p:spPr>
          <a:xfrm>
            <a:off x="3403600" y="2667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a:extLst>
              <a:ext uri="{FF2B5EF4-FFF2-40B4-BE49-F238E27FC236}">
                <a16:creationId xmlns:a16="http://schemas.microsoft.com/office/drawing/2014/main" id="{41651DEA-B21E-63CA-9733-97FE6009895C}"/>
              </a:ext>
            </a:extLst>
          </p:cNvPr>
          <p:cNvSpPr txBox="1"/>
          <p:nvPr/>
        </p:nvSpPr>
        <p:spPr>
          <a:xfrm>
            <a:off x="34036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54" name="Rectangle 53">
            <a:extLst>
              <a:ext uri="{FF2B5EF4-FFF2-40B4-BE49-F238E27FC236}">
                <a16:creationId xmlns:a16="http://schemas.microsoft.com/office/drawing/2014/main" id="{169CC50E-46C6-E5CC-2F08-3F1510D49E11}"/>
              </a:ext>
            </a:extLst>
          </p:cNvPr>
          <p:cNvSpPr/>
          <p:nvPr/>
        </p:nvSpPr>
        <p:spPr>
          <a:xfrm>
            <a:off x="37846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3F0796E8-F86C-4ED4-2C4D-2320E6E84F0D}"/>
              </a:ext>
            </a:extLst>
          </p:cNvPr>
          <p:cNvSpPr txBox="1"/>
          <p:nvPr/>
        </p:nvSpPr>
        <p:spPr>
          <a:xfrm>
            <a:off x="37846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6" name="Rectangle 55">
            <a:extLst>
              <a:ext uri="{FF2B5EF4-FFF2-40B4-BE49-F238E27FC236}">
                <a16:creationId xmlns:a16="http://schemas.microsoft.com/office/drawing/2014/main" id="{CA0546BC-47CB-146B-ECB3-C77C4743C4FE}"/>
              </a:ext>
            </a:extLst>
          </p:cNvPr>
          <p:cNvSpPr/>
          <p:nvPr/>
        </p:nvSpPr>
        <p:spPr>
          <a:xfrm>
            <a:off x="1117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092E1810-A2C5-96F8-8439-CFBC7068A89A}"/>
              </a:ext>
            </a:extLst>
          </p:cNvPr>
          <p:cNvSpPr txBox="1"/>
          <p:nvPr/>
        </p:nvSpPr>
        <p:spPr>
          <a:xfrm>
            <a:off x="1117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58" name="Rectangle 57">
            <a:extLst>
              <a:ext uri="{FF2B5EF4-FFF2-40B4-BE49-F238E27FC236}">
                <a16:creationId xmlns:a16="http://schemas.microsoft.com/office/drawing/2014/main" id="{24236563-3688-0E1E-D9BD-6CAFED74CE68}"/>
              </a:ext>
            </a:extLst>
          </p:cNvPr>
          <p:cNvSpPr/>
          <p:nvPr/>
        </p:nvSpPr>
        <p:spPr>
          <a:xfrm>
            <a:off x="1498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82BC0476-9585-516C-984E-4C54967F4EE9}"/>
              </a:ext>
            </a:extLst>
          </p:cNvPr>
          <p:cNvSpPr txBox="1"/>
          <p:nvPr/>
        </p:nvSpPr>
        <p:spPr>
          <a:xfrm>
            <a:off x="1498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60" name="Rectangle 59">
            <a:extLst>
              <a:ext uri="{FF2B5EF4-FFF2-40B4-BE49-F238E27FC236}">
                <a16:creationId xmlns:a16="http://schemas.microsoft.com/office/drawing/2014/main" id="{CAB0915E-8229-5015-98A6-B724B6AE88EB}"/>
              </a:ext>
            </a:extLst>
          </p:cNvPr>
          <p:cNvSpPr/>
          <p:nvPr/>
        </p:nvSpPr>
        <p:spPr>
          <a:xfrm>
            <a:off x="1879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16633343-454B-9397-DE85-80D4C324EFD7}"/>
              </a:ext>
            </a:extLst>
          </p:cNvPr>
          <p:cNvSpPr txBox="1"/>
          <p:nvPr/>
        </p:nvSpPr>
        <p:spPr>
          <a:xfrm>
            <a:off x="1879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62" name="Rectangle 61">
            <a:extLst>
              <a:ext uri="{FF2B5EF4-FFF2-40B4-BE49-F238E27FC236}">
                <a16:creationId xmlns:a16="http://schemas.microsoft.com/office/drawing/2014/main" id="{FB99FBF4-F7F6-EDD7-52A1-0D8EC7C98D3B}"/>
              </a:ext>
            </a:extLst>
          </p:cNvPr>
          <p:cNvSpPr/>
          <p:nvPr/>
        </p:nvSpPr>
        <p:spPr>
          <a:xfrm>
            <a:off x="2260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131E6850-5A05-3AA4-E9C4-BD7132B3EEAF}"/>
              </a:ext>
            </a:extLst>
          </p:cNvPr>
          <p:cNvSpPr txBox="1"/>
          <p:nvPr/>
        </p:nvSpPr>
        <p:spPr>
          <a:xfrm>
            <a:off x="2260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64" name="Rectangle 63">
            <a:extLst>
              <a:ext uri="{FF2B5EF4-FFF2-40B4-BE49-F238E27FC236}">
                <a16:creationId xmlns:a16="http://schemas.microsoft.com/office/drawing/2014/main" id="{EE09CE88-6069-CEC8-C357-AC1B77482F57}"/>
              </a:ext>
            </a:extLst>
          </p:cNvPr>
          <p:cNvSpPr/>
          <p:nvPr/>
        </p:nvSpPr>
        <p:spPr>
          <a:xfrm>
            <a:off x="2641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7243F823-D7C1-9ACD-193D-7C0266F4081C}"/>
              </a:ext>
            </a:extLst>
          </p:cNvPr>
          <p:cNvSpPr txBox="1"/>
          <p:nvPr/>
        </p:nvSpPr>
        <p:spPr>
          <a:xfrm>
            <a:off x="2641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66" name="Rectangle 65">
            <a:extLst>
              <a:ext uri="{FF2B5EF4-FFF2-40B4-BE49-F238E27FC236}">
                <a16:creationId xmlns:a16="http://schemas.microsoft.com/office/drawing/2014/main" id="{A8737A9F-9FC8-5071-B95D-7C776F4E287E}"/>
              </a:ext>
            </a:extLst>
          </p:cNvPr>
          <p:cNvSpPr/>
          <p:nvPr/>
        </p:nvSpPr>
        <p:spPr>
          <a:xfrm>
            <a:off x="3022600" y="3048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131F90F6-077D-3394-B8D9-9A227638DBD8}"/>
              </a:ext>
            </a:extLst>
          </p:cNvPr>
          <p:cNvSpPr txBox="1"/>
          <p:nvPr/>
        </p:nvSpPr>
        <p:spPr>
          <a:xfrm>
            <a:off x="30226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68" name="Rectangle 67">
            <a:extLst>
              <a:ext uri="{FF2B5EF4-FFF2-40B4-BE49-F238E27FC236}">
                <a16:creationId xmlns:a16="http://schemas.microsoft.com/office/drawing/2014/main" id="{85B740B1-5EBD-7073-BE51-2D1BBCD98D02}"/>
              </a:ext>
            </a:extLst>
          </p:cNvPr>
          <p:cNvSpPr/>
          <p:nvPr/>
        </p:nvSpPr>
        <p:spPr>
          <a:xfrm>
            <a:off x="34036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157737A3-6D44-FA00-C95C-B653B2AB6E77}"/>
              </a:ext>
            </a:extLst>
          </p:cNvPr>
          <p:cNvSpPr txBox="1"/>
          <p:nvPr/>
        </p:nvSpPr>
        <p:spPr>
          <a:xfrm>
            <a:off x="34036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0" name="Rectangle 69">
            <a:extLst>
              <a:ext uri="{FF2B5EF4-FFF2-40B4-BE49-F238E27FC236}">
                <a16:creationId xmlns:a16="http://schemas.microsoft.com/office/drawing/2014/main" id="{4F8DA193-AB11-D9E1-EA05-D63F71C5BFCE}"/>
              </a:ext>
            </a:extLst>
          </p:cNvPr>
          <p:cNvSpPr/>
          <p:nvPr/>
        </p:nvSpPr>
        <p:spPr>
          <a:xfrm>
            <a:off x="37846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Box 70">
            <a:extLst>
              <a:ext uri="{FF2B5EF4-FFF2-40B4-BE49-F238E27FC236}">
                <a16:creationId xmlns:a16="http://schemas.microsoft.com/office/drawing/2014/main" id="{D63CBBB7-946D-5E50-8D9C-41E1F7793EF3}"/>
              </a:ext>
            </a:extLst>
          </p:cNvPr>
          <p:cNvSpPr txBox="1"/>
          <p:nvPr/>
        </p:nvSpPr>
        <p:spPr>
          <a:xfrm>
            <a:off x="37846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2" name="Rectangle 71">
            <a:extLst>
              <a:ext uri="{FF2B5EF4-FFF2-40B4-BE49-F238E27FC236}">
                <a16:creationId xmlns:a16="http://schemas.microsoft.com/office/drawing/2014/main" id="{A5E1CB03-F57B-AD5C-69C5-F7F53532C67C}"/>
              </a:ext>
            </a:extLst>
          </p:cNvPr>
          <p:cNvSpPr/>
          <p:nvPr/>
        </p:nvSpPr>
        <p:spPr>
          <a:xfrm>
            <a:off x="1117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a:extLst>
              <a:ext uri="{FF2B5EF4-FFF2-40B4-BE49-F238E27FC236}">
                <a16:creationId xmlns:a16="http://schemas.microsoft.com/office/drawing/2014/main" id="{4F73D2BB-E634-5BC9-A567-7B05976EF3EA}"/>
              </a:ext>
            </a:extLst>
          </p:cNvPr>
          <p:cNvSpPr txBox="1"/>
          <p:nvPr/>
        </p:nvSpPr>
        <p:spPr>
          <a:xfrm>
            <a:off x="1117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74" name="Rectangle 73">
            <a:extLst>
              <a:ext uri="{FF2B5EF4-FFF2-40B4-BE49-F238E27FC236}">
                <a16:creationId xmlns:a16="http://schemas.microsoft.com/office/drawing/2014/main" id="{286B64C6-FF70-71C3-9648-1D72BD0CEA31}"/>
              </a:ext>
            </a:extLst>
          </p:cNvPr>
          <p:cNvSpPr/>
          <p:nvPr/>
        </p:nvSpPr>
        <p:spPr>
          <a:xfrm>
            <a:off x="1498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Box 74">
            <a:extLst>
              <a:ext uri="{FF2B5EF4-FFF2-40B4-BE49-F238E27FC236}">
                <a16:creationId xmlns:a16="http://schemas.microsoft.com/office/drawing/2014/main" id="{9110CCE5-3B20-FF0E-D7FA-6B3D79CEC768}"/>
              </a:ext>
            </a:extLst>
          </p:cNvPr>
          <p:cNvSpPr txBox="1"/>
          <p:nvPr/>
        </p:nvSpPr>
        <p:spPr>
          <a:xfrm>
            <a:off x="1498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76" name="Rectangle 75">
            <a:extLst>
              <a:ext uri="{FF2B5EF4-FFF2-40B4-BE49-F238E27FC236}">
                <a16:creationId xmlns:a16="http://schemas.microsoft.com/office/drawing/2014/main" id="{AA7F2BC9-472F-AF5A-37D5-F0DF9D6C35E5}"/>
              </a:ext>
            </a:extLst>
          </p:cNvPr>
          <p:cNvSpPr/>
          <p:nvPr/>
        </p:nvSpPr>
        <p:spPr>
          <a:xfrm>
            <a:off x="1879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Box 76">
            <a:extLst>
              <a:ext uri="{FF2B5EF4-FFF2-40B4-BE49-F238E27FC236}">
                <a16:creationId xmlns:a16="http://schemas.microsoft.com/office/drawing/2014/main" id="{0D64B8D5-4F23-DFBB-6053-9D042D6348D3}"/>
              </a:ext>
            </a:extLst>
          </p:cNvPr>
          <p:cNvSpPr txBox="1"/>
          <p:nvPr/>
        </p:nvSpPr>
        <p:spPr>
          <a:xfrm>
            <a:off x="1879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78" name="Rectangle 77">
            <a:extLst>
              <a:ext uri="{FF2B5EF4-FFF2-40B4-BE49-F238E27FC236}">
                <a16:creationId xmlns:a16="http://schemas.microsoft.com/office/drawing/2014/main" id="{63642A40-F809-EB67-1DA1-036F5227936D}"/>
              </a:ext>
            </a:extLst>
          </p:cNvPr>
          <p:cNvSpPr/>
          <p:nvPr/>
        </p:nvSpPr>
        <p:spPr>
          <a:xfrm>
            <a:off x="2260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TextBox 78">
            <a:extLst>
              <a:ext uri="{FF2B5EF4-FFF2-40B4-BE49-F238E27FC236}">
                <a16:creationId xmlns:a16="http://schemas.microsoft.com/office/drawing/2014/main" id="{218E9F76-94D3-B68C-7ACB-0A74144C3D45}"/>
              </a:ext>
            </a:extLst>
          </p:cNvPr>
          <p:cNvSpPr txBox="1"/>
          <p:nvPr/>
        </p:nvSpPr>
        <p:spPr>
          <a:xfrm>
            <a:off x="2260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80" name="Rectangle 79">
            <a:extLst>
              <a:ext uri="{FF2B5EF4-FFF2-40B4-BE49-F238E27FC236}">
                <a16:creationId xmlns:a16="http://schemas.microsoft.com/office/drawing/2014/main" id="{EF5209D7-B3D2-76AD-A70A-79F4913FED62}"/>
              </a:ext>
            </a:extLst>
          </p:cNvPr>
          <p:cNvSpPr/>
          <p:nvPr/>
        </p:nvSpPr>
        <p:spPr>
          <a:xfrm>
            <a:off x="2641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TextBox 80">
            <a:extLst>
              <a:ext uri="{FF2B5EF4-FFF2-40B4-BE49-F238E27FC236}">
                <a16:creationId xmlns:a16="http://schemas.microsoft.com/office/drawing/2014/main" id="{1CC4A000-FDC3-F0E8-81A4-B9B1602D85B7}"/>
              </a:ext>
            </a:extLst>
          </p:cNvPr>
          <p:cNvSpPr txBox="1"/>
          <p:nvPr/>
        </p:nvSpPr>
        <p:spPr>
          <a:xfrm>
            <a:off x="2641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82" name="Rectangle 81">
            <a:extLst>
              <a:ext uri="{FF2B5EF4-FFF2-40B4-BE49-F238E27FC236}">
                <a16:creationId xmlns:a16="http://schemas.microsoft.com/office/drawing/2014/main" id="{34E4BA15-847F-FAE3-0398-9135072036CF}"/>
              </a:ext>
            </a:extLst>
          </p:cNvPr>
          <p:cNvSpPr/>
          <p:nvPr/>
        </p:nvSpPr>
        <p:spPr>
          <a:xfrm>
            <a:off x="3022600" y="3429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TextBox 82">
            <a:extLst>
              <a:ext uri="{FF2B5EF4-FFF2-40B4-BE49-F238E27FC236}">
                <a16:creationId xmlns:a16="http://schemas.microsoft.com/office/drawing/2014/main" id="{0191E658-6EB9-10B3-7572-651901FE8D98}"/>
              </a:ext>
            </a:extLst>
          </p:cNvPr>
          <p:cNvSpPr txBox="1"/>
          <p:nvPr/>
        </p:nvSpPr>
        <p:spPr>
          <a:xfrm>
            <a:off x="3022600" y="3441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84" name="Rectangle 83">
            <a:extLst>
              <a:ext uri="{FF2B5EF4-FFF2-40B4-BE49-F238E27FC236}">
                <a16:creationId xmlns:a16="http://schemas.microsoft.com/office/drawing/2014/main" id="{E4B4127E-B6C0-08E4-EED8-017009965916}"/>
              </a:ext>
            </a:extLst>
          </p:cNvPr>
          <p:cNvSpPr/>
          <p:nvPr/>
        </p:nvSpPr>
        <p:spPr>
          <a:xfrm>
            <a:off x="34036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TextBox 84">
            <a:extLst>
              <a:ext uri="{FF2B5EF4-FFF2-40B4-BE49-F238E27FC236}">
                <a16:creationId xmlns:a16="http://schemas.microsoft.com/office/drawing/2014/main" id="{0CFDD0EC-2D5A-B342-46E3-9BEAC84F076A}"/>
              </a:ext>
            </a:extLst>
          </p:cNvPr>
          <p:cNvSpPr txBox="1"/>
          <p:nvPr/>
        </p:nvSpPr>
        <p:spPr>
          <a:xfrm>
            <a:off x="34036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86" name="Rectangle 85">
            <a:extLst>
              <a:ext uri="{FF2B5EF4-FFF2-40B4-BE49-F238E27FC236}">
                <a16:creationId xmlns:a16="http://schemas.microsoft.com/office/drawing/2014/main" id="{CB9A459D-E9CB-B484-29C1-EAD6C7FBE778}"/>
              </a:ext>
            </a:extLst>
          </p:cNvPr>
          <p:cNvSpPr/>
          <p:nvPr/>
        </p:nvSpPr>
        <p:spPr>
          <a:xfrm>
            <a:off x="37846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TextBox 86">
            <a:extLst>
              <a:ext uri="{FF2B5EF4-FFF2-40B4-BE49-F238E27FC236}">
                <a16:creationId xmlns:a16="http://schemas.microsoft.com/office/drawing/2014/main" id="{8BC6B19B-F29D-568F-B62E-F433B8C380F0}"/>
              </a:ext>
            </a:extLst>
          </p:cNvPr>
          <p:cNvSpPr txBox="1"/>
          <p:nvPr/>
        </p:nvSpPr>
        <p:spPr>
          <a:xfrm>
            <a:off x="37846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88" name="Rectangle 87">
            <a:extLst>
              <a:ext uri="{FF2B5EF4-FFF2-40B4-BE49-F238E27FC236}">
                <a16:creationId xmlns:a16="http://schemas.microsoft.com/office/drawing/2014/main" id="{7D8FAB04-1059-09ED-6658-4AD5A2EA439F}"/>
              </a:ext>
            </a:extLst>
          </p:cNvPr>
          <p:cNvSpPr/>
          <p:nvPr/>
        </p:nvSpPr>
        <p:spPr>
          <a:xfrm>
            <a:off x="1117600" y="3810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TextBox 88">
            <a:extLst>
              <a:ext uri="{FF2B5EF4-FFF2-40B4-BE49-F238E27FC236}">
                <a16:creationId xmlns:a16="http://schemas.microsoft.com/office/drawing/2014/main" id="{D58B988E-1C98-C662-EC30-E55082CBD31C}"/>
              </a:ext>
            </a:extLst>
          </p:cNvPr>
          <p:cNvSpPr txBox="1"/>
          <p:nvPr/>
        </p:nvSpPr>
        <p:spPr>
          <a:xfrm>
            <a:off x="1117600" y="3822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0" name="Rectangle 89">
            <a:extLst>
              <a:ext uri="{FF2B5EF4-FFF2-40B4-BE49-F238E27FC236}">
                <a16:creationId xmlns:a16="http://schemas.microsoft.com/office/drawing/2014/main" id="{B09B4E94-220B-8B09-B807-A533402E9E25}"/>
              </a:ext>
            </a:extLst>
          </p:cNvPr>
          <p:cNvSpPr/>
          <p:nvPr/>
        </p:nvSpPr>
        <p:spPr>
          <a:xfrm>
            <a:off x="1498600" y="3810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TextBox 90">
            <a:extLst>
              <a:ext uri="{FF2B5EF4-FFF2-40B4-BE49-F238E27FC236}">
                <a16:creationId xmlns:a16="http://schemas.microsoft.com/office/drawing/2014/main" id="{3D267162-6403-A251-1A8B-5F7C36ECC085}"/>
              </a:ext>
            </a:extLst>
          </p:cNvPr>
          <p:cNvSpPr txBox="1"/>
          <p:nvPr/>
        </p:nvSpPr>
        <p:spPr>
          <a:xfrm>
            <a:off x="1498600" y="3822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2" name="Rectangle 91">
            <a:extLst>
              <a:ext uri="{FF2B5EF4-FFF2-40B4-BE49-F238E27FC236}">
                <a16:creationId xmlns:a16="http://schemas.microsoft.com/office/drawing/2014/main" id="{3585FF21-B3F9-F709-A57D-A0922E90907F}"/>
              </a:ext>
            </a:extLst>
          </p:cNvPr>
          <p:cNvSpPr/>
          <p:nvPr/>
        </p:nvSpPr>
        <p:spPr>
          <a:xfrm>
            <a:off x="1879600" y="3810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TextBox 92">
            <a:extLst>
              <a:ext uri="{FF2B5EF4-FFF2-40B4-BE49-F238E27FC236}">
                <a16:creationId xmlns:a16="http://schemas.microsoft.com/office/drawing/2014/main" id="{6582006D-349A-35A6-00A8-C5BBF3274A9A}"/>
              </a:ext>
            </a:extLst>
          </p:cNvPr>
          <p:cNvSpPr txBox="1"/>
          <p:nvPr/>
        </p:nvSpPr>
        <p:spPr>
          <a:xfrm>
            <a:off x="1879600" y="3822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4" name="Rectangle 93">
            <a:extLst>
              <a:ext uri="{FF2B5EF4-FFF2-40B4-BE49-F238E27FC236}">
                <a16:creationId xmlns:a16="http://schemas.microsoft.com/office/drawing/2014/main" id="{4DB14434-20DF-86AA-52D6-B5AE582EE06B}"/>
              </a:ext>
            </a:extLst>
          </p:cNvPr>
          <p:cNvSpPr/>
          <p:nvPr/>
        </p:nvSpPr>
        <p:spPr>
          <a:xfrm>
            <a:off x="2260600" y="3810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TextBox 94">
            <a:extLst>
              <a:ext uri="{FF2B5EF4-FFF2-40B4-BE49-F238E27FC236}">
                <a16:creationId xmlns:a16="http://schemas.microsoft.com/office/drawing/2014/main" id="{9809727E-73CB-72BE-C410-D40D8E30DA0E}"/>
              </a:ext>
            </a:extLst>
          </p:cNvPr>
          <p:cNvSpPr txBox="1"/>
          <p:nvPr/>
        </p:nvSpPr>
        <p:spPr>
          <a:xfrm>
            <a:off x="2260600" y="3822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6" name="Rectangle 95">
            <a:extLst>
              <a:ext uri="{FF2B5EF4-FFF2-40B4-BE49-F238E27FC236}">
                <a16:creationId xmlns:a16="http://schemas.microsoft.com/office/drawing/2014/main" id="{A65F249F-E8BD-EE58-CCD0-4145EAB9D9EC}"/>
              </a:ext>
            </a:extLst>
          </p:cNvPr>
          <p:cNvSpPr/>
          <p:nvPr/>
        </p:nvSpPr>
        <p:spPr>
          <a:xfrm>
            <a:off x="2641600" y="3810000"/>
            <a:ext cx="381000" cy="3810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TextBox 96">
            <a:extLst>
              <a:ext uri="{FF2B5EF4-FFF2-40B4-BE49-F238E27FC236}">
                <a16:creationId xmlns:a16="http://schemas.microsoft.com/office/drawing/2014/main" id="{FA066F77-9740-202B-8614-DADB69CF7C0D}"/>
              </a:ext>
            </a:extLst>
          </p:cNvPr>
          <p:cNvSpPr txBox="1"/>
          <p:nvPr/>
        </p:nvSpPr>
        <p:spPr>
          <a:xfrm>
            <a:off x="2641600" y="3822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8" name="Rectangle 97">
            <a:extLst>
              <a:ext uri="{FF2B5EF4-FFF2-40B4-BE49-F238E27FC236}">
                <a16:creationId xmlns:a16="http://schemas.microsoft.com/office/drawing/2014/main" id="{760565B2-8083-7766-8186-759A28DBCF70}"/>
              </a:ext>
            </a:extLst>
          </p:cNvPr>
          <p:cNvSpPr/>
          <p:nvPr/>
        </p:nvSpPr>
        <p:spPr>
          <a:xfrm>
            <a:off x="30226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TextBox 98">
            <a:extLst>
              <a:ext uri="{FF2B5EF4-FFF2-40B4-BE49-F238E27FC236}">
                <a16:creationId xmlns:a16="http://schemas.microsoft.com/office/drawing/2014/main" id="{460DC617-E825-DBC8-9850-3D5D3BD9F200}"/>
              </a:ext>
            </a:extLst>
          </p:cNvPr>
          <p:cNvSpPr txBox="1"/>
          <p:nvPr/>
        </p:nvSpPr>
        <p:spPr>
          <a:xfrm>
            <a:off x="30226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0" name="Rectangle 99">
            <a:extLst>
              <a:ext uri="{FF2B5EF4-FFF2-40B4-BE49-F238E27FC236}">
                <a16:creationId xmlns:a16="http://schemas.microsoft.com/office/drawing/2014/main" id="{DACD0B6A-256C-08B4-6506-6DB266D00390}"/>
              </a:ext>
            </a:extLst>
          </p:cNvPr>
          <p:cNvSpPr/>
          <p:nvPr/>
        </p:nvSpPr>
        <p:spPr>
          <a:xfrm>
            <a:off x="34036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TextBox 100">
            <a:extLst>
              <a:ext uri="{FF2B5EF4-FFF2-40B4-BE49-F238E27FC236}">
                <a16:creationId xmlns:a16="http://schemas.microsoft.com/office/drawing/2014/main" id="{86D3D78B-A776-5CB7-4D79-74EEF8042CA1}"/>
              </a:ext>
            </a:extLst>
          </p:cNvPr>
          <p:cNvSpPr txBox="1"/>
          <p:nvPr/>
        </p:nvSpPr>
        <p:spPr>
          <a:xfrm>
            <a:off x="34036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2" name="Rectangle 101">
            <a:extLst>
              <a:ext uri="{FF2B5EF4-FFF2-40B4-BE49-F238E27FC236}">
                <a16:creationId xmlns:a16="http://schemas.microsoft.com/office/drawing/2014/main" id="{EA5323CA-8949-8023-0227-0A3E5E77AE14}"/>
              </a:ext>
            </a:extLst>
          </p:cNvPr>
          <p:cNvSpPr/>
          <p:nvPr/>
        </p:nvSpPr>
        <p:spPr>
          <a:xfrm>
            <a:off x="37846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TextBox 102">
            <a:extLst>
              <a:ext uri="{FF2B5EF4-FFF2-40B4-BE49-F238E27FC236}">
                <a16:creationId xmlns:a16="http://schemas.microsoft.com/office/drawing/2014/main" id="{CD3CE19C-B38F-9954-5C39-92C624C1A3AD}"/>
              </a:ext>
            </a:extLst>
          </p:cNvPr>
          <p:cNvSpPr txBox="1"/>
          <p:nvPr/>
        </p:nvSpPr>
        <p:spPr>
          <a:xfrm>
            <a:off x="37846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4" name="Rectangle 103">
            <a:extLst>
              <a:ext uri="{FF2B5EF4-FFF2-40B4-BE49-F238E27FC236}">
                <a16:creationId xmlns:a16="http://schemas.microsoft.com/office/drawing/2014/main" id="{3D1E3A71-D00C-0BDC-EBCF-A2C884A364AE}"/>
              </a:ext>
            </a:extLst>
          </p:cNvPr>
          <p:cNvSpPr/>
          <p:nvPr/>
        </p:nvSpPr>
        <p:spPr>
          <a:xfrm>
            <a:off x="1117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TextBox 104">
            <a:extLst>
              <a:ext uri="{FF2B5EF4-FFF2-40B4-BE49-F238E27FC236}">
                <a16:creationId xmlns:a16="http://schemas.microsoft.com/office/drawing/2014/main" id="{211D9816-7ACC-8FE1-1985-7C2CBE24B0E2}"/>
              </a:ext>
            </a:extLst>
          </p:cNvPr>
          <p:cNvSpPr txBox="1"/>
          <p:nvPr/>
        </p:nvSpPr>
        <p:spPr>
          <a:xfrm>
            <a:off x="1117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6" name="Rectangle 105">
            <a:extLst>
              <a:ext uri="{FF2B5EF4-FFF2-40B4-BE49-F238E27FC236}">
                <a16:creationId xmlns:a16="http://schemas.microsoft.com/office/drawing/2014/main" id="{96388A9B-1854-0F44-AEC7-1D010B9D5951}"/>
              </a:ext>
            </a:extLst>
          </p:cNvPr>
          <p:cNvSpPr/>
          <p:nvPr/>
        </p:nvSpPr>
        <p:spPr>
          <a:xfrm>
            <a:off x="1498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TextBox 106">
            <a:extLst>
              <a:ext uri="{FF2B5EF4-FFF2-40B4-BE49-F238E27FC236}">
                <a16:creationId xmlns:a16="http://schemas.microsoft.com/office/drawing/2014/main" id="{0CC30C69-49A1-9217-F7FA-F1D61F93E9DF}"/>
              </a:ext>
            </a:extLst>
          </p:cNvPr>
          <p:cNvSpPr txBox="1"/>
          <p:nvPr/>
        </p:nvSpPr>
        <p:spPr>
          <a:xfrm>
            <a:off x="1498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8" name="Rectangle 107">
            <a:extLst>
              <a:ext uri="{FF2B5EF4-FFF2-40B4-BE49-F238E27FC236}">
                <a16:creationId xmlns:a16="http://schemas.microsoft.com/office/drawing/2014/main" id="{A3D2BF18-5BB7-B370-5F35-E14F306D6A98}"/>
              </a:ext>
            </a:extLst>
          </p:cNvPr>
          <p:cNvSpPr/>
          <p:nvPr/>
        </p:nvSpPr>
        <p:spPr>
          <a:xfrm>
            <a:off x="1879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TextBox 108">
            <a:extLst>
              <a:ext uri="{FF2B5EF4-FFF2-40B4-BE49-F238E27FC236}">
                <a16:creationId xmlns:a16="http://schemas.microsoft.com/office/drawing/2014/main" id="{96B7AFC9-993D-D903-627F-FFBB6F404E7A}"/>
              </a:ext>
            </a:extLst>
          </p:cNvPr>
          <p:cNvSpPr txBox="1"/>
          <p:nvPr/>
        </p:nvSpPr>
        <p:spPr>
          <a:xfrm>
            <a:off x="1879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0" name="Rectangle 109">
            <a:extLst>
              <a:ext uri="{FF2B5EF4-FFF2-40B4-BE49-F238E27FC236}">
                <a16:creationId xmlns:a16="http://schemas.microsoft.com/office/drawing/2014/main" id="{F15D21E0-0CB9-E1DE-B39F-038840C7BF19}"/>
              </a:ext>
            </a:extLst>
          </p:cNvPr>
          <p:cNvSpPr/>
          <p:nvPr/>
        </p:nvSpPr>
        <p:spPr>
          <a:xfrm>
            <a:off x="2260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TextBox 110">
            <a:extLst>
              <a:ext uri="{FF2B5EF4-FFF2-40B4-BE49-F238E27FC236}">
                <a16:creationId xmlns:a16="http://schemas.microsoft.com/office/drawing/2014/main" id="{92A6EAF9-5602-4EE7-CE8D-04EF845BB08E}"/>
              </a:ext>
            </a:extLst>
          </p:cNvPr>
          <p:cNvSpPr txBox="1"/>
          <p:nvPr/>
        </p:nvSpPr>
        <p:spPr>
          <a:xfrm>
            <a:off x="2260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2" name="Rectangle 111">
            <a:extLst>
              <a:ext uri="{FF2B5EF4-FFF2-40B4-BE49-F238E27FC236}">
                <a16:creationId xmlns:a16="http://schemas.microsoft.com/office/drawing/2014/main" id="{6E3FB011-C20D-2390-5434-BCC98FF6B326}"/>
              </a:ext>
            </a:extLst>
          </p:cNvPr>
          <p:cNvSpPr/>
          <p:nvPr/>
        </p:nvSpPr>
        <p:spPr>
          <a:xfrm>
            <a:off x="2641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TextBox 112">
            <a:extLst>
              <a:ext uri="{FF2B5EF4-FFF2-40B4-BE49-F238E27FC236}">
                <a16:creationId xmlns:a16="http://schemas.microsoft.com/office/drawing/2014/main" id="{C2FB94D8-FA82-A484-7CF1-20A8120B2D8C}"/>
              </a:ext>
            </a:extLst>
          </p:cNvPr>
          <p:cNvSpPr txBox="1"/>
          <p:nvPr/>
        </p:nvSpPr>
        <p:spPr>
          <a:xfrm>
            <a:off x="2641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4" name="Rectangle 113">
            <a:extLst>
              <a:ext uri="{FF2B5EF4-FFF2-40B4-BE49-F238E27FC236}">
                <a16:creationId xmlns:a16="http://schemas.microsoft.com/office/drawing/2014/main" id="{700B1AF4-5BC5-46A2-69E6-FA488FF43F7D}"/>
              </a:ext>
            </a:extLst>
          </p:cNvPr>
          <p:cNvSpPr/>
          <p:nvPr/>
        </p:nvSpPr>
        <p:spPr>
          <a:xfrm>
            <a:off x="3022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TextBox 114">
            <a:extLst>
              <a:ext uri="{FF2B5EF4-FFF2-40B4-BE49-F238E27FC236}">
                <a16:creationId xmlns:a16="http://schemas.microsoft.com/office/drawing/2014/main" id="{548B3293-43E9-B18F-9C16-0CA52BF3B99B}"/>
              </a:ext>
            </a:extLst>
          </p:cNvPr>
          <p:cNvSpPr txBox="1"/>
          <p:nvPr/>
        </p:nvSpPr>
        <p:spPr>
          <a:xfrm>
            <a:off x="3022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6" name="Rectangle 115">
            <a:extLst>
              <a:ext uri="{FF2B5EF4-FFF2-40B4-BE49-F238E27FC236}">
                <a16:creationId xmlns:a16="http://schemas.microsoft.com/office/drawing/2014/main" id="{24E315C2-9293-FC90-E08E-F9CDCF67618C}"/>
              </a:ext>
            </a:extLst>
          </p:cNvPr>
          <p:cNvSpPr/>
          <p:nvPr/>
        </p:nvSpPr>
        <p:spPr>
          <a:xfrm>
            <a:off x="3403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TextBox 116">
            <a:extLst>
              <a:ext uri="{FF2B5EF4-FFF2-40B4-BE49-F238E27FC236}">
                <a16:creationId xmlns:a16="http://schemas.microsoft.com/office/drawing/2014/main" id="{A47E4CBF-55BF-FAE6-E23D-CC76706D1564}"/>
              </a:ext>
            </a:extLst>
          </p:cNvPr>
          <p:cNvSpPr txBox="1"/>
          <p:nvPr/>
        </p:nvSpPr>
        <p:spPr>
          <a:xfrm>
            <a:off x="3403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8" name="Rectangle 117">
            <a:extLst>
              <a:ext uri="{FF2B5EF4-FFF2-40B4-BE49-F238E27FC236}">
                <a16:creationId xmlns:a16="http://schemas.microsoft.com/office/drawing/2014/main" id="{F42A9025-4265-5BDD-9357-E4484F1FAA2C}"/>
              </a:ext>
            </a:extLst>
          </p:cNvPr>
          <p:cNvSpPr/>
          <p:nvPr/>
        </p:nvSpPr>
        <p:spPr>
          <a:xfrm>
            <a:off x="37846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TextBox 118">
            <a:extLst>
              <a:ext uri="{FF2B5EF4-FFF2-40B4-BE49-F238E27FC236}">
                <a16:creationId xmlns:a16="http://schemas.microsoft.com/office/drawing/2014/main" id="{531C3BA3-C819-56AE-2895-30E807D11B25}"/>
              </a:ext>
            </a:extLst>
          </p:cNvPr>
          <p:cNvSpPr txBox="1"/>
          <p:nvPr/>
        </p:nvSpPr>
        <p:spPr>
          <a:xfrm>
            <a:off x="37846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0" name="Rectangle 119">
            <a:extLst>
              <a:ext uri="{FF2B5EF4-FFF2-40B4-BE49-F238E27FC236}">
                <a16:creationId xmlns:a16="http://schemas.microsoft.com/office/drawing/2014/main" id="{6DC0FE5C-A148-2637-79FF-B94C5B5BE73E}"/>
              </a:ext>
            </a:extLst>
          </p:cNvPr>
          <p:cNvSpPr/>
          <p:nvPr/>
        </p:nvSpPr>
        <p:spPr>
          <a:xfrm>
            <a:off x="1117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TextBox 120">
            <a:extLst>
              <a:ext uri="{FF2B5EF4-FFF2-40B4-BE49-F238E27FC236}">
                <a16:creationId xmlns:a16="http://schemas.microsoft.com/office/drawing/2014/main" id="{3688973F-7611-F5AA-42F6-EFD2EF46CBC9}"/>
              </a:ext>
            </a:extLst>
          </p:cNvPr>
          <p:cNvSpPr txBox="1"/>
          <p:nvPr/>
        </p:nvSpPr>
        <p:spPr>
          <a:xfrm>
            <a:off x="1117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2" name="Rectangle 121">
            <a:extLst>
              <a:ext uri="{FF2B5EF4-FFF2-40B4-BE49-F238E27FC236}">
                <a16:creationId xmlns:a16="http://schemas.microsoft.com/office/drawing/2014/main" id="{673C6607-F576-BB1B-4506-8A1509FAA821}"/>
              </a:ext>
            </a:extLst>
          </p:cNvPr>
          <p:cNvSpPr/>
          <p:nvPr/>
        </p:nvSpPr>
        <p:spPr>
          <a:xfrm>
            <a:off x="1498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a:extLst>
              <a:ext uri="{FF2B5EF4-FFF2-40B4-BE49-F238E27FC236}">
                <a16:creationId xmlns:a16="http://schemas.microsoft.com/office/drawing/2014/main" id="{097F3FFF-BFB0-EE98-459A-07B5B4035441}"/>
              </a:ext>
            </a:extLst>
          </p:cNvPr>
          <p:cNvSpPr txBox="1"/>
          <p:nvPr/>
        </p:nvSpPr>
        <p:spPr>
          <a:xfrm>
            <a:off x="1498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4" name="Rectangle 123">
            <a:extLst>
              <a:ext uri="{FF2B5EF4-FFF2-40B4-BE49-F238E27FC236}">
                <a16:creationId xmlns:a16="http://schemas.microsoft.com/office/drawing/2014/main" id="{522B43A9-88A5-8E93-39C2-44E5448A8E00}"/>
              </a:ext>
            </a:extLst>
          </p:cNvPr>
          <p:cNvSpPr/>
          <p:nvPr/>
        </p:nvSpPr>
        <p:spPr>
          <a:xfrm>
            <a:off x="1879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5" name="TextBox 124">
            <a:extLst>
              <a:ext uri="{FF2B5EF4-FFF2-40B4-BE49-F238E27FC236}">
                <a16:creationId xmlns:a16="http://schemas.microsoft.com/office/drawing/2014/main" id="{C137401B-977E-91CF-4E60-D5F089BAA241}"/>
              </a:ext>
            </a:extLst>
          </p:cNvPr>
          <p:cNvSpPr txBox="1"/>
          <p:nvPr/>
        </p:nvSpPr>
        <p:spPr>
          <a:xfrm>
            <a:off x="1879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6" name="Rectangle 125">
            <a:extLst>
              <a:ext uri="{FF2B5EF4-FFF2-40B4-BE49-F238E27FC236}">
                <a16:creationId xmlns:a16="http://schemas.microsoft.com/office/drawing/2014/main" id="{09867800-B4BE-C96D-2F33-711BEF12FC35}"/>
              </a:ext>
            </a:extLst>
          </p:cNvPr>
          <p:cNvSpPr/>
          <p:nvPr/>
        </p:nvSpPr>
        <p:spPr>
          <a:xfrm>
            <a:off x="2260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6FABF8A5-D4C4-2E34-23AC-E4713FFBB9E9}"/>
              </a:ext>
            </a:extLst>
          </p:cNvPr>
          <p:cNvSpPr txBox="1"/>
          <p:nvPr/>
        </p:nvSpPr>
        <p:spPr>
          <a:xfrm>
            <a:off x="2260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8" name="Rectangle 127">
            <a:extLst>
              <a:ext uri="{FF2B5EF4-FFF2-40B4-BE49-F238E27FC236}">
                <a16:creationId xmlns:a16="http://schemas.microsoft.com/office/drawing/2014/main" id="{6BB8417C-41F9-7C1B-5A4B-E2D656996103}"/>
              </a:ext>
            </a:extLst>
          </p:cNvPr>
          <p:cNvSpPr/>
          <p:nvPr/>
        </p:nvSpPr>
        <p:spPr>
          <a:xfrm>
            <a:off x="2641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TextBox 128">
            <a:extLst>
              <a:ext uri="{FF2B5EF4-FFF2-40B4-BE49-F238E27FC236}">
                <a16:creationId xmlns:a16="http://schemas.microsoft.com/office/drawing/2014/main" id="{8D513BA0-12D8-DE7E-3D67-E944BC999DDC}"/>
              </a:ext>
            </a:extLst>
          </p:cNvPr>
          <p:cNvSpPr txBox="1"/>
          <p:nvPr/>
        </p:nvSpPr>
        <p:spPr>
          <a:xfrm>
            <a:off x="2641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0" name="Rectangle 129">
            <a:extLst>
              <a:ext uri="{FF2B5EF4-FFF2-40B4-BE49-F238E27FC236}">
                <a16:creationId xmlns:a16="http://schemas.microsoft.com/office/drawing/2014/main" id="{9FB7AE1D-8F68-181B-3539-6E4ABB325ACF}"/>
              </a:ext>
            </a:extLst>
          </p:cNvPr>
          <p:cNvSpPr/>
          <p:nvPr/>
        </p:nvSpPr>
        <p:spPr>
          <a:xfrm>
            <a:off x="3022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TextBox 130">
            <a:extLst>
              <a:ext uri="{FF2B5EF4-FFF2-40B4-BE49-F238E27FC236}">
                <a16:creationId xmlns:a16="http://schemas.microsoft.com/office/drawing/2014/main" id="{338F34C9-3D42-D63C-5199-C579AD154043}"/>
              </a:ext>
            </a:extLst>
          </p:cNvPr>
          <p:cNvSpPr txBox="1"/>
          <p:nvPr/>
        </p:nvSpPr>
        <p:spPr>
          <a:xfrm>
            <a:off x="3022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2" name="Rectangle 131">
            <a:extLst>
              <a:ext uri="{FF2B5EF4-FFF2-40B4-BE49-F238E27FC236}">
                <a16:creationId xmlns:a16="http://schemas.microsoft.com/office/drawing/2014/main" id="{3FE48D86-6B31-CC72-EF92-A50FDF8E3054}"/>
              </a:ext>
            </a:extLst>
          </p:cNvPr>
          <p:cNvSpPr/>
          <p:nvPr/>
        </p:nvSpPr>
        <p:spPr>
          <a:xfrm>
            <a:off x="3403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TextBox 132">
            <a:extLst>
              <a:ext uri="{FF2B5EF4-FFF2-40B4-BE49-F238E27FC236}">
                <a16:creationId xmlns:a16="http://schemas.microsoft.com/office/drawing/2014/main" id="{CB4E74CD-1DEC-E6B3-9723-C750E1285626}"/>
              </a:ext>
            </a:extLst>
          </p:cNvPr>
          <p:cNvSpPr txBox="1"/>
          <p:nvPr/>
        </p:nvSpPr>
        <p:spPr>
          <a:xfrm>
            <a:off x="3403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4" name="Rectangle 133">
            <a:extLst>
              <a:ext uri="{FF2B5EF4-FFF2-40B4-BE49-F238E27FC236}">
                <a16:creationId xmlns:a16="http://schemas.microsoft.com/office/drawing/2014/main" id="{3CAFC9AC-D2B7-0E3C-F02F-EE35E7A3279E}"/>
              </a:ext>
            </a:extLst>
          </p:cNvPr>
          <p:cNvSpPr/>
          <p:nvPr/>
        </p:nvSpPr>
        <p:spPr>
          <a:xfrm>
            <a:off x="37846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TextBox 134">
            <a:extLst>
              <a:ext uri="{FF2B5EF4-FFF2-40B4-BE49-F238E27FC236}">
                <a16:creationId xmlns:a16="http://schemas.microsoft.com/office/drawing/2014/main" id="{7498849A-BA59-4354-0BEB-A512E3AA3FF5}"/>
              </a:ext>
            </a:extLst>
          </p:cNvPr>
          <p:cNvSpPr txBox="1"/>
          <p:nvPr/>
        </p:nvSpPr>
        <p:spPr>
          <a:xfrm>
            <a:off x="37846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cxnSp>
        <p:nvCxnSpPr>
          <p:cNvPr id="136" name="Straight Connector 135">
            <a:extLst>
              <a:ext uri="{FF2B5EF4-FFF2-40B4-BE49-F238E27FC236}">
                <a16:creationId xmlns:a16="http://schemas.microsoft.com/office/drawing/2014/main" id="{39CD8F9A-110F-5679-614B-708C0495FF0E}"/>
              </a:ext>
            </a:extLst>
          </p:cNvPr>
          <p:cNvCxnSpPr/>
          <p:nvPr/>
        </p:nvCxnSpPr>
        <p:spPr>
          <a:xfrm>
            <a:off x="4800600" y="3429000"/>
            <a:ext cx="1625600" cy="0"/>
          </a:xfrm>
          <a:prstGeom prst="line">
            <a:avLst/>
          </a:prstGeom>
          <a:ln w="381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5F6D34CA-9465-00A8-2F1B-AEDA0B4FD17B}"/>
              </a:ext>
            </a:extLst>
          </p:cNvPr>
          <p:cNvSpPr txBox="1"/>
          <p:nvPr/>
        </p:nvSpPr>
        <p:spPr>
          <a:xfrm>
            <a:off x="4978400" y="2895600"/>
            <a:ext cx="1270000" cy="276999"/>
          </a:xfrm>
          <a:prstGeom prst="rect">
            <a:avLst/>
          </a:prstGeom>
          <a:noFill/>
        </p:spPr>
        <p:txBody>
          <a:bodyPr vert="horz" wrap="square" lIns="0" tIns="0" rIns="0" bIns="0" rtlCol="0">
            <a:noAutofit/>
          </a:bodyPr>
          <a:lstStyle/>
          <a:p>
            <a:pPr algn="ctr"/>
            <a:r>
              <a:rPr lang="en-IN" sz="1700" b="1">
                <a:solidFill>
                  <a:srgbClr val="55E6A5"/>
                </a:solidFill>
                <a:latin typeface="Aptos" panose="020B0004020202020204" pitchFamily="34" charset="0"/>
              </a:rPr>
              <a:t>transform</a:t>
            </a:r>
          </a:p>
        </p:txBody>
      </p:sp>
      <p:sp>
        <p:nvSpPr>
          <p:cNvPr id="138" name="TextBox 137">
            <a:extLst>
              <a:ext uri="{FF2B5EF4-FFF2-40B4-BE49-F238E27FC236}">
                <a16:creationId xmlns:a16="http://schemas.microsoft.com/office/drawing/2014/main" id="{D2A0458E-4CC6-476A-1C95-A40EB42C8DFC}"/>
              </a:ext>
            </a:extLst>
          </p:cNvPr>
          <p:cNvSpPr txBox="1"/>
          <p:nvPr/>
        </p:nvSpPr>
        <p:spPr>
          <a:xfrm>
            <a:off x="6642100" y="1371600"/>
            <a:ext cx="4508500" cy="276999"/>
          </a:xfrm>
          <a:prstGeom prst="rect">
            <a:avLst/>
          </a:prstGeom>
          <a:noFill/>
        </p:spPr>
        <p:txBody>
          <a:bodyPr vert="horz" wrap="square" lIns="0" tIns="0" rIns="0" bIns="0" rtlCol="0">
            <a:noAutofit/>
          </a:bodyPr>
          <a:lstStyle/>
          <a:p>
            <a:pPr algn="ctr"/>
            <a:r>
              <a:rPr lang="en-US" sz="1900" b="1">
                <a:solidFill>
                  <a:srgbClr val="1A8BFF"/>
                </a:solidFill>
                <a:latin typeface="Aptos Display" panose="020B0004020202020204" pitchFamily="34" charset="0"/>
              </a:rPr>
              <a:t>Energy moves toward low-frequency positions</a:t>
            </a:r>
            <a:endParaRPr lang="en-IN" sz="1900" b="1">
              <a:solidFill>
                <a:srgbClr val="1A8BFF"/>
              </a:solidFill>
              <a:latin typeface="Aptos Display" panose="020B0004020202020204" pitchFamily="34" charset="0"/>
            </a:endParaRPr>
          </a:p>
        </p:txBody>
      </p:sp>
      <p:sp>
        <p:nvSpPr>
          <p:cNvPr id="139" name="Rectangle 138">
            <a:extLst>
              <a:ext uri="{FF2B5EF4-FFF2-40B4-BE49-F238E27FC236}">
                <a16:creationId xmlns:a16="http://schemas.microsoft.com/office/drawing/2014/main" id="{5E95AE8E-2766-C7C2-5609-C61EE0827904}"/>
              </a:ext>
            </a:extLst>
          </p:cNvPr>
          <p:cNvSpPr/>
          <p:nvPr/>
        </p:nvSpPr>
        <p:spPr>
          <a:xfrm>
            <a:off x="7366000" y="1905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FF0F8650-A573-6714-79D5-CDE308BFB5F9}"/>
              </a:ext>
            </a:extLst>
          </p:cNvPr>
          <p:cNvSpPr txBox="1"/>
          <p:nvPr/>
        </p:nvSpPr>
        <p:spPr>
          <a:xfrm>
            <a:off x="73660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42</a:t>
            </a:r>
          </a:p>
        </p:txBody>
      </p:sp>
      <p:sp>
        <p:nvSpPr>
          <p:cNvPr id="141" name="Rectangle 140">
            <a:extLst>
              <a:ext uri="{FF2B5EF4-FFF2-40B4-BE49-F238E27FC236}">
                <a16:creationId xmlns:a16="http://schemas.microsoft.com/office/drawing/2014/main" id="{FA5449AE-518A-8D55-0390-1AC10C95B0E0}"/>
              </a:ext>
            </a:extLst>
          </p:cNvPr>
          <p:cNvSpPr/>
          <p:nvPr/>
        </p:nvSpPr>
        <p:spPr>
          <a:xfrm>
            <a:off x="7747000" y="1905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TextBox 141">
            <a:extLst>
              <a:ext uri="{FF2B5EF4-FFF2-40B4-BE49-F238E27FC236}">
                <a16:creationId xmlns:a16="http://schemas.microsoft.com/office/drawing/2014/main" id="{42AC2457-FCC8-AFA5-E8C1-60CEBDD5A5BC}"/>
              </a:ext>
            </a:extLst>
          </p:cNvPr>
          <p:cNvSpPr txBox="1"/>
          <p:nvPr/>
        </p:nvSpPr>
        <p:spPr>
          <a:xfrm>
            <a:off x="77470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-12</a:t>
            </a:r>
          </a:p>
        </p:txBody>
      </p:sp>
      <p:sp>
        <p:nvSpPr>
          <p:cNvPr id="143" name="Rectangle 142">
            <a:extLst>
              <a:ext uri="{FF2B5EF4-FFF2-40B4-BE49-F238E27FC236}">
                <a16:creationId xmlns:a16="http://schemas.microsoft.com/office/drawing/2014/main" id="{475251E0-3253-C205-F1A6-5B9C9D089AE0}"/>
              </a:ext>
            </a:extLst>
          </p:cNvPr>
          <p:cNvSpPr/>
          <p:nvPr/>
        </p:nvSpPr>
        <p:spPr>
          <a:xfrm>
            <a:off x="8128000" y="1905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TextBox 143">
            <a:extLst>
              <a:ext uri="{FF2B5EF4-FFF2-40B4-BE49-F238E27FC236}">
                <a16:creationId xmlns:a16="http://schemas.microsoft.com/office/drawing/2014/main" id="{E7C372FB-6F61-04E2-A412-26CEC57CD750}"/>
              </a:ext>
            </a:extLst>
          </p:cNvPr>
          <p:cNvSpPr txBox="1"/>
          <p:nvPr/>
        </p:nvSpPr>
        <p:spPr>
          <a:xfrm>
            <a:off x="81280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145" name="Rectangle 144">
            <a:extLst>
              <a:ext uri="{FF2B5EF4-FFF2-40B4-BE49-F238E27FC236}">
                <a16:creationId xmlns:a16="http://schemas.microsoft.com/office/drawing/2014/main" id="{E79709BD-91A3-945C-08AF-1C01FF1588CB}"/>
              </a:ext>
            </a:extLst>
          </p:cNvPr>
          <p:cNvSpPr/>
          <p:nvPr/>
        </p:nvSpPr>
        <p:spPr>
          <a:xfrm>
            <a:off x="8509000" y="1905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TextBox 145">
            <a:extLst>
              <a:ext uri="{FF2B5EF4-FFF2-40B4-BE49-F238E27FC236}">
                <a16:creationId xmlns:a16="http://schemas.microsoft.com/office/drawing/2014/main" id="{0B9B4EE1-EE05-C885-9D8E-E43144F27881}"/>
              </a:ext>
            </a:extLst>
          </p:cNvPr>
          <p:cNvSpPr txBox="1"/>
          <p:nvPr/>
        </p:nvSpPr>
        <p:spPr>
          <a:xfrm>
            <a:off x="8509000" y="1917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47" name="Rectangle 146">
            <a:extLst>
              <a:ext uri="{FF2B5EF4-FFF2-40B4-BE49-F238E27FC236}">
                <a16:creationId xmlns:a16="http://schemas.microsoft.com/office/drawing/2014/main" id="{C8B40A72-173C-C91C-89FD-CC4C6E346BA1}"/>
              </a:ext>
            </a:extLst>
          </p:cNvPr>
          <p:cNvSpPr/>
          <p:nvPr/>
        </p:nvSpPr>
        <p:spPr>
          <a:xfrm>
            <a:off x="8890000" y="1905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TextBox 147">
            <a:extLst>
              <a:ext uri="{FF2B5EF4-FFF2-40B4-BE49-F238E27FC236}">
                <a16:creationId xmlns:a16="http://schemas.microsoft.com/office/drawing/2014/main" id="{E595E9F1-C120-5939-628F-AE77C35B74BD}"/>
              </a:ext>
            </a:extLst>
          </p:cNvPr>
          <p:cNvSpPr txBox="1"/>
          <p:nvPr/>
        </p:nvSpPr>
        <p:spPr>
          <a:xfrm>
            <a:off x="8890000" y="1917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9" name="Rectangle 148">
            <a:extLst>
              <a:ext uri="{FF2B5EF4-FFF2-40B4-BE49-F238E27FC236}">
                <a16:creationId xmlns:a16="http://schemas.microsoft.com/office/drawing/2014/main" id="{B156508C-86EA-7C64-05D6-861B38C097E9}"/>
              </a:ext>
            </a:extLst>
          </p:cNvPr>
          <p:cNvSpPr/>
          <p:nvPr/>
        </p:nvSpPr>
        <p:spPr>
          <a:xfrm>
            <a:off x="9271000" y="1905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TextBox 149">
            <a:extLst>
              <a:ext uri="{FF2B5EF4-FFF2-40B4-BE49-F238E27FC236}">
                <a16:creationId xmlns:a16="http://schemas.microsoft.com/office/drawing/2014/main" id="{D4EB00D1-E4EE-12AD-6695-588F302A1BE7}"/>
              </a:ext>
            </a:extLst>
          </p:cNvPr>
          <p:cNvSpPr txBox="1"/>
          <p:nvPr/>
        </p:nvSpPr>
        <p:spPr>
          <a:xfrm>
            <a:off x="9271000" y="1917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1" name="Rectangle 150">
            <a:extLst>
              <a:ext uri="{FF2B5EF4-FFF2-40B4-BE49-F238E27FC236}">
                <a16:creationId xmlns:a16="http://schemas.microsoft.com/office/drawing/2014/main" id="{70AC8DE9-7F54-7462-630B-475EECCB7699}"/>
              </a:ext>
            </a:extLst>
          </p:cNvPr>
          <p:cNvSpPr/>
          <p:nvPr/>
        </p:nvSpPr>
        <p:spPr>
          <a:xfrm>
            <a:off x="9652000" y="1905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TextBox 151">
            <a:extLst>
              <a:ext uri="{FF2B5EF4-FFF2-40B4-BE49-F238E27FC236}">
                <a16:creationId xmlns:a16="http://schemas.microsoft.com/office/drawing/2014/main" id="{AB215516-636B-DAD6-6D84-41923D875CDE}"/>
              </a:ext>
            </a:extLst>
          </p:cNvPr>
          <p:cNvSpPr txBox="1"/>
          <p:nvPr/>
        </p:nvSpPr>
        <p:spPr>
          <a:xfrm>
            <a:off x="9652000" y="1917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3" name="Rectangle 152">
            <a:extLst>
              <a:ext uri="{FF2B5EF4-FFF2-40B4-BE49-F238E27FC236}">
                <a16:creationId xmlns:a16="http://schemas.microsoft.com/office/drawing/2014/main" id="{C9F27F82-920E-E71C-2DF7-6D87AA024277}"/>
              </a:ext>
            </a:extLst>
          </p:cNvPr>
          <p:cNvSpPr/>
          <p:nvPr/>
        </p:nvSpPr>
        <p:spPr>
          <a:xfrm>
            <a:off x="10033000" y="1905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TextBox 153">
            <a:extLst>
              <a:ext uri="{FF2B5EF4-FFF2-40B4-BE49-F238E27FC236}">
                <a16:creationId xmlns:a16="http://schemas.microsoft.com/office/drawing/2014/main" id="{27604485-1262-5A39-C767-6A47304ED8A5}"/>
              </a:ext>
            </a:extLst>
          </p:cNvPr>
          <p:cNvSpPr txBox="1"/>
          <p:nvPr/>
        </p:nvSpPr>
        <p:spPr>
          <a:xfrm>
            <a:off x="10033000" y="1917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5" name="Rectangle 154">
            <a:extLst>
              <a:ext uri="{FF2B5EF4-FFF2-40B4-BE49-F238E27FC236}">
                <a16:creationId xmlns:a16="http://schemas.microsoft.com/office/drawing/2014/main" id="{7A5C8D7C-1B9A-D1C1-B21A-3E4A53FD08DE}"/>
              </a:ext>
            </a:extLst>
          </p:cNvPr>
          <p:cNvSpPr/>
          <p:nvPr/>
        </p:nvSpPr>
        <p:spPr>
          <a:xfrm>
            <a:off x="7366000" y="2286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TextBox 155">
            <a:extLst>
              <a:ext uri="{FF2B5EF4-FFF2-40B4-BE49-F238E27FC236}">
                <a16:creationId xmlns:a16="http://schemas.microsoft.com/office/drawing/2014/main" id="{C1AD66FE-9950-6471-54E5-C48A0726DD11}"/>
              </a:ext>
            </a:extLst>
          </p:cNvPr>
          <p:cNvSpPr txBox="1"/>
          <p:nvPr/>
        </p:nvSpPr>
        <p:spPr>
          <a:xfrm>
            <a:off x="73660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-9</a:t>
            </a:r>
          </a:p>
        </p:txBody>
      </p:sp>
      <p:sp>
        <p:nvSpPr>
          <p:cNvPr id="157" name="Rectangle 156">
            <a:extLst>
              <a:ext uri="{FF2B5EF4-FFF2-40B4-BE49-F238E27FC236}">
                <a16:creationId xmlns:a16="http://schemas.microsoft.com/office/drawing/2014/main" id="{885C306A-6B9D-840A-BC57-97D4B5F765E0}"/>
              </a:ext>
            </a:extLst>
          </p:cNvPr>
          <p:cNvSpPr/>
          <p:nvPr/>
        </p:nvSpPr>
        <p:spPr>
          <a:xfrm>
            <a:off x="7747000" y="2286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8" name="TextBox 157">
            <a:extLst>
              <a:ext uri="{FF2B5EF4-FFF2-40B4-BE49-F238E27FC236}">
                <a16:creationId xmlns:a16="http://schemas.microsoft.com/office/drawing/2014/main" id="{9994BCD6-2863-DE68-95E1-CF2C10922F85}"/>
              </a:ext>
            </a:extLst>
          </p:cNvPr>
          <p:cNvSpPr txBox="1"/>
          <p:nvPr/>
        </p:nvSpPr>
        <p:spPr>
          <a:xfrm>
            <a:off x="77470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5</a:t>
            </a:r>
          </a:p>
        </p:txBody>
      </p:sp>
      <p:sp>
        <p:nvSpPr>
          <p:cNvPr id="159" name="Rectangle 158">
            <a:extLst>
              <a:ext uri="{FF2B5EF4-FFF2-40B4-BE49-F238E27FC236}">
                <a16:creationId xmlns:a16="http://schemas.microsoft.com/office/drawing/2014/main" id="{034E9F93-3D8C-CB8C-1CC8-9389A07E82FE}"/>
              </a:ext>
            </a:extLst>
          </p:cNvPr>
          <p:cNvSpPr/>
          <p:nvPr/>
        </p:nvSpPr>
        <p:spPr>
          <a:xfrm>
            <a:off x="8128000" y="2286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0" name="TextBox 159">
            <a:extLst>
              <a:ext uri="{FF2B5EF4-FFF2-40B4-BE49-F238E27FC236}">
                <a16:creationId xmlns:a16="http://schemas.microsoft.com/office/drawing/2014/main" id="{62228F31-7F11-8B58-7EFA-CF7323FA969C}"/>
              </a:ext>
            </a:extLst>
          </p:cNvPr>
          <p:cNvSpPr txBox="1"/>
          <p:nvPr/>
        </p:nvSpPr>
        <p:spPr>
          <a:xfrm>
            <a:off x="8128000" y="2298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161" name="Rectangle 160">
            <a:extLst>
              <a:ext uri="{FF2B5EF4-FFF2-40B4-BE49-F238E27FC236}">
                <a16:creationId xmlns:a16="http://schemas.microsoft.com/office/drawing/2014/main" id="{8ECE4DC8-5BA1-C77A-F208-65FB493F542C}"/>
              </a:ext>
            </a:extLst>
          </p:cNvPr>
          <p:cNvSpPr/>
          <p:nvPr/>
        </p:nvSpPr>
        <p:spPr>
          <a:xfrm>
            <a:off x="85090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TextBox 161">
            <a:extLst>
              <a:ext uri="{FF2B5EF4-FFF2-40B4-BE49-F238E27FC236}">
                <a16:creationId xmlns:a16="http://schemas.microsoft.com/office/drawing/2014/main" id="{358894C0-3153-21FA-E92E-93C2552E96A1}"/>
              </a:ext>
            </a:extLst>
          </p:cNvPr>
          <p:cNvSpPr txBox="1"/>
          <p:nvPr/>
        </p:nvSpPr>
        <p:spPr>
          <a:xfrm>
            <a:off x="85090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63" name="Rectangle 162">
            <a:extLst>
              <a:ext uri="{FF2B5EF4-FFF2-40B4-BE49-F238E27FC236}">
                <a16:creationId xmlns:a16="http://schemas.microsoft.com/office/drawing/2014/main" id="{A1102137-9FDC-003C-FB0F-6C2AAC59ACA7}"/>
              </a:ext>
            </a:extLst>
          </p:cNvPr>
          <p:cNvSpPr/>
          <p:nvPr/>
        </p:nvSpPr>
        <p:spPr>
          <a:xfrm>
            <a:off x="88900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4" name="TextBox 163">
            <a:extLst>
              <a:ext uri="{FF2B5EF4-FFF2-40B4-BE49-F238E27FC236}">
                <a16:creationId xmlns:a16="http://schemas.microsoft.com/office/drawing/2014/main" id="{82FFD180-ED25-2D5A-AC21-6E00C6F0A97B}"/>
              </a:ext>
            </a:extLst>
          </p:cNvPr>
          <p:cNvSpPr txBox="1"/>
          <p:nvPr/>
        </p:nvSpPr>
        <p:spPr>
          <a:xfrm>
            <a:off x="88900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65" name="Rectangle 164">
            <a:extLst>
              <a:ext uri="{FF2B5EF4-FFF2-40B4-BE49-F238E27FC236}">
                <a16:creationId xmlns:a16="http://schemas.microsoft.com/office/drawing/2014/main" id="{E03119C3-4BF4-81FC-198F-A092485DCD74}"/>
              </a:ext>
            </a:extLst>
          </p:cNvPr>
          <p:cNvSpPr/>
          <p:nvPr/>
        </p:nvSpPr>
        <p:spPr>
          <a:xfrm>
            <a:off x="92710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6" name="TextBox 165">
            <a:extLst>
              <a:ext uri="{FF2B5EF4-FFF2-40B4-BE49-F238E27FC236}">
                <a16:creationId xmlns:a16="http://schemas.microsoft.com/office/drawing/2014/main" id="{11CE557C-D265-C9D7-8565-F99DAA2A3FE9}"/>
              </a:ext>
            </a:extLst>
          </p:cNvPr>
          <p:cNvSpPr txBox="1"/>
          <p:nvPr/>
        </p:nvSpPr>
        <p:spPr>
          <a:xfrm>
            <a:off x="92710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67" name="Rectangle 166">
            <a:extLst>
              <a:ext uri="{FF2B5EF4-FFF2-40B4-BE49-F238E27FC236}">
                <a16:creationId xmlns:a16="http://schemas.microsoft.com/office/drawing/2014/main" id="{009367F8-BC15-5299-0397-15010D62DB01}"/>
              </a:ext>
            </a:extLst>
          </p:cNvPr>
          <p:cNvSpPr/>
          <p:nvPr/>
        </p:nvSpPr>
        <p:spPr>
          <a:xfrm>
            <a:off x="96520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8" name="TextBox 167">
            <a:extLst>
              <a:ext uri="{FF2B5EF4-FFF2-40B4-BE49-F238E27FC236}">
                <a16:creationId xmlns:a16="http://schemas.microsoft.com/office/drawing/2014/main" id="{1DDBC10F-8D29-A1DF-8E92-7A7B02253C50}"/>
              </a:ext>
            </a:extLst>
          </p:cNvPr>
          <p:cNvSpPr txBox="1"/>
          <p:nvPr/>
        </p:nvSpPr>
        <p:spPr>
          <a:xfrm>
            <a:off x="96520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69" name="Rectangle 168">
            <a:extLst>
              <a:ext uri="{FF2B5EF4-FFF2-40B4-BE49-F238E27FC236}">
                <a16:creationId xmlns:a16="http://schemas.microsoft.com/office/drawing/2014/main" id="{957B3144-4126-1F9A-8D13-47EF7B0DC659}"/>
              </a:ext>
            </a:extLst>
          </p:cNvPr>
          <p:cNvSpPr/>
          <p:nvPr/>
        </p:nvSpPr>
        <p:spPr>
          <a:xfrm>
            <a:off x="10033000" y="2286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TextBox 169">
            <a:extLst>
              <a:ext uri="{FF2B5EF4-FFF2-40B4-BE49-F238E27FC236}">
                <a16:creationId xmlns:a16="http://schemas.microsoft.com/office/drawing/2014/main" id="{6E1B1782-B4FC-E230-85DE-42C8D7E89466}"/>
              </a:ext>
            </a:extLst>
          </p:cNvPr>
          <p:cNvSpPr txBox="1"/>
          <p:nvPr/>
        </p:nvSpPr>
        <p:spPr>
          <a:xfrm>
            <a:off x="10033000" y="2298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71" name="Rectangle 170">
            <a:extLst>
              <a:ext uri="{FF2B5EF4-FFF2-40B4-BE49-F238E27FC236}">
                <a16:creationId xmlns:a16="http://schemas.microsoft.com/office/drawing/2014/main" id="{81659010-271C-D26F-5974-B78E01A769BC}"/>
              </a:ext>
            </a:extLst>
          </p:cNvPr>
          <p:cNvSpPr/>
          <p:nvPr/>
        </p:nvSpPr>
        <p:spPr>
          <a:xfrm>
            <a:off x="7366000" y="2667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TextBox 171">
            <a:extLst>
              <a:ext uri="{FF2B5EF4-FFF2-40B4-BE49-F238E27FC236}">
                <a16:creationId xmlns:a16="http://schemas.microsoft.com/office/drawing/2014/main" id="{AE2479F0-DA6F-B23E-AEB3-1CD9ADB4607D}"/>
              </a:ext>
            </a:extLst>
          </p:cNvPr>
          <p:cNvSpPr txBox="1"/>
          <p:nvPr/>
        </p:nvSpPr>
        <p:spPr>
          <a:xfrm>
            <a:off x="73660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173" name="Rectangle 172">
            <a:extLst>
              <a:ext uri="{FF2B5EF4-FFF2-40B4-BE49-F238E27FC236}">
                <a16:creationId xmlns:a16="http://schemas.microsoft.com/office/drawing/2014/main" id="{6FDF962F-A071-CE08-7920-9756DA751226}"/>
              </a:ext>
            </a:extLst>
          </p:cNvPr>
          <p:cNvSpPr/>
          <p:nvPr/>
        </p:nvSpPr>
        <p:spPr>
          <a:xfrm>
            <a:off x="7747000" y="2667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TextBox 173">
            <a:extLst>
              <a:ext uri="{FF2B5EF4-FFF2-40B4-BE49-F238E27FC236}">
                <a16:creationId xmlns:a16="http://schemas.microsoft.com/office/drawing/2014/main" id="{53219CA2-1400-A137-B4D2-C397DA9EB238}"/>
              </a:ext>
            </a:extLst>
          </p:cNvPr>
          <p:cNvSpPr txBox="1"/>
          <p:nvPr/>
        </p:nvSpPr>
        <p:spPr>
          <a:xfrm>
            <a:off x="77470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75" name="Rectangle 174">
            <a:extLst>
              <a:ext uri="{FF2B5EF4-FFF2-40B4-BE49-F238E27FC236}">
                <a16:creationId xmlns:a16="http://schemas.microsoft.com/office/drawing/2014/main" id="{DB535A83-1774-26AB-FA28-21D86EED94F6}"/>
              </a:ext>
            </a:extLst>
          </p:cNvPr>
          <p:cNvSpPr/>
          <p:nvPr/>
        </p:nvSpPr>
        <p:spPr>
          <a:xfrm>
            <a:off x="8128000" y="2667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TextBox 175">
            <a:extLst>
              <a:ext uri="{FF2B5EF4-FFF2-40B4-BE49-F238E27FC236}">
                <a16:creationId xmlns:a16="http://schemas.microsoft.com/office/drawing/2014/main" id="{97BEA43A-76CF-EA71-FB5B-B03D831BF34B}"/>
              </a:ext>
            </a:extLst>
          </p:cNvPr>
          <p:cNvSpPr txBox="1"/>
          <p:nvPr/>
        </p:nvSpPr>
        <p:spPr>
          <a:xfrm>
            <a:off x="8128000" y="2679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77" name="Rectangle 176">
            <a:extLst>
              <a:ext uri="{FF2B5EF4-FFF2-40B4-BE49-F238E27FC236}">
                <a16:creationId xmlns:a16="http://schemas.microsoft.com/office/drawing/2014/main" id="{0A8235BC-23C3-2E34-2378-DCCDBB97F92E}"/>
              </a:ext>
            </a:extLst>
          </p:cNvPr>
          <p:cNvSpPr/>
          <p:nvPr/>
        </p:nvSpPr>
        <p:spPr>
          <a:xfrm>
            <a:off x="85090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TextBox 177">
            <a:extLst>
              <a:ext uri="{FF2B5EF4-FFF2-40B4-BE49-F238E27FC236}">
                <a16:creationId xmlns:a16="http://schemas.microsoft.com/office/drawing/2014/main" id="{5117D374-6C0A-20BB-9150-4820A642B861}"/>
              </a:ext>
            </a:extLst>
          </p:cNvPr>
          <p:cNvSpPr txBox="1"/>
          <p:nvPr/>
        </p:nvSpPr>
        <p:spPr>
          <a:xfrm>
            <a:off x="85090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79" name="Rectangle 178">
            <a:extLst>
              <a:ext uri="{FF2B5EF4-FFF2-40B4-BE49-F238E27FC236}">
                <a16:creationId xmlns:a16="http://schemas.microsoft.com/office/drawing/2014/main" id="{601EA474-6941-7372-8DA0-BC39159B1FAE}"/>
              </a:ext>
            </a:extLst>
          </p:cNvPr>
          <p:cNvSpPr/>
          <p:nvPr/>
        </p:nvSpPr>
        <p:spPr>
          <a:xfrm>
            <a:off x="88900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TextBox 179">
            <a:extLst>
              <a:ext uri="{FF2B5EF4-FFF2-40B4-BE49-F238E27FC236}">
                <a16:creationId xmlns:a16="http://schemas.microsoft.com/office/drawing/2014/main" id="{02662E1B-C48E-80F2-99BC-BAB25639EFDE}"/>
              </a:ext>
            </a:extLst>
          </p:cNvPr>
          <p:cNvSpPr txBox="1"/>
          <p:nvPr/>
        </p:nvSpPr>
        <p:spPr>
          <a:xfrm>
            <a:off x="88900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81" name="Rectangle 180">
            <a:extLst>
              <a:ext uri="{FF2B5EF4-FFF2-40B4-BE49-F238E27FC236}">
                <a16:creationId xmlns:a16="http://schemas.microsoft.com/office/drawing/2014/main" id="{D2B0E5D8-557B-BAFA-4E38-F89B439DF784}"/>
              </a:ext>
            </a:extLst>
          </p:cNvPr>
          <p:cNvSpPr/>
          <p:nvPr/>
        </p:nvSpPr>
        <p:spPr>
          <a:xfrm>
            <a:off x="92710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2" name="TextBox 181">
            <a:extLst>
              <a:ext uri="{FF2B5EF4-FFF2-40B4-BE49-F238E27FC236}">
                <a16:creationId xmlns:a16="http://schemas.microsoft.com/office/drawing/2014/main" id="{1E37EA45-A0EE-6502-CFFC-03813C461722}"/>
              </a:ext>
            </a:extLst>
          </p:cNvPr>
          <p:cNvSpPr txBox="1"/>
          <p:nvPr/>
        </p:nvSpPr>
        <p:spPr>
          <a:xfrm>
            <a:off x="92710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83" name="Rectangle 182">
            <a:extLst>
              <a:ext uri="{FF2B5EF4-FFF2-40B4-BE49-F238E27FC236}">
                <a16:creationId xmlns:a16="http://schemas.microsoft.com/office/drawing/2014/main" id="{8A873CB5-E3C0-0FE6-63BF-8B69BCFC920A}"/>
              </a:ext>
            </a:extLst>
          </p:cNvPr>
          <p:cNvSpPr/>
          <p:nvPr/>
        </p:nvSpPr>
        <p:spPr>
          <a:xfrm>
            <a:off x="96520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4" name="TextBox 183">
            <a:extLst>
              <a:ext uri="{FF2B5EF4-FFF2-40B4-BE49-F238E27FC236}">
                <a16:creationId xmlns:a16="http://schemas.microsoft.com/office/drawing/2014/main" id="{9F32EF96-7FBD-F1D2-2DAD-AF251784BDDF}"/>
              </a:ext>
            </a:extLst>
          </p:cNvPr>
          <p:cNvSpPr txBox="1"/>
          <p:nvPr/>
        </p:nvSpPr>
        <p:spPr>
          <a:xfrm>
            <a:off x="96520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85" name="Rectangle 184">
            <a:extLst>
              <a:ext uri="{FF2B5EF4-FFF2-40B4-BE49-F238E27FC236}">
                <a16:creationId xmlns:a16="http://schemas.microsoft.com/office/drawing/2014/main" id="{2BFD2BBD-1FA3-DEE8-852B-5FCBDAA47E7A}"/>
              </a:ext>
            </a:extLst>
          </p:cNvPr>
          <p:cNvSpPr/>
          <p:nvPr/>
        </p:nvSpPr>
        <p:spPr>
          <a:xfrm>
            <a:off x="10033000" y="2667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6" name="TextBox 185">
            <a:extLst>
              <a:ext uri="{FF2B5EF4-FFF2-40B4-BE49-F238E27FC236}">
                <a16:creationId xmlns:a16="http://schemas.microsoft.com/office/drawing/2014/main" id="{B1EDDFAD-A07B-470C-CF1D-81CC2B0C5F12}"/>
              </a:ext>
            </a:extLst>
          </p:cNvPr>
          <p:cNvSpPr txBox="1"/>
          <p:nvPr/>
        </p:nvSpPr>
        <p:spPr>
          <a:xfrm>
            <a:off x="10033000" y="2679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87" name="Rectangle 186">
            <a:extLst>
              <a:ext uri="{FF2B5EF4-FFF2-40B4-BE49-F238E27FC236}">
                <a16:creationId xmlns:a16="http://schemas.microsoft.com/office/drawing/2014/main" id="{6AC5A613-F6FA-6F5F-A658-378A63B3EF82}"/>
              </a:ext>
            </a:extLst>
          </p:cNvPr>
          <p:cNvSpPr/>
          <p:nvPr/>
        </p:nvSpPr>
        <p:spPr>
          <a:xfrm>
            <a:off x="7366000" y="3048000"/>
            <a:ext cx="381000" cy="3810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TextBox 187">
            <a:extLst>
              <a:ext uri="{FF2B5EF4-FFF2-40B4-BE49-F238E27FC236}">
                <a16:creationId xmlns:a16="http://schemas.microsoft.com/office/drawing/2014/main" id="{8FBCF6AE-6A67-FC0B-49D0-9758A24F18E2}"/>
              </a:ext>
            </a:extLst>
          </p:cNvPr>
          <p:cNvSpPr txBox="1"/>
          <p:nvPr/>
        </p:nvSpPr>
        <p:spPr>
          <a:xfrm>
            <a:off x="7366000" y="3060700"/>
            <a:ext cx="3810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89" name="Rectangle 188">
            <a:extLst>
              <a:ext uri="{FF2B5EF4-FFF2-40B4-BE49-F238E27FC236}">
                <a16:creationId xmlns:a16="http://schemas.microsoft.com/office/drawing/2014/main" id="{994E78BD-D8A2-ACC3-8FD2-0B937EFB0C0C}"/>
              </a:ext>
            </a:extLst>
          </p:cNvPr>
          <p:cNvSpPr/>
          <p:nvPr/>
        </p:nvSpPr>
        <p:spPr>
          <a:xfrm>
            <a:off x="7747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0" name="TextBox 189">
            <a:extLst>
              <a:ext uri="{FF2B5EF4-FFF2-40B4-BE49-F238E27FC236}">
                <a16:creationId xmlns:a16="http://schemas.microsoft.com/office/drawing/2014/main" id="{61F24125-E24C-7C8C-2D39-A7FC6F467EC4}"/>
              </a:ext>
            </a:extLst>
          </p:cNvPr>
          <p:cNvSpPr txBox="1"/>
          <p:nvPr/>
        </p:nvSpPr>
        <p:spPr>
          <a:xfrm>
            <a:off x="7747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91" name="Rectangle 190">
            <a:extLst>
              <a:ext uri="{FF2B5EF4-FFF2-40B4-BE49-F238E27FC236}">
                <a16:creationId xmlns:a16="http://schemas.microsoft.com/office/drawing/2014/main" id="{BA274344-659E-317A-E7FD-2BAD9962597B}"/>
              </a:ext>
            </a:extLst>
          </p:cNvPr>
          <p:cNvSpPr/>
          <p:nvPr/>
        </p:nvSpPr>
        <p:spPr>
          <a:xfrm>
            <a:off x="8128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TextBox 191">
            <a:extLst>
              <a:ext uri="{FF2B5EF4-FFF2-40B4-BE49-F238E27FC236}">
                <a16:creationId xmlns:a16="http://schemas.microsoft.com/office/drawing/2014/main" id="{E2D22BCF-011C-4510-F4F6-9AF0841CCA23}"/>
              </a:ext>
            </a:extLst>
          </p:cNvPr>
          <p:cNvSpPr txBox="1"/>
          <p:nvPr/>
        </p:nvSpPr>
        <p:spPr>
          <a:xfrm>
            <a:off x="8128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93" name="Rectangle 192">
            <a:extLst>
              <a:ext uri="{FF2B5EF4-FFF2-40B4-BE49-F238E27FC236}">
                <a16:creationId xmlns:a16="http://schemas.microsoft.com/office/drawing/2014/main" id="{90FFED0B-2786-B1ED-91B5-7032B2FE026D}"/>
              </a:ext>
            </a:extLst>
          </p:cNvPr>
          <p:cNvSpPr/>
          <p:nvPr/>
        </p:nvSpPr>
        <p:spPr>
          <a:xfrm>
            <a:off x="8509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4" name="TextBox 193">
            <a:extLst>
              <a:ext uri="{FF2B5EF4-FFF2-40B4-BE49-F238E27FC236}">
                <a16:creationId xmlns:a16="http://schemas.microsoft.com/office/drawing/2014/main" id="{CE58DD4A-70A1-D125-63F0-6553D978ADA5}"/>
              </a:ext>
            </a:extLst>
          </p:cNvPr>
          <p:cNvSpPr txBox="1"/>
          <p:nvPr/>
        </p:nvSpPr>
        <p:spPr>
          <a:xfrm>
            <a:off x="8509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95" name="Rectangle 194">
            <a:extLst>
              <a:ext uri="{FF2B5EF4-FFF2-40B4-BE49-F238E27FC236}">
                <a16:creationId xmlns:a16="http://schemas.microsoft.com/office/drawing/2014/main" id="{94C27722-8448-196B-9BCE-7C89B3969F86}"/>
              </a:ext>
            </a:extLst>
          </p:cNvPr>
          <p:cNvSpPr/>
          <p:nvPr/>
        </p:nvSpPr>
        <p:spPr>
          <a:xfrm>
            <a:off x="8890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6" name="TextBox 195">
            <a:extLst>
              <a:ext uri="{FF2B5EF4-FFF2-40B4-BE49-F238E27FC236}">
                <a16:creationId xmlns:a16="http://schemas.microsoft.com/office/drawing/2014/main" id="{9024409F-A8BE-F304-0222-AD8E0A090F91}"/>
              </a:ext>
            </a:extLst>
          </p:cNvPr>
          <p:cNvSpPr txBox="1"/>
          <p:nvPr/>
        </p:nvSpPr>
        <p:spPr>
          <a:xfrm>
            <a:off x="8890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97" name="Rectangle 196">
            <a:extLst>
              <a:ext uri="{FF2B5EF4-FFF2-40B4-BE49-F238E27FC236}">
                <a16:creationId xmlns:a16="http://schemas.microsoft.com/office/drawing/2014/main" id="{D002C3D4-8C28-3095-A8B6-80BC65E9ED28}"/>
              </a:ext>
            </a:extLst>
          </p:cNvPr>
          <p:cNvSpPr/>
          <p:nvPr/>
        </p:nvSpPr>
        <p:spPr>
          <a:xfrm>
            <a:off x="9271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TextBox 197">
            <a:extLst>
              <a:ext uri="{FF2B5EF4-FFF2-40B4-BE49-F238E27FC236}">
                <a16:creationId xmlns:a16="http://schemas.microsoft.com/office/drawing/2014/main" id="{2DABC7CF-DF46-087F-4A2F-7163E21846CD}"/>
              </a:ext>
            </a:extLst>
          </p:cNvPr>
          <p:cNvSpPr txBox="1"/>
          <p:nvPr/>
        </p:nvSpPr>
        <p:spPr>
          <a:xfrm>
            <a:off x="9271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99" name="Rectangle 198">
            <a:extLst>
              <a:ext uri="{FF2B5EF4-FFF2-40B4-BE49-F238E27FC236}">
                <a16:creationId xmlns:a16="http://schemas.microsoft.com/office/drawing/2014/main" id="{4026BFE8-098A-DE96-A691-C4BFCD759D35}"/>
              </a:ext>
            </a:extLst>
          </p:cNvPr>
          <p:cNvSpPr/>
          <p:nvPr/>
        </p:nvSpPr>
        <p:spPr>
          <a:xfrm>
            <a:off x="9652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0" name="TextBox 199">
            <a:extLst>
              <a:ext uri="{FF2B5EF4-FFF2-40B4-BE49-F238E27FC236}">
                <a16:creationId xmlns:a16="http://schemas.microsoft.com/office/drawing/2014/main" id="{673F831F-2B3E-4D1B-1070-BFEA021892DD}"/>
              </a:ext>
            </a:extLst>
          </p:cNvPr>
          <p:cNvSpPr txBox="1"/>
          <p:nvPr/>
        </p:nvSpPr>
        <p:spPr>
          <a:xfrm>
            <a:off x="9652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1" name="Rectangle 200">
            <a:extLst>
              <a:ext uri="{FF2B5EF4-FFF2-40B4-BE49-F238E27FC236}">
                <a16:creationId xmlns:a16="http://schemas.microsoft.com/office/drawing/2014/main" id="{A548AA07-A324-A38C-32AF-2E32D2AA7D3B}"/>
              </a:ext>
            </a:extLst>
          </p:cNvPr>
          <p:cNvSpPr/>
          <p:nvPr/>
        </p:nvSpPr>
        <p:spPr>
          <a:xfrm>
            <a:off x="10033000" y="3048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2" name="TextBox 201">
            <a:extLst>
              <a:ext uri="{FF2B5EF4-FFF2-40B4-BE49-F238E27FC236}">
                <a16:creationId xmlns:a16="http://schemas.microsoft.com/office/drawing/2014/main" id="{2ACDDA6E-7B46-5F56-6E79-DEA6DF3AC62F}"/>
              </a:ext>
            </a:extLst>
          </p:cNvPr>
          <p:cNvSpPr txBox="1"/>
          <p:nvPr/>
        </p:nvSpPr>
        <p:spPr>
          <a:xfrm>
            <a:off x="10033000" y="3060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3" name="Rectangle 202">
            <a:extLst>
              <a:ext uri="{FF2B5EF4-FFF2-40B4-BE49-F238E27FC236}">
                <a16:creationId xmlns:a16="http://schemas.microsoft.com/office/drawing/2014/main" id="{EF61AE81-4471-AC5E-04AD-93BC81A1B57E}"/>
              </a:ext>
            </a:extLst>
          </p:cNvPr>
          <p:cNvSpPr/>
          <p:nvPr/>
        </p:nvSpPr>
        <p:spPr>
          <a:xfrm>
            <a:off x="7366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4" name="TextBox 203">
            <a:extLst>
              <a:ext uri="{FF2B5EF4-FFF2-40B4-BE49-F238E27FC236}">
                <a16:creationId xmlns:a16="http://schemas.microsoft.com/office/drawing/2014/main" id="{156AED4B-191B-7B53-A901-0AC6503D0627}"/>
              </a:ext>
            </a:extLst>
          </p:cNvPr>
          <p:cNvSpPr txBox="1"/>
          <p:nvPr/>
        </p:nvSpPr>
        <p:spPr>
          <a:xfrm>
            <a:off x="7366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5" name="Rectangle 204">
            <a:extLst>
              <a:ext uri="{FF2B5EF4-FFF2-40B4-BE49-F238E27FC236}">
                <a16:creationId xmlns:a16="http://schemas.microsoft.com/office/drawing/2014/main" id="{BA3E14CA-713F-B87D-CAB4-2083A5774078}"/>
              </a:ext>
            </a:extLst>
          </p:cNvPr>
          <p:cNvSpPr/>
          <p:nvPr/>
        </p:nvSpPr>
        <p:spPr>
          <a:xfrm>
            <a:off x="7747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6" name="TextBox 205">
            <a:extLst>
              <a:ext uri="{FF2B5EF4-FFF2-40B4-BE49-F238E27FC236}">
                <a16:creationId xmlns:a16="http://schemas.microsoft.com/office/drawing/2014/main" id="{149DB660-7AEB-3019-79E0-9A6CB82D5819}"/>
              </a:ext>
            </a:extLst>
          </p:cNvPr>
          <p:cNvSpPr txBox="1"/>
          <p:nvPr/>
        </p:nvSpPr>
        <p:spPr>
          <a:xfrm>
            <a:off x="7747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7" name="Rectangle 206">
            <a:extLst>
              <a:ext uri="{FF2B5EF4-FFF2-40B4-BE49-F238E27FC236}">
                <a16:creationId xmlns:a16="http://schemas.microsoft.com/office/drawing/2014/main" id="{0A674FB5-B0EF-776F-F2B2-8197370CE83A}"/>
              </a:ext>
            </a:extLst>
          </p:cNvPr>
          <p:cNvSpPr/>
          <p:nvPr/>
        </p:nvSpPr>
        <p:spPr>
          <a:xfrm>
            <a:off x="8128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8" name="TextBox 207">
            <a:extLst>
              <a:ext uri="{FF2B5EF4-FFF2-40B4-BE49-F238E27FC236}">
                <a16:creationId xmlns:a16="http://schemas.microsoft.com/office/drawing/2014/main" id="{67430130-9D0F-098B-6083-E3BD5E381CD8}"/>
              </a:ext>
            </a:extLst>
          </p:cNvPr>
          <p:cNvSpPr txBox="1"/>
          <p:nvPr/>
        </p:nvSpPr>
        <p:spPr>
          <a:xfrm>
            <a:off x="8128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9" name="Rectangle 208">
            <a:extLst>
              <a:ext uri="{FF2B5EF4-FFF2-40B4-BE49-F238E27FC236}">
                <a16:creationId xmlns:a16="http://schemas.microsoft.com/office/drawing/2014/main" id="{1F35DE81-1E0A-FD06-74FB-E9ACBE8D7B79}"/>
              </a:ext>
            </a:extLst>
          </p:cNvPr>
          <p:cNvSpPr/>
          <p:nvPr/>
        </p:nvSpPr>
        <p:spPr>
          <a:xfrm>
            <a:off x="8509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0" name="TextBox 209">
            <a:extLst>
              <a:ext uri="{FF2B5EF4-FFF2-40B4-BE49-F238E27FC236}">
                <a16:creationId xmlns:a16="http://schemas.microsoft.com/office/drawing/2014/main" id="{0C053D21-66A4-E277-AB6B-E6F26F50823F}"/>
              </a:ext>
            </a:extLst>
          </p:cNvPr>
          <p:cNvSpPr txBox="1"/>
          <p:nvPr/>
        </p:nvSpPr>
        <p:spPr>
          <a:xfrm>
            <a:off x="8509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11" name="Rectangle 210">
            <a:extLst>
              <a:ext uri="{FF2B5EF4-FFF2-40B4-BE49-F238E27FC236}">
                <a16:creationId xmlns:a16="http://schemas.microsoft.com/office/drawing/2014/main" id="{E64D7209-50CB-6E3C-6814-BF5F399ABAFB}"/>
              </a:ext>
            </a:extLst>
          </p:cNvPr>
          <p:cNvSpPr/>
          <p:nvPr/>
        </p:nvSpPr>
        <p:spPr>
          <a:xfrm>
            <a:off x="8890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2" name="TextBox 211">
            <a:extLst>
              <a:ext uri="{FF2B5EF4-FFF2-40B4-BE49-F238E27FC236}">
                <a16:creationId xmlns:a16="http://schemas.microsoft.com/office/drawing/2014/main" id="{A53EECF4-C07F-9B61-FAFA-BB1FC760FCDB}"/>
              </a:ext>
            </a:extLst>
          </p:cNvPr>
          <p:cNvSpPr txBox="1"/>
          <p:nvPr/>
        </p:nvSpPr>
        <p:spPr>
          <a:xfrm>
            <a:off x="8890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13" name="Rectangle 212">
            <a:extLst>
              <a:ext uri="{FF2B5EF4-FFF2-40B4-BE49-F238E27FC236}">
                <a16:creationId xmlns:a16="http://schemas.microsoft.com/office/drawing/2014/main" id="{F169F26E-A213-2001-4B22-EB09C31665A9}"/>
              </a:ext>
            </a:extLst>
          </p:cNvPr>
          <p:cNvSpPr/>
          <p:nvPr/>
        </p:nvSpPr>
        <p:spPr>
          <a:xfrm>
            <a:off x="9271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4" name="TextBox 213">
            <a:extLst>
              <a:ext uri="{FF2B5EF4-FFF2-40B4-BE49-F238E27FC236}">
                <a16:creationId xmlns:a16="http://schemas.microsoft.com/office/drawing/2014/main" id="{FB902AA1-81E1-A4CF-270E-C61CBE4119B8}"/>
              </a:ext>
            </a:extLst>
          </p:cNvPr>
          <p:cNvSpPr txBox="1"/>
          <p:nvPr/>
        </p:nvSpPr>
        <p:spPr>
          <a:xfrm>
            <a:off x="9271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15" name="Rectangle 214">
            <a:extLst>
              <a:ext uri="{FF2B5EF4-FFF2-40B4-BE49-F238E27FC236}">
                <a16:creationId xmlns:a16="http://schemas.microsoft.com/office/drawing/2014/main" id="{33E12E0E-CB81-5D66-2182-7A152B8C771D}"/>
              </a:ext>
            </a:extLst>
          </p:cNvPr>
          <p:cNvSpPr/>
          <p:nvPr/>
        </p:nvSpPr>
        <p:spPr>
          <a:xfrm>
            <a:off x="9652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6" name="TextBox 215">
            <a:extLst>
              <a:ext uri="{FF2B5EF4-FFF2-40B4-BE49-F238E27FC236}">
                <a16:creationId xmlns:a16="http://schemas.microsoft.com/office/drawing/2014/main" id="{B2B40B7B-5FDB-0AB3-212E-C5B4BAD6C97D}"/>
              </a:ext>
            </a:extLst>
          </p:cNvPr>
          <p:cNvSpPr txBox="1"/>
          <p:nvPr/>
        </p:nvSpPr>
        <p:spPr>
          <a:xfrm>
            <a:off x="9652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17" name="Rectangle 216">
            <a:extLst>
              <a:ext uri="{FF2B5EF4-FFF2-40B4-BE49-F238E27FC236}">
                <a16:creationId xmlns:a16="http://schemas.microsoft.com/office/drawing/2014/main" id="{A7F62F1D-BE59-2DBD-FFDD-95F3911706C8}"/>
              </a:ext>
            </a:extLst>
          </p:cNvPr>
          <p:cNvSpPr/>
          <p:nvPr/>
        </p:nvSpPr>
        <p:spPr>
          <a:xfrm>
            <a:off x="10033000" y="3429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8" name="TextBox 217">
            <a:extLst>
              <a:ext uri="{FF2B5EF4-FFF2-40B4-BE49-F238E27FC236}">
                <a16:creationId xmlns:a16="http://schemas.microsoft.com/office/drawing/2014/main" id="{E49F0690-35E5-16E1-B07D-485F77837217}"/>
              </a:ext>
            </a:extLst>
          </p:cNvPr>
          <p:cNvSpPr txBox="1"/>
          <p:nvPr/>
        </p:nvSpPr>
        <p:spPr>
          <a:xfrm>
            <a:off x="10033000" y="3441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19" name="Rectangle 218">
            <a:extLst>
              <a:ext uri="{FF2B5EF4-FFF2-40B4-BE49-F238E27FC236}">
                <a16:creationId xmlns:a16="http://schemas.microsoft.com/office/drawing/2014/main" id="{73D941BE-7DD7-329A-2545-9EA31F64F363}"/>
              </a:ext>
            </a:extLst>
          </p:cNvPr>
          <p:cNvSpPr/>
          <p:nvPr/>
        </p:nvSpPr>
        <p:spPr>
          <a:xfrm>
            <a:off x="7366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0" name="TextBox 219">
            <a:extLst>
              <a:ext uri="{FF2B5EF4-FFF2-40B4-BE49-F238E27FC236}">
                <a16:creationId xmlns:a16="http://schemas.microsoft.com/office/drawing/2014/main" id="{F7B7E899-E4C7-0BDA-C3E8-C5DE11E8FEC1}"/>
              </a:ext>
            </a:extLst>
          </p:cNvPr>
          <p:cNvSpPr txBox="1"/>
          <p:nvPr/>
        </p:nvSpPr>
        <p:spPr>
          <a:xfrm>
            <a:off x="7366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21" name="Rectangle 220">
            <a:extLst>
              <a:ext uri="{FF2B5EF4-FFF2-40B4-BE49-F238E27FC236}">
                <a16:creationId xmlns:a16="http://schemas.microsoft.com/office/drawing/2014/main" id="{A9026D4B-AA42-DB61-43B6-1D020F927136}"/>
              </a:ext>
            </a:extLst>
          </p:cNvPr>
          <p:cNvSpPr/>
          <p:nvPr/>
        </p:nvSpPr>
        <p:spPr>
          <a:xfrm>
            <a:off x="7747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2" name="TextBox 221">
            <a:extLst>
              <a:ext uri="{FF2B5EF4-FFF2-40B4-BE49-F238E27FC236}">
                <a16:creationId xmlns:a16="http://schemas.microsoft.com/office/drawing/2014/main" id="{01BAE94E-4573-0C15-B093-117DB02AF466}"/>
              </a:ext>
            </a:extLst>
          </p:cNvPr>
          <p:cNvSpPr txBox="1"/>
          <p:nvPr/>
        </p:nvSpPr>
        <p:spPr>
          <a:xfrm>
            <a:off x="7747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23" name="Rectangle 222">
            <a:extLst>
              <a:ext uri="{FF2B5EF4-FFF2-40B4-BE49-F238E27FC236}">
                <a16:creationId xmlns:a16="http://schemas.microsoft.com/office/drawing/2014/main" id="{2233230C-F5DB-622B-DB60-ACF15995F0AE}"/>
              </a:ext>
            </a:extLst>
          </p:cNvPr>
          <p:cNvSpPr/>
          <p:nvPr/>
        </p:nvSpPr>
        <p:spPr>
          <a:xfrm>
            <a:off x="8128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4" name="TextBox 223">
            <a:extLst>
              <a:ext uri="{FF2B5EF4-FFF2-40B4-BE49-F238E27FC236}">
                <a16:creationId xmlns:a16="http://schemas.microsoft.com/office/drawing/2014/main" id="{D4A812DB-6FB5-3F6C-8A44-CB3C7DC4CF2D}"/>
              </a:ext>
            </a:extLst>
          </p:cNvPr>
          <p:cNvSpPr txBox="1"/>
          <p:nvPr/>
        </p:nvSpPr>
        <p:spPr>
          <a:xfrm>
            <a:off x="8128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25" name="Rectangle 224">
            <a:extLst>
              <a:ext uri="{FF2B5EF4-FFF2-40B4-BE49-F238E27FC236}">
                <a16:creationId xmlns:a16="http://schemas.microsoft.com/office/drawing/2014/main" id="{ECD08350-8C83-A845-6E27-2E080DF766DD}"/>
              </a:ext>
            </a:extLst>
          </p:cNvPr>
          <p:cNvSpPr/>
          <p:nvPr/>
        </p:nvSpPr>
        <p:spPr>
          <a:xfrm>
            <a:off x="8509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6" name="TextBox 225">
            <a:extLst>
              <a:ext uri="{FF2B5EF4-FFF2-40B4-BE49-F238E27FC236}">
                <a16:creationId xmlns:a16="http://schemas.microsoft.com/office/drawing/2014/main" id="{2105F00D-BEDE-B5C9-DD0B-1DF221C05CA7}"/>
              </a:ext>
            </a:extLst>
          </p:cNvPr>
          <p:cNvSpPr txBox="1"/>
          <p:nvPr/>
        </p:nvSpPr>
        <p:spPr>
          <a:xfrm>
            <a:off x="8509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27" name="Rectangle 226">
            <a:extLst>
              <a:ext uri="{FF2B5EF4-FFF2-40B4-BE49-F238E27FC236}">
                <a16:creationId xmlns:a16="http://schemas.microsoft.com/office/drawing/2014/main" id="{65731B77-1B92-D7ED-EEEF-B636ACFA30AB}"/>
              </a:ext>
            </a:extLst>
          </p:cNvPr>
          <p:cNvSpPr/>
          <p:nvPr/>
        </p:nvSpPr>
        <p:spPr>
          <a:xfrm>
            <a:off x="8890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8" name="TextBox 227">
            <a:extLst>
              <a:ext uri="{FF2B5EF4-FFF2-40B4-BE49-F238E27FC236}">
                <a16:creationId xmlns:a16="http://schemas.microsoft.com/office/drawing/2014/main" id="{2CAF05A0-6391-0E0E-8FAF-7FD7F8D1D7EA}"/>
              </a:ext>
            </a:extLst>
          </p:cNvPr>
          <p:cNvSpPr txBox="1"/>
          <p:nvPr/>
        </p:nvSpPr>
        <p:spPr>
          <a:xfrm>
            <a:off x="8890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29" name="Rectangle 228">
            <a:extLst>
              <a:ext uri="{FF2B5EF4-FFF2-40B4-BE49-F238E27FC236}">
                <a16:creationId xmlns:a16="http://schemas.microsoft.com/office/drawing/2014/main" id="{9273FC9E-E4DC-C97E-C25F-5FA23A49E8E9}"/>
              </a:ext>
            </a:extLst>
          </p:cNvPr>
          <p:cNvSpPr/>
          <p:nvPr/>
        </p:nvSpPr>
        <p:spPr>
          <a:xfrm>
            <a:off x="9271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0" name="TextBox 229">
            <a:extLst>
              <a:ext uri="{FF2B5EF4-FFF2-40B4-BE49-F238E27FC236}">
                <a16:creationId xmlns:a16="http://schemas.microsoft.com/office/drawing/2014/main" id="{42559468-F715-42DB-D048-DFCC9101E018}"/>
              </a:ext>
            </a:extLst>
          </p:cNvPr>
          <p:cNvSpPr txBox="1"/>
          <p:nvPr/>
        </p:nvSpPr>
        <p:spPr>
          <a:xfrm>
            <a:off x="9271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31" name="Rectangle 230">
            <a:extLst>
              <a:ext uri="{FF2B5EF4-FFF2-40B4-BE49-F238E27FC236}">
                <a16:creationId xmlns:a16="http://schemas.microsoft.com/office/drawing/2014/main" id="{57FEF16E-9DB4-5BF8-87A7-BD6D34F1A836}"/>
              </a:ext>
            </a:extLst>
          </p:cNvPr>
          <p:cNvSpPr/>
          <p:nvPr/>
        </p:nvSpPr>
        <p:spPr>
          <a:xfrm>
            <a:off x="9652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2" name="TextBox 231">
            <a:extLst>
              <a:ext uri="{FF2B5EF4-FFF2-40B4-BE49-F238E27FC236}">
                <a16:creationId xmlns:a16="http://schemas.microsoft.com/office/drawing/2014/main" id="{B7B89726-063D-FCE0-F506-7C1690A02774}"/>
              </a:ext>
            </a:extLst>
          </p:cNvPr>
          <p:cNvSpPr txBox="1"/>
          <p:nvPr/>
        </p:nvSpPr>
        <p:spPr>
          <a:xfrm>
            <a:off x="9652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33" name="Rectangle 232">
            <a:extLst>
              <a:ext uri="{FF2B5EF4-FFF2-40B4-BE49-F238E27FC236}">
                <a16:creationId xmlns:a16="http://schemas.microsoft.com/office/drawing/2014/main" id="{9CA1C9C8-BAAC-F87A-4CC8-231025D7606C}"/>
              </a:ext>
            </a:extLst>
          </p:cNvPr>
          <p:cNvSpPr/>
          <p:nvPr/>
        </p:nvSpPr>
        <p:spPr>
          <a:xfrm>
            <a:off x="10033000" y="3810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4" name="TextBox 233">
            <a:extLst>
              <a:ext uri="{FF2B5EF4-FFF2-40B4-BE49-F238E27FC236}">
                <a16:creationId xmlns:a16="http://schemas.microsoft.com/office/drawing/2014/main" id="{1064B397-F694-0CC8-2CF0-5928B25B1B6C}"/>
              </a:ext>
            </a:extLst>
          </p:cNvPr>
          <p:cNvSpPr txBox="1"/>
          <p:nvPr/>
        </p:nvSpPr>
        <p:spPr>
          <a:xfrm>
            <a:off x="10033000" y="3822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35" name="Rectangle 234">
            <a:extLst>
              <a:ext uri="{FF2B5EF4-FFF2-40B4-BE49-F238E27FC236}">
                <a16:creationId xmlns:a16="http://schemas.microsoft.com/office/drawing/2014/main" id="{233CEB6C-18A5-1BC4-CE61-556F221E3CDB}"/>
              </a:ext>
            </a:extLst>
          </p:cNvPr>
          <p:cNvSpPr/>
          <p:nvPr/>
        </p:nvSpPr>
        <p:spPr>
          <a:xfrm>
            <a:off x="7366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6" name="TextBox 235">
            <a:extLst>
              <a:ext uri="{FF2B5EF4-FFF2-40B4-BE49-F238E27FC236}">
                <a16:creationId xmlns:a16="http://schemas.microsoft.com/office/drawing/2014/main" id="{5EC84724-471C-34F9-7926-7C3705E9930F}"/>
              </a:ext>
            </a:extLst>
          </p:cNvPr>
          <p:cNvSpPr txBox="1"/>
          <p:nvPr/>
        </p:nvSpPr>
        <p:spPr>
          <a:xfrm>
            <a:off x="7366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37" name="Rectangle 236">
            <a:extLst>
              <a:ext uri="{FF2B5EF4-FFF2-40B4-BE49-F238E27FC236}">
                <a16:creationId xmlns:a16="http://schemas.microsoft.com/office/drawing/2014/main" id="{199B3ADE-0959-2E0B-9DEA-10071E948BEC}"/>
              </a:ext>
            </a:extLst>
          </p:cNvPr>
          <p:cNvSpPr/>
          <p:nvPr/>
        </p:nvSpPr>
        <p:spPr>
          <a:xfrm>
            <a:off x="7747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8" name="TextBox 237">
            <a:extLst>
              <a:ext uri="{FF2B5EF4-FFF2-40B4-BE49-F238E27FC236}">
                <a16:creationId xmlns:a16="http://schemas.microsoft.com/office/drawing/2014/main" id="{DADBC035-522D-42F6-CC18-E651CA79B0A6}"/>
              </a:ext>
            </a:extLst>
          </p:cNvPr>
          <p:cNvSpPr txBox="1"/>
          <p:nvPr/>
        </p:nvSpPr>
        <p:spPr>
          <a:xfrm>
            <a:off x="7747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39" name="Rectangle 238">
            <a:extLst>
              <a:ext uri="{FF2B5EF4-FFF2-40B4-BE49-F238E27FC236}">
                <a16:creationId xmlns:a16="http://schemas.microsoft.com/office/drawing/2014/main" id="{C45618AA-53CB-1498-7904-23BC334F360E}"/>
              </a:ext>
            </a:extLst>
          </p:cNvPr>
          <p:cNvSpPr/>
          <p:nvPr/>
        </p:nvSpPr>
        <p:spPr>
          <a:xfrm>
            <a:off x="8128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0" name="TextBox 239">
            <a:extLst>
              <a:ext uri="{FF2B5EF4-FFF2-40B4-BE49-F238E27FC236}">
                <a16:creationId xmlns:a16="http://schemas.microsoft.com/office/drawing/2014/main" id="{C113AF63-8A11-31F3-45C5-ACDC8027CFC8}"/>
              </a:ext>
            </a:extLst>
          </p:cNvPr>
          <p:cNvSpPr txBox="1"/>
          <p:nvPr/>
        </p:nvSpPr>
        <p:spPr>
          <a:xfrm>
            <a:off x="8128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1" name="Rectangle 240">
            <a:extLst>
              <a:ext uri="{FF2B5EF4-FFF2-40B4-BE49-F238E27FC236}">
                <a16:creationId xmlns:a16="http://schemas.microsoft.com/office/drawing/2014/main" id="{870874A3-4DDF-ED33-FA85-6F31C89DEB0A}"/>
              </a:ext>
            </a:extLst>
          </p:cNvPr>
          <p:cNvSpPr/>
          <p:nvPr/>
        </p:nvSpPr>
        <p:spPr>
          <a:xfrm>
            <a:off x="8509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2" name="TextBox 241">
            <a:extLst>
              <a:ext uri="{FF2B5EF4-FFF2-40B4-BE49-F238E27FC236}">
                <a16:creationId xmlns:a16="http://schemas.microsoft.com/office/drawing/2014/main" id="{78A131D4-DE6D-60D0-48C1-B6F50A050EDF}"/>
              </a:ext>
            </a:extLst>
          </p:cNvPr>
          <p:cNvSpPr txBox="1"/>
          <p:nvPr/>
        </p:nvSpPr>
        <p:spPr>
          <a:xfrm>
            <a:off x="8509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3" name="Rectangle 242">
            <a:extLst>
              <a:ext uri="{FF2B5EF4-FFF2-40B4-BE49-F238E27FC236}">
                <a16:creationId xmlns:a16="http://schemas.microsoft.com/office/drawing/2014/main" id="{46348152-DFF2-05F1-429F-E8651B5298B5}"/>
              </a:ext>
            </a:extLst>
          </p:cNvPr>
          <p:cNvSpPr/>
          <p:nvPr/>
        </p:nvSpPr>
        <p:spPr>
          <a:xfrm>
            <a:off x="8890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4" name="TextBox 243">
            <a:extLst>
              <a:ext uri="{FF2B5EF4-FFF2-40B4-BE49-F238E27FC236}">
                <a16:creationId xmlns:a16="http://schemas.microsoft.com/office/drawing/2014/main" id="{99219ABA-3AB1-627A-7173-6257A12EA3F2}"/>
              </a:ext>
            </a:extLst>
          </p:cNvPr>
          <p:cNvSpPr txBox="1"/>
          <p:nvPr/>
        </p:nvSpPr>
        <p:spPr>
          <a:xfrm>
            <a:off x="8890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5" name="Rectangle 244">
            <a:extLst>
              <a:ext uri="{FF2B5EF4-FFF2-40B4-BE49-F238E27FC236}">
                <a16:creationId xmlns:a16="http://schemas.microsoft.com/office/drawing/2014/main" id="{D87C5D17-994C-AF6A-8525-0C236BAFD090}"/>
              </a:ext>
            </a:extLst>
          </p:cNvPr>
          <p:cNvSpPr/>
          <p:nvPr/>
        </p:nvSpPr>
        <p:spPr>
          <a:xfrm>
            <a:off x="9271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6" name="TextBox 245">
            <a:extLst>
              <a:ext uri="{FF2B5EF4-FFF2-40B4-BE49-F238E27FC236}">
                <a16:creationId xmlns:a16="http://schemas.microsoft.com/office/drawing/2014/main" id="{521A58EA-8655-161E-5931-13F8B3B3A143}"/>
              </a:ext>
            </a:extLst>
          </p:cNvPr>
          <p:cNvSpPr txBox="1"/>
          <p:nvPr/>
        </p:nvSpPr>
        <p:spPr>
          <a:xfrm>
            <a:off x="9271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7" name="Rectangle 246">
            <a:extLst>
              <a:ext uri="{FF2B5EF4-FFF2-40B4-BE49-F238E27FC236}">
                <a16:creationId xmlns:a16="http://schemas.microsoft.com/office/drawing/2014/main" id="{D699D372-8DBD-278A-C18F-593E20606526}"/>
              </a:ext>
            </a:extLst>
          </p:cNvPr>
          <p:cNvSpPr/>
          <p:nvPr/>
        </p:nvSpPr>
        <p:spPr>
          <a:xfrm>
            <a:off x="9652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8" name="TextBox 247">
            <a:extLst>
              <a:ext uri="{FF2B5EF4-FFF2-40B4-BE49-F238E27FC236}">
                <a16:creationId xmlns:a16="http://schemas.microsoft.com/office/drawing/2014/main" id="{DC7A53AE-1302-0705-0838-59E1ED106346}"/>
              </a:ext>
            </a:extLst>
          </p:cNvPr>
          <p:cNvSpPr txBox="1"/>
          <p:nvPr/>
        </p:nvSpPr>
        <p:spPr>
          <a:xfrm>
            <a:off x="9652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49" name="Rectangle 248">
            <a:extLst>
              <a:ext uri="{FF2B5EF4-FFF2-40B4-BE49-F238E27FC236}">
                <a16:creationId xmlns:a16="http://schemas.microsoft.com/office/drawing/2014/main" id="{609F0E5C-CAAF-00F6-64C2-64BAB107D9A5}"/>
              </a:ext>
            </a:extLst>
          </p:cNvPr>
          <p:cNvSpPr/>
          <p:nvPr/>
        </p:nvSpPr>
        <p:spPr>
          <a:xfrm>
            <a:off x="10033000" y="4191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0" name="TextBox 249">
            <a:extLst>
              <a:ext uri="{FF2B5EF4-FFF2-40B4-BE49-F238E27FC236}">
                <a16:creationId xmlns:a16="http://schemas.microsoft.com/office/drawing/2014/main" id="{77C58BF2-A8EE-FCCB-D86E-FC5BAA443286}"/>
              </a:ext>
            </a:extLst>
          </p:cNvPr>
          <p:cNvSpPr txBox="1"/>
          <p:nvPr/>
        </p:nvSpPr>
        <p:spPr>
          <a:xfrm>
            <a:off x="10033000" y="4203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51" name="Rectangle 250">
            <a:extLst>
              <a:ext uri="{FF2B5EF4-FFF2-40B4-BE49-F238E27FC236}">
                <a16:creationId xmlns:a16="http://schemas.microsoft.com/office/drawing/2014/main" id="{14610D25-86D6-595F-8F7E-E7874277E63C}"/>
              </a:ext>
            </a:extLst>
          </p:cNvPr>
          <p:cNvSpPr/>
          <p:nvPr/>
        </p:nvSpPr>
        <p:spPr>
          <a:xfrm>
            <a:off x="7366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2" name="TextBox 251">
            <a:extLst>
              <a:ext uri="{FF2B5EF4-FFF2-40B4-BE49-F238E27FC236}">
                <a16:creationId xmlns:a16="http://schemas.microsoft.com/office/drawing/2014/main" id="{64CF169A-1C2D-8528-C58F-9A14A34CDB18}"/>
              </a:ext>
            </a:extLst>
          </p:cNvPr>
          <p:cNvSpPr txBox="1"/>
          <p:nvPr/>
        </p:nvSpPr>
        <p:spPr>
          <a:xfrm>
            <a:off x="7366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53" name="Rectangle 252">
            <a:extLst>
              <a:ext uri="{FF2B5EF4-FFF2-40B4-BE49-F238E27FC236}">
                <a16:creationId xmlns:a16="http://schemas.microsoft.com/office/drawing/2014/main" id="{465AC7AA-559C-1220-ED8E-29BCA6D28D2C}"/>
              </a:ext>
            </a:extLst>
          </p:cNvPr>
          <p:cNvSpPr/>
          <p:nvPr/>
        </p:nvSpPr>
        <p:spPr>
          <a:xfrm>
            <a:off x="7747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4" name="TextBox 253">
            <a:extLst>
              <a:ext uri="{FF2B5EF4-FFF2-40B4-BE49-F238E27FC236}">
                <a16:creationId xmlns:a16="http://schemas.microsoft.com/office/drawing/2014/main" id="{4395FB5B-C90C-E2C8-C2AF-40F931BFC29A}"/>
              </a:ext>
            </a:extLst>
          </p:cNvPr>
          <p:cNvSpPr txBox="1"/>
          <p:nvPr/>
        </p:nvSpPr>
        <p:spPr>
          <a:xfrm>
            <a:off x="7747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55" name="Rectangle 254">
            <a:extLst>
              <a:ext uri="{FF2B5EF4-FFF2-40B4-BE49-F238E27FC236}">
                <a16:creationId xmlns:a16="http://schemas.microsoft.com/office/drawing/2014/main" id="{E66DE417-F362-A5B7-4652-1E4A3AC55DE3}"/>
              </a:ext>
            </a:extLst>
          </p:cNvPr>
          <p:cNvSpPr/>
          <p:nvPr/>
        </p:nvSpPr>
        <p:spPr>
          <a:xfrm>
            <a:off x="8128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6" name="TextBox 255">
            <a:extLst>
              <a:ext uri="{FF2B5EF4-FFF2-40B4-BE49-F238E27FC236}">
                <a16:creationId xmlns:a16="http://schemas.microsoft.com/office/drawing/2014/main" id="{F1E8FB4E-C804-06B4-90E2-1D2E4769879C}"/>
              </a:ext>
            </a:extLst>
          </p:cNvPr>
          <p:cNvSpPr txBox="1"/>
          <p:nvPr/>
        </p:nvSpPr>
        <p:spPr>
          <a:xfrm>
            <a:off x="8128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57" name="Rectangle 256">
            <a:extLst>
              <a:ext uri="{FF2B5EF4-FFF2-40B4-BE49-F238E27FC236}">
                <a16:creationId xmlns:a16="http://schemas.microsoft.com/office/drawing/2014/main" id="{C3CAD12E-B81A-84D6-A2E2-7F1D701FE2CE}"/>
              </a:ext>
            </a:extLst>
          </p:cNvPr>
          <p:cNvSpPr/>
          <p:nvPr/>
        </p:nvSpPr>
        <p:spPr>
          <a:xfrm>
            <a:off x="8509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8" name="TextBox 257">
            <a:extLst>
              <a:ext uri="{FF2B5EF4-FFF2-40B4-BE49-F238E27FC236}">
                <a16:creationId xmlns:a16="http://schemas.microsoft.com/office/drawing/2014/main" id="{86618409-65CA-9611-7F6C-A29075700D07}"/>
              </a:ext>
            </a:extLst>
          </p:cNvPr>
          <p:cNvSpPr txBox="1"/>
          <p:nvPr/>
        </p:nvSpPr>
        <p:spPr>
          <a:xfrm>
            <a:off x="8509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59" name="Rectangle 258">
            <a:extLst>
              <a:ext uri="{FF2B5EF4-FFF2-40B4-BE49-F238E27FC236}">
                <a16:creationId xmlns:a16="http://schemas.microsoft.com/office/drawing/2014/main" id="{F948E91B-CD83-8486-C728-7B0BA93E9F17}"/>
              </a:ext>
            </a:extLst>
          </p:cNvPr>
          <p:cNvSpPr/>
          <p:nvPr/>
        </p:nvSpPr>
        <p:spPr>
          <a:xfrm>
            <a:off x="8890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0" name="TextBox 259">
            <a:extLst>
              <a:ext uri="{FF2B5EF4-FFF2-40B4-BE49-F238E27FC236}">
                <a16:creationId xmlns:a16="http://schemas.microsoft.com/office/drawing/2014/main" id="{817ACA5F-149F-488E-2AB7-4D652A2E1146}"/>
              </a:ext>
            </a:extLst>
          </p:cNvPr>
          <p:cNvSpPr txBox="1"/>
          <p:nvPr/>
        </p:nvSpPr>
        <p:spPr>
          <a:xfrm>
            <a:off x="8890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61" name="Rectangle 260">
            <a:extLst>
              <a:ext uri="{FF2B5EF4-FFF2-40B4-BE49-F238E27FC236}">
                <a16:creationId xmlns:a16="http://schemas.microsoft.com/office/drawing/2014/main" id="{0B32FA02-189A-C7C4-886A-A6720F31C268}"/>
              </a:ext>
            </a:extLst>
          </p:cNvPr>
          <p:cNvSpPr/>
          <p:nvPr/>
        </p:nvSpPr>
        <p:spPr>
          <a:xfrm>
            <a:off x="9271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2" name="TextBox 261">
            <a:extLst>
              <a:ext uri="{FF2B5EF4-FFF2-40B4-BE49-F238E27FC236}">
                <a16:creationId xmlns:a16="http://schemas.microsoft.com/office/drawing/2014/main" id="{E75C6CFB-E056-46EE-EC1B-E32110F55A23}"/>
              </a:ext>
            </a:extLst>
          </p:cNvPr>
          <p:cNvSpPr txBox="1"/>
          <p:nvPr/>
        </p:nvSpPr>
        <p:spPr>
          <a:xfrm>
            <a:off x="9271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63" name="Rectangle 262">
            <a:extLst>
              <a:ext uri="{FF2B5EF4-FFF2-40B4-BE49-F238E27FC236}">
                <a16:creationId xmlns:a16="http://schemas.microsoft.com/office/drawing/2014/main" id="{781C3FA5-E847-55F0-7D5B-2442316537A2}"/>
              </a:ext>
            </a:extLst>
          </p:cNvPr>
          <p:cNvSpPr/>
          <p:nvPr/>
        </p:nvSpPr>
        <p:spPr>
          <a:xfrm>
            <a:off x="9652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4" name="TextBox 263">
            <a:extLst>
              <a:ext uri="{FF2B5EF4-FFF2-40B4-BE49-F238E27FC236}">
                <a16:creationId xmlns:a16="http://schemas.microsoft.com/office/drawing/2014/main" id="{6A249517-6BEB-8BFF-012E-E3F7300F8BE8}"/>
              </a:ext>
            </a:extLst>
          </p:cNvPr>
          <p:cNvSpPr txBox="1"/>
          <p:nvPr/>
        </p:nvSpPr>
        <p:spPr>
          <a:xfrm>
            <a:off x="9652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65" name="Rectangle 264">
            <a:extLst>
              <a:ext uri="{FF2B5EF4-FFF2-40B4-BE49-F238E27FC236}">
                <a16:creationId xmlns:a16="http://schemas.microsoft.com/office/drawing/2014/main" id="{FAF7AE66-6323-E4ED-32F9-960116CEC711}"/>
              </a:ext>
            </a:extLst>
          </p:cNvPr>
          <p:cNvSpPr/>
          <p:nvPr/>
        </p:nvSpPr>
        <p:spPr>
          <a:xfrm>
            <a:off x="10033000" y="4572000"/>
            <a:ext cx="381000" cy="3810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6" name="TextBox 265">
            <a:extLst>
              <a:ext uri="{FF2B5EF4-FFF2-40B4-BE49-F238E27FC236}">
                <a16:creationId xmlns:a16="http://schemas.microsoft.com/office/drawing/2014/main" id="{7E1D6089-B31C-DEAB-F470-B1D4058ABF10}"/>
              </a:ext>
            </a:extLst>
          </p:cNvPr>
          <p:cNvSpPr txBox="1"/>
          <p:nvPr/>
        </p:nvSpPr>
        <p:spPr>
          <a:xfrm>
            <a:off x="10033000" y="4584700"/>
            <a:ext cx="3810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67" name="Rectangle: Rounded Corners 266">
            <a:extLst>
              <a:ext uri="{FF2B5EF4-FFF2-40B4-BE49-F238E27FC236}">
                <a16:creationId xmlns:a16="http://schemas.microsoft.com/office/drawing/2014/main" id="{702A621B-F439-84B0-4D5C-5BE1AE2DA3AC}"/>
              </a:ext>
            </a:extLst>
          </p:cNvPr>
          <p:cNvSpPr/>
          <p:nvPr/>
        </p:nvSpPr>
        <p:spPr>
          <a:xfrm>
            <a:off x="2413000" y="5461000"/>
            <a:ext cx="7366000" cy="609600"/>
          </a:xfrm>
          <a:prstGeom prst="roundRect">
            <a:avLst/>
          </a:prstGeom>
          <a:solidFill>
            <a:srgbClr val="071E35">
              <a:alpha val="97000"/>
            </a:srgbClr>
          </a:solidFill>
          <a:ln w="1651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8" name="TextBox 267">
            <a:extLst>
              <a:ext uri="{FF2B5EF4-FFF2-40B4-BE49-F238E27FC236}">
                <a16:creationId xmlns:a16="http://schemas.microsoft.com/office/drawing/2014/main" id="{F87E4630-E492-E321-9CB3-C671458DB575}"/>
              </a:ext>
            </a:extLst>
          </p:cNvPr>
          <p:cNvSpPr txBox="1"/>
          <p:nvPr/>
        </p:nvSpPr>
        <p:spPr>
          <a:xfrm>
            <a:off x="2616200" y="5600700"/>
            <a:ext cx="6959600" cy="276999"/>
          </a:xfrm>
          <a:prstGeom prst="rect">
            <a:avLst/>
          </a:prstGeom>
          <a:noFill/>
        </p:spPr>
        <p:txBody>
          <a:bodyPr vert="horz" wrap="square" lIns="0" tIns="0" rIns="0" bIns="0" rtlCol="0">
            <a:noAutofit/>
          </a:bodyPr>
          <a:lstStyle/>
          <a:p>
            <a:pPr algn="ctr"/>
            <a:r>
              <a:rPr lang="en-US" sz="1900" b="1">
                <a:solidFill>
                  <a:srgbClr val="F5F7FA"/>
                </a:solidFill>
                <a:latin typeface="Aptos Display" panose="020B0004020202020204" pitchFamily="34" charset="0"/>
              </a:rPr>
              <a:t>Transform coding reorganizes information; it does not yet discard it.</a:t>
            </a:r>
            <a:endParaRPr lang="en-IN" sz="1900" b="1">
              <a:solidFill>
                <a:srgbClr val="F5F7FA"/>
              </a:solidFill>
              <a:latin typeface="Aptos Display" panose="020B0004020202020204" pitchFamily="34" charset="0"/>
            </a:endParaRPr>
          </a:p>
        </p:txBody>
      </p:sp>
      <p:sp>
        <p:nvSpPr>
          <p:cNvPr id="269" name="TextBox 268">
            <a:extLst>
              <a:ext uri="{FF2B5EF4-FFF2-40B4-BE49-F238E27FC236}">
                <a16:creationId xmlns:a16="http://schemas.microsoft.com/office/drawing/2014/main" id="{5DD30773-8B78-CD46-2B7B-78F5F1E99D2F}"/>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11 / 19</a:t>
            </a:r>
          </a:p>
        </p:txBody>
      </p:sp>
    </p:spTree>
    <p:extLst>
      <p:ext uri="{BB962C8B-B14F-4D97-AF65-F5344CB8AC3E}">
        <p14:creationId xmlns:p14="http://schemas.microsoft.com/office/powerpoint/2010/main" val="2370157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17BB62-9401-1822-847E-B6072DFD2B2F}"/>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DC7FB9BE-7240-576D-E711-C1845A1315B5}"/>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1EC125B9-7A38-0313-0394-3FD9F7DDC6EF}"/>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D2FC12-ACAE-C025-373A-8A9B41A8A4E4}"/>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Quantization creates zeros and sets the rate–quality trade-off</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0A11C06A-0E13-469D-D8E6-E5DC2DEA1818}"/>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CD44EC5-4216-F0A5-1D2C-23229DFE6A18}"/>
              </a:ext>
            </a:extLst>
          </p:cNvPr>
          <p:cNvSpPr txBox="1"/>
          <p:nvPr/>
        </p:nvSpPr>
        <p:spPr>
          <a:xfrm>
            <a:off x="736600" y="1422400"/>
            <a:ext cx="3619500" cy="276999"/>
          </a:xfrm>
          <a:prstGeom prst="rect">
            <a:avLst/>
          </a:prstGeom>
          <a:noFill/>
        </p:spPr>
        <p:txBody>
          <a:bodyPr vert="horz" wrap="square" lIns="0" tIns="0" rIns="0" bIns="0" rtlCol="0">
            <a:noAutofit/>
          </a:bodyPr>
          <a:lstStyle/>
          <a:p>
            <a:pPr algn="ctr"/>
            <a:r>
              <a:rPr lang="en-IN" sz="1900" b="1">
                <a:solidFill>
                  <a:srgbClr val="16E3F2"/>
                </a:solidFill>
                <a:latin typeface="Aptos Display" panose="020B0004020202020204" pitchFamily="34" charset="0"/>
              </a:rPr>
              <a:t>Transform coefficients</a:t>
            </a:r>
          </a:p>
        </p:txBody>
      </p:sp>
      <p:sp>
        <p:nvSpPr>
          <p:cNvPr id="8" name="Rectangle 7">
            <a:extLst>
              <a:ext uri="{FF2B5EF4-FFF2-40B4-BE49-F238E27FC236}">
                <a16:creationId xmlns:a16="http://schemas.microsoft.com/office/drawing/2014/main" id="{3F17C8A0-52A8-29F7-DD3B-18077F88FF2A}"/>
              </a:ext>
            </a:extLst>
          </p:cNvPr>
          <p:cNvSpPr/>
          <p:nvPr/>
        </p:nvSpPr>
        <p:spPr>
          <a:xfrm>
            <a:off x="1270000" y="19812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20C46B1-0D4F-5165-BFBD-0A5A90334A80}"/>
              </a:ext>
            </a:extLst>
          </p:cNvPr>
          <p:cNvSpPr txBox="1"/>
          <p:nvPr/>
        </p:nvSpPr>
        <p:spPr>
          <a:xfrm>
            <a:off x="12700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42</a:t>
            </a:r>
          </a:p>
        </p:txBody>
      </p:sp>
      <p:sp>
        <p:nvSpPr>
          <p:cNvPr id="10" name="Rectangle 9">
            <a:extLst>
              <a:ext uri="{FF2B5EF4-FFF2-40B4-BE49-F238E27FC236}">
                <a16:creationId xmlns:a16="http://schemas.microsoft.com/office/drawing/2014/main" id="{F839144C-67AE-2503-27FC-5CBEFA8FC4E6}"/>
              </a:ext>
            </a:extLst>
          </p:cNvPr>
          <p:cNvSpPr/>
          <p:nvPr/>
        </p:nvSpPr>
        <p:spPr>
          <a:xfrm>
            <a:off x="1752600" y="19812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C262B57-DFF1-107E-0262-A60953AF5A18}"/>
              </a:ext>
            </a:extLst>
          </p:cNvPr>
          <p:cNvSpPr txBox="1"/>
          <p:nvPr/>
        </p:nvSpPr>
        <p:spPr>
          <a:xfrm>
            <a:off x="17526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-12</a:t>
            </a:r>
          </a:p>
        </p:txBody>
      </p:sp>
      <p:sp>
        <p:nvSpPr>
          <p:cNvPr id="12" name="Rectangle 11">
            <a:extLst>
              <a:ext uri="{FF2B5EF4-FFF2-40B4-BE49-F238E27FC236}">
                <a16:creationId xmlns:a16="http://schemas.microsoft.com/office/drawing/2014/main" id="{9E4E1838-A0F5-E4E0-9567-0D1CC9E5A3C4}"/>
              </a:ext>
            </a:extLst>
          </p:cNvPr>
          <p:cNvSpPr/>
          <p:nvPr/>
        </p:nvSpPr>
        <p:spPr>
          <a:xfrm>
            <a:off x="2235200" y="19812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62B06A1-5276-876A-8AE2-FD94BFEAD055}"/>
              </a:ext>
            </a:extLst>
          </p:cNvPr>
          <p:cNvSpPr txBox="1"/>
          <p:nvPr/>
        </p:nvSpPr>
        <p:spPr>
          <a:xfrm>
            <a:off x="22352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4</a:t>
            </a:r>
          </a:p>
        </p:txBody>
      </p:sp>
      <p:sp>
        <p:nvSpPr>
          <p:cNvPr id="14" name="Rectangle 13">
            <a:extLst>
              <a:ext uri="{FF2B5EF4-FFF2-40B4-BE49-F238E27FC236}">
                <a16:creationId xmlns:a16="http://schemas.microsoft.com/office/drawing/2014/main" id="{6E339C89-78F7-CB38-719B-CA34553D361F}"/>
              </a:ext>
            </a:extLst>
          </p:cNvPr>
          <p:cNvSpPr/>
          <p:nvPr/>
        </p:nvSpPr>
        <p:spPr>
          <a:xfrm>
            <a:off x="2717800" y="19812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9F5BF3A-6CD0-8930-EBB5-C655DBB0721A}"/>
              </a:ext>
            </a:extLst>
          </p:cNvPr>
          <p:cNvSpPr txBox="1"/>
          <p:nvPr/>
        </p:nvSpPr>
        <p:spPr>
          <a:xfrm>
            <a:off x="27178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6" name="Rectangle 15">
            <a:extLst>
              <a:ext uri="{FF2B5EF4-FFF2-40B4-BE49-F238E27FC236}">
                <a16:creationId xmlns:a16="http://schemas.microsoft.com/office/drawing/2014/main" id="{8ABAB238-EF97-4F67-BE9F-B00C810B4EA3}"/>
              </a:ext>
            </a:extLst>
          </p:cNvPr>
          <p:cNvSpPr/>
          <p:nvPr/>
        </p:nvSpPr>
        <p:spPr>
          <a:xfrm>
            <a:off x="3200400" y="1981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C1D71BA7-4824-5AB5-FFE5-2F25FE2B0136}"/>
              </a:ext>
            </a:extLst>
          </p:cNvPr>
          <p:cNvSpPr txBox="1"/>
          <p:nvPr/>
        </p:nvSpPr>
        <p:spPr>
          <a:xfrm>
            <a:off x="3200400" y="1993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8" name="Rectangle 17">
            <a:extLst>
              <a:ext uri="{FF2B5EF4-FFF2-40B4-BE49-F238E27FC236}">
                <a16:creationId xmlns:a16="http://schemas.microsoft.com/office/drawing/2014/main" id="{5FE46DDE-BF14-896E-A1CB-5C1CE6C1DC4E}"/>
              </a:ext>
            </a:extLst>
          </p:cNvPr>
          <p:cNvSpPr/>
          <p:nvPr/>
        </p:nvSpPr>
        <p:spPr>
          <a:xfrm>
            <a:off x="3683000" y="1981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56583F6-8492-65AF-148B-F912BF47033F}"/>
              </a:ext>
            </a:extLst>
          </p:cNvPr>
          <p:cNvSpPr txBox="1"/>
          <p:nvPr/>
        </p:nvSpPr>
        <p:spPr>
          <a:xfrm>
            <a:off x="3683000" y="1993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20" name="Rectangle 19">
            <a:extLst>
              <a:ext uri="{FF2B5EF4-FFF2-40B4-BE49-F238E27FC236}">
                <a16:creationId xmlns:a16="http://schemas.microsoft.com/office/drawing/2014/main" id="{EC6B05B6-4AE9-C9E4-8304-183536BA25A9}"/>
              </a:ext>
            </a:extLst>
          </p:cNvPr>
          <p:cNvSpPr/>
          <p:nvPr/>
        </p:nvSpPr>
        <p:spPr>
          <a:xfrm>
            <a:off x="1270000" y="24638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711764A2-BDC8-07B3-5FFC-B60B6F35621D}"/>
              </a:ext>
            </a:extLst>
          </p:cNvPr>
          <p:cNvSpPr txBox="1"/>
          <p:nvPr/>
        </p:nvSpPr>
        <p:spPr>
          <a:xfrm>
            <a:off x="12700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-9</a:t>
            </a:r>
          </a:p>
        </p:txBody>
      </p:sp>
      <p:sp>
        <p:nvSpPr>
          <p:cNvPr id="22" name="Rectangle 21">
            <a:extLst>
              <a:ext uri="{FF2B5EF4-FFF2-40B4-BE49-F238E27FC236}">
                <a16:creationId xmlns:a16="http://schemas.microsoft.com/office/drawing/2014/main" id="{A32F7954-87C0-07C0-F316-8674DFC2A6F1}"/>
              </a:ext>
            </a:extLst>
          </p:cNvPr>
          <p:cNvSpPr/>
          <p:nvPr/>
        </p:nvSpPr>
        <p:spPr>
          <a:xfrm>
            <a:off x="1752600" y="24638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39F924E-1E50-334A-42C0-072E99A3C294}"/>
              </a:ext>
            </a:extLst>
          </p:cNvPr>
          <p:cNvSpPr txBox="1"/>
          <p:nvPr/>
        </p:nvSpPr>
        <p:spPr>
          <a:xfrm>
            <a:off x="17526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5</a:t>
            </a:r>
          </a:p>
        </p:txBody>
      </p:sp>
      <p:sp>
        <p:nvSpPr>
          <p:cNvPr id="24" name="Rectangle 23">
            <a:extLst>
              <a:ext uri="{FF2B5EF4-FFF2-40B4-BE49-F238E27FC236}">
                <a16:creationId xmlns:a16="http://schemas.microsoft.com/office/drawing/2014/main" id="{0EE7F1E1-11A6-70D8-9FAE-C5D4942C6BC2}"/>
              </a:ext>
            </a:extLst>
          </p:cNvPr>
          <p:cNvSpPr/>
          <p:nvPr/>
        </p:nvSpPr>
        <p:spPr>
          <a:xfrm>
            <a:off x="2235200" y="24638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D24F299-F331-642B-6BAA-878292B73C8F}"/>
              </a:ext>
            </a:extLst>
          </p:cNvPr>
          <p:cNvSpPr txBox="1"/>
          <p:nvPr/>
        </p:nvSpPr>
        <p:spPr>
          <a:xfrm>
            <a:off x="22352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26" name="Rectangle 25">
            <a:extLst>
              <a:ext uri="{FF2B5EF4-FFF2-40B4-BE49-F238E27FC236}">
                <a16:creationId xmlns:a16="http://schemas.microsoft.com/office/drawing/2014/main" id="{C383CA85-9E64-C3B7-7473-EB949E064627}"/>
              </a:ext>
            </a:extLst>
          </p:cNvPr>
          <p:cNvSpPr/>
          <p:nvPr/>
        </p:nvSpPr>
        <p:spPr>
          <a:xfrm>
            <a:off x="2717800" y="24638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95D0DAE-DC38-AE87-1A0F-458B7DFACCC9}"/>
              </a:ext>
            </a:extLst>
          </p:cNvPr>
          <p:cNvSpPr txBox="1"/>
          <p:nvPr/>
        </p:nvSpPr>
        <p:spPr>
          <a:xfrm>
            <a:off x="27178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0</a:t>
            </a:r>
          </a:p>
        </p:txBody>
      </p:sp>
      <p:sp>
        <p:nvSpPr>
          <p:cNvPr id="28" name="Rectangle 27">
            <a:extLst>
              <a:ext uri="{FF2B5EF4-FFF2-40B4-BE49-F238E27FC236}">
                <a16:creationId xmlns:a16="http://schemas.microsoft.com/office/drawing/2014/main" id="{598B4850-77F6-71B2-4E2B-6769C6E5495E}"/>
              </a:ext>
            </a:extLst>
          </p:cNvPr>
          <p:cNvSpPr/>
          <p:nvPr/>
        </p:nvSpPr>
        <p:spPr>
          <a:xfrm>
            <a:off x="32004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A4E7AC63-EF12-F18B-349A-990B90F1010C}"/>
              </a:ext>
            </a:extLst>
          </p:cNvPr>
          <p:cNvSpPr txBox="1"/>
          <p:nvPr/>
        </p:nvSpPr>
        <p:spPr>
          <a:xfrm>
            <a:off x="32004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30" name="Rectangle 29">
            <a:extLst>
              <a:ext uri="{FF2B5EF4-FFF2-40B4-BE49-F238E27FC236}">
                <a16:creationId xmlns:a16="http://schemas.microsoft.com/office/drawing/2014/main" id="{9AFAD979-3345-A303-0DD1-48095DF9E1EE}"/>
              </a:ext>
            </a:extLst>
          </p:cNvPr>
          <p:cNvSpPr/>
          <p:nvPr/>
        </p:nvSpPr>
        <p:spPr>
          <a:xfrm>
            <a:off x="36830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6C15EE2C-EC98-D1F7-6CE3-6B3BE64400C9}"/>
              </a:ext>
            </a:extLst>
          </p:cNvPr>
          <p:cNvSpPr txBox="1"/>
          <p:nvPr/>
        </p:nvSpPr>
        <p:spPr>
          <a:xfrm>
            <a:off x="36830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32" name="Rectangle 31">
            <a:extLst>
              <a:ext uri="{FF2B5EF4-FFF2-40B4-BE49-F238E27FC236}">
                <a16:creationId xmlns:a16="http://schemas.microsoft.com/office/drawing/2014/main" id="{80EEA813-36CB-CF5F-135E-5875D9AC21BE}"/>
              </a:ext>
            </a:extLst>
          </p:cNvPr>
          <p:cNvSpPr/>
          <p:nvPr/>
        </p:nvSpPr>
        <p:spPr>
          <a:xfrm>
            <a:off x="1270000" y="29464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5831EFEB-B62F-2B6F-9CB7-F166F53129A9}"/>
              </a:ext>
            </a:extLst>
          </p:cNvPr>
          <p:cNvSpPr txBox="1"/>
          <p:nvPr/>
        </p:nvSpPr>
        <p:spPr>
          <a:xfrm>
            <a:off x="1270000" y="29591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34" name="Rectangle 33">
            <a:extLst>
              <a:ext uri="{FF2B5EF4-FFF2-40B4-BE49-F238E27FC236}">
                <a16:creationId xmlns:a16="http://schemas.microsoft.com/office/drawing/2014/main" id="{2C389A28-F624-B381-90C0-1A43CFB52FF8}"/>
              </a:ext>
            </a:extLst>
          </p:cNvPr>
          <p:cNvSpPr/>
          <p:nvPr/>
        </p:nvSpPr>
        <p:spPr>
          <a:xfrm>
            <a:off x="1752600" y="29464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670E31F6-0970-66A3-D3DB-141AA79F2897}"/>
              </a:ext>
            </a:extLst>
          </p:cNvPr>
          <p:cNvSpPr txBox="1"/>
          <p:nvPr/>
        </p:nvSpPr>
        <p:spPr>
          <a:xfrm>
            <a:off x="1752600" y="29591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36" name="Rectangle 35">
            <a:extLst>
              <a:ext uri="{FF2B5EF4-FFF2-40B4-BE49-F238E27FC236}">
                <a16:creationId xmlns:a16="http://schemas.microsoft.com/office/drawing/2014/main" id="{E1FF4027-49FC-A94B-C4A1-7EE9C9B24A7B}"/>
              </a:ext>
            </a:extLst>
          </p:cNvPr>
          <p:cNvSpPr/>
          <p:nvPr/>
        </p:nvSpPr>
        <p:spPr>
          <a:xfrm>
            <a:off x="2235200" y="29464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FBD11D95-D2F5-1FB9-D64E-D637AC38DE3E}"/>
              </a:ext>
            </a:extLst>
          </p:cNvPr>
          <p:cNvSpPr txBox="1"/>
          <p:nvPr/>
        </p:nvSpPr>
        <p:spPr>
          <a:xfrm>
            <a:off x="2235200" y="29591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38" name="Rectangle 37">
            <a:extLst>
              <a:ext uri="{FF2B5EF4-FFF2-40B4-BE49-F238E27FC236}">
                <a16:creationId xmlns:a16="http://schemas.microsoft.com/office/drawing/2014/main" id="{FDD86B11-787B-C5D3-28E4-8E3C5A1EDD9E}"/>
              </a:ext>
            </a:extLst>
          </p:cNvPr>
          <p:cNvSpPr/>
          <p:nvPr/>
        </p:nvSpPr>
        <p:spPr>
          <a:xfrm>
            <a:off x="27178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F62131E2-E05E-0D1F-BCCD-9AEE8B01A97C}"/>
              </a:ext>
            </a:extLst>
          </p:cNvPr>
          <p:cNvSpPr txBox="1"/>
          <p:nvPr/>
        </p:nvSpPr>
        <p:spPr>
          <a:xfrm>
            <a:off x="27178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40" name="Rectangle 39">
            <a:extLst>
              <a:ext uri="{FF2B5EF4-FFF2-40B4-BE49-F238E27FC236}">
                <a16:creationId xmlns:a16="http://schemas.microsoft.com/office/drawing/2014/main" id="{C21FB3F0-3B53-7A16-E4A2-CBCDF6E7529C}"/>
              </a:ext>
            </a:extLst>
          </p:cNvPr>
          <p:cNvSpPr/>
          <p:nvPr/>
        </p:nvSpPr>
        <p:spPr>
          <a:xfrm>
            <a:off x="32004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747C51B7-555D-F35A-A53B-A88B429BD232}"/>
              </a:ext>
            </a:extLst>
          </p:cNvPr>
          <p:cNvSpPr txBox="1"/>
          <p:nvPr/>
        </p:nvSpPr>
        <p:spPr>
          <a:xfrm>
            <a:off x="32004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42" name="Rectangle 41">
            <a:extLst>
              <a:ext uri="{FF2B5EF4-FFF2-40B4-BE49-F238E27FC236}">
                <a16:creationId xmlns:a16="http://schemas.microsoft.com/office/drawing/2014/main" id="{E8AB04A5-BC4D-5053-049D-9333DC6F56ED}"/>
              </a:ext>
            </a:extLst>
          </p:cNvPr>
          <p:cNvSpPr/>
          <p:nvPr/>
        </p:nvSpPr>
        <p:spPr>
          <a:xfrm>
            <a:off x="36830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8125F71F-21DC-66FD-0164-742D0AF176FA}"/>
              </a:ext>
            </a:extLst>
          </p:cNvPr>
          <p:cNvSpPr txBox="1"/>
          <p:nvPr/>
        </p:nvSpPr>
        <p:spPr>
          <a:xfrm>
            <a:off x="36830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44" name="Rectangle 43">
            <a:extLst>
              <a:ext uri="{FF2B5EF4-FFF2-40B4-BE49-F238E27FC236}">
                <a16:creationId xmlns:a16="http://schemas.microsoft.com/office/drawing/2014/main" id="{E5C7147B-C198-C735-FF23-1C04651F82AD}"/>
              </a:ext>
            </a:extLst>
          </p:cNvPr>
          <p:cNvSpPr/>
          <p:nvPr/>
        </p:nvSpPr>
        <p:spPr>
          <a:xfrm>
            <a:off x="1270000" y="34290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E3B733D7-27F0-5AFF-C906-40290BCE02AF}"/>
              </a:ext>
            </a:extLst>
          </p:cNvPr>
          <p:cNvSpPr txBox="1"/>
          <p:nvPr/>
        </p:nvSpPr>
        <p:spPr>
          <a:xfrm>
            <a:off x="1270000" y="34417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46" name="Rectangle 45">
            <a:extLst>
              <a:ext uri="{FF2B5EF4-FFF2-40B4-BE49-F238E27FC236}">
                <a16:creationId xmlns:a16="http://schemas.microsoft.com/office/drawing/2014/main" id="{1878191A-1F9F-C65C-E627-EE1576D6CA83}"/>
              </a:ext>
            </a:extLst>
          </p:cNvPr>
          <p:cNvSpPr/>
          <p:nvPr/>
        </p:nvSpPr>
        <p:spPr>
          <a:xfrm>
            <a:off x="1752600" y="3429000"/>
            <a:ext cx="482600" cy="482600"/>
          </a:xfrm>
          <a:prstGeom prst="rect">
            <a:avLst/>
          </a:prstGeom>
          <a:solidFill>
            <a:srgbClr val="071E35"/>
          </a:solidFill>
          <a:ln w="76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239FA6CD-0A71-7F5B-CF89-7A05ECE0E372}"/>
              </a:ext>
            </a:extLst>
          </p:cNvPr>
          <p:cNvSpPr txBox="1"/>
          <p:nvPr/>
        </p:nvSpPr>
        <p:spPr>
          <a:xfrm>
            <a:off x="1752600" y="34417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0</a:t>
            </a:r>
          </a:p>
        </p:txBody>
      </p:sp>
      <p:sp>
        <p:nvSpPr>
          <p:cNvPr id="48" name="Rectangle 47">
            <a:extLst>
              <a:ext uri="{FF2B5EF4-FFF2-40B4-BE49-F238E27FC236}">
                <a16:creationId xmlns:a16="http://schemas.microsoft.com/office/drawing/2014/main" id="{360331A3-C28A-AB35-8B57-1BBBF98206DD}"/>
              </a:ext>
            </a:extLst>
          </p:cNvPr>
          <p:cNvSpPr/>
          <p:nvPr/>
        </p:nvSpPr>
        <p:spPr>
          <a:xfrm>
            <a:off x="22352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4554C379-D4D9-DE6E-EC7D-3FF8F30AAF78}"/>
              </a:ext>
            </a:extLst>
          </p:cNvPr>
          <p:cNvSpPr txBox="1"/>
          <p:nvPr/>
        </p:nvSpPr>
        <p:spPr>
          <a:xfrm>
            <a:off x="22352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0" name="Rectangle 49">
            <a:extLst>
              <a:ext uri="{FF2B5EF4-FFF2-40B4-BE49-F238E27FC236}">
                <a16:creationId xmlns:a16="http://schemas.microsoft.com/office/drawing/2014/main" id="{1C93AE43-D1F3-FFC3-A387-754FFC19D06E}"/>
              </a:ext>
            </a:extLst>
          </p:cNvPr>
          <p:cNvSpPr/>
          <p:nvPr/>
        </p:nvSpPr>
        <p:spPr>
          <a:xfrm>
            <a:off x="27178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4FBB7FB1-4AF9-04DB-926E-F89613398364}"/>
              </a:ext>
            </a:extLst>
          </p:cNvPr>
          <p:cNvSpPr txBox="1"/>
          <p:nvPr/>
        </p:nvSpPr>
        <p:spPr>
          <a:xfrm>
            <a:off x="27178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2" name="Rectangle 51">
            <a:extLst>
              <a:ext uri="{FF2B5EF4-FFF2-40B4-BE49-F238E27FC236}">
                <a16:creationId xmlns:a16="http://schemas.microsoft.com/office/drawing/2014/main" id="{8E50F268-ED46-91EC-0113-C6118D3DC573}"/>
              </a:ext>
            </a:extLst>
          </p:cNvPr>
          <p:cNvSpPr/>
          <p:nvPr/>
        </p:nvSpPr>
        <p:spPr>
          <a:xfrm>
            <a:off x="32004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a:extLst>
              <a:ext uri="{FF2B5EF4-FFF2-40B4-BE49-F238E27FC236}">
                <a16:creationId xmlns:a16="http://schemas.microsoft.com/office/drawing/2014/main" id="{9DBF323A-EBAD-21DF-6307-02A7227E2421}"/>
              </a:ext>
            </a:extLst>
          </p:cNvPr>
          <p:cNvSpPr txBox="1"/>
          <p:nvPr/>
        </p:nvSpPr>
        <p:spPr>
          <a:xfrm>
            <a:off x="32004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4" name="Rectangle 53">
            <a:extLst>
              <a:ext uri="{FF2B5EF4-FFF2-40B4-BE49-F238E27FC236}">
                <a16:creationId xmlns:a16="http://schemas.microsoft.com/office/drawing/2014/main" id="{0D7F756C-5B97-B751-6094-F175B4ED007F}"/>
              </a:ext>
            </a:extLst>
          </p:cNvPr>
          <p:cNvSpPr/>
          <p:nvPr/>
        </p:nvSpPr>
        <p:spPr>
          <a:xfrm>
            <a:off x="36830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C791962E-8925-6A49-49AE-2CCD2428C856}"/>
              </a:ext>
            </a:extLst>
          </p:cNvPr>
          <p:cNvSpPr txBox="1"/>
          <p:nvPr/>
        </p:nvSpPr>
        <p:spPr>
          <a:xfrm>
            <a:off x="36830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6" name="Rectangle 55">
            <a:extLst>
              <a:ext uri="{FF2B5EF4-FFF2-40B4-BE49-F238E27FC236}">
                <a16:creationId xmlns:a16="http://schemas.microsoft.com/office/drawing/2014/main" id="{3A3DC7EB-04C6-7A25-BD19-E7726F32EF86}"/>
              </a:ext>
            </a:extLst>
          </p:cNvPr>
          <p:cNvSpPr/>
          <p:nvPr/>
        </p:nvSpPr>
        <p:spPr>
          <a:xfrm>
            <a:off x="12700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835F1C7D-9640-335D-8099-371818369232}"/>
              </a:ext>
            </a:extLst>
          </p:cNvPr>
          <p:cNvSpPr txBox="1"/>
          <p:nvPr/>
        </p:nvSpPr>
        <p:spPr>
          <a:xfrm>
            <a:off x="12700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58" name="Rectangle 57">
            <a:extLst>
              <a:ext uri="{FF2B5EF4-FFF2-40B4-BE49-F238E27FC236}">
                <a16:creationId xmlns:a16="http://schemas.microsoft.com/office/drawing/2014/main" id="{E8AD67A4-F03E-FA8E-A321-9B7E81434BB0}"/>
              </a:ext>
            </a:extLst>
          </p:cNvPr>
          <p:cNvSpPr/>
          <p:nvPr/>
        </p:nvSpPr>
        <p:spPr>
          <a:xfrm>
            <a:off x="17526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33BE9C3E-9569-1196-CEAB-68254EBFAFAA}"/>
              </a:ext>
            </a:extLst>
          </p:cNvPr>
          <p:cNvSpPr txBox="1"/>
          <p:nvPr/>
        </p:nvSpPr>
        <p:spPr>
          <a:xfrm>
            <a:off x="17526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60" name="Rectangle 59">
            <a:extLst>
              <a:ext uri="{FF2B5EF4-FFF2-40B4-BE49-F238E27FC236}">
                <a16:creationId xmlns:a16="http://schemas.microsoft.com/office/drawing/2014/main" id="{B466DD6B-B0AD-719E-0C40-2A1DF02A34DD}"/>
              </a:ext>
            </a:extLst>
          </p:cNvPr>
          <p:cNvSpPr/>
          <p:nvPr/>
        </p:nvSpPr>
        <p:spPr>
          <a:xfrm>
            <a:off x="22352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A13B0DAE-3A86-FCD4-546B-452CDEF2221B}"/>
              </a:ext>
            </a:extLst>
          </p:cNvPr>
          <p:cNvSpPr txBox="1"/>
          <p:nvPr/>
        </p:nvSpPr>
        <p:spPr>
          <a:xfrm>
            <a:off x="22352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62" name="Rectangle 61">
            <a:extLst>
              <a:ext uri="{FF2B5EF4-FFF2-40B4-BE49-F238E27FC236}">
                <a16:creationId xmlns:a16="http://schemas.microsoft.com/office/drawing/2014/main" id="{1FAB01E1-5B16-A371-365B-6C0A2234272B}"/>
              </a:ext>
            </a:extLst>
          </p:cNvPr>
          <p:cNvSpPr/>
          <p:nvPr/>
        </p:nvSpPr>
        <p:spPr>
          <a:xfrm>
            <a:off x="27178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6C84E5B4-517F-7915-C4B5-759999762F28}"/>
              </a:ext>
            </a:extLst>
          </p:cNvPr>
          <p:cNvSpPr txBox="1"/>
          <p:nvPr/>
        </p:nvSpPr>
        <p:spPr>
          <a:xfrm>
            <a:off x="27178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64" name="Rectangle 63">
            <a:extLst>
              <a:ext uri="{FF2B5EF4-FFF2-40B4-BE49-F238E27FC236}">
                <a16:creationId xmlns:a16="http://schemas.microsoft.com/office/drawing/2014/main" id="{49BB2519-C0FE-42F4-9EF8-D60F134B66AC}"/>
              </a:ext>
            </a:extLst>
          </p:cNvPr>
          <p:cNvSpPr/>
          <p:nvPr/>
        </p:nvSpPr>
        <p:spPr>
          <a:xfrm>
            <a:off x="32004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FC4D6FEC-E410-5DF5-9584-4124D9F5E2B4}"/>
              </a:ext>
            </a:extLst>
          </p:cNvPr>
          <p:cNvSpPr txBox="1"/>
          <p:nvPr/>
        </p:nvSpPr>
        <p:spPr>
          <a:xfrm>
            <a:off x="32004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66" name="Rectangle 65">
            <a:extLst>
              <a:ext uri="{FF2B5EF4-FFF2-40B4-BE49-F238E27FC236}">
                <a16:creationId xmlns:a16="http://schemas.microsoft.com/office/drawing/2014/main" id="{AD0B9752-72A8-F3C7-9953-8C3129006789}"/>
              </a:ext>
            </a:extLst>
          </p:cNvPr>
          <p:cNvSpPr/>
          <p:nvPr/>
        </p:nvSpPr>
        <p:spPr>
          <a:xfrm>
            <a:off x="36830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1DD57B43-5F78-0057-62A9-71FCE7BBDBA0}"/>
              </a:ext>
            </a:extLst>
          </p:cNvPr>
          <p:cNvSpPr txBox="1"/>
          <p:nvPr/>
        </p:nvSpPr>
        <p:spPr>
          <a:xfrm>
            <a:off x="36830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68" name="Rectangle 67">
            <a:extLst>
              <a:ext uri="{FF2B5EF4-FFF2-40B4-BE49-F238E27FC236}">
                <a16:creationId xmlns:a16="http://schemas.microsoft.com/office/drawing/2014/main" id="{EDD72CD9-B8FA-BA4B-88CF-AD1F04FE77D6}"/>
              </a:ext>
            </a:extLst>
          </p:cNvPr>
          <p:cNvSpPr/>
          <p:nvPr/>
        </p:nvSpPr>
        <p:spPr>
          <a:xfrm>
            <a:off x="12700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5CD96EBA-9149-0C99-645A-50617DF8BE94}"/>
              </a:ext>
            </a:extLst>
          </p:cNvPr>
          <p:cNvSpPr txBox="1"/>
          <p:nvPr/>
        </p:nvSpPr>
        <p:spPr>
          <a:xfrm>
            <a:off x="12700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0" name="Rectangle 69">
            <a:extLst>
              <a:ext uri="{FF2B5EF4-FFF2-40B4-BE49-F238E27FC236}">
                <a16:creationId xmlns:a16="http://schemas.microsoft.com/office/drawing/2014/main" id="{12C8D3CA-A68A-321A-403D-59E826A64722}"/>
              </a:ext>
            </a:extLst>
          </p:cNvPr>
          <p:cNvSpPr/>
          <p:nvPr/>
        </p:nvSpPr>
        <p:spPr>
          <a:xfrm>
            <a:off x="17526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Box 70">
            <a:extLst>
              <a:ext uri="{FF2B5EF4-FFF2-40B4-BE49-F238E27FC236}">
                <a16:creationId xmlns:a16="http://schemas.microsoft.com/office/drawing/2014/main" id="{3F4CB2DA-22ED-FB77-5E8B-5803FC8E3413}"/>
              </a:ext>
            </a:extLst>
          </p:cNvPr>
          <p:cNvSpPr txBox="1"/>
          <p:nvPr/>
        </p:nvSpPr>
        <p:spPr>
          <a:xfrm>
            <a:off x="17526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2" name="Rectangle 71">
            <a:extLst>
              <a:ext uri="{FF2B5EF4-FFF2-40B4-BE49-F238E27FC236}">
                <a16:creationId xmlns:a16="http://schemas.microsoft.com/office/drawing/2014/main" id="{309C1A10-904B-8483-F321-3A2D3C0C5843}"/>
              </a:ext>
            </a:extLst>
          </p:cNvPr>
          <p:cNvSpPr/>
          <p:nvPr/>
        </p:nvSpPr>
        <p:spPr>
          <a:xfrm>
            <a:off x="22352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a:extLst>
              <a:ext uri="{FF2B5EF4-FFF2-40B4-BE49-F238E27FC236}">
                <a16:creationId xmlns:a16="http://schemas.microsoft.com/office/drawing/2014/main" id="{71D97390-B34F-C573-4F75-E4164702B83B}"/>
              </a:ext>
            </a:extLst>
          </p:cNvPr>
          <p:cNvSpPr txBox="1"/>
          <p:nvPr/>
        </p:nvSpPr>
        <p:spPr>
          <a:xfrm>
            <a:off x="22352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4" name="Rectangle 73">
            <a:extLst>
              <a:ext uri="{FF2B5EF4-FFF2-40B4-BE49-F238E27FC236}">
                <a16:creationId xmlns:a16="http://schemas.microsoft.com/office/drawing/2014/main" id="{863EAFD4-FB54-48F8-4C59-31C37BC9E567}"/>
              </a:ext>
            </a:extLst>
          </p:cNvPr>
          <p:cNvSpPr/>
          <p:nvPr/>
        </p:nvSpPr>
        <p:spPr>
          <a:xfrm>
            <a:off x="27178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Box 74">
            <a:extLst>
              <a:ext uri="{FF2B5EF4-FFF2-40B4-BE49-F238E27FC236}">
                <a16:creationId xmlns:a16="http://schemas.microsoft.com/office/drawing/2014/main" id="{A8BB5079-C009-8CBF-542B-453F2093A234}"/>
              </a:ext>
            </a:extLst>
          </p:cNvPr>
          <p:cNvSpPr txBox="1"/>
          <p:nvPr/>
        </p:nvSpPr>
        <p:spPr>
          <a:xfrm>
            <a:off x="27178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6" name="Rectangle 75">
            <a:extLst>
              <a:ext uri="{FF2B5EF4-FFF2-40B4-BE49-F238E27FC236}">
                <a16:creationId xmlns:a16="http://schemas.microsoft.com/office/drawing/2014/main" id="{2B87176D-0C85-D664-4B29-36C39E63921E}"/>
              </a:ext>
            </a:extLst>
          </p:cNvPr>
          <p:cNvSpPr/>
          <p:nvPr/>
        </p:nvSpPr>
        <p:spPr>
          <a:xfrm>
            <a:off x="32004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Box 76">
            <a:extLst>
              <a:ext uri="{FF2B5EF4-FFF2-40B4-BE49-F238E27FC236}">
                <a16:creationId xmlns:a16="http://schemas.microsoft.com/office/drawing/2014/main" id="{D33696C5-C094-3F08-B0F0-BF405A3B7C76}"/>
              </a:ext>
            </a:extLst>
          </p:cNvPr>
          <p:cNvSpPr txBox="1"/>
          <p:nvPr/>
        </p:nvSpPr>
        <p:spPr>
          <a:xfrm>
            <a:off x="32004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78" name="Rectangle 77">
            <a:extLst>
              <a:ext uri="{FF2B5EF4-FFF2-40B4-BE49-F238E27FC236}">
                <a16:creationId xmlns:a16="http://schemas.microsoft.com/office/drawing/2014/main" id="{BB553C7F-9564-73D1-7C21-EF974EC9F6D2}"/>
              </a:ext>
            </a:extLst>
          </p:cNvPr>
          <p:cNvSpPr/>
          <p:nvPr/>
        </p:nvSpPr>
        <p:spPr>
          <a:xfrm>
            <a:off x="36830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TextBox 78">
            <a:extLst>
              <a:ext uri="{FF2B5EF4-FFF2-40B4-BE49-F238E27FC236}">
                <a16:creationId xmlns:a16="http://schemas.microsoft.com/office/drawing/2014/main" id="{FE663CA4-1650-7550-B714-093E22CA7A3A}"/>
              </a:ext>
            </a:extLst>
          </p:cNvPr>
          <p:cNvSpPr txBox="1"/>
          <p:nvPr/>
        </p:nvSpPr>
        <p:spPr>
          <a:xfrm>
            <a:off x="36830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cxnSp>
        <p:nvCxnSpPr>
          <p:cNvPr id="80" name="Straight Connector 79">
            <a:extLst>
              <a:ext uri="{FF2B5EF4-FFF2-40B4-BE49-F238E27FC236}">
                <a16:creationId xmlns:a16="http://schemas.microsoft.com/office/drawing/2014/main" id="{B2247DA3-F94F-8C39-1BBC-D850F3A5653E}"/>
              </a:ext>
            </a:extLst>
          </p:cNvPr>
          <p:cNvCxnSpPr/>
          <p:nvPr/>
        </p:nvCxnSpPr>
        <p:spPr>
          <a:xfrm>
            <a:off x="4597400" y="3429000"/>
            <a:ext cx="1676400" cy="0"/>
          </a:xfrm>
          <a:prstGeom prst="line">
            <a:avLst/>
          </a:prstGeom>
          <a:ln w="38100">
            <a:solidFill>
              <a:srgbClr val="FFB454"/>
            </a:solidFill>
            <a:tailEnd type="arrow"/>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A6259BC2-5828-5D13-EA20-FA27BD286CD5}"/>
              </a:ext>
            </a:extLst>
          </p:cNvPr>
          <p:cNvSpPr txBox="1"/>
          <p:nvPr/>
        </p:nvSpPr>
        <p:spPr>
          <a:xfrm>
            <a:off x="4699000" y="2921000"/>
            <a:ext cx="1473200" cy="276999"/>
          </a:xfrm>
          <a:prstGeom prst="rect">
            <a:avLst/>
          </a:prstGeom>
          <a:noFill/>
        </p:spPr>
        <p:txBody>
          <a:bodyPr vert="horz" wrap="square" lIns="0" tIns="0" rIns="0" bIns="0" rtlCol="0">
            <a:noAutofit/>
          </a:bodyPr>
          <a:lstStyle/>
          <a:p>
            <a:pPr algn="ctr"/>
            <a:r>
              <a:rPr lang="en-IN" sz="1600" b="1">
                <a:solidFill>
                  <a:srgbClr val="FFB454"/>
                </a:solidFill>
                <a:latin typeface="Aptos" panose="020B0004020202020204" pitchFamily="34" charset="0"/>
              </a:rPr>
              <a:t>÷ step + round</a:t>
            </a:r>
          </a:p>
        </p:txBody>
      </p:sp>
      <p:sp>
        <p:nvSpPr>
          <p:cNvPr id="82" name="TextBox 81">
            <a:extLst>
              <a:ext uri="{FF2B5EF4-FFF2-40B4-BE49-F238E27FC236}">
                <a16:creationId xmlns:a16="http://schemas.microsoft.com/office/drawing/2014/main" id="{2E170627-73C4-3562-E9C9-F7C66DFDDE91}"/>
              </a:ext>
            </a:extLst>
          </p:cNvPr>
          <p:cNvSpPr txBox="1"/>
          <p:nvPr/>
        </p:nvSpPr>
        <p:spPr>
          <a:xfrm>
            <a:off x="6553200" y="1422400"/>
            <a:ext cx="4191000" cy="276999"/>
          </a:xfrm>
          <a:prstGeom prst="rect">
            <a:avLst/>
          </a:prstGeom>
          <a:noFill/>
        </p:spPr>
        <p:txBody>
          <a:bodyPr vert="horz" wrap="square" lIns="0" tIns="0" rIns="0" bIns="0" rtlCol="0">
            <a:noAutofit/>
          </a:bodyPr>
          <a:lstStyle/>
          <a:p>
            <a:pPr algn="ctr"/>
            <a:r>
              <a:rPr lang="en-IN" sz="1900" b="1">
                <a:solidFill>
                  <a:srgbClr val="1A8BFF"/>
                </a:solidFill>
                <a:latin typeface="Aptos Display" panose="020B0004020202020204" pitchFamily="34" charset="0"/>
              </a:rPr>
              <a:t>Quantized coefficients</a:t>
            </a:r>
          </a:p>
        </p:txBody>
      </p:sp>
      <p:sp>
        <p:nvSpPr>
          <p:cNvPr id="83" name="Rectangle 82">
            <a:extLst>
              <a:ext uri="{FF2B5EF4-FFF2-40B4-BE49-F238E27FC236}">
                <a16:creationId xmlns:a16="http://schemas.microsoft.com/office/drawing/2014/main" id="{A5EFC69D-586A-7BA2-9637-F0598A11FB4A}"/>
              </a:ext>
            </a:extLst>
          </p:cNvPr>
          <p:cNvSpPr/>
          <p:nvPr/>
        </p:nvSpPr>
        <p:spPr>
          <a:xfrm>
            <a:off x="7188200" y="19812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TextBox 83">
            <a:extLst>
              <a:ext uri="{FF2B5EF4-FFF2-40B4-BE49-F238E27FC236}">
                <a16:creationId xmlns:a16="http://schemas.microsoft.com/office/drawing/2014/main" id="{97209155-8FA8-7C57-4695-10706B425937}"/>
              </a:ext>
            </a:extLst>
          </p:cNvPr>
          <p:cNvSpPr txBox="1"/>
          <p:nvPr/>
        </p:nvSpPr>
        <p:spPr>
          <a:xfrm>
            <a:off x="71882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10</a:t>
            </a:r>
          </a:p>
        </p:txBody>
      </p:sp>
      <p:sp>
        <p:nvSpPr>
          <p:cNvPr id="85" name="Rectangle 84">
            <a:extLst>
              <a:ext uri="{FF2B5EF4-FFF2-40B4-BE49-F238E27FC236}">
                <a16:creationId xmlns:a16="http://schemas.microsoft.com/office/drawing/2014/main" id="{CE683202-3162-1D7E-8727-F7C6BBC6F42F}"/>
              </a:ext>
            </a:extLst>
          </p:cNvPr>
          <p:cNvSpPr/>
          <p:nvPr/>
        </p:nvSpPr>
        <p:spPr>
          <a:xfrm>
            <a:off x="7670800" y="19812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TextBox 85">
            <a:extLst>
              <a:ext uri="{FF2B5EF4-FFF2-40B4-BE49-F238E27FC236}">
                <a16:creationId xmlns:a16="http://schemas.microsoft.com/office/drawing/2014/main" id="{86ABB56F-A0E6-2171-EDFE-61B18AC143E4}"/>
              </a:ext>
            </a:extLst>
          </p:cNvPr>
          <p:cNvSpPr txBox="1"/>
          <p:nvPr/>
        </p:nvSpPr>
        <p:spPr>
          <a:xfrm>
            <a:off x="76708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-3</a:t>
            </a:r>
          </a:p>
        </p:txBody>
      </p:sp>
      <p:sp>
        <p:nvSpPr>
          <p:cNvPr id="87" name="Rectangle 86">
            <a:extLst>
              <a:ext uri="{FF2B5EF4-FFF2-40B4-BE49-F238E27FC236}">
                <a16:creationId xmlns:a16="http://schemas.microsoft.com/office/drawing/2014/main" id="{0A481714-C80A-06A7-56E5-963F95BEB945}"/>
              </a:ext>
            </a:extLst>
          </p:cNvPr>
          <p:cNvSpPr/>
          <p:nvPr/>
        </p:nvSpPr>
        <p:spPr>
          <a:xfrm>
            <a:off x="8153400" y="19812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TextBox 87">
            <a:extLst>
              <a:ext uri="{FF2B5EF4-FFF2-40B4-BE49-F238E27FC236}">
                <a16:creationId xmlns:a16="http://schemas.microsoft.com/office/drawing/2014/main" id="{A43E64DD-7A98-5AA9-2410-FF415D8DF36A}"/>
              </a:ext>
            </a:extLst>
          </p:cNvPr>
          <p:cNvSpPr txBox="1"/>
          <p:nvPr/>
        </p:nvSpPr>
        <p:spPr>
          <a:xfrm>
            <a:off x="8153400" y="19939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89" name="Rectangle 88">
            <a:extLst>
              <a:ext uri="{FF2B5EF4-FFF2-40B4-BE49-F238E27FC236}">
                <a16:creationId xmlns:a16="http://schemas.microsoft.com/office/drawing/2014/main" id="{F8E86F6E-77E3-145D-4B96-F089C1E28012}"/>
              </a:ext>
            </a:extLst>
          </p:cNvPr>
          <p:cNvSpPr/>
          <p:nvPr/>
        </p:nvSpPr>
        <p:spPr>
          <a:xfrm>
            <a:off x="8636000" y="1981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TextBox 89">
            <a:extLst>
              <a:ext uri="{FF2B5EF4-FFF2-40B4-BE49-F238E27FC236}">
                <a16:creationId xmlns:a16="http://schemas.microsoft.com/office/drawing/2014/main" id="{02CEE283-A615-BCFA-FF70-C8D12BA09C18}"/>
              </a:ext>
            </a:extLst>
          </p:cNvPr>
          <p:cNvSpPr txBox="1"/>
          <p:nvPr/>
        </p:nvSpPr>
        <p:spPr>
          <a:xfrm>
            <a:off x="8636000" y="1993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91" name="Rectangle 90">
            <a:extLst>
              <a:ext uri="{FF2B5EF4-FFF2-40B4-BE49-F238E27FC236}">
                <a16:creationId xmlns:a16="http://schemas.microsoft.com/office/drawing/2014/main" id="{A73D62D2-C112-7D68-AC9A-C8B64E8AC6CC}"/>
              </a:ext>
            </a:extLst>
          </p:cNvPr>
          <p:cNvSpPr/>
          <p:nvPr/>
        </p:nvSpPr>
        <p:spPr>
          <a:xfrm>
            <a:off x="9118600" y="1981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451B5E58-5CC7-E9B2-F1C2-E7D9716DE7F0}"/>
              </a:ext>
            </a:extLst>
          </p:cNvPr>
          <p:cNvSpPr txBox="1"/>
          <p:nvPr/>
        </p:nvSpPr>
        <p:spPr>
          <a:xfrm>
            <a:off x="9118600" y="1993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93" name="Rectangle 92">
            <a:extLst>
              <a:ext uri="{FF2B5EF4-FFF2-40B4-BE49-F238E27FC236}">
                <a16:creationId xmlns:a16="http://schemas.microsoft.com/office/drawing/2014/main" id="{3BBC1DD5-29F0-726A-42DF-80223EF61303}"/>
              </a:ext>
            </a:extLst>
          </p:cNvPr>
          <p:cNvSpPr/>
          <p:nvPr/>
        </p:nvSpPr>
        <p:spPr>
          <a:xfrm>
            <a:off x="9601200" y="1981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a:extLst>
              <a:ext uri="{FF2B5EF4-FFF2-40B4-BE49-F238E27FC236}">
                <a16:creationId xmlns:a16="http://schemas.microsoft.com/office/drawing/2014/main" id="{2A08022B-DC08-BD40-C425-72FA8F890DCB}"/>
              </a:ext>
            </a:extLst>
          </p:cNvPr>
          <p:cNvSpPr txBox="1"/>
          <p:nvPr/>
        </p:nvSpPr>
        <p:spPr>
          <a:xfrm>
            <a:off x="9601200" y="1993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95" name="Rectangle 94">
            <a:extLst>
              <a:ext uri="{FF2B5EF4-FFF2-40B4-BE49-F238E27FC236}">
                <a16:creationId xmlns:a16="http://schemas.microsoft.com/office/drawing/2014/main" id="{C7CB7333-B4AF-17CD-F43F-6CA699FCC170}"/>
              </a:ext>
            </a:extLst>
          </p:cNvPr>
          <p:cNvSpPr/>
          <p:nvPr/>
        </p:nvSpPr>
        <p:spPr>
          <a:xfrm>
            <a:off x="7188200" y="24638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TextBox 95">
            <a:extLst>
              <a:ext uri="{FF2B5EF4-FFF2-40B4-BE49-F238E27FC236}">
                <a16:creationId xmlns:a16="http://schemas.microsoft.com/office/drawing/2014/main" id="{A5483817-867C-CA05-1AF9-BE7005ACBB56}"/>
              </a:ext>
            </a:extLst>
          </p:cNvPr>
          <p:cNvSpPr txBox="1"/>
          <p:nvPr/>
        </p:nvSpPr>
        <p:spPr>
          <a:xfrm>
            <a:off x="71882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-2</a:t>
            </a:r>
          </a:p>
        </p:txBody>
      </p:sp>
      <p:sp>
        <p:nvSpPr>
          <p:cNvPr id="97" name="Rectangle 96">
            <a:extLst>
              <a:ext uri="{FF2B5EF4-FFF2-40B4-BE49-F238E27FC236}">
                <a16:creationId xmlns:a16="http://schemas.microsoft.com/office/drawing/2014/main" id="{E73E24EF-9D9C-721B-FC9F-259103558874}"/>
              </a:ext>
            </a:extLst>
          </p:cNvPr>
          <p:cNvSpPr/>
          <p:nvPr/>
        </p:nvSpPr>
        <p:spPr>
          <a:xfrm>
            <a:off x="7670800" y="24638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TextBox 97">
            <a:extLst>
              <a:ext uri="{FF2B5EF4-FFF2-40B4-BE49-F238E27FC236}">
                <a16:creationId xmlns:a16="http://schemas.microsoft.com/office/drawing/2014/main" id="{0F24C7E0-DFF8-80D6-AFC6-919ADBC69B22}"/>
              </a:ext>
            </a:extLst>
          </p:cNvPr>
          <p:cNvSpPr txBox="1"/>
          <p:nvPr/>
        </p:nvSpPr>
        <p:spPr>
          <a:xfrm>
            <a:off x="7670800" y="24765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99" name="Rectangle 98">
            <a:extLst>
              <a:ext uri="{FF2B5EF4-FFF2-40B4-BE49-F238E27FC236}">
                <a16:creationId xmlns:a16="http://schemas.microsoft.com/office/drawing/2014/main" id="{D2427AC6-C249-B639-95DC-79C4B6DF51B2}"/>
              </a:ext>
            </a:extLst>
          </p:cNvPr>
          <p:cNvSpPr/>
          <p:nvPr/>
        </p:nvSpPr>
        <p:spPr>
          <a:xfrm>
            <a:off x="81534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TextBox 99">
            <a:extLst>
              <a:ext uri="{FF2B5EF4-FFF2-40B4-BE49-F238E27FC236}">
                <a16:creationId xmlns:a16="http://schemas.microsoft.com/office/drawing/2014/main" id="{BD8E5C58-5412-33EB-E555-BF9217722846}"/>
              </a:ext>
            </a:extLst>
          </p:cNvPr>
          <p:cNvSpPr txBox="1"/>
          <p:nvPr/>
        </p:nvSpPr>
        <p:spPr>
          <a:xfrm>
            <a:off x="81534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1" name="Rectangle 100">
            <a:extLst>
              <a:ext uri="{FF2B5EF4-FFF2-40B4-BE49-F238E27FC236}">
                <a16:creationId xmlns:a16="http://schemas.microsoft.com/office/drawing/2014/main" id="{D58ACCC4-0A66-47AF-34DD-466D5EC912BC}"/>
              </a:ext>
            </a:extLst>
          </p:cNvPr>
          <p:cNvSpPr/>
          <p:nvPr/>
        </p:nvSpPr>
        <p:spPr>
          <a:xfrm>
            <a:off x="86360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TextBox 101">
            <a:extLst>
              <a:ext uri="{FF2B5EF4-FFF2-40B4-BE49-F238E27FC236}">
                <a16:creationId xmlns:a16="http://schemas.microsoft.com/office/drawing/2014/main" id="{BFBD51BC-835A-F1B7-C788-81B39D9C69D3}"/>
              </a:ext>
            </a:extLst>
          </p:cNvPr>
          <p:cNvSpPr txBox="1"/>
          <p:nvPr/>
        </p:nvSpPr>
        <p:spPr>
          <a:xfrm>
            <a:off x="86360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3" name="Rectangle 102">
            <a:extLst>
              <a:ext uri="{FF2B5EF4-FFF2-40B4-BE49-F238E27FC236}">
                <a16:creationId xmlns:a16="http://schemas.microsoft.com/office/drawing/2014/main" id="{9EBC01C4-9CE2-C880-7540-B5443C4957EC}"/>
              </a:ext>
            </a:extLst>
          </p:cNvPr>
          <p:cNvSpPr/>
          <p:nvPr/>
        </p:nvSpPr>
        <p:spPr>
          <a:xfrm>
            <a:off x="91186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TextBox 103">
            <a:extLst>
              <a:ext uri="{FF2B5EF4-FFF2-40B4-BE49-F238E27FC236}">
                <a16:creationId xmlns:a16="http://schemas.microsoft.com/office/drawing/2014/main" id="{C0D2B4F1-18AA-BB46-8106-404E1415A347}"/>
              </a:ext>
            </a:extLst>
          </p:cNvPr>
          <p:cNvSpPr txBox="1"/>
          <p:nvPr/>
        </p:nvSpPr>
        <p:spPr>
          <a:xfrm>
            <a:off x="91186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5" name="Rectangle 104">
            <a:extLst>
              <a:ext uri="{FF2B5EF4-FFF2-40B4-BE49-F238E27FC236}">
                <a16:creationId xmlns:a16="http://schemas.microsoft.com/office/drawing/2014/main" id="{BC677164-BA8B-366A-3A73-358671DBA26E}"/>
              </a:ext>
            </a:extLst>
          </p:cNvPr>
          <p:cNvSpPr/>
          <p:nvPr/>
        </p:nvSpPr>
        <p:spPr>
          <a:xfrm>
            <a:off x="9601200" y="24638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TextBox 105">
            <a:extLst>
              <a:ext uri="{FF2B5EF4-FFF2-40B4-BE49-F238E27FC236}">
                <a16:creationId xmlns:a16="http://schemas.microsoft.com/office/drawing/2014/main" id="{B6C1A767-E62C-FA6F-69E0-92FB6C298608}"/>
              </a:ext>
            </a:extLst>
          </p:cNvPr>
          <p:cNvSpPr txBox="1"/>
          <p:nvPr/>
        </p:nvSpPr>
        <p:spPr>
          <a:xfrm>
            <a:off x="9601200" y="24765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07" name="Rectangle 106">
            <a:extLst>
              <a:ext uri="{FF2B5EF4-FFF2-40B4-BE49-F238E27FC236}">
                <a16:creationId xmlns:a16="http://schemas.microsoft.com/office/drawing/2014/main" id="{0B994100-CDDE-BC11-2C00-C03C19CBCE0D}"/>
              </a:ext>
            </a:extLst>
          </p:cNvPr>
          <p:cNvSpPr/>
          <p:nvPr/>
        </p:nvSpPr>
        <p:spPr>
          <a:xfrm>
            <a:off x="7188200" y="2946400"/>
            <a:ext cx="482600" cy="482600"/>
          </a:xfrm>
          <a:prstGeom prst="rect">
            <a:avLst/>
          </a:prstGeom>
          <a:solidFill>
            <a:srgbClr val="1A8BFF"/>
          </a:solidFill>
          <a:ln w="76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TextBox 107">
            <a:extLst>
              <a:ext uri="{FF2B5EF4-FFF2-40B4-BE49-F238E27FC236}">
                <a16:creationId xmlns:a16="http://schemas.microsoft.com/office/drawing/2014/main" id="{B3D80A2A-9362-B520-93E3-78B9A5781C5B}"/>
              </a:ext>
            </a:extLst>
          </p:cNvPr>
          <p:cNvSpPr txBox="1"/>
          <p:nvPr/>
        </p:nvSpPr>
        <p:spPr>
          <a:xfrm>
            <a:off x="7188200" y="2959100"/>
            <a:ext cx="482600" cy="276999"/>
          </a:xfrm>
          <a:prstGeom prst="rect">
            <a:avLst/>
          </a:prstGeom>
          <a:noFill/>
        </p:spPr>
        <p:txBody>
          <a:bodyPr vert="horz" wrap="square" lIns="0" tIns="0" rIns="0" bIns="0" rtlCol="0">
            <a:noAutofit/>
          </a:bodyPr>
          <a:lstStyle/>
          <a:p>
            <a:pPr algn="ctr"/>
            <a:r>
              <a:rPr lang="en-IN" sz="1000">
                <a:solidFill>
                  <a:srgbClr val="F5F7FA"/>
                </a:solidFill>
                <a:latin typeface="Consolas" panose="020B0609020204030204" pitchFamily="49" charset="0"/>
              </a:rPr>
              <a:t>1</a:t>
            </a:r>
          </a:p>
        </p:txBody>
      </p:sp>
      <p:sp>
        <p:nvSpPr>
          <p:cNvPr id="109" name="Rectangle 108">
            <a:extLst>
              <a:ext uri="{FF2B5EF4-FFF2-40B4-BE49-F238E27FC236}">
                <a16:creationId xmlns:a16="http://schemas.microsoft.com/office/drawing/2014/main" id="{17292F7E-7A6A-951D-7E09-A08C437FA24E}"/>
              </a:ext>
            </a:extLst>
          </p:cNvPr>
          <p:cNvSpPr/>
          <p:nvPr/>
        </p:nvSpPr>
        <p:spPr>
          <a:xfrm>
            <a:off x="76708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TextBox 109">
            <a:extLst>
              <a:ext uri="{FF2B5EF4-FFF2-40B4-BE49-F238E27FC236}">
                <a16:creationId xmlns:a16="http://schemas.microsoft.com/office/drawing/2014/main" id="{FB83A211-3D37-EFFD-B8B6-E1747B2A6981}"/>
              </a:ext>
            </a:extLst>
          </p:cNvPr>
          <p:cNvSpPr txBox="1"/>
          <p:nvPr/>
        </p:nvSpPr>
        <p:spPr>
          <a:xfrm>
            <a:off x="76708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1" name="Rectangle 110">
            <a:extLst>
              <a:ext uri="{FF2B5EF4-FFF2-40B4-BE49-F238E27FC236}">
                <a16:creationId xmlns:a16="http://schemas.microsoft.com/office/drawing/2014/main" id="{60EE638A-4420-1C73-B00E-C91C148B1F4C}"/>
              </a:ext>
            </a:extLst>
          </p:cNvPr>
          <p:cNvSpPr/>
          <p:nvPr/>
        </p:nvSpPr>
        <p:spPr>
          <a:xfrm>
            <a:off x="81534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TextBox 111">
            <a:extLst>
              <a:ext uri="{FF2B5EF4-FFF2-40B4-BE49-F238E27FC236}">
                <a16:creationId xmlns:a16="http://schemas.microsoft.com/office/drawing/2014/main" id="{D3F6BEAD-4D34-D153-2E79-18054CFE4DD7}"/>
              </a:ext>
            </a:extLst>
          </p:cNvPr>
          <p:cNvSpPr txBox="1"/>
          <p:nvPr/>
        </p:nvSpPr>
        <p:spPr>
          <a:xfrm>
            <a:off x="81534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3" name="Rectangle 112">
            <a:extLst>
              <a:ext uri="{FF2B5EF4-FFF2-40B4-BE49-F238E27FC236}">
                <a16:creationId xmlns:a16="http://schemas.microsoft.com/office/drawing/2014/main" id="{84999780-5CAC-F46B-A683-4E2A00BDF185}"/>
              </a:ext>
            </a:extLst>
          </p:cNvPr>
          <p:cNvSpPr/>
          <p:nvPr/>
        </p:nvSpPr>
        <p:spPr>
          <a:xfrm>
            <a:off x="86360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TextBox 113">
            <a:extLst>
              <a:ext uri="{FF2B5EF4-FFF2-40B4-BE49-F238E27FC236}">
                <a16:creationId xmlns:a16="http://schemas.microsoft.com/office/drawing/2014/main" id="{A9424541-C7E4-C2C4-C467-500D1F91D2B2}"/>
              </a:ext>
            </a:extLst>
          </p:cNvPr>
          <p:cNvSpPr txBox="1"/>
          <p:nvPr/>
        </p:nvSpPr>
        <p:spPr>
          <a:xfrm>
            <a:off x="86360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5" name="Rectangle 114">
            <a:extLst>
              <a:ext uri="{FF2B5EF4-FFF2-40B4-BE49-F238E27FC236}">
                <a16:creationId xmlns:a16="http://schemas.microsoft.com/office/drawing/2014/main" id="{8D46BCAC-AAC8-3496-97FB-7F4E478DA5DF}"/>
              </a:ext>
            </a:extLst>
          </p:cNvPr>
          <p:cNvSpPr/>
          <p:nvPr/>
        </p:nvSpPr>
        <p:spPr>
          <a:xfrm>
            <a:off x="91186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TextBox 115">
            <a:extLst>
              <a:ext uri="{FF2B5EF4-FFF2-40B4-BE49-F238E27FC236}">
                <a16:creationId xmlns:a16="http://schemas.microsoft.com/office/drawing/2014/main" id="{2352ECD9-3D6D-4849-D19A-F72A1797F655}"/>
              </a:ext>
            </a:extLst>
          </p:cNvPr>
          <p:cNvSpPr txBox="1"/>
          <p:nvPr/>
        </p:nvSpPr>
        <p:spPr>
          <a:xfrm>
            <a:off x="91186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7" name="Rectangle 116">
            <a:extLst>
              <a:ext uri="{FF2B5EF4-FFF2-40B4-BE49-F238E27FC236}">
                <a16:creationId xmlns:a16="http://schemas.microsoft.com/office/drawing/2014/main" id="{FD6C70C2-229C-B044-D0D6-9A7D76732B6F}"/>
              </a:ext>
            </a:extLst>
          </p:cNvPr>
          <p:cNvSpPr/>
          <p:nvPr/>
        </p:nvSpPr>
        <p:spPr>
          <a:xfrm>
            <a:off x="9601200" y="29464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TextBox 117">
            <a:extLst>
              <a:ext uri="{FF2B5EF4-FFF2-40B4-BE49-F238E27FC236}">
                <a16:creationId xmlns:a16="http://schemas.microsoft.com/office/drawing/2014/main" id="{66B0784E-28D8-F817-E348-61EEC21D6EDE}"/>
              </a:ext>
            </a:extLst>
          </p:cNvPr>
          <p:cNvSpPr txBox="1"/>
          <p:nvPr/>
        </p:nvSpPr>
        <p:spPr>
          <a:xfrm>
            <a:off x="9601200" y="29591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19" name="Rectangle 118">
            <a:extLst>
              <a:ext uri="{FF2B5EF4-FFF2-40B4-BE49-F238E27FC236}">
                <a16:creationId xmlns:a16="http://schemas.microsoft.com/office/drawing/2014/main" id="{10F10AD1-48D2-49D4-99AC-564F9A9FDBE7}"/>
              </a:ext>
            </a:extLst>
          </p:cNvPr>
          <p:cNvSpPr/>
          <p:nvPr/>
        </p:nvSpPr>
        <p:spPr>
          <a:xfrm>
            <a:off x="71882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TextBox 119">
            <a:extLst>
              <a:ext uri="{FF2B5EF4-FFF2-40B4-BE49-F238E27FC236}">
                <a16:creationId xmlns:a16="http://schemas.microsoft.com/office/drawing/2014/main" id="{FFDAAECA-561D-09FA-51B3-F048CE69BD81}"/>
              </a:ext>
            </a:extLst>
          </p:cNvPr>
          <p:cNvSpPr txBox="1"/>
          <p:nvPr/>
        </p:nvSpPr>
        <p:spPr>
          <a:xfrm>
            <a:off x="71882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1" name="Rectangle 120">
            <a:extLst>
              <a:ext uri="{FF2B5EF4-FFF2-40B4-BE49-F238E27FC236}">
                <a16:creationId xmlns:a16="http://schemas.microsoft.com/office/drawing/2014/main" id="{F69238FA-B8E8-0538-631F-32CDE5154804}"/>
              </a:ext>
            </a:extLst>
          </p:cNvPr>
          <p:cNvSpPr/>
          <p:nvPr/>
        </p:nvSpPr>
        <p:spPr>
          <a:xfrm>
            <a:off x="76708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TextBox 121">
            <a:extLst>
              <a:ext uri="{FF2B5EF4-FFF2-40B4-BE49-F238E27FC236}">
                <a16:creationId xmlns:a16="http://schemas.microsoft.com/office/drawing/2014/main" id="{AA16A0D4-4D70-463D-DFB5-26CBB4A20F81}"/>
              </a:ext>
            </a:extLst>
          </p:cNvPr>
          <p:cNvSpPr txBox="1"/>
          <p:nvPr/>
        </p:nvSpPr>
        <p:spPr>
          <a:xfrm>
            <a:off x="76708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3" name="Rectangle 122">
            <a:extLst>
              <a:ext uri="{FF2B5EF4-FFF2-40B4-BE49-F238E27FC236}">
                <a16:creationId xmlns:a16="http://schemas.microsoft.com/office/drawing/2014/main" id="{A89C3CC2-DE68-0BA7-37BD-2CC4A49EE860}"/>
              </a:ext>
            </a:extLst>
          </p:cNvPr>
          <p:cNvSpPr/>
          <p:nvPr/>
        </p:nvSpPr>
        <p:spPr>
          <a:xfrm>
            <a:off x="81534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TextBox 123">
            <a:extLst>
              <a:ext uri="{FF2B5EF4-FFF2-40B4-BE49-F238E27FC236}">
                <a16:creationId xmlns:a16="http://schemas.microsoft.com/office/drawing/2014/main" id="{656EA31F-3076-67D0-A790-16256130669D}"/>
              </a:ext>
            </a:extLst>
          </p:cNvPr>
          <p:cNvSpPr txBox="1"/>
          <p:nvPr/>
        </p:nvSpPr>
        <p:spPr>
          <a:xfrm>
            <a:off x="81534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5" name="Rectangle 124">
            <a:extLst>
              <a:ext uri="{FF2B5EF4-FFF2-40B4-BE49-F238E27FC236}">
                <a16:creationId xmlns:a16="http://schemas.microsoft.com/office/drawing/2014/main" id="{AB962E2B-F6E1-8AF1-7295-2C032DB5741E}"/>
              </a:ext>
            </a:extLst>
          </p:cNvPr>
          <p:cNvSpPr/>
          <p:nvPr/>
        </p:nvSpPr>
        <p:spPr>
          <a:xfrm>
            <a:off x="86360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TextBox 125">
            <a:extLst>
              <a:ext uri="{FF2B5EF4-FFF2-40B4-BE49-F238E27FC236}">
                <a16:creationId xmlns:a16="http://schemas.microsoft.com/office/drawing/2014/main" id="{11903D82-720C-E4AD-26A3-ADBAB1A0DE84}"/>
              </a:ext>
            </a:extLst>
          </p:cNvPr>
          <p:cNvSpPr txBox="1"/>
          <p:nvPr/>
        </p:nvSpPr>
        <p:spPr>
          <a:xfrm>
            <a:off x="86360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7" name="Rectangle 126">
            <a:extLst>
              <a:ext uri="{FF2B5EF4-FFF2-40B4-BE49-F238E27FC236}">
                <a16:creationId xmlns:a16="http://schemas.microsoft.com/office/drawing/2014/main" id="{CEECB836-3552-4A7C-7629-D8E2CB66907B}"/>
              </a:ext>
            </a:extLst>
          </p:cNvPr>
          <p:cNvSpPr/>
          <p:nvPr/>
        </p:nvSpPr>
        <p:spPr>
          <a:xfrm>
            <a:off x="91186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TextBox 127">
            <a:extLst>
              <a:ext uri="{FF2B5EF4-FFF2-40B4-BE49-F238E27FC236}">
                <a16:creationId xmlns:a16="http://schemas.microsoft.com/office/drawing/2014/main" id="{A2896BF0-68AD-EEDA-BB0C-19E2E5E575F1}"/>
              </a:ext>
            </a:extLst>
          </p:cNvPr>
          <p:cNvSpPr txBox="1"/>
          <p:nvPr/>
        </p:nvSpPr>
        <p:spPr>
          <a:xfrm>
            <a:off x="91186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29" name="Rectangle 128">
            <a:extLst>
              <a:ext uri="{FF2B5EF4-FFF2-40B4-BE49-F238E27FC236}">
                <a16:creationId xmlns:a16="http://schemas.microsoft.com/office/drawing/2014/main" id="{55025489-58F5-2045-AE32-14867D6E797C}"/>
              </a:ext>
            </a:extLst>
          </p:cNvPr>
          <p:cNvSpPr/>
          <p:nvPr/>
        </p:nvSpPr>
        <p:spPr>
          <a:xfrm>
            <a:off x="9601200" y="34290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TextBox 129">
            <a:extLst>
              <a:ext uri="{FF2B5EF4-FFF2-40B4-BE49-F238E27FC236}">
                <a16:creationId xmlns:a16="http://schemas.microsoft.com/office/drawing/2014/main" id="{B96796EC-D2E7-8AB4-387F-604F1AD11A80}"/>
              </a:ext>
            </a:extLst>
          </p:cNvPr>
          <p:cNvSpPr txBox="1"/>
          <p:nvPr/>
        </p:nvSpPr>
        <p:spPr>
          <a:xfrm>
            <a:off x="9601200" y="34417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1" name="Rectangle 130">
            <a:extLst>
              <a:ext uri="{FF2B5EF4-FFF2-40B4-BE49-F238E27FC236}">
                <a16:creationId xmlns:a16="http://schemas.microsoft.com/office/drawing/2014/main" id="{1975A0FF-3E79-1A21-512C-D723FA941636}"/>
              </a:ext>
            </a:extLst>
          </p:cNvPr>
          <p:cNvSpPr/>
          <p:nvPr/>
        </p:nvSpPr>
        <p:spPr>
          <a:xfrm>
            <a:off x="71882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TextBox 131">
            <a:extLst>
              <a:ext uri="{FF2B5EF4-FFF2-40B4-BE49-F238E27FC236}">
                <a16:creationId xmlns:a16="http://schemas.microsoft.com/office/drawing/2014/main" id="{9ADFC26F-7A1D-9F1D-AF27-AE2A5BD85A16}"/>
              </a:ext>
            </a:extLst>
          </p:cNvPr>
          <p:cNvSpPr txBox="1"/>
          <p:nvPr/>
        </p:nvSpPr>
        <p:spPr>
          <a:xfrm>
            <a:off x="71882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3" name="Rectangle 132">
            <a:extLst>
              <a:ext uri="{FF2B5EF4-FFF2-40B4-BE49-F238E27FC236}">
                <a16:creationId xmlns:a16="http://schemas.microsoft.com/office/drawing/2014/main" id="{DE7BA028-C41A-B777-3E97-1F0CD721860B}"/>
              </a:ext>
            </a:extLst>
          </p:cNvPr>
          <p:cNvSpPr/>
          <p:nvPr/>
        </p:nvSpPr>
        <p:spPr>
          <a:xfrm>
            <a:off x="76708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TextBox 133">
            <a:extLst>
              <a:ext uri="{FF2B5EF4-FFF2-40B4-BE49-F238E27FC236}">
                <a16:creationId xmlns:a16="http://schemas.microsoft.com/office/drawing/2014/main" id="{B515763F-854F-D4EC-E2C5-4E0DAEA4DC72}"/>
              </a:ext>
            </a:extLst>
          </p:cNvPr>
          <p:cNvSpPr txBox="1"/>
          <p:nvPr/>
        </p:nvSpPr>
        <p:spPr>
          <a:xfrm>
            <a:off x="76708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5" name="Rectangle 134">
            <a:extLst>
              <a:ext uri="{FF2B5EF4-FFF2-40B4-BE49-F238E27FC236}">
                <a16:creationId xmlns:a16="http://schemas.microsoft.com/office/drawing/2014/main" id="{03E7C786-8DB3-D185-36D6-77BCD150E208}"/>
              </a:ext>
            </a:extLst>
          </p:cNvPr>
          <p:cNvSpPr/>
          <p:nvPr/>
        </p:nvSpPr>
        <p:spPr>
          <a:xfrm>
            <a:off x="81534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TextBox 135">
            <a:extLst>
              <a:ext uri="{FF2B5EF4-FFF2-40B4-BE49-F238E27FC236}">
                <a16:creationId xmlns:a16="http://schemas.microsoft.com/office/drawing/2014/main" id="{9C444F8A-79CA-B822-1FF2-4F4F191E7E8A}"/>
              </a:ext>
            </a:extLst>
          </p:cNvPr>
          <p:cNvSpPr txBox="1"/>
          <p:nvPr/>
        </p:nvSpPr>
        <p:spPr>
          <a:xfrm>
            <a:off x="81534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7" name="Rectangle 136">
            <a:extLst>
              <a:ext uri="{FF2B5EF4-FFF2-40B4-BE49-F238E27FC236}">
                <a16:creationId xmlns:a16="http://schemas.microsoft.com/office/drawing/2014/main" id="{49BA3137-4720-5CA3-F323-F29A328FC0CF}"/>
              </a:ext>
            </a:extLst>
          </p:cNvPr>
          <p:cNvSpPr/>
          <p:nvPr/>
        </p:nvSpPr>
        <p:spPr>
          <a:xfrm>
            <a:off x="86360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TextBox 137">
            <a:extLst>
              <a:ext uri="{FF2B5EF4-FFF2-40B4-BE49-F238E27FC236}">
                <a16:creationId xmlns:a16="http://schemas.microsoft.com/office/drawing/2014/main" id="{A326976B-2817-CA9C-8B6F-310BF12ACC84}"/>
              </a:ext>
            </a:extLst>
          </p:cNvPr>
          <p:cNvSpPr txBox="1"/>
          <p:nvPr/>
        </p:nvSpPr>
        <p:spPr>
          <a:xfrm>
            <a:off x="86360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39" name="Rectangle 138">
            <a:extLst>
              <a:ext uri="{FF2B5EF4-FFF2-40B4-BE49-F238E27FC236}">
                <a16:creationId xmlns:a16="http://schemas.microsoft.com/office/drawing/2014/main" id="{2037E606-D548-3127-248E-6CB99EB5D3DB}"/>
              </a:ext>
            </a:extLst>
          </p:cNvPr>
          <p:cNvSpPr/>
          <p:nvPr/>
        </p:nvSpPr>
        <p:spPr>
          <a:xfrm>
            <a:off x="91186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8DA82FF7-8B6C-5EF2-5724-8F8E7DCD4864}"/>
              </a:ext>
            </a:extLst>
          </p:cNvPr>
          <p:cNvSpPr txBox="1"/>
          <p:nvPr/>
        </p:nvSpPr>
        <p:spPr>
          <a:xfrm>
            <a:off x="91186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1" name="Rectangle 140">
            <a:extLst>
              <a:ext uri="{FF2B5EF4-FFF2-40B4-BE49-F238E27FC236}">
                <a16:creationId xmlns:a16="http://schemas.microsoft.com/office/drawing/2014/main" id="{7C31E82D-45A6-23CA-DB30-0797EDAE14FB}"/>
              </a:ext>
            </a:extLst>
          </p:cNvPr>
          <p:cNvSpPr/>
          <p:nvPr/>
        </p:nvSpPr>
        <p:spPr>
          <a:xfrm>
            <a:off x="9601200" y="39116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TextBox 141">
            <a:extLst>
              <a:ext uri="{FF2B5EF4-FFF2-40B4-BE49-F238E27FC236}">
                <a16:creationId xmlns:a16="http://schemas.microsoft.com/office/drawing/2014/main" id="{D5B85B50-8629-D4F8-5501-97F408004FDE}"/>
              </a:ext>
            </a:extLst>
          </p:cNvPr>
          <p:cNvSpPr txBox="1"/>
          <p:nvPr/>
        </p:nvSpPr>
        <p:spPr>
          <a:xfrm>
            <a:off x="9601200" y="39243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3" name="Rectangle 142">
            <a:extLst>
              <a:ext uri="{FF2B5EF4-FFF2-40B4-BE49-F238E27FC236}">
                <a16:creationId xmlns:a16="http://schemas.microsoft.com/office/drawing/2014/main" id="{B21A3295-C74F-0E2D-F694-10B50DD0F596}"/>
              </a:ext>
            </a:extLst>
          </p:cNvPr>
          <p:cNvSpPr/>
          <p:nvPr/>
        </p:nvSpPr>
        <p:spPr>
          <a:xfrm>
            <a:off x="71882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TextBox 143">
            <a:extLst>
              <a:ext uri="{FF2B5EF4-FFF2-40B4-BE49-F238E27FC236}">
                <a16:creationId xmlns:a16="http://schemas.microsoft.com/office/drawing/2014/main" id="{0C6C7132-0AA2-A80A-539E-5EE87CF98B00}"/>
              </a:ext>
            </a:extLst>
          </p:cNvPr>
          <p:cNvSpPr txBox="1"/>
          <p:nvPr/>
        </p:nvSpPr>
        <p:spPr>
          <a:xfrm>
            <a:off x="71882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5" name="Rectangle 144">
            <a:extLst>
              <a:ext uri="{FF2B5EF4-FFF2-40B4-BE49-F238E27FC236}">
                <a16:creationId xmlns:a16="http://schemas.microsoft.com/office/drawing/2014/main" id="{7181B3C6-8904-06FA-3DCA-1C96FB1DB778}"/>
              </a:ext>
            </a:extLst>
          </p:cNvPr>
          <p:cNvSpPr/>
          <p:nvPr/>
        </p:nvSpPr>
        <p:spPr>
          <a:xfrm>
            <a:off x="76708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TextBox 145">
            <a:extLst>
              <a:ext uri="{FF2B5EF4-FFF2-40B4-BE49-F238E27FC236}">
                <a16:creationId xmlns:a16="http://schemas.microsoft.com/office/drawing/2014/main" id="{96577A34-6CDA-2D6E-C139-5A253DD9FEA5}"/>
              </a:ext>
            </a:extLst>
          </p:cNvPr>
          <p:cNvSpPr txBox="1"/>
          <p:nvPr/>
        </p:nvSpPr>
        <p:spPr>
          <a:xfrm>
            <a:off x="76708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7" name="Rectangle 146">
            <a:extLst>
              <a:ext uri="{FF2B5EF4-FFF2-40B4-BE49-F238E27FC236}">
                <a16:creationId xmlns:a16="http://schemas.microsoft.com/office/drawing/2014/main" id="{14992A56-6166-B7E2-18C1-D185141B751F}"/>
              </a:ext>
            </a:extLst>
          </p:cNvPr>
          <p:cNvSpPr/>
          <p:nvPr/>
        </p:nvSpPr>
        <p:spPr>
          <a:xfrm>
            <a:off x="81534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TextBox 147">
            <a:extLst>
              <a:ext uri="{FF2B5EF4-FFF2-40B4-BE49-F238E27FC236}">
                <a16:creationId xmlns:a16="http://schemas.microsoft.com/office/drawing/2014/main" id="{1F030C7C-70FF-5C3C-DAFA-A9D41ABAE916}"/>
              </a:ext>
            </a:extLst>
          </p:cNvPr>
          <p:cNvSpPr txBox="1"/>
          <p:nvPr/>
        </p:nvSpPr>
        <p:spPr>
          <a:xfrm>
            <a:off x="81534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49" name="Rectangle 148">
            <a:extLst>
              <a:ext uri="{FF2B5EF4-FFF2-40B4-BE49-F238E27FC236}">
                <a16:creationId xmlns:a16="http://schemas.microsoft.com/office/drawing/2014/main" id="{DD27E52B-E232-56C7-0FE0-C04D944DC16F}"/>
              </a:ext>
            </a:extLst>
          </p:cNvPr>
          <p:cNvSpPr/>
          <p:nvPr/>
        </p:nvSpPr>
        <p:spPr>
          <a:xfrm>
            <a:off x="86360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TextBox 149">
            <a:extLst>
              <a:ext uri="{FF2B5EF4-FFF2-40B4-BE49-F238E27FC236}">
                <a16:creationId xmlns:a16="http://schemas.microsoft.com/office/drawing/2014/main" id="{134EB24F-D203-B99B-3E97-D726E23CE808}"/>
              </a:ext>
            </a:extLst>
          </p:cNvPr>
          <p:cNvSpPr txBox="1"/>
          <p:nvPr/>
        </p:nvSpPr>
        <p:spPr>
          <a:xfrm>
            <a:off x="86360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1" name="Rectangle 150">
            <a:extLst>
              <a:ext uri="{FF2B5EF4-FFF2-40B4-BE49-F238E27FC236}">
                <a16:creationId xmlns:a16="http://schemas.microsoft.com/office/drawing/2014/main" id="{59C453DE-EFA8-2B71-D187-C906B2F76094}"/>
              </a:ext>
            </a:extLst>
          </p:cNvPr>
          <p:cNvSpPr/>
          <p:nvPr/>
        </p:nvSpPr>
        <p:spPr>
          <a:xfrm>
            <a:off x="91186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TextBox 151">
            <a:extLst>
              <a:ext uri="{FF2B5EF4-FFF2-40B4-BE49-F238E27FC236}">
                <a16:creationId xmlns:a16="http://schemas.microsoft.com/office/drawing/2014/main" id="{629A10B6-E2C8-2E20-8BFA-7DDC91D76621}"/>
              </a:ext>
            </a:extLst>
          </p:cNvPr>
          <p:cNvSpPr txBox="1"/>
          <p:nvPr/>
        </p:nvSpPr>
        <p:spPr>
          <a:xfrm>
            <a:off x="91186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3" name="Rectangle 152">
            <a:extLst>
              <a:ext uri="{FF2B5EF4-FFF2-40B4-BE49-F238E27FC236}">
                <a16:creationId xmlns:a16="http://schemas.microsoft.com/office/drawing/2014/main" id="{41775E55-075E-9F73-AF70-88A1266790EB}"/>
              </a:ext>
            </a:extLst>
          </p:cNvPr>
          <p:cNvSpPr/>
          <p:nvPr/>
        </p:nvSpPr>
        <p:spPr>
          <a:xfrm>
            <a:off x="9601200" y="4394200"/>
            <a:ext cx="482600" cy="482600"/>
          </a:xfrm>
          <a:prstGeom prst="rect">
            <a:avLst/>
          </a:prstGeom>
          <a:solidFill>
            <a:srgbClr val="06182B"/>
          </a:solidFill>
          <a:ln w="7620">
            <a:solidFill>
              <a:srgbClr val="1748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TextBox 153">
            <a:extLst>
              <a:ext uri="{FF2B5EF4-FFF2-40B4-BE49-F238E27FC236}">
                <a16:creationId xmlns:a16="http://schemas.microsoft.com/office/drawing/2014/main" id="{2832BCF8-5598-7181-99CB-6D2F271D5CD2}"/>
              </a:ext>
            </a:extLst>
          </p:cNvPr>
          <p:cNvSpPr txBox="1"/>
          <p:nvPr/>
        </p:nvSpPr>
        <p:spPr>
          <a:xfrm>
            <a:off x="9601200" y="4406900"/>
            <a:ext cx="482600" cy="276999"/>
          </a:xfrm>
          <a:prstGeom prst="rect">
            <a:avLst/>
          </a:prstGeom>
          <a:noFill/>
        </p:spPr>
        <p:txBody>
          <a:bodyPr vert="horz" wrap="square" lIns="0" tIns="0" rIns="0" bIns="0" rtlCol="0">
            <a:noAutofit/>
          </a:bodyPr>
          <a:lstStyle/>
          <a:p>
            <a:pPr algn="ctr"/>
            <a:r>
              <a:rPr lang="en-IN" sz="1000">
                <a:solidFill>
                  <a:srgbClr val="5F7690"/>
                </a:solidFill>
                <a:latin typeface="Consolas" panose="020B0609020204030204" pitchFamily="49" charset="0"/>
              </a:rPr>
              <a:t>0</a:t>
            </a:r>
          </a:p>
        </p:txBody>
      </p:sp>
      <p:sp>
        <p:nvSpPr>
          <p:cNvPr id="155" name="Rectangle: Rounded Corners 154">
            <a:extLst>
              <a:ext uri="{FF2B5EF4-FFF2-40B4-BE49-F238E27FC236}">
                <a16:creationId xmlns:a16="http://schemas.microsoft.com/office/drawing/2014/main" id="{2A988FFA-2B10-93EB-7FC1-A76662094672}"/>
              </a:ext>
            </a:extLst>
          </p:cNvPr>
          <p:cNvSpPr/>
          <p:nvPr/>
        </p:nvSpPr>
        <p:spPr>
          <a:xfrm>
            <a:off x="1016000" y="5384800"/>
            <a:ext cx="10160000" cy="762000"/>
          </a:xfrm>
          <a:prstGeom prst="roundRect">
            <a:avLst/>
          </a:prstGeom>
          <a:solidFill>
            <a:srgbClr val="071E35">
              <a:alpha val="97000"/>
            </a:srgbClr>
          </a:solidFill>
          <a:ln w="1778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TextBox 155">
            <a:extLst>
              <a:ext uri="{FF2B5EF4-FFF2-40B4-BE49-F238E27FC236}">
                <a16:creationId xmlns:a16="http://schemas.microsoft.com/office/drawing/2014/main" id="{6693A417-7746-951E-A406-39163DF94B64}"/>
              </a:ext>
            </a:extLst>
          </p:cNvPr>
          <p:cNvSpPr txBox="1"/>
          <p:nvPr/>
        </p:nvSpPr>
        <p:spPr>
          <a:xfrm>
            <a:off x="4191000" y="5041900"/>
            <a:ext cx="3810000" cy="276999"/>
          </a:xfrm>
          <a:prstGeom prst="rect">
            <a:avLst/>
          </a:prstGeom>
          <a:noFill/>
        </p:spPr>
        <p:txBody>
          <a:bodyPr vert="horz" wrap="square" lIns="0" tIns="0" rIns="0" bIns="0" rtlCol="0">
            <a:noAutofit/>
          </a:bodyPr>
          <a:lstStyle/>
          <a:p>
            <a:pPr algn="ctr"/>
            <a:r>
              <a:rPr lang="en-IN" sz="1600" b="1">
                <a:solidFill>
                  <a:srgbClr val="FFB454"/>
                </a:solidFill>
                <a:latin typeface="Aptos Display" panose="020B0004020202020204" pitchFamily="34" charset="0"/>
              </a:rPr>
              <a:t>Quantization Parameter (QP)</a:t>
            </a:r>
          </a:p>
        </p:txBody>
      </p:sp>
      <p:sp>
        <p:nvSpPr>
          <p:cNvPr id="157" name="TextBox 156">
            <a:extLst>
              <a:ext uri="{FF2B5EF4-FFF2-40B4-BE49-F238E27FC236}">
                <a16:creationId xmlns:a16="http://schemas.microsoft.com/office/drawing/2014/main" id="{A23BDC82-164E-F29C-6BEF-6E97AA99AF96}"/>
              </a:ext>
            </a:extLst>
          </p:cNvPr>
          <p:cNvSpPr txBox="1"/>
          <p:nvPr/>
        </p:nvSpPr>
        <p:spPr>
          <a:xfrm>
            <a:off x="1358900" y="5537200"/>
            <a:ext cx="1524000" cy="276999"/>
          </a:xfrm>
          <a:prstGeom prst="rect">
            <a:avLst/>
          </a:prstGeom>
          <a:noFill/>
        </p:spPr>
        <p:txBody>
          <a:bodyPr vert="horz" wrap="square" lIns="0" tIns="0" rIns="0" bIns="0" rtlCol="0">
            <a:noAutofit/>
          </a:bodyPr>
          <a:lstStyle/>
          <a:p>
            <a:pPr algn="ctr"/>
            <a:r>
              <a:rPr lang="en-IN" b="1">
                <a:solidFill>
                  <a:srgbClr val="55E6A5"/>
                </a:solidFill>
                <a:latin typeface="Aptos" panose="020B0004020202020204" pitchFamily="34" charset="0"/>
              </a:rPr>
              <a:t>Lower</a:t>
            </a:r>
          </a:p>
        </p:txBody>
      </p:sp>
      <p:sp>
        <p:nvSpPr>
          <p:cNvPr id="158" name="TextBox 157">
            <a:extLst>
              <a:ext uri="{FF2B5EF4-FFF2-40B4-BE49-F238E27FC236}">
                <a16:creationId xmlns:a16="http://schemas.microsoft.com/office/drawing/2014/main" id="{56D4574A-E880-0F7B-2663-BD1F9DE79F88}"/>
              </a:ext>
            </a:extLst>
          </p:cNvPr>
          <p:cNvSpPr txBox="1"/>
          <p:nvPr/>
        </p:nvSpPr>
        <p:spPr>
          <a:xfrm>
            <a:off x="2844800" y="5537200"/>
            <a:ext cx="3111500" cy="276999"/>
          </a:xfrm>
          <a:prstGeom prst="rect">
            <a:avLst/>
          </a:prstGeom>
          <a:noFill/>
        </p:spPr>
        <p:txBody>
          <a:bodyPr vert="horz" wrap="square" lIns="0" tIns="0" rIns="0" bIns="0" rtlCol="0">
            <a:noAutofit/>
          </a:bodyPr>
          <a:lstStyle/>
          <a:p>
            <a:pPr algn="ctr"/>
            <a:r>
              <a:rPr lang="en-US" sz="1600">
                <a:solidFill>
                  <a:srgbClr val="A7B7C9"/>
                </a:solidFill>
                <a:latin typeface="Aptos" panose="020B0004020202020204" pitchFamily="34" charset="0"/>
              </a:rPr>
              <a:t>more coefficients • more bits • less loss</a:t>
            </a:r>
            <a:endParaRPr lang="en-IN" sz="1600">
              <a:solidFill>
                <a:srgbClr val="A7B7C9"/>
              </a:solidFill>
              <a:latin typeface="Aptos" panose="020B0004020202020204" pitchFamily="34" charset="0"/>
            </a:endParaRPr>
          </a:p>
        </p:txBody>
      </p:sp>
      <p:cxnSp>
        <p:nvCxnSpPr>
          <p:cNvPr id="159" name="Straight Connector 158">
            <a:extLst>
              <a:ext uri="{FF2B5EF4-FFF2-40B4-BE49-F238E27FC236}">
                <a16:creationId xmlns:a16="http://schemas.microsoft.com/office/drawing/2014/main" id="{621A8951-AAC2-2C86-B5AE-F7239F6764FD}"/>
              </a:ext>
            </a:extLst>
          </p:cNvPr>
          <p:cNvCxnSpPr/>
          <p:nvPr/>
        </p:nvCxnSpPr>
        <p:spPr>
          <a:xfrm>
            <a:off x="6146800" y="5486400"/>
            <a:ext cx="0" cy="5207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96A0C71F-6D42-F8D1-82FE-E9C6BE51527F}"/>
              </a:ext>
            </a:extLst>
          </p:cNvPr>
          <p:cNvSpPr txBox="1"/>
          <p:nvPr/>
        </p:nvSpPr>
        <p:spPr>
          <a:xfrm>
            <a:off x="6388100" y="5537200"/>
            <a:ext cx="1524000" cy="276999"/>
          </a:xfrm>
          <a:prstGeom prst="rect">
            <a:avLst/>
          </a:prstGeom>
          <a:noFill/>
        </p:spPr>
        <p:txBody>
          <a:bodyPr vert="horz" wrap="square" lIns="0" tIns="0" rIns="0" bIns="0" rtlCol="0">
            <a:noAutofit/>
          </a:bodyPr>
          <a:lstStyle/>
          <a:p>
            <a:pPr algn="ctr"/>
            <a:r>
              <a:rPr lang="en-IN" b="1">
                <a:solidFill>
                  <a:srgbClr val="FF6B78"/>
                </a:solidFill>
                <a:latin typeface="Aptos" panose="020B0004020202020204" pitchFamily="34" charset="0"/>
              </a:rPr>
              <a:t>Higher</a:t>
            </a:r>
          </a:p>
        </p:txBody>
      </p:sp>
      <p:sp>
        <p:nvSpPr>
          <p:cNvPr id="161" name="TextBox 160">
            <a:extLst>
              <a:ext uri="{FF2B5EF4-FFF2-40B4-BE49-F238E27FC236}">
                <a16:creationId xmlns:a16="http://schemas.microsoft.com/office/drawing/2014/main" id="{2C931D48-02A5-1A57-7B00-BC5898B8DE57}"/>
              </a:ext>
            </a:extLst>
          </p:cNvPr>
          <p:cNvSpPr txBox="1"/>
          <p:nvPr/>
        </p:nvSpPr>
        <p:spPr>
          <a:xfrm>
            <a:off x="7924800" y="5537200"/>
            <a:ext cx="2857500" cy="276999"/>
          </a:xfrm>
          <a:prstGeom prst="rect">
            <a:avLst/>
          </a:prstGeom>
          <a:noFill/>
        </p:spPr>
        <p:txBody>
          <a:bodyPr vert="horz" wrap="square" lIns="0" tIns="0" rIns="0" bIns="0" rtlCol="0">
            <a:noAutofit/>
          </a:bodyPr>
          <a:lstStyle/>
          <a:p>
            <a:pPr algn="ctr"/>
            <a:r>
              <a:rPr lang="en-US" sz="1600">
                <a:solidFill>
                  <a:srgbClr val="A7B7C9"/>
                </a:solidFill>
                <a:latin typeface="Aptos" panose="020B0004020202020204" pitchFamily="34" charset="0"/>
              </a:rPr>
              <a:t>more zeros • fewer bits • more loss</a:t>
            </a:r>
            <a:endParaRPr lang="en-IN" sz="1600">
              <a:solidFill>
                <a:srgbClr val="A7B7C9"/>
              </a:solidFill>
              <a:latin typeface="Aptos" panose="020B0004020202020204" pitchFamily="34" charset="0"/>
            </a:endParaRPr>
          </a:p>
        </p:txBody>
      </p:sp>
      <p:sp>
        <p:nvSpPr>
          <p:cNvPr id="162" name="TextBox 161">
            <a:extLst>
              <a:ext uri="{FF2B5EF4-FFF2-40B4-BE49-F238E27FC236}">
                <a16:creationId xmlns:a16="http://schemas.microsoft.com/office/drawing/2014/main" id="{DE2F7DE1-7057-5FCE-E8E5-126CFFC093B8}"/>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12 / 19</a:t>
            </a:r>
          </a:p>
        </p:txBody>
      </p:sp>
    </p:spTree>
    <p:extLst>
      <p:ext uri="{BB962C8B-B14F-4D97-AF65-F5344CB8AC3E}">
        <p14:creationId xmlns:p14="http://schemas.microsoft.com/office/powerpoint/2010/main" val="3506930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EA36B0-5686-3E67-3559-CB0C35151A65}"/>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DA0067BB-FE10-636A-5CC2-825EF4164312}"/>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1826D5D5-6D1F-C9E9-B8CB-F93A8A48D0F6}"/>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19CCFF1-E691-F059-AB51-23510719F820}"/>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Context-Adaptive Binary Arithmetic Coding (CABAC)</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2CFAD62B-550B-219F-C073-08D46F9EA299}"/>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EBE7295-CAD9-20C3-5B72-BAD11BB9CB73}"/>
              </a:ext>
            </a:extLst>
          </p:cNvPr>
          <p:cNvSpPr txBox="1"/>
          <p:nvPr/>
        </p:nvSpPr>
        <p:spPr>
          <a:xfrm>
            <a:off x="965200" y="1117600"/>
            <a:ext cx="10261600" cy="276999"/>
          </a:xfrm>
          <a:prstGeom prst="rect">
            <a:avLst/>
          </a:prstGeom>
          <a:noFill/>
        </p:spPr>
        <p:txBody>
          <a:bodyPr vert="horz" wrap="square" lIns="0" tIns="0" rIns="0" bIns="0" rtlCol="0">
            <a:noAutofit/>
          </a:bodyPr>
          <a:lstStyle/>
          <a:p>
            <a:pPr algn="ctr"/>
            <a:r>
              <a:rPr lang="en-US" sz="1700">
                <a:solidFill>
                  <a:srgbClr val="A7B7C9"/>
                </a:solidFill>
                <a:latin typeface="Aptos" panose="020B0004020202020204" pitchFamily="34" charset="0"/>
              </a:rPr>
              <a:t>packs coefficients and coding decisions losslessly</a:t>
            </a:r>
            <a:endParaRPr lang="en-IN" sz="1700">
              <a:solidFill>
                <a:srgbClr val="A7B7C9"/>
              </a:solidFill>
              <a:latin typeface="Aptos" panose="020B0004020202020204" pitchFamily="34" charset="0"/>
            </a:endParaRPr>
          </a:p>
        </p:txBody>
      </p:sp>
      <p:sp>
        <p:nvSpPr>
          <p:cNvPr id="8" name="Oval 7">
            <a:extLst>
              <a:ext uri="{FF2B5EF4-FFF2-40B4-BE49-F238E27FC236}">
                <a16:creationId xmlns:a16="http://schemas.microsoft.com/office/drawing/2014/main" id="{97013642-62D8-207A-90B8-D52DD6F46570}"/>
              </a:ext>
            </a:extLst>
          </p:cNvPr>
          <p:cNvSpPr/>
          <p:nvPr/>
        </p:nvSpPr>
        <p:spPr>
          <a:xfrm>
            <a:off x="914400" y="1727200"/>
            <a:ext cx="431800" cy="4318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16E3F2"/>
                </a:solidFill>
                <a:latin typeface="Aptos Display" panose="020B0004020202020204" pitchFamily="34" charset="0"/>
              </a:rPr>
              <a:t>1</a:t>
            </a:r>
          </a:p>
        </p:txBody>
      </p:sp>
      <p:sp>
        <p:nvSpPr>
          <p:cNvPr id="9" name="TextBox 8">
            <a:extLst>
              <a:ext uri="{FF2B5EF4-FFF2-40B4-BE49-F238E27FC236}">
                <a16:creationId xmlns:a16="http://schemas.microsoft.com/office/drawing/2014/main" id="{49C91E93-CCE9-6501-7A4E-AB4744F0CABD}"/>
              </a:ext>
            </a:extLst>
          </p:cNvPr>
          <p:cNvSpPr txBox="1"/>
          <p:nvPr/>
        </p:nvSpPr>
        <p:spPr>
          <a:xfrm>
            <a:off x="1498600" y="1765300"/>
            <a:ext cx="2413000" cy="276999"/>
          </a:xfrm>
          <a:prstGeom prst="rect">
            <a:avLst/>
          </a:prstGeom>
          <a:noFill/>
        </p:spPr>
        <p:txBody>
          <a:bodyPr vert="horz" wrap="square" lIns="0" tIns="0" rIns="0" bIns="0" rtlCol="0">
            <a:noAutofit/>
          </a:bodyPr>
          <a:lstStyle/>
          <a:p>
            <a:r>
              <a:rPr lang="en-IN" sz="1900" b="1">
                <a:solidFill>
                  <a:srgbClr val="16E3F2"/>
                </a:solidFill>
                <a:latin typeface="Aptos Display" panose="020B0004020202020204" pitchFamily="34" charset="0"/>
              </a:rPr>
              <a:t>Binarize</a:t>
            </a:r>
          </a:p>
        </p:txBody>
      </p:sp>
      <p:sp>
        <p:nvSpPr>
          <p:cNvPr id="10" name="Rectangle: Rounded Corners 9">
            <a:extLst>
              <a:ext uri="{FF2B5EF4-FFF2-40B4-BE49-F238E27FC236}">
                <a16:creationId xmlns:a16="http://schemas.microsoft.com/office/drawing/2014/main" id="{6DB1D9B8-213C-EC57-4F96-10AA22C3E4B5}"/>
              </a:ext>
            </a:extLst>
          </p:cNvPr>
          <p:cNvSpPr/>
          <p:nvPr/>
        </p:nvSpPr>
        <p:spPr>
          <a:xfrm>
            <a:off x="914400" y="2413000"/>
            <a:ext cx="3048000" cy="2032000"/>
          </a:xfrm>
          <a:prstGeom prst="roundRect">
            <a:avLst/>
          </a:prstGeom>
          <a:solidFill>
            <a:srgbClr val="071E35">
              <a:alpha val="98000"/>
            </a:srgbClr>
          </a:solidFill>
          <a:ln w="1905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5C40DCE-3D7A-8F75-5D3F-9E1290694C10}"/>
              </a:ext>
            </a:extLst>
          </p:cNvPr>
          <p:cNvSpPr txBox="1"/>
          <p:nvPr/>
        </p:nvSpPr>
        <p:spPr>
          <a:xfrm>
            <a:off x="1143000" y="2781300"/>
            <a:ext cx="2590800" cy="276999"/>
          </a:xfrm>
          <a:prstGeom prst="rect">
            <a:avLst/>
          </a:prstGeom>
          <a:noFill/>
        </p:spPr>
        <p:txBody>
          <a:bodyPr vert="horz" wrap="square" lIns="0" tIns="0" rIns="0" bIns="0" rtlCol="0">
            <a:noAutofit/>
          </a:bodyPr>
          <a:lstStyle/>
          <a:p>
            <a:pPr algn="ctr"/>
            <a:r>
              <a:rPr lang="fr-FR">
                <a:solidFill>
                  <a:srgbClr val="F5F7FA"/>
                </a:solidFill>
                <a:latin typeface="Consolas" panose="020B0609020204030204" pitchFamily="49" charset="0"/>
              </a:rPr>
              <a:t>split flag = 1
motion index = 3
coefficient = −2</a:t>
            </a:r>
            <a:endParaRPr lang="en-IN">
              <a:solidFill>
                <a:srgbClr val="F5F7FA"/>
              </a:solidFill>
              <a:latin typeface="Consolas" panose="020B0609020204030204" pitchFamily="49" charset="0"/>
            </a:endParaRPr>
          </a:p>
        </p:txBody>
      </p:sp>
      <p:sp>
        <p:nvSpPr>
          <p:cNvPr id="12" name="TextBox 11">
            <a:extLst>
              <a:ext uri="{FF2B5EF4-FFF2-40B4-BE49-F238E27FC236}">
                <a16:creationId xmlns:a16="http://schemas.microsoft.com/office/drawing/2014/main" id="{F2F17AFF-A7E2-0552-C005-ACD0C54A4CD0}"/>
              </a:ext>
            </a:extLst>
          </p:cNvPr>
          <p:cNvSpPr txBox="1"/>
          <p:nvPr/>
        </p:nvSpPr>
        <p:spPr>
          <a:xfrm>
            <a:off x="1168400" y="3924300"/>
            <a:ext cx="2540000" cy="276999"/>
          </a:xfrm>
          <a:prstGeom prst="rect">
            <a:avLst/>
          </a:prstGeom>
          <a:noFill/>
        </p:spPr>
        <p:txBody>
          <a:bodyPr vert="horz" wrap="square" lIns="0" tIns="0" rIns="0" bIns="0" rtlCol="0">
            <a:noAutofit/>
          </a:bodyPr>
          <a:lstStyle/>
          <a:p>
            <a:pPr algn="ctr"/>
            <a:r>
              <a:rPr lang="en-IN" sz="1600" b="1">
                <a:solidFill>
                  <a:srgbClr val="16E3F2"/>
                </a:solidFill>
                <a:latin typeface="Consolas" panose="020B0609020204030204" pitchFamily="49" charset="0"/>
              </a:rPr>
              <a:t>1  •  011  •  010</a:t>
            </a:r>
          </a:p>
        </p:txBody>
      </p:sp>
      <p:cxnSp>
        <p:nvCxnSpPr>
          <p:cNvPr id="13" name="Straight Connector 12">
            <a:extLst>
              <a:ext uri="{FF2B5EF4-FFF2-40B4-BE49-F238E27FC236}">
                <a16:creationId xmlns:a16="http://schemas.microsoft.com/office/drawing/2014/main" id="{350FF9D0-BAE7-4BF7-9E57-9B39451D810C}"/>
              </a:ext>
            </a:extLst>
          </p:cNvPr>
          <p:cNvCxnSpPr/>
          <p:nvPr/>
        </p:nvCxnSpPr>
        <p:spPr>
          <a:xfrm>
            <a:off x="4013200" y="3429000"/>
            <a:ext cx="508000" cy="0"/>
          </a:xfrm>
          <a:prstGeom prst="line">
            <a:avLst/>
          </a:prstGeom>
          <a:ln w="25400">
            <a:solidFill>
              <a:srgbClr val="A7B7C9"/>
            </a:solidFill>
            <a:tailEnd type="arrow"/>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6BB069B6-3E25-B726-7315-6AB9CA40EC9D}"/>
              </a:ext>
            </a:extLst>
          </p:cNvPr>
          <p:cNvSpPr/>
          <p:nvPr/>
        </p:nvSpPr>
        <p:spPr>
          <a:xfrm>
            <a:off x="4622800" y="1727200"/>
            <a:ext cx="431800" cy="4318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1A8BFF"/>
                </a:solidFill>
                <a:latin typeface="Aptos Display" panose="020B0004020202020204" pitchFamily="34" charset="0"/>
              </a:rPr>
              <a:t>2</a:t>
            </a:r>
          </a:p>
        </p:txBody>
      </p:sp>
      <p:sp>
        <p:nvSpPr>
          <p:cNvPr id="15" name="TextBox 14">
            <a:extLst>
              <a:ext uri="{FF2B5EF4-FFF2-40B4-BE49-F238E27FC236}">
                <a16:creationId xmlns:a16="http://schemas.microsoft.com/office/drawing/2014/main" id="{ADE3DBAB-B5B0-B2A7-291B-8C77485C35E7}"/>
              </a:ext>
            </a:extLst>
          </p:cNvPr>
          <p:cNvSpPr txBox="1"/>
          <p:nvPr/>
        </p:nvSpPr>
        <p:spPr>
          <a:xfrm>
            <a:off x="5207000" y="1765300"/>
            <a:ext cx="2413000" cy="276999"/>
          </a:xfrm>
          <a:prstGeom prst="rect">
            <a:avLst/>
          </a:prstGeom>
          <a:noFill/>
        </p:spPr>
        <p:txBody>
          <a:bodyPr vert="horz" wrap="square" lIns="0" tIns="0" rIns="0" bIns="0" rtlCol="0">
            <a:noAutofit/>
          </a:bodyPr>
          <a:lstStyle/>
          <a:p>
            <a:r>
              <a:rPr lang="en-IN" sz="1900" b="1">
                <a:solidFill>
                  <a:srgbClr val="1A8BFF"/>
                </a:solidFill>
                <a:latin typeface="Aptos Display" panose="020B0004020202020204" pitchFamily="34" charset="0"/>
              </a:rPr>
              <a:t>Model context</a:t>
            </a:r>
          </a:p>
        </p:txBody>
      </p:sp>
      <p:sp>
        <p:nvSpPr>
          <p:cNvPr id="16" name="Rectangle: Rounded Corners 15">
            <a:extLst>
              <a:ext uri="{FF2B5EF4-FFF2-40B4-BE49-F238E27FC236}">
                <a16:creationId xmlns:a16="http://schemas.microsoft.com/office/drawing/2014/main" id="{2225602A-F348-E534-E495-27D7A7B89E8E}"/>
              </a:ext>
            </a:extLst>
          </p:cNvPr>
          <p:cNvSpPr/>
          <p:nvPr/>
        </p:nvSpPr>
        <p:spPr>
          <a:xfrm>
            <a:off x="4622800" y="2413000"/>
            <a:ext cx="3048000" cy="2032000"/>
          </a:xfrm>
          <a:prstGeom prst="roundRect">
            <a:avLst/>
          </a:prstGeom>
          <a:solidFill>
            <a:srgbClr val="071E35">
              <a:alpha val="98000"/>
            </a:srgbClr>
          </a:solidFill>
          <a:ln w="1905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2237057-09D7-61A6-2F56-F3FFCEBF3586}"/>
              </a:ext>
            </a:extLst>
          </p:cNvPr>
          <p:cNvSpPr txBox="1"/>
          <p:nvPr/>
        </p:nvSpPr>
        <p:spPr>
          <a:xfrm>
            <a:off x="4978400" y="2819400"/>
            <a:ext cx="2336800" cy="276999"/>
          </a:xfrm>
          <a:prstGeom prst="rect">
            <a:avLst/>
          </a:prstGeom>
          <a:noFill/>
        </p:spPr>
        <p:txBody>
          <a:bodyPr vert="horz" wrap="square" lIns="0" tIns="0" rIns="0" bIns="0" rtlCol="0">
            <a:noAutofit/>
          </a:bodyPr>
          <a:lstStyle/>
          <a:p>
            <a:pPr algn="ctr"/>
            <a:r>
              <a:rPr lang="en-IN" sz="2300" b="1">
                <a:solidFill>
                  <a:srgbClr val="F5F7FA"/>
                </a:solidFill>
                <a:latin typeface="Consolas" panose="020B0609020204030204" pitchFamily="49" charset="0"/>
              </a:rPr>
              <a:t>P(0) = 0.86
P(1) = 0.14</a:t>
            </a:r>
          </a:p>
        </p:txBody>
      </p:sp>
      <p:sp>
        <p:nvSpPr>
          <p:cNvPr id="18" name="TextBox 17">
            <a:extLst>
              <a:ext uri="{FF2B5EF4-FFF2-40B4-BE49-F238E27FC236}">
                <a16:creationId xmlns:a16="http://schemas.microsoft.com/office/drawing/2014/main" id="{C2EB9AA5-1CEA-E3CA-5F3A-B5E259059603}"/>
              </a:ext>
            </a:extLst>
          </p:cNvPr>
          <p:cNvSpPr txBox="1"/>
          <p:nvPr/>
        </p:nvSpPr>
        <p:spPr>
          <a:xfrm>
            <a:off x="4902200" y="3835400"/>
            <a:ext cx="2489200" cy="276999"/>
          </a:xfrm>
          <a:prstGeom prst="rect">
            <a:avLst/>
          </a:prstGeom>
          <a:noFill/>
        </p:spPr>
        <p:txBody>
          <a:bodyPr vert="horz" wrap="square" lIns="0" tIns="0" rIns="0" bIns="0" rtlCol="0">
            <a:noAutofit/>
          </a:bodyPr>
          <a:lstStyle/>
          <a:p>
            <a:pPr algn="ctr"/>
            <a:r>
              <a:rPr lang="en-IN" sz="1400">
                <a:solidFill>
                  <a:srgbClr val="A7B7C9"/>
                </a:solidFill>
                <a:latin typeface="Aptos" panose="020B0004020202020204" pitchFamily="34" charset="0"/>
              </a:rPr>
              <a:t>probabilities adapt as symbols arrive</a:t>
            </a:r>
          </a:p>
        </p:txBody>
      </p:sp>
      <p:cxnSp>
        <p:nvCxnSpPr>
          <p:cNvPr id="19" name="Straight Connector 18">
            <a:extLst>
              <a:ext uri="{FF2B5EF4-FFF2-40B4-BE49-F238E27FC236}">
                <a16:creationId xmlns:a16="http://schemas.microsoft.com/office/drawing/2014/main" id="{8FC23FCE-5FAA-B1D2-E88E-3012F3FD91FE}"/>
              </a:ext>
            </a:extLst>
          </p:cNvPr>
          <p:cNvCxnSpPr/>
          <p:nvPr/>
        </p:nvCxnSpPr>
        <p:spPr>
          <a:xfrm>
            <a:off x="7721600" y="3429000"/>
            <a:ext cx="508000" cy="0"/>
          </a:xfrm>
          <a:prstGeom prst="line">
            <a:avLst/>
          </a:prstGeom>
          <a:ln w="25400">
            <a:solidFill>
              <a:srgbClr val="A7B7C9"/>
            </a:solidFill>
            <a:tailEnd type="arrow"/>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5CE2EA15-6C08-44C5-EA8B-A3E49E213E95}"/>
              </a:ext>
            </a:extLst>
          </p:cNvPr>
          <p:cNvSpPr/>
          <p:nvPr/>
        </p:nvSpPr>
        <p:spPr>
          <a:xfrm>
            <a:off x="8331200" y="1727200"/>
            <a:ext cx="431800" cy="4318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55E6A5"/>
                </a:solidFill>
                <a:latin typeface="Aptos Display" panose="020B0004020202020204" pitchFamily="34" charset="0"/>
              </a:rPr>
              <a:t>3</a:t>
            </a:r>
          </a:p>
        </p:txBody>
      </p:sp>
      <p:sp>
        <p:nvSpPr>
          <p:cNvPr id="21" name="TextBox 20">
            <a:extLst>
              <a:ext uri="{FF2B5EF4-FFF2-40B4-BE49-F238E27FC236}">
                <a16:creationId xmlns:a16="http://schemas.microsoft.com/office/drawing/2014/main" id="{EE4F5E78-62BA-DB09-A9C6-9F72F3A32B4C}"/>
              </a:ext>
            </a:extLst>
          </p:cNvPr>
          <p:cNvSpPr txBox="1"/>
          <p:nvPr/>
        </p:nvSpPr>
        <p:spPr>
          <a:xfrm>
            <a:off x="8915400" y="1765300"/>
            <a:ext cx="2413000" cy="276999"/>
          </a:xfrm>
          <a:prstGeom prst="rect">
            <a:avLst/>
          </a:prstGeom>
          <a:noFill/>
        </p:spPr>
        <p:txBody>
          <a:bodyPr vert="horz" wrap="square" lIns="0" tIns="0" rIns="0" bIns="0" rtlCol="0">
            <a:noAutofit/>
          </a:bodyPr>
          <a:lstStyle/>
          <a:p>
            <a:r>
              <a:rPr lang="en-IN" sz="1900" b="1">
                <a:solidFill>
                  <a:srgbClr val="55E6A5"/>
                </a:solidFill>
                <a:latin typeface="Aptos Display" panose="020B0004020202020204" pitchFamily="34" charset="0"/>
              </a:rPr>
              <a:t>Arithmetic-code</a:t>
            </a:r>
          </a:p>
        </p:txBody>
      </p:sp>
      <p:sp>
        <p:nvSpPr>
          <p:cNvPr id="22" name="Rectangle: Rounded Corners 21">
            <a:extLst>
              <a:ext uri="{FF2B5EF4-FFF2-40B4-BE49-F238E27FC236}">
                <a16:creationId xmlns:a16="http://schemas.microsoft.com/office/drawing/2014/main" id="{4A5B883C-F189-4A46-345F-A9396FB422AD}"/>
              </a:ext>
            </a:extLst>
          </p:cNvPr>
          <p:cNvSpPr/>
          <p:nvPr/>
        </p:nvSpPr>
        <p:spPr>
          <a:xfrm>
            <a:off x="8331200" y="2413000"/>
            <a:ext cx="3048000" cy="2032000"/>
          </a:xfrm>
          <a:prstGeom prst="roundRect">
            <a:avLst/>
          </a:prstGeom>
          <a:solidFill>
            <a:srgbClr val="071E35">
              <a:alpha val="98000"/>
            </a:srgbClr>
          </a:solidFill>
          <a:ln w="1905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DF7BA28D-7FBD-DD62-DA98-4F183DE53298}"/>
              </a:ext>
            </a:extLst>
          </p:cNvPr>
          <p:cNvSpPr txBox="1"/>
          <p:nvPr/>
        </p:nvSpPr>
        <p:spPr>
          <a:xfrm>
            <a:off x="8559800" y="2946400"/>
            <a:ext cx="2590800" cy="276999"/>
          </a:xfrm>
          <a:prstGeom prst="rect">
            <a:avLst/>
          </a:prstGeom>
          <a:noFill/>
        </p:spPr>
        <p:txBody>
          <a:bodyPr vert="horz" wrap="square" lIns="0" tIns="0" rIns="0" bIns="0" rtlCol="0">
            <a:noAutofit/>
          </a:bodyPr>
          <a:lstStyle/>
          <a:p>
            <a:pPr algn="ctr"/>
            <a:r>
              <a:rPr lang="en-IN" sz="1900" b="1">
                <a:solidFill>
                  <a:srgbClr val="55E6A5"/>
                </a:solidFill>
                <a:latin typeface="Consolas" panose="020B0609020204030204" pitchFamily="49" charset="0"/>
              </a:rPr>
              <a:t>010110100101…</a:t>
            </a:r>
          </a:p>
        </p:txBody>
      </p:sp>
      <p:sp>
        <p:nvSpPr>
          <p:cNvPr id="24" name="TextBox 23">
            <a:extLst>
              <a:ext uri="{FF2B5EF4-FFF2-40B4-BE49-F238E27FC236}">
                <a16:creationId xmlns:a16="http://schemas.microsoft.com/office/drawing/2014/main" id="{D00B544D-4A92-F4CC-F7C2-5E40D8C06740}"/>
              </a:ext>
            </a:extLst>
          </p:cNvPr>
          <p:cNvSpPr txBox="1"/>
          <p:nvPr/>
        </p:nvSpPr>
        <p:spPr>
          <a:xfrm>
            <a:off x="8610600" y="3708400"/>
            <a:ext cx="2489200" cy="276999"/>
          </a:xfrm>
          <a:prstGeom prst="rect">
            <a:avLst/>
          </a:prstGeom>
          <a:noFill/>
        </p:spPr>
        <p:txBody>
          <a:bodyPr vert="horz" wrap="square" lIns="0" tIns="0" rIns="0" bIns="0" rtlCol="0">
            <a:noAutofit/>
          </a:bodyPr>
          <a:lstStyle/>
          <a:p>
            <a:pPr algn="ctr"/>
            <a:r>
              <a:rPr lang="en-IN" sz="1700" b="1">
                <a:solidFill>
                  <a:srgbClr val="F5F7FA"/>
                </a:solidFill>
                <a:latin typeface="Aptos" panose="020B0004020202020204" pitchFamily="34" charset="0"/>
              </a:rPr>
              <a:t>compact bitstream</a:t>
            </a:r>
          </a:p>
        </p:txBody>
      </p:sp>
      <p:sp>
        <p:nvSpPr>
          <p:cNvPr id="25" name="Rectangle: Rounded Corners 24">
            <a:extLst>
              <a:ext uri="{FF2B5EF4-FFF2-40B4-BE49-F238E27FC236}">
                <a16:creationId xmlns:a16="http://schemas.microsoft.com/office/drawing/2014/main" id="{8867F449-2585-83FF-7166-D74E54226CE9}"/>
              </a:ext>
            </a:extLst>
          </p:cNvPr>
          <p:cNvSpPr/>
          <p:nvPr/>
        </p:nvSpPr>
        <p:spPr>
          <a:xfrm>
            <a:off x="2082800" y="5219700"/>
            <a:ext cx="8026400" cy="685800"/>
          </a:xfrm>
          <a:prstGeom prst="roundRect">
            <a:avLst/>
          </a:prstGeom>
          <a:solidFill>
            <a:srgbClr val="071E35">
              <a:alpha val="97000"/>
            </a:srgbClr>
          </a:solidFill>
          <a:ln w="1651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BC469171-CF01-B4C6-DE77-AA5F0450D470}"/>
              </a:ext>
            </a:extLst>
          </p:cNvPr>
          <p:cNvSpPr txBox="1"/>
          <p:nvPr/>
        </p:nvSpPr>
        <p:spPr>
          <a:xfrm>
            <a:off x="1968500" y="5384800"/>
            <a:ext cx="8255000" cy="276999"/>
          </a:xfrm>
          <a:prstGeom prst="rect">
            <a:avLst/>
          </a:prstGeom>
          <a:noFill/>
        </p:spPr>
        <p:txBody>
          <a:bodyPr vert="horz" wrap="square" lIns="0" tIns="0" rIns="0" bIns="0" rtlCol="0">
            <a:noAutofit/>
          </a:bodyPr>
          <a:lstStyle/>
          <a:p>
            <a:pPr algn="ctr"/>
            <a:r>
              <a:rPr lang="en-US" sz="1600" b="1">
                <a:solidFill>
                  <a:srgbClr val="F5F7FA"/>
                </a:solidFill>
                <a:latin typeface="Aptos Display" panose="020B0004020202020204" pitchFamily="34" charset="0"/>
              </a:rPr>
              <a:t>Context-Adaptive Binary Arithmetic Coding adds no distortion—but limits parallelism.</a:t>
            </a:r>
            <a:endParaRPr lang="en-IN" sz="1600" b="1">
              <a:solidFill>
                <a:srgbClr val="F5F7FA"/>
              </a:solidFill>
              <a:latin typeface="Aptos Display" panose="020B0004020202020204" pitchFamily="34" charset="0"/>
            </a:endParaRPr>
          </a:p>
        </p:txBody>
      </p:sp>
      <p:sp>
        <p:nvSpPr>
          <p:cNvPr id="27" name="TextBox 26">
            <a:extLst>
              <a:ext uri="{FF2B5EF4-FFF2-40B4-BE49-F238E27FC236}">
                <a16:creationId xmlns:a16="http://schemas.microsoft.com/office/drawing/2014/main" id="{EAA1E22D-B14A-017F-CEDA-94351E521BFF}"/>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13 / 19</a:t>
            </a:r>
          </a:p>
        </p:txBody>
      </p:sp>
    </p:spTree>
    <p:extLst>
      <p:ext uri="{BB962C8B-B14F-4D97-AF65-F5344CB8AC3E}">
        <p14:creationId xmlns:p14="http://schemas.microsoft.com/office/powerpoint/2010/main" val="266800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E7A46-5100-248F-7141-CBF56FCF2DC5}"/>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A46A30C6-A89B-A783-056A-0D82FF308B95}"/>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F6FC1855-DE58-782C-8ECC-9EDDCCFCB12E}"/>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CFE0CB8-35D5-0481-DDB7-0481BACBB67B}"/>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The encoder reconstructs locally to prevent prediction drift</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2F135211-1721-5CF9-7197-EF4EB7DD2A27}"/>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1D6E2BFC-164B-AE7F-3D7B-2AEFA7F5E062}"/>
              </a:ext>
            </a:extLst>
          </p:cNvPr>
          <p:cNvSpPr/>
          <p:nvPr/>
        </p:nvSpPr>
        <p:spPr>
          <a:xfrm>
            <a:off x="673100" y="1600200"/>
            <a:ext cx="1803400" cy="685800"/>
          </a:xfrm>
          <a:prstGeom prst="roundRect">
            <a:avLst/>
          </a:prstGeom>
          <a:solidFill>
            <a:srgbClr val="071E35">
              <a:alpha val="98000"/>
            </a:srgbClr>
          </a:solidFill>
          <a:ln w="1778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97AF142C-BB19-FD9D-D4D1-951B4C47EEDC}"/>
              </a:ext>
            </a:extLst>
          </p:cNvPr>
          <p:cNvSpPr/>
          <p:nvPr/>
        </p:nvSpPr>
        <p:spPr>
          <a:xfrm>
            <a:off x="774700" y="1739900"/>
            <a:ext cx="406400" cy="4064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1</a:t>
            </a:r>
          </a:p>
        </p:txBody>
      </p:sp>
      <p:sp>
        <p:nvSpPr>
          <p:cNvPr id="9" name="TextBox 8">
            <a:extLst>
              <a:ext uri="{FF2B5EF4-FFF2-40B4-BE49-F238E27FC236}">
                <a16:creationId xmlns:a16="http://schemas.microsoft.com/office/drawing/2014/main" id="{7CEC9685-4029-60CE-A2A7-79BEE262430F}"/>
              </a:ext>
            </a:extLst>
          </p:cNvPr>
          <p:cNvSpPr txBox="1"/>
          <p:nvPr/>
        </p:nvSpPr>
        <p:spPr>
          <a:xfrm>
            <a:off x="1257300" y="1752600"/>
            <a:ext cx="1143000" cy="276999"/>
          </a:xfrm>
          <a:prstGeom prst="rect">
            <a:avLst/>
          </a:prstGeom>
          <a:noFill/>
        </p:spPr>
        <p:txBody>
          <a:bodyPr vert="horz" wrap="square" lIns="0" tIns="0" rIns="0" bIns="0" rtlCol="0">
            <a:noAutofit/>
          </a:bodyPr>
          <a:lstStyle/>
          <a:p>
            <a:r>
              <a:rPr lang="en-IN" sz="1200" b="1">
                <a:solidFill>
                  <a:srgbClr val="1A8BFF"/>
                </a:solidFill>
                <a:latin typeface="Aptos" panose="020B0004020202020204" pitchFamily="34" charset="0"/>
              </a:rPr>
              <a:t>Quantized</a:t>
            </a:r>
          </a:p>
        </p:txBody>
      </p:sp>
      <p:cxnSp>
        <p:nvCxnSpPr>
          <p:cNvPr id="10" name="Straight Connector 9">
            <a:extLst>
              <a:ext uri="{FF2B5EF4-FFF2-40B4-BE49-F238E27FC236}">
                <a16:creationId xmlns:a16="http://schemas.microsoft.com/office/drawing/2014/main" id="{9BAD65DC-CBD6-0223-AA08-38B8139E1624}"/>
              </a:ext>
            </a:extLst>
          </p:cNvPr>
          <p:cNvCxnSpPr/>
          <p:nvPr/>
        </p:nvCxnSpPr>
        <p:spPr>
          <a:xfrm>
            <a:off x="2514600" y="1943100"/>
            <a:ext cx="393700" cy="0"/>
          </a:xfrm>
          <a:prstGeom prst="line">
            <a:avLst/>
          </a:prstGeom>
          <a:ln w="2032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15B9537A-FB65-1E8D-86E8-8E072AB06BF5}"/>
              </a:ext>
            </a:extLst>
          </p:cNvPr>
          <p:cNvSpPr/>
          <p:nvPr/>
        </p:nvSpPr>
        <p:spPr>
          <a:xfrm>
            <a:off x="2971800" y="1600200"/>
            <a:ext cx="1803400" cy="685800"/>
          </a:xfrm>
          <a:prstGeom prst="roundRect">
            <a:avLst/>
          </a:prstGeom>
          <a:solidFill>
            <a:srgbClr val="071E35">
              <a:alpha val="98000"/>
            </a:srgbClr>
          </a:solidFill>
          <a:ln w="1778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DC942679-2D5F-EE5F-C2EA-75869026C386}"/>
              </a:ext>
            </a:extLst>
          </p:cNvPr>
          <p:cNvSpPr/>
          <p:nvPr/>
        </p:nvSpPr>
        <p:spPr>
          <a:xfrm>
            <a:off x="3073400" y="1739900"/>
            <a:ext cx="406400" cy="4064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2</a:t>
            </a:r>
          </a:p>
        </p:txBody>
      </p:sp>
      <p:sp>
        <p:nvSpPr>
          <p:cNvPr id="13" name="TextBox 12">
            <a:extLst>
              <a:ext uri="{FF2B5EF4-FFF2-40B4-BE49-F238E27FC236}">
                <a16:creationId xmlns:a16="http://schemas.microsoft.com/office/drawing/2014/main" id="{AA96D6BF-5D30-36D8-4EA5-F6EA445D0C45}"/>
              </a:ext>
            </a:extLst>
          </p:cNvPr>
          <p:cNvSpPr txBox="1"/>
          <p:nvPr/>
        </p:nvSpPr>
        <p:spPr>
          <a:xfrm>
            <a:off x="3556000" y="1752600"/>
            <a:ext cx="1143000" cy="276999"/>
          </a:xfrm>
          <a:prstGeom prst="rect">
            <a:avLst/>
          </a:prstGeom>
          <a:noFill/>
        </p:spPr>
        <p:txBody>
          <a:bodyPr vert="horz" wrap="square" lIns="0" tIns="0" rIns="0" bIns="0" rtlCol="0">
            <a:noAutofit/>
          </a:bodyPr>
          <a:lstStyle/>
          <a:p>
            <a:r>
              <a:rPr lang="en-IN" sz="1200" b="1">
                <a:solidFill>
                  <a:srgbClr val="1A8BFF"/>
                </a:solidFill>
                <a:latin typeface="Aptos" panose="020B0004020202020204" pitchFamily="34" charset="0"/>
              </a:rPr>
              <a:t>Inverse quantization</a:t>
            </a:r>
          </a:p>
        </p:txBody>
      </p:sp>
      <p:cxnSp>
        <p:nvCxnSpPr>
          <p:cNvPr id="14" name="Straight Connector 13">
            <a:extLst>
              <a:ext uri="{FF2B5EF4-FFF2-40B4-BE49-F238E27FC236}">
                <a16:creationId xmlns:a16="http://schemas.microsoft.com/office/drawing/2014/main" id="{2E49BAC7-5131-8187-29B5-A39A93A244AE}"/>
              </a:ext>
            </a:extLst>
          </p:cNvPr>
          <p:cNvCxnSpPr/>
          <p:nvPr/>
        </p:nvCxnSpPr>
        <p:spPr>
          <a:xfrm>
            <a:off x="4813300" y="1943100"/>
            <a:ext cx="393700" cy="0"/>
          </a:xfrm>
          <a:prstGeom prst="line">
            <a:avLst/>
          </a:prstGeom>
          <a:ln w="2032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03E52131-9506-78D8-6993-6C13A673F036}"/>
              </a:ext>
            </a:extLst>
          </p:cNvPr>
          <p:cNvSpPr/>
          <p:nvPr/>
        </p:nvSpPr>
        <p:spPr>
          <a:xfrm>
            <a:off x="5270500" y="1600200"/>
            <a:ext cx="1803400" cy="685800"/>
          </a:xfrm>
          <a:prstGeom prst="roundRect">
            <a:avLst/>
          </a:prstGeom>
          <a:solidFill>
            <a:srgbClr val="071E35">
              <a:alpha val="98000"/>
            </a:srgbClr>
          </a:solidFill>
          <a:ln w="1778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2D75E8EE-9DAA-F0D3-6500-303EBB8C998E}"/>
              </a:ext>
            </a:extLst>
          </p:cNvPr>
          <p:cNvSpPr/>
          <p:nvPr/>
        </p:nvSpPr>
        <p:spPr>
          <a:xfrm>
            <a:off x="5372100" y="1739900"/>
            <a:ext cx="406400" cy="4064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1A8BFF"/>
                </a:solidFill>
                <a:latin typeface="Aptos Display" panose="020B0004020202020204" pitchFamily="34" charset="0"/>
              </a:rPr>
              <a:t>3</a:t>
            </a:r>
          </a:p>
        </p:txBody>
      </p:sp>
      <p:sp>
        <p:nvSpPr>
          <p:cNvPr id="17" name="TextBox 16">
            <a:extLst>
              <a:ext uri="{FF2B5EF4-FFF2-40B4-BE49-F238E27FC236}">
                <a16:creationId xmlns:a16="http://schemas.microsoft.com/office/drawing/2014/main" id="{7E9DF28A-87F2-D1D4-49B2-AAB0E34BB0E9}"/>
              </a:ext>
            </a:extLst>
          </p:cNvPr>
          <p:cNvSpPr txBox="1"/>
          <p:nvPr/>
        </p:nvSpPr>
        <p:spPr>
          <a:xfrm>
            <a:off x="5854700" y="1752600"/>
            <a:ext cx="1143000" cy="276999"/>
          </a:xfrm>
          <a:prstGeom prst="rect">
            <a:avLst/>
          </a:prstGeom>
          <a:noFill/>
        </p:spPr>
        <p:txBody>
          <a:bodyPr vert="horz" wrap="square" lIns="0" tIns="0" rIns="0" bIns="0" rtlCol="0">
            <a:noAutofit/>
          </a:bodyPr>
          <a:lstStyle/>
          <a:p>
            <a:r>
              <a:rPr lang="en-IN" sz="1200" b="1">
                <a:solidFill>
                  <a:srgbClr val="1A8BFF"/>
                </a:solidFill>
                <a:latin typeface="Aptos" panose="020B0004020202020204" pitchFamily="34" charset="0"/>
              </a:rPr>
              <a:t>Inverse transform</a:t>
            </a:r>
          </a:p>
        </p:txBody>
      </p:sp>
      <p:cxnSp>
        <p:nvCxnSpPr>
          <p:cNvPr id="18" name="Straight Connector 17">
            <a:extLst>
              <a:ext uri="{FF2B5EF4-FFF2-40B4-BE49-F238E27FC236}">
                <a16:creationId xmlns:a16="http://schemas.microsoft.com/office/drawing/2014/main" id="{07F76F46-12F7-557A-69B4-8691E659C5C1}"/>
              </a:ext>
            </a:extLst>
          </p:cNvPr>
          <p:cNvCxnSpPr/>
          <p:nvPr/>
        </p:nvCxnSpPr>
        <p:spPr>
          <a:xfrm>
            <a:off x="7112000" y="1943100"/>
            <a:ext cx="393700" cy="0"/>
          </a:xfrm>
          <a:prstGeom prst="line">
            <a:avLst/>
          </a:prstGeom>
          <a:ln w="2032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11D30961-A634-6A5F-B3F9-5A05870AF250}"/>
              </a:ext>
            </a:extLst>
          </p:cNvPr>
          <p:cNvSpPr/>
          <p:nvPr/>
        </p:nvSpPr>
        <p:spPr>
          <a:xfrm>
            <a:off x="7569200" y="1600200"/>
            <a:ext cx="1803400" cy="685800"/>
          </a:xfrm>
          <a:prstGeom prst="roundRect">
            <a:avLst/>
          </a:prstGeom>
          <a:solidFill>
            <a:srgbClr val="071E35">
              <a:alpha val="98000"/>
            </a:srgbClr>
          </a:solidFill>
          <a:ln w="1778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06240182-E3D7-196E-90AE-B17FDDC79C92}"/>
              </a:ext>
            </a:extLst>
          </p:cNvPr>
          <p:cNvSpPr/>
          <p:nvPr/>
        </p:nvSpPr>
        <p:spPr>
          <a:xfrm>
            <a:off x="7670800" y="1739900"/>
            <a:ext cx="406400" cy="4064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55E6A5"/>
                </a:solidFill>
                <a:latin typeface="Aptos Display" panose="020B0004020202020204" pitchFamily="34" charset="0"/>
              </a:rPr>
              <a:t>4</a:t>
            </a:r>
          </a:p>
        </p:txBody>
      </p:sp>
      <p:sp>
        <p:nvSpPr>
          <p:cNvPr id="21" name="TextBox 20">
            <a:extLst>
              <a:ext uri="{FF2B5EF4-FFF2-40B4-BE49-F238E27FC236}">
                <a16:creationId xmlns:a16="http://schemas.microsoft.com/office/drawing/2014/main" id="{BF28148D-05A9-7D7F-7E85-F305372927DC}"/>
              </a:ext>
            </a:extLst>
          </p:cNvPr>
          <p:cNvSpPr txBox="1"/>
          <p:nvPr/>
        </p:nvSpPr>
        <p:spPr>
          <a:xfrm>
            <a:off x="8153400" y="1752600"/>
            <a:ext cx="1143000" cy="276999"/>
          </a:xfrm>
          <a:prstGeom prst="rect">
            <a:avLst/>
          </a:prstGeom>
          <a:noFill/>
        </p:spPr>
        <p:txBody>
          <a:bodyPr vert="horz" wrap="square" lIns="0" tIns="0" rIns="0" bIns="0" rtlCol="0">
            <a:noAutofit/>
          </a:bodyPr>
          <a:lstStyle/>
          <a:p>
            <a:r>
              <a:rPr lang="en-IN" sz="1200" b="1">
                <a:solidFill>
                  <a:srgbClr val="55E6A5"/>
                </a:solidFill>
                <a:latin typeface="Aptos" panose="020B0004020202020204" pitchFamily="34" charset="0"/>
              </a:rPr>
              <a:t>+ prediction</a:t>
            </a:r>
          </a:p>
        </p:txBody>
      </p:sp>
      <p:cxnSp>
        <p:nvCxnSpPr>
          <p:cNvPr id="22" name="Straight Connector 21">
            <a:extLst>
              <a:ext uri="{FF2B5EF4-FFF2-40B4-BE49-F238E27FC236}">
                <a16:creationId xmlns:a16="http://schemas.microsoft.com/office/drawing/2014/main" id="{1E723C11-733A-23DA-1681-1E6A8D784A69}"/>
              </a:ext>
            </a:extLst>
          </p:cNvPr>
          <p:cNvCxnSpPr/>
          <p:nvPr/>
        </p:nvCxnSpPr>
        <p:spPr>
          <a:xfrm>
            <a:off x="9410700" y="1943100"/>
            <a:ext cx="393700" cy="0"/>
          </a:xfrm>
          <a:prstGeom prst="line">
            <a:avLst/>
          </a:prstGeom>
          <a:ln w="2032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4987DA4A-654A-9858-3230-CF9D4EBB09A2}"/>
              </a:ext>
            </a:extLst>
          </p:cNvPr>
          <p:cNvSpPr/>
          <p:nvPr/>
        </p:nvSpPr>
        <p:spPr>
          <a:xfrm>
            <a:off x="9867900" y="1600200"/>
            <a:ext cx="1803400" cy="685800"/>
          </a:xfrm>
          <a:prstGeom prst="roundRect">
            <a:avLst/>
          </a:prstGeom>
          <a:solidFill>
            <a:srgbClr val="071E35">
              <a:alpha val="98000"/>
            </a:srgbClr>
          </a:solidFill>
          <a:ln w="1778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C176AC8C-118F-688C-366A-165613A2F7ED}"/>
              </a:ext>
            </a:extLst>
          </p:cNvPr>
          <p:cNvSpPr/>
          <p:nvPr/>
        </p:nvSpPr>
        <p:spPr>
          <a:xfrm>
            <a:off x="9969500" y="1739900"/>
            <a:ext cx="406400" cy="4064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55E6A5"/>
                </a:solidFill>
                <a:latin typeface="Aptos Display" panose="020B0004020202020204" pitchFamily="34" charset="0"/>
              </a:rPr>
              <a:t>5</a:t>
            </a:r>
          </a:p>
        </p:txBody>
      </p:sp>
      <p:sp>
        <p:nvSpPr>
          <p:cNvPr id="25" name="TextBox 24">
            <a:extLst>
              <a:ext uri="{FF2B5EF4-FFF2-40B4-BE49-F238E27FC236}">
                <a16:creationId xmlns:a16="http://schemas.microsoft.com/office/drawing/2014/main" id="{60B743AC-E135-607B-8797-3EE743CFBA8A}"/>
              </a:ext>
            </a:extLst>
          </p:cNvPr>
          <p:cNvSpPr txBox="1"/>
          <p:nvPr/>
        </p:nvSpPr>
        <p:spPr>
          <a:xfrm>
            <a:off x="10452100" y="1752600"/>
            <a:ext cx="1143000" cy="276999"/>
          </a:xfrm>
          <a:prstGeom prst="rect">
            <a:avLst/>
          </a:prstGeom>
          <a:noFill/>
        </p:spPr>
        <p:txBody>
          <a:bodyPr vert="horz" wrap="square" lIns="0" tIns="0" rIns="0" bIns="0" rtlCol="0">
            <a:noAutofit/>
          </a:bodyPr>
          <a:lstStyle/>
          <a:p>
            <a:r>
              <a:rPr lang="en-IN" sz="1200" b="1">
                <a:solidFill>
                  <a:srgbClr val="55E6A5"/>
                </a:solidFill>
                <a:latin typeface="Aptos" panose="020B0004020202020204" pitchFamily="34" charset="0"/>
              </a:rPr>
              <a:t>Rebuilt</a:t>
            </a:r>
          </a:p>
        </p:txBody>
      </p:sp>
      <p:sp>
        <p:nvSpPr>
          <p:cNvPr id="26" name="Rectangle: Rounded Corners 25">
            <a:extLst>
              <a:ext uri="{FF2B5EF4-FFF2-40B4-BE49-F238E27FC236}">
                <a16:creationId xmlns:a16="http://schemas.microsoft.com/office/drawing/2014/main" id="{B6B33BF1-6944-1EE9-C825-E797B2FB1C3D}"/>
              </a:ext>
            </a:extLst>
          </p:cNvPr>
          <p:cNvSpPr/>
          <p:nvPr/>
        </p:nvSpPr>
        <p:spPr>
          <a:xfrm>
            <a:off x="863600" y="2997200"/>
            <a:ext cx="4572000" cy="2082800"/>
          </a:xfrm>
          <a:prstGeom prst="roundRect">
            <a:avLst/>
          </a:prstGeom>
          <a:solidFill>
            <a:srgbClr val="071E35">
              <a:alpha val="97000"/>
            </a:srgbClr>
          </a:solidFill>
          <a:ln w="1905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2DE57BD6-A055-D924-FA6B-1EC436AAF466}"/>
              </a:ext>
            </a:extLst>
          </p:cNvPr>
          <p:cNvSpPr txBox="1"/>
          <p:nvPr/>
        </p:nvSpPr>
        <p:spPr>
          <a:xfrm>
            <a:off x="1117600" y="3225800"/>
            <a:ext cx="4064000" cy="276999"/>
          </a:xfrm>
          <a:prstGeom prst="rect">
            <a:avLst/>
          </a:prstGeom>
          <a:noFill/>
        </p:spPr>
        <p:txBody>
          <a:bodyPr vert="horz" wrap="square" lIns="0" tIns="0" rIns="0" bIns="0" rtlCol="0">
            <a:noAutofit/>
          </a:bodyPr>
          <a:lstStyle/>
          <a:p>
            <a:pPr algn="ctr"/>
            <a:r>
              <a:rPr lang="en-IN" sz="2000" b="1">
                <a:solidFill>
                  <a:srgbClr val="16E3F2"/>
                </a:solidFill>
                <a:latin typeface="Aptos Display" panose="020B0004020202020204" pitchFamily="34" charset="0"/>
              </a:rPr>
              <a:t>Encoder reference</a:t>
            </a:r>
          </a:p>
        </p:txBody>
      </p:sp>
      <p:sp>
        <p:nvSpPr>
          <p:cNvPr id="28" name="TextBox 27">
            <a:extLst>
              <a:ext uri="{FF2B5EF4-FFF2-40B4-BE49-F238E27FC236}">
                <a16:creationId xmlns:a16="http://schemas.microsoft.com/office/drawing/2014/main" id="{6E86BDCB-AC3A-C05E-0F4F-553228660F6C}"/>
              </a:ext>
            </a:extLst>
          </p:cNvPr>
          <p:cNvSpPr txBox="1"/>
          <p:nvPr/>
        </p:nvSpPr>
        <p:spPr>
          <a:xfrm>
            <a:off x="2247900" y="3810000"/>
            <a:ext cx="1778000" cy="276999"/>
          </a:xfrm>
          <a:prstGeom prst="rect">
            <a:avLst/>
          </a:prstGeom>
          <a:noFill/>
        </p:spPr>
        <p:txBody>
          <a:bodyPr vert="horz" wrap="square" lIns="0" tIns="0" rIns="0" bIns="0" rtlCol="0">
            <a:noAutofit/>
          </a:bodyPr>
          <a:lstStyle/>
          <a:p>
            <a:pPr algn="ctr"/>
            <a:r>
              <a:rPr lang="en-IN" b="1">
                <a:solidFill>
                  <a:srgbClr val="A7B7C9"/>
                </a:solidFill>
                <a:latin typeface="Aptos" panose="020B0004020202020204" pitchFamily="34" charset="0"/>
              </a:rPr>
              <a:t>must equal</a:t>
            </a:r>
          </a:p>
        </p:txBody>
      </p:sp>
      <p:sp>
        <p:nvSpPr>
          <p:cNvPr id="29" name="TextBox 28">
            <a:extLst>
              <a:ext uri="{FF2B5EF4-FFF2-40B4-BE49-F238E27FC236}">
                <a16:creationId xmlns:a16="http://schemas.microsoft.com/office/drawing/2014/main" id="{6099B7CA-2474-E531-E082-D471C8F71008}"/>
              </a:ext>
            </a:extLst>
          </p:cNvPr>
          <p:cNvSpPr txBox="1"/>
          <p:nvPr/>
        </p:nvSpPr>
        <p:spPr>
          <a:xfrm>
            <a:off x="1168400" y="4381500"/>
            <a:ext cx="3962400" cy="276999"/>
          </a:xfrm>
          <a:prstGeom prst="rect">
            <a:avLst/>
          </a:prstGeom>
          <a:noFill/>
        </p:spPr>
        <p:txBody>
          <a:bodyPr vert="horz" wrap="square" lIns="0" tIns="0" rIns="0" bIns="0" rtlCol="0">
            <a:noAutofit/>
          </a:bodyPr>
          <a:lstStyle/>
          <a:p>
            <a:pPr algn="ctr"/>
            <a:r>
              <a:rPr lang="en-IN" sz="1900" b="1">
                <a:solidFill>
                  <a:srgbClr val="F5F7FA"/>
                </a:solidFill>
                <a:latin typeface="Aptos" panose="020B0004020202020204" pitchFamily="34" charset="0"/>
              </a:rPr>
              <a:t>what the decoder reconstructs</a:t>
            </a:r>
          </a:p>
        </p:txBody>
      </p:sp>
      <p:sp>
        <p:nvSpPr>
          <p:cNvPr id="30" name="TextBox 29">
            <a:extLst>
              <a:ext uri="{FF2B5EF4-FFF2-40B4-BE49-F238E27FC236}">
                <a16:creationId xmlns:a16="http://schemas.microsoft.com/office/drawing/2014/main" id="{5F15780F-362A-98FE-D340-E6BE4786E484}"/>
              </a:ext>
            </a:extLst>
          </p:cNvPr>
          <p:cNvSpPr txBox="1"/>
          <p:nvPr/>
        </p:nvSpPr>
        <p:spPr>
          <a:xfrm>
            <a:off x="5715000" y="3683000"/>
            <a:ext cx="762000" cy="276999"/>
          </a:xfrm>
          <a:prstGeom prst="rect">
            <a:avLst/>
          </a:prstGeom>
          <a:noFill/>
        </p:spPr>
        <p:txBody>
          <a:bodyPr vert="horz" wrap="square" lIns="0" tIns="0" rIns="0" bIns="0" rtlCol="0">
            <a:noAutofit/>
          </a:bodyPr>
          <a:lstStyle/>
          <a:p>
            <a:pPr algn="ctr"/>
            <a:r>
              <a:rPr lang="en-IN" sz="4200" b="1">
                <a:solidFill>
                  <a:srgbClr val="55E6A5"/>
                </a:solidFill>
                <a:latin typeface="Aptos Display" panose="020B0004020202020204" pitchFamily="34" charset="0"/>
              </a:rPr>
              <a:t>=</a:t>
            </a:r>
          </a:p>
        </p:txBody>
      </p:sp>
      <p:sp>
        <p:nvSpPr>
          <p:cNvPr id="31" name="Rectangle: Rounded Corners 30">
            <a:extLst>
              <a:ext uri="{FF2B5EF4-FFF2-40B4-BE49-F238E27FC236}">
                <a16:creationId xmlns:a16="http://schemas.microsoft.com/office/drawing/2014/main" id="{A55D6F01-3D3D-1DDE-0221-C1B0C9928093}"/>
              </a:ext>
            </a:extLst>
          </p:cNvPr>
          <p:cNvSpPr/>
          <p:nvPr/>
        </p:nvSpPr>
        <p:spPr>
          <a:xfrm>
            <a:off x="6756400" y="2997200"/>
            <a:ext cx="4572000" cy="2082800"/>
          </a:xfrm>
          <a:prstGeom prst="roundRect">
            <a:avLst/>
          </a:prstGeom>
          <a:solidFill>
            <a:srgbClr val="071E35">
              <a:alpha val="97000"/>
            </a:srgbClr>
          </a:solidFill>
          <a:ln w="1905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DE586B0A-17E4-E95B-27ED-2D98AE9710D6}"/>
              </a:ext>
            </a:extLst>
          </p:cNvPr>
          <p:cNvSpPr txBox="1"/>
          <p:nvPr/>
        </p:nvSpPr>
        <p:spPr>
          <a:xfrm>
            <a:off x="7010400" y="3225800"/>
            <a:ext cx="4064000" cy="276999"/>
          </a:xfrm>
          <a:prstGeom prst="rect">
            <a:avLst/>
          </a:prstGeom>
          <a:noFill/>
        </p:spPr>
        <p:txBody>
          <a:bodyPr vert="horz" wrap="square" lIns="0" tIns="0" rIns="0" bIns="0" rtlCol="0">
            <a:noAutofit/>
          </a:bodyPr>
          <a:lstStyle/>
          <a:p>
            <a:pPr algn="ctr"/>
            <a:r>
              <a:rPr lang="en-IN" sz="2000" b="1">
                <a:solidFill>
                  <a:srgbClr val="55E6A5"/>
                </a:solidFill>
                <a:latin typeface="Aptos Display" panose="020B0004020202020204" pitchFamily="34" charset="0"/>
              </a:rPr>
              <a:t>Decoder reference</a:t>
            </a:r>
          </a:p>
        </p:txBody>
      </p:sp>
      <p:sp>
        <p:nvSpPr>
          <p:cNvPr id="33" name="TextBox 32">
            <a:extLst>
              <a:ext uri="{FF2B5EF4-FFF2-40B4-BE49-F238E27FC236}">
                <a16:creationId xmlns:a16="http://schemas.microsoft.com/office/drawing/2014/main" id="{94A0F524-DB30-80D9-AB53-5DFA41C2131F}"/>
              </a:ext>
            </a:extLst>
          </p:cNvPr>
          <p:cNvSpPr txBox="1"/>
          <p:nvPr/>
        </p:nvSpPr>
        <p:spPr>
          <a:xfrm>
            <a:off x="7188200" y="3860800"/>
            <a:ext cx="3708400" cy="276999"/>
          </a:xfrm>
          <a:prstGeom prst="rect">
            <a:avLst/>
          </a:prstGeom>
          <a:noFill/>
        </p:spPr>
        <p:txBody>
          <a:bodyPr vert="horz" wrap="square" lIns="0" tIns="0" rIns="0" bIns="0" rtlCol="0">
            <a:noAutofit/>
          </a:bodyPr>
          <a:lstStyle/>
          <a:p>
            <a:pPr algn="ctr"/>
            <a:r>
              <a:rPr lang="en-IN" b="1">
                <a:solidFill>
                  <a:srgbClr val="A7B7C9"/>
                </a:solidFill>
                <a:latin typeface="Aptos" panose="020B0004020202020204" pitchFamily="34" charset="0"/>
              </a:rPr>
              <a:t>same inverse operations</a:t>
            </a:r>
          </a:p>
        </p:txBody>
      </p:sp>
      <p:sp>
        <p:nvSpPr>
          <p:cNvPr id="34" name="TextBox 33">
            <a:extLst>
              <a:ext uri="{FF2B5EF4-FFF2-40B4-BE49-F238E27FC236}">
                <a16:creationId xmlns:a16="http://schemas.microsoft.com/office/drawing/2014/main" id="{839D2E6B-04A6-FCF5-0CA9-06E3DDD95F69}"/>
              </a:ext>
            </a:extLst>
          </p:cNvPr>
          <p:cNvSpPr txBox="1"/>
          <p:nvPr/>
        </p:nvSpPr>
        <p:spPr>
          <a:xfrm>
            <a:off x="7188200" y="4381500"/>
            <a:ext cx="3708400" cy="276999"/>
          </a:xfrm>
          <a:prstGeom prst="rect">
            <a:avLst/>
          </a:prstGeom>
          <a:noFill/>
        </p:spPr>
        <p:txBody>
          <a:bodyPr vert="horz" wrap="square" lIns="0" tIns="0" rIns="0" bIns="0" rtlCol="0">
            <a:noAutofit/>
          </a:bodyPr>
          <a:lstStyle/>
          <a:p>
            <a:pPr algn="ctr"/>
            <a:r>
              <a:rPr lang="en-IN" sz="1900" b="1">
                <a:solidFill>
                  <a:srgbClr val="F5F7FA"/>
                </a:solidFill>
                <a:latin typeface="Aptos" panose="020B0004020202020204" pitchFamily="34" charset="0"/>
              </a:rPr>
              <a:t>same prediction base</a:t>
            </a:r>
          </a:p>
        </p:txBody>
      </p:sp>
      <p:sp>
        <p:nvSpPr>
          <p:cNvPr id="35" name="Rectangle: Rounded Corners 34">
            <a:extLst>
              <a:ext uri="{FF2B5EF4-FFF2-40B4-BE49-F238E27FC236}">
                <a16:creationId xmlns:a16="http://schemas.microsoft.com/office/drawing/2014/main" id="{BCF12F0A-20C7-1DF7-F743-446ECE8EFB34}"/>
              </a:ext>
            </a:extLst>
          </p:cNvPr>
          <p:cNvSpPr/>
          <p:nvPr/>
        </p:nvSpPr>
        <p:spPr>
          <a:xfrm>
            <a:off x="2209800" y="5537200"/>
            <a:ext cx="7772400" cy="584200"/>
          </a:xfrm>
          <a:prstGeom prst="roundRect">
            <a:avLst/>
          </a:prstGeom>
          <a:solidFill>
            <a:srgbClr val="071E35">
              <a:alpha val="97000"/>
            </a:srgbClr>
          </a:solidFill>
          <a:ln w="1651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5C0D685D-F61A-39B9-90B2-03810F043048}"/>
              </a:ext>
            </a:extLst>
          </p:cNvPr>
          <p:cNvSpPr txBox="1"/>
          <p:nvPr/>
        </p:nvSpPr>
        <p:spPr>
          <a:xfrm>
            <a:off x="2413000" y="5676900"/>
            <a:ext cx="7366000" cy="276999"/>
          </a:xfrm>
          <a:prstGeom prst="rect">
            <a:avLst/>
          </a:prstGeom>
          <a:noFill/>
        </p:spPr>
        <p:txBody>
          <a:bodyPr vert="horz" wrap="square" lIns="0" tIns="0" rIns="0" bIns="0" rtlCol="0">
            <a:noAutofit/>
          </a:bodyPr>
          <a:lstStyle/>
          <a:p>
            <a:pPr algn="ctr"/>
            <a:r>
              <a:rPr lang="en-US" b="1">
                <a:solidFill>
                  <a:srgbClr val="F5F7FA"/>
                </a:solidFill>
                <a:latin typeface="Aptos Display" panose="020B0004020202020204" pitchFamily="34" charset="0"/>
              </a:rPr>
              <a:t>If references differ, the error propagates through future inter prediction.</a:t>
            </a:r>
            <a:endParaRPr lang="en-IN" b="1">
              <a:solidFill>
                <a:srgbClr val="F5F7FA"/>
              </a:solidFill>
              <a:latin typeface="Aptos Display" panose="020B0004020202020204" pitchFamily="34" charset="0"/>
            </a:endParaRPr>
          </a:p>
        </p:txBody>
      </p:sp>
      <p:sp>
        <p:nvSpPr>
          <p:cNvPr id="37" name="TextBox 36">
            <a:extLst>
              <a:ext uri="{FF2B5EF4-FFF2-40B4-BE49-F238E27FC236}">
                <a16:creationId xmlns:a16="http://schemas.microsoft.com/office/drawing/2014/main" id="{127FC1B3-0A9C-41AA-FB61-FD6DEDC066CB}"/>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14 / 19</a:t>
            </a:r>
          </a:p>
        </p:txBody>
      </p:sp>
    </p:spTree>
    <p:extLst>
      <p:ext uri="{BB962C8B-B14F-4D97-AF65-F5344CB8AC3E}">
        <p14:creationId xmlns:p14="http://schemas.microsoft.com/office/powerpoint/2010/main" val="4291677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8AD86E-437F-12C8-F533-BB4A57C63929}"/>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1242F812-0F68-AC9F-02AC-F2A2AF0E4B7A}"/>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47C93616-CA28-F0ED-456C-2296C25771C3}"/>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CEDCF2-943F-E0EF-092A-DB8E4EF3397C}"/>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Deblocking and Sample Adaptive Offset (SAO) improve the next reference</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053D16DF-4876-7A1E-83E7-E32C3A1C886C}"/>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3A7F2C-6912-9FF7-6D89-FBDADA2D7DE8}"/>
              </a:ext>
            </a:extLst>
          </p:cNvPr>
          <p:cNvSpPr txBox="1"/>
          <p:nvPr/>
        </p:nvSpPr>
        <p:spPr>
          <a:xfrm>
            <a:off x="889000" y="1422400"/>
            <a:ext cx="4635500" cy="276999"/>
          </a:xfrm>
          <a:prstGeom prst="rect">
            <a:avLst/>
          </a:prstGeom>
          <a:noFill/>
        </p:spPr>
        <p:txBody>
          <a:bodyPr vert="horz" wrap="square" lIns="0" tIns="0" rIns="0" bIns="0" rtlCol="0">
            <a:noAutofit/>
          </a:bodyPr>
          <a:lstStyle/>
          <a:p>
            <a:pPr algn="ctr"/>
            <a:r>
              <a:rPr lang="en-IN" sz="2200" b="1">
                <a:solidFill>
                  <a:srgbClr val="16E3F2"/>
                </a:solidFill>
                <a:latin typeface="Aptos Display" panose="020B0004020202020204" pitchFamily="34" charset="0"/>
              </a:rPr>
              <a:t>1  Deblocking filter</a:t>
            </a:r>
          </a:p>
        </p:txBody>
      </p:sp>
      <p:sp>
        <p:nvSpPr>
          <p:cNvPr id="8" name="Rectangle 7">
            <a:extLst>
              <a:ext uri="{FF2B5EF4-FFF2-40B4-BE49-F238E27FC236}">
                <a16:creationId xmlns:a16="http://schemas.microsoft.com/office/drawing/2014/main" id="{8C9C91D8-EDD2-0003-0C16-356FC7322339}"/>
              </a:ext>
            </a:extLst>
          </p:cNvPr>
          <p:cNvSpPr/>
          <p:nvPr/>
        </p:nvSpPr>
        <p:spPr>
          <a:xfrm>
            <a:off x="1168400" y="2032000"/>
            <a:ext cx="4064000" cy="2667000"/>
          </a:xfrm>
          <a:prstGeom prst="rect">
            <a:avLst/>
          </a:prstGeom>
          <a:solidFill>
            <a:srgbClr val="06182B"/>
          </a:solidFill>
          <a:ln w="2032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0998492C-8AE5-4FC4-4E64-F651DD7E3ABF}"/>
              </a:ext>
            </a:extLst>
          </p:cNvPr>
          <p:cNvCxnSpPr/>
          <p:nvPr/>
        </p:nvCxnSpPr>
        <p:spPr>
          <a:xfrm>
            <a:off x="1676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B3257D-8550-AAA0-BD07-DE7ED1AD5412}"/>
              </a:ext>
            </a:extLst>
          </p:cNvPr>
          <p:cNvCxnSpPr/>
          <p:nvPr/>
        </p:nvCxnSpPr>
        <p:spPr>
          <a:xfrm>
            <a:off x="1168400" y="2365375"/>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AA4991C-B194-0CD6-8B8F-620D7FB1D0A7}"/>
              </a:ext>
            </a:extLst>
          </p:cNvPr>
          <p:cNvCxnSpPr/>
          <p:nvPr/>
        </p:nvCxnSpPr>
        <p:spPr>
          <a:xfrm>
            <a:off x="2184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AACEE1-FBFA-526E-145E-1B2B9055952E}"/>
              </a:ext>
            </a:extLst>
          </p:cNvPr>
          <p:cNvCxnSpPr/>
          <p:nvPr/>
        </p:nvCxnSpPr>
        <p:spPr>
          <a:xfrm>
            <a:off x="1168400" y="2698750"/>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7A3988A-7067-FB1B-8EBA-8D07276628F3}"/>
              </a:ext>
            </a:extLst>
          </p:cNvPr>
          <p:cNvCxnSpPr/>
          <p:nvPr/>
        </p:nvCxnSpPr>
        <p:spPr>
          <a:xfrm>
            <a:off x="2692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53A8E05-CEED-79DF-816B-81527180C28E}"/>
              </a:ext>
            </a:extLst>
          </p:cNvPr>
          <p:cNvCxnSpPr/>
          <p:nvPr/>
        </p:nvCxnSpPr>
        <p:spPr>
          <a:xfrm>
            <a:off x="1168400" y="3032125"/>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874B00-F7F4-F345-FDE4-027A12E36D1F}"/>
              </a:ext>
            </a:extLst>
          </p:cNvPr>
          <p:cNvCxnSpPr/>
          <p:nvPr/>
        </p:nvCxnSpPr>
        <p:spPr>
          <a:xfrm>
            <a:off x="3200400" y="2032000"/>
            <a:ext cx="0" cy="2667000"/>
          </a:xfrm>
          <a:prstGeom prst="line">
            <a:avLst/>
          </a:prstGeom>
          <a:ln w="63500">
            <a:solidFill>
              <a:srgbClr val="FF6B78"/>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EB2A29-CC18-15FE-9339-551D0B5C5652}"/>
              </a:ext>
            </a:extLst>
          </p:cNvPr>
          <p:cNvCxnSpPr/>
          <p:nvPr/>
        </p:nvCxnSpPr>
        <p:spPr>
          <a:xfrm>
            <a:off x="1168400" y="3365500"/>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20804F9-04D8-FF59-857C-07265E397D47}"/>
              </a:ext>
            </a:extLst>
          </p:cNvPr>
          <p:cNvCxnSpPr/>
          <p:nvPr/>
        </p:nvCxnSpPr>
        <p:spPr>
          <a:xfrm>
            <a:off x="3708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F2F335-8157-AC89-6C44-5FE801179CC0}"/>
              </a:ext>
            </a:extLst>
          </p:cNvPr>
          <p:cNvCxnSpPr/>
          <p:nvPr/>
        </p:nvCxnSpPr>
        <p:spPr>
          <a:xfrm>
            <a:off x="1168400" y="3698875"/>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40D1077-1277-52DF-FA97-608C6F8A959E}"/>
              </a:ext>
            </a:extLst>
          </p:cNvPr>
          <p:cNvCxnSpPr/>
          <p:nvPr/>
        </p:nvCxnSpPr>
        <p:spPr>
          <a:xfrm>
            <a:off x="4216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91E2633-35C8-30D6-1E60-6936807FA99E}"/>
              </a:ext>
            </a:extLst>
          </p:cNvPr>
          <p:cNvCxnSpPr/>
          <p:nvPr/>
        </p:nvCxnSpPr>
        <p:spPr>
          <a:xfrm>
            <a:off x="1168400" y="4032250"/>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77754B3-B3A0-8D3D-E7E4-179224D9432A}"/>
              </a:ext>
            </a:extLst>
          </p:cNvPr>
          <p:cNvCxnSpPr/>
          <p:nvPr/>
        </p:nvCxnSpPr>
        <p:spPr>
          <a:xfrm>
            <a:off x="4724400" y="2032000"/>
            <a:ext cx="0" cy="266700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406CA5-B4A1-BC11-B094-361D4390A791}"/>
              </a:ext>
            </a:extLst>
          </p:cNvPr>
          <p:cNvCxnSpPr/>
          <p:nvPr/>
        </p:nvCxnSpPr>
        <p:spPr>
          <a:xfrm>
            <a:off x="1168400" y="4365625"/>
            <a:ext cx="4064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9071A11-4B77-A21B-D610-CD520BE1FB3E}"/>
              </a:ext>
            </a:extLst>
          </p:cNvPr>
          <p:cNvSpPr txBox="1"/>
          <p:nvPr/>
        </p:nvSpPr>
        <p:spPr>
          <a:xfrm>
            <a:off x="1219200" y="4965700"/>
            <a:ext cx="3962400" cy="276999"/>
          </a:xfrm>
          <a:prstGeom prst="rect">
            <a:avLst/>
          </a:prstGeom>
          <a:noFill/>
        </p:spPr>
        <p:txBody>
          <a:bodyPr vert="horz" wrap="square" lIns="0" tIns="0" rIns="0" bIns="0" rtlCol="0">
            <a:noAutofit/>
          </a:bodyPr>
          <a:lstStyle/>
          <a:p>
            <a:pPr algn="ctr"/>
            <a:r>
              <a:rPr lang="en-US" sz="1600">
                <a:solidFill>
                  <a:srgbClr val="A7B7C9"/>
                </a:solidFill>
                <a:latin typeface="Aptos" panose="020B0004020202020204" pitchFamily="34" charset="0"/>
              </a:rPr>
              <a:t>reduces visible discontinuities across selected block edges</a:t>
            </a:r>
            <a:endParaRPr lang="en-IN" sz="1600">
              <a:solidFill>
                <a:srgbClr val="A7B7C9"/>
              </a:solidFill>
              <a:latin typeface="Aptos" panose="020B0004020202020204" pitchFamily="34" charset="0"/>
            </a:endParaRPr>
          </a:p>
        </p:txBody>
      </p:sp>
      <p:cxnSp>
        <p:nvCxnSpPr>
          <p:cNvPr id="24" name="Straight Connector 23">
            <a:extLst>
              <a:ext uri="{FF2B5EF4-FFF2-40B4-BE49-F238E27FC236}">
                <a16:creationId xmlns:a16="http://schemas.microsoft.com/office/drawing/2014/main" id="{BC5C63FF-EBED-A359-2B46-D14387FEAD07}"/>
              </a:ext>
            </a:extLst>
          </p:cNvPr>
          <p:cNvCxnSpPr/>
          <p:nvPr/>
        </p:nvCxnSpPr>
        <p:spPr>
          <a:xfrm>
            <a:off x="5918200" y="3365500"/>
            <a:ext cx="355600" cy="0"/>
          </a:xfrm>
          <a:prstGeom prst="line">
            <a:avLst/>
          </a:prstGeom>
          <a:ln w="25400">
            <a:solidFill>
              <a:srgbClr val="A7B7C9"/>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DD80461-8B28-C16D-CEB1-F2513C45BABE}"/>
              </a:ext>
            </a:extLst>
          </p:cNvPr>
          <p:cNvSpPr txBox="1"/>
          <p:nvPr/>
        </p:nvSpPr>
        <p:spPr>
          <a:xfrm>
            <a:off x="5816600" y="2921000"/>
            <a:ext cx="558800" cy="276999"/>
          </a:xfrm>
          <a:prstGeom prst="rect">
            <a:avLst/>
          </a:prstGeom>
          <a:noFill/>
        </p:spPr>
        <p:txBody>
          <a:bodyPr vert="horz" wrap="square" lIns="0" tIns="0" rIns="0" bIns="0" rtlCol="0">
            <a:noAutofit/>
          </a:bodyPr>
          <a:lstStyle/>
          <a:p>
            <a:pPr algn="ctr"/>
            <a:r>
              <a:rPr lang="en-IN" sz="1500" b="1">
                <a:solidFill>
                  <a:srgbClr val="A7B7C9"/>
                </a:solidFill>
                <a:latin typeface="Aptos" panose="020B0004020202020204" pitchFamily="34" charset="0"/>
              </a:rPr>
              <a:t>then</a:t>
            </a:r>
          </a:p>
        </p:txBody>
      </p:sp>
      <p:sp>
        <p:nvSpPr>
          <p:cNvPr id="26" name="TextBox 25">
            <a:extLst>
              <a:ext uri="{FF2B5EF4-FFF2-40B4-BE49-F238E27FC236}">
                <a16:creationId xmlns:a16="http://schemas.microsoft.com/office/drawing/2014/main" id="{4B307F8C-BBE0-E59C-2699-55626F6407D9}"/>
              </a:ext>
            </a:extLst>
          </p:cNvPr>
          <p:cNvSpPr txBox="1"/>
          <p:nvPr/>
        </p:nvSpPr>
        <p:spPr>
          <a:xfrm>
            <a:off x="6680200" y="1422400"/>
            <a:ext cx="4635500" cy="276999"/>
          </a:xfrm>
          <a:prstGeom prst="rect">
            <a:avLst/>
          </a:prstGeom>
          <a:noFill/>
        </p:spPr>
        <p:txBody>
          <a:bodyPr vert="horz" wrap="square" lIns="0" tIns="0" rIns="0" bIns="0" rtlCol="0">
            <a:noAutofit/>
          </a:bodyPr>
          <a:lstStyle/>
          <a:p>
            <a:pPr algn="ctr"/>
            <a:r>
              <a:rPr lang="en-IN" sz="2200" b="1">
                <a:solidFill>
                  <a:srgbClr val="1A8BFF"/>
                </a:solidFill>
                <a:latin typeface="Aptos Display" panose="020B0004020202020204" pitchFamily="34" charset="0"/>
              </a:rPr>
              <a:t>2  Sample Adaptive Offset</a:t>
            </a:r>
          </a:p>
        </p:txBody>
      </p:sp>
      <p:sp>
        <p:nvSpPr>
          <p:cNvPr id="27" name="Rectangle 26">
            <a:extLst>
              <a:ext uri="{FF2B5EF4-FFF2-40B4-BE49-F238E27FC236}">
                <a16:creationId xmlns:a16="http://schemas.microsoft.com/office/drawing/2014/main" id="{124613F2-1D28-5AE0-4BBA-8CA9CADFAF59}"/>
              </a:ext>
            </a:extLst>
          </p:cNvPr>
          <p:cNvSpPr/>
          <p:nvPr/>
        </p:nvSpPr>
        <p:spPr>
          <a:xfrm>
            <a:off x="6959600" y="2032000"/>
            <a:ext cx="4064000" cy="2667000"/>
          </a:xfrm>
          <a:prstGeom prst="rect">
            <a:avLst/>
          </a:prstGeom>
          <a:solidFill>
            <a:srgbClr val="06182B"/>
          </a:solidFill>
          <a:ln w="2032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F55B5EE2-5864-93C1-54D0-E7F65C28C80B}"/>
              </a:ext>
            </a:extLst>
          </p:cNvPr>
          <p:cNvSpPr/>
          <p:nvPr/>
        </p:nvSpPr>
        <p:spPr>
          <a:xfrm>
            <a:off x="7327900" y="3810000"/>
            <a:ext cx="406400" cy="4445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371601E-EB9B-EE9E-2551-9F07E91B70BC}"/>
              </a:ext>
            </a:extLst>
          </p:cNvPr>
          <p:cNvSpPr txBox="1"/>
          <p:nvPr/>
        </p:nvSpPr>
        <p:spPr>
          <a:xfrm>
            <a:off x="7239000" y="4330700"/>
            <a:ext cx="584200" cy="276999"/>
          </a:xfrm>
          <a:prstGeom prst="rect">
            <a:avLst/>
          </a:prstGeom>
          <a:noFill/>
        </p:spPr>
        <p:txBody>
          <a:bodyPr vert="horz" wrap="square" lIns="0" tIns="0" rIns="0" bIns="0" rtlCol="0">
            <a:noAutofit/>
          </a:bodyPr>
          <a:lstStyle/>
          <a:p>
            <a:pPr algn="ctr"/>
            <a:r>
              <a:rPr lang="en-IN" sz="1200" b="1">
                <a:solidFill>
                  <a:srgbClr val="F5F7FA"/>
                </a:solidFill>
                <a:latin typeface="Consolas" panose="020B0609020204030204" pitchFamily="49" charset="0"/>
              </a:rPr>
              <a:t>+2</a:t>
            </a:r>
          </a:p>
        </p:txBody>
      </p:sp>
      <p:sp>
        <p:nvSpPr>
          <p:cNvPr id="30" name="Rectangle 29">
            <a:extLst>
              <a:ext uri="{FF2B5EF4-FFF2-40B4-BE49-F238E27FC236}">
                <a16:creationId xmlns:a16="http://schemas.microsoft.com/office/drawing/2014/main" id="{4CCBA951-5D03-0A8C-EF6C-9C7AC9F006DF}"/>
              </a:ext>
            </a:extLst>
          </p:cNvPr>
          <p:cNvSpPr/>
          <p:nvPr/>
        </p:nvSpPr>
        <p:spPr>
          <a:xfrm>
            <a:off x="8013700" y="3454400"/>
            <a:ext cx="406400" cy="800100"/>
          </a:xfrm>
          <a:prstGeom prst="rect">
            <a:avLst/>
          </a:prstGeom>
          <a:solidFill>
            <a:srgbClr val="1A8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F3E34AB1-DA2D-9F6F-FAEA-4555C75199C8}"/>
              </a:ext>
            </a:extLst>
          </p:cNvPr>
          <p:cNvSpPr txBox="1"/>
          <p:nvPr/>
        </p:nvSpPr>
        <p:spPr>
          <a:xfrm>
            <a:off x="7924800" y="4330700"/>
            <a:ext cx="584200" cy="276999"/>
          </a:xfrm>
          <a:prstGeom prst="rect">
            <a:avLst/>
          </a:prstGeom>
          <a:noFill/>
        </p:spPr>
        <p:txBody>
          <a:bodyPr vert="horz" wrap="square" lIns="0" tIns="0" rIns="0" bIns="0" rtlCol="0">
            <a:noAutofit/>
          </a:bodyPr>
          <a:lstStyle/>
          <a:p>
            <a:pPr algn="ctr"/>
            <a:r>
              <a:rPr lang="en-IN" sz="1200" b="1">
                <a:solidFill>
                  <a:srgbClr val="F5F7FA"/>
                </a:solidFill>
                <a:latin typeface="Consolas" panose="020B0609020204030204" pitchFamily="49" charset="0"/>
              </a:rPr>
              <a:t>+2</a:t>
            </a:r>
          </a:p>
        </p:txBody>
      </p:sp>
      <p:sp>
        <p:nvSpPr>
          <p:cNvPr id="32" name="Rectangle 31">
            <a:extLst>
              <a:ext uri="{FF2B5EF4-FFF2-40B4-BE49-F238E27FC236}">
                <a16:creationId xmlns:a16="http://schemas.microsoft.com/office/drawing/2014/main" id="{64B4A106-4978-A6B6-D8B3-839F459FFCC1}"/>
              </a:ext>
            </a:extLst>
          </p:cNvPr>
          <p:cNvSpPr/>
          <p:nvPr/>
        </p:nvSpPr>
        <p:spPr>
          <a:xfrm>
            <a:off x="8699500" y="3098800"/>
            <a:ext cx="406400" cy="1155700"/>
          </a:xfrm>
          <a:prstGeom prst="rect">
            <a:avLst/>
          </a:prstGeom>
          <a:solidFill>
            <a:srgbClr val="16E3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C6F0B8A3-5091-C7DE-E77B-93FC156899D2}"/>
              </a:ext>
            </a:extLst>
          </p:cNvPr>
          <p:cNvSpPr txBox="1"/>
          <p:nvPr/>
        </p:nvSpPr>
        <p:spPr>
          <a:xfrm>
            <a:off x="8610600" y="4330700"/>
            <a:ext cx="584200" cy="276999"/>
          </a:xfrm>
          <a:prstGeom prst="rect">
            <a:avLst/>
          </a:prstGeom>
          <a:noFill/>
        </p:spPr>
        <p:txBody>
          <a:bodyPr vert="horz" wrap="square" lIns="0" tIns="0" rIns="0" bIns="0" rtlCol="0">
            <a:noAutofit/>
          </a:bodyPr>
          <a:lstStyle/>
          <a:p>
            <a:pPr algn="ctr"/>
            <a:r>
              <a:rPr lang="en-IN" sz="1200" b="1">
                <a:solidFill>
                  <a:srgbClr val="F5F7FA"/>
                </a:solidFill>
                <a:latin typeface="Consolas" panose="020B0609020204030204" pitchFamily="49" charset="0"/>
              </a:rPr>
              <a:t>0</a:t>
            </a:r>
          </a:p>
        </p:txBody>
      </p:sp>
      <p:sp>
        <p:nvSpPr>
          <p:cNvPr id="34" name="Rectangle 33">
            <a:extLst>
              <a:ext uri="{FF2B5EF4-FFF2-40B4-BE49-F238E27FC236}">
                <a16:creationId xmlns:a16="http://schemas.microsoft.com/office/drawing/2014/main" id="{C0ACF004-7F38-CB9B-9403-33CCF65A0FD9}"/>
              </a:ext>
            </a:extLst>
          </p:cNvPr>
          <p:cNvSpPr/>
          <p:nvPr/>
        </p:nvSpPr>
        <p:spPr>
          <a:xfrm>
            <a:off x="9385300" y="2743200"/>
            <a:ext cx="406400" cy="1511300"/>
          </a:xfrm>
          <a:prstGeom prst="rect">
            <a:avLst/>
          </a:prstGeom>
          <a:solidFill>
            <a:srgbClr val="16E3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2CB30C15-8673-CAA0-2F3B-46F41E19D1DE}"/>
              </a:ext>
            </a:extLst>
          </p:cNvPr>
          <p:cNvSpPr txBox="1"/>
          <p:nvPr/>
        </p:nvSpPr>
        <p:spPr>
          <a:xfrm>
            <a:off x="9296400" y="4330700"/>
            <a:ext cx="584200" cy="276999"/>
          </a:xfrm>
          <a:prstGeom prst="rect">
            <a:avLst/>
          </a:prstGeom>
          <a:noFill/>
        </p:spPr>
        <p:txBody>
          <a:bodyPr vert="horz" wrap="square" lIns="0" tIns="0" rIns="0" bIns="0" rtlCol="0">
            <a:noAutofit/>
          </a:bodyPr>
          <a:lstStyle/>
          <a:p>
            <a:pPr algn="ctr"/>
            <a:r>
              <a:rPr lang="en-IN" sz="1200" b="1">
                <a:solidFill>
                  <a:srgbClr val="F5F7FA"/>
                </a:solidFill>
                <a:latin typeface="Consolas" panose="020B0609020204030204" pitchFamily="49" charset="0"/>
              </a:rPr>
              <a:t>−1</a:t>
            </a:r>
          </a:p>
        </p:txBody>
      </p:sp>
      <p:sp>
        <p:nvSpPr>
          <p:cNvPr id="36" name="Rectangle 35">
            <a:extLst>
              <a:ext uri="{FF2B5EF4-FFF2-40B4-BE49-F238E27FC236}">
                <a16:creationId xmlns:a16="http://schemas.microsoft.com/office/drawing/2014/main" id="{AB7D5925-F04E-3AA3-1792-2F382DF658F1}"/>
              </a:ext>
            </a:extLst>
          </p:cNvPr>
          <p:cNvSpPr/>
          <p:nvPr/>
        </p:nvSpPr>
        <p:spPr>
          <a:xfrm>
            <a:off x="10071100" y="2387600"/>
            <a:ext cx="406400" cy="1866900"/>
          </a:xfrm>
          <a:prstGeom prst="rect">
            <a:avLst/>
          </a:prstGeom>
          <a:solidFill>
            <a:srgbClr val="16E3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9A4AC606-7B95-5996-E011-79A06AF145A9}"/>
              </a:ext>
            </a:extLst>
          </p:cNvPr>
          <p:cNvSpPr txBox="1"/>
          <p:nvPr/>
        </p:nvSpPr>
        <p:spPr>
          <a:xfrm>
            <a:off x="9982200" y="4330700"/>
            <a:ext cx="584200" cy="276999"/>
          </a:xfrm>
          <a:prstGeom prst="rect">
            <a:avLst/>
          </a:prstGeom>
          <a:noFill/>
        </p:spPr>
        <p:txBody>
          <a:bodyPr vert="horz" wrap="square" lIns="0" tIns="0" rIns="0" bIns="0" rtlCol="0">
            <a:noAutofit/>
          </a:bodyPr>
          <a:lstStyle/>
          <a:p>
            <a:pPr algn="ctr"/>
            <a:r>
              <a:rPr lang="en-IN" sz="1200" b="1">
                <a:solidFill>
                  <a:srgbClr val="F5F7FA"/>
                </a:solidFill>
                <a:latin typeface="Consolas" panose="020B0609020204030204" pitchFamily="49" charset="0"/>
              </a:rPr>
              <a:t>−1</a:t>
            </a:r>
          </a:p>
        </p:txBody>
      </p:sp>
      <p:sp>
        <p:nvSpPr>
          <p:cNvPr id="38" name="TextBox 37">
            <a:extLst>
              <a:ext uri="{FF2B5EF4-FFF2-40B4-BE49-F238E27FC236}">
                <a16:creationId xmlns:a16="http://schemas.microsoft.com/office/drawing/2014/main" id="{64576AE1-ED3D-B0D9-7EE6-77C3D54FABC7}"/>
              </a:ext>
            </a:extLst>
          </p:cNvPr>
          <p:cNvSpPr txBox="1"/>
          <p:nvPr/>
        </p:nvSpPr>
        <p:spPr>
          <a:xfrm>
            <a:off x="7010400" y="4965700"/>
            <a:ext cx="3962400" cy="276999"/>
          </a:xfrm>
          <a:prstGeom prst="rect">
            <a:avLst/>
          </a:prstGeom>
          <a:noFill/>
        </p:spPr>
        <p:txBody>
          <a:bodyPr vert="horz" wrap="square" lIns="0" tIns="0" rIns="0" bIns="0" rtlCol="0">
            <a:noAutofit/>
          </a:bodyPr>
          <a:lstStyle/>
          <a:p>
            <a:pPr algn="ctr"/>
            <a:r>
              <a:rPr lang="en-US" sz="1600">
                <a:solidFill>
                  <a:srgbClr val="A7B7C9"/>
                </a:solidFill>
                <a:latin typeface="Aptos" panose="020B0004020202020204" pitchFamily="34" charset="0"/>
              </a:rPr>
              <a:t>adds signaled offsets to sample classes to reduce systematic error</a:t>
            </a:r>
            <a:endParaRPr lang="en-IN" sz="1600">
              <a:solidFill>
                <a:srgbClr val="A7B7C9"/>
              </a:solidFill>
              <a:latin typeface="Aptos" panose="020B0004020202020204" pitchFamily="34" charset="0"/>
            </a:endParaRPr>
          </a:p>
        </p:txBody>
      </p:sp>
      <p:sp>
        <p:nvSpPr>
          <p:cNvPr id="39" name="Rectangle: Rounded Corners 38">
            <a:extLst>
              <a:ext uri="{FF2B5EF4-FFF2-40B4-BE49-F238E27FC236}">
                <a16:creationId xmlns:a16="http://schemas.microsoft.com/office/drawing/2014/main" id="{A9B76334-49EB-3991-7471-581F6257086D}"/>
              </a:ext>
            </a:extLst>
          </p:cNvPr>
          <p:cNvSpPr/>
          <p:nvPr/>
        </p:nvSpPr>
        <p:spPr>
          <a:xfrm>
            <a:off x="2463800" y="5816600"/>
            <a:ext cx="7264400" cy="533400"/>
          </a:xfrm>
          <a:prstGeom prst="roundRect">
            <a:avLst/>
          </a:prstGeom>
          <a:solidFill>
            <a:srgbClr val="071E35">
              <a:alpha val="97000"/>
            </a:srgbClr>
          </a:solidFill>
          <a:ln w="1524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6EF0694A-F922-882B-250F-538215B06408}"/>
              </a:ext>
            </a:extLst>
          </p:cNvPr>
          <p:cNvSpPr txBox="1"/>
          <p:nvPr/>
        </p:nvSpPr>
        <p:spPr>
          <a:xfrm>
            <a:off x="2413000" y="5943600"/>
            <a:ext cx="7366000" cy="276999"/>
          </a:xfrm>
          <a:prstGeom prst="rect">
            <a:avLst/>
          </a:prstGeom>
          <a:noFill/>
        </p:spPr>
        <p:txBody>
          <a:bodyPr vert="horz" wrap="square" lIns="0" tIns="0" rIns="0" bIns="0" rtlCol="0">
            <a:noAutofit/>
          </a:bodyPr>
          <a:lstStyle/>
          <a:p>
            <a:pPr algn="ctr"/>
            <a:r>
              <a:rPr lang="en-US" sz="1600" b="1">
                <a:solidFill>
                  <a:srgbClr val="F5F7FA"/>
                </a:solidFill>
                <a:latin typeface="Aptos" panose="020B0004020202020204" pitchFamily="34" charset="0"/>
              </a:rPr>
              <a:t>Order: deblocking → Sample Adaptive Offset (SAO) → reference memory</a:t>
            </a:r>
            <a:endParaRPr lang="en-IN" sz="1600" b="1">
              <a:solidFill>
                <a:srgbClr val="F5F7FA"/>
              </a:solidFill>
              <a:latin typeface="Aptos" panose="020B0004020202020204" pitchFamily="34" charset="0"/>
            </a:endParaRPr>
          </a:p>
        </p:txBody>
      </p:sp>
      <p:sp>
        <p:nvSpPr>
          <p:cNvPr id="41" name="TextBox 40">
            <a:extLst>
              <a:ext uri="{FF2B5EF4-FFF2-40B4-BE49-F238E27FC236}">
                <a16:creationId xmlns:a16="http://schemas.microsoft.com/office/drawing/2014/main" id="{438DC5D8-023A-6A14-A9BD-98BB3B8B6304}"/>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15 / 19</a:t>
            </a:r>
          </a:p>
        </p:txBody>
      </p:sp>
    </p:spTree>
    <p:extLst>
      <p:ext uri="{BB962C8B-B14F-4D97-AF65-F5344CB8AC3E}">
        <p14:creationId xmlns:p14="http://schemas.microsoft.com/office/powerpoint/2010/main" val="4284753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1DC594-7525-3355-0CDE-7A991D83DC83}"/>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96309886-FF6B-4F99-B2B2-E8D64C556E3C}"/>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79909953-A2E0-9BC8-49D9-1E596ABEB17E}"/>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D0545EF-129F-7007-3B56-4CEF54E443C3}"/>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Rate–Distortion Optimization (RDO) balances quality against bit cost</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074135ED-385C-EAAA-C79D-0950A568AA21}"/>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28E922E-B48B-42E6-CD44-B83A278CC240}"/>
              </a:ext>
            </a:extLst>
          </p:cNvPr>
          <p:cNvSpPr txBox="1"/>
          <p:nvPr/>
        </p:nvSpPr>
        <p:spPr>
          <a:xfrm>
            <a:off x="1066800" y="1625600"/>
            <a:ext cx="4318000" cy="276999"/>
          </a:xfrm>
          <a:prstGeom prst="rect">
            <a:avLst/>
          </a:prstGeom>
          <a:noFill/>
        </p:spPr>
        <p:txBody>
          <a:bodyPr vert="horz" wrap="square" lIns="0" tIns="0" rIns="0" bIns="0" rtlCol="0">
            <a:noAutofit/>
          </a:bodyPr>
          <a:lstStyle/>
          <a:p>
            <a:pPr algn="ctr"/>
            <a:r>
              <a:rPr lang="en-IN" sz="4500" b="1">
                <a:solidFill>
                  <a:srgbClr val="F5F7FA"/>
                </a:solidFill>
                <a:latin typeface="Cambria Math" panose="02040503050406030204" pitchFamily="18" charset="0"/>
              </a:rPr>
              <a:t>J = D + </a:t>
            </a:r>
            <a:r>
              <a:rPr lang="el-GR" sz="4500" b="1">
                <a:solidFill>
                  <a:srgbClr val="F5F7FA"/>
                </a:solidFill>
                <a:latin typeface="Cambria Math" panose="02040503050406030204" pitchFamily="18" charset="0"/>
              </a:rPr>
              <a:t>λ</a:t>
            </a:r>
            <a:r>
              <a:rPr lang="en-IN" sz="4500" b="1">
                <a:solidFill>
                  <a:srgbClr val="F5F7FA"/>
                </a:solidFill>
                <a:latin typeface="Cambria Math" panose="02040503050406030204" pitchFamily="18" charset="0"/>
              </a:rPr>
              <a:t>R</a:t>
            </a:r>
          </a:p>
        </p:txBody>
      </p:sp>
      <p:sp>
        <p:nvSpPr>
          <p:cNvPr id="8" name="TextBox 7">
            <a:extLst>
              <a:ext uri="{FF2B5EF4-FFF2-40B4-BE49-F238E27FC236}">
                <a16:creationId xmlns:a16="http://schemas.microsoft.com/office/drawing/2014/main" id="{5843BFBA-DBE9-651D-A26C-FFD24E14762D}"/>
              </a:ext>
            </a:extLst>
          </p:cNvPr>
          <p:cNvSpPr txBox="1"/>
          <p:nvPr/>
        </p:nvSpPr>
        <p:spPr>
          <a:xfrm>
            <a:off x="1066800" y="2705100"/>
            <a:ext cx="4318000" cy="276999"/>
          </a:xfrm>
          <a:prstGeom prst="rect">
            <a:avLst/>
          </a:prstGeom>
          <a:noFill/>
        </p:spPr>
        <p:txBody>
          <a:bodyPr vert="horz" wrap="square" lIns="0" tIns="0" rIns="0" bIns="0" rtlCol="0">
            <a:noAutofit/>
          </a:bodyPr>
          <a:lstStyle/>
          <a:p>
            <a:pPr algn="ctr"/>
            <a:r>
              <a:rPr lang="en-US" sz="1400" b="1">
                <a:solidFill>
                  <a:srgbClr val="A7B7C9"/>
                </a:solidFill>
                <a:latin typeface="Aptos" panose="020B0004020202020204" pitchFamily="34" charset="0"/>
              </a:rPr>
              <a:t>J: total cost • D: distortion • R: rate (bits)</a:t>
            </a:r>
            <a:endParaRPr lang="en-IN" sz="1400" b="1">
              <a:solidFill>
                <a:srgbClr val="A7B7C9"/>
              </a:solidFill>
              <a:latin typeface="Aptos" panose="020B0004020202020204" pitchFamily="34" charset="0"/>
            </a:endParaRPr>
          </a:p>
        </p:txBody>
      </p:sp>
      <p:sp>
        <p:nvSpPr>
          <p:cNvPr id="9" name="TextBox 8">
            <a:extLst>
              <a:ext uri="{FF2B5EF4-FFF2-40B4-BE49-F238E27FC236}">
                <a16:creationId xmlns:a16="http://schemas.microsoft.com/office/drawing/2014/main" id="{0CF4650C-D433-888A-A5CD-A5BBF373582E}"/>
              </a:ext>
            </a:extLst>
          </p:cNvPr>
          <p:cNvSpPr txBox="1"/>
          <p:nvPr/>
        </p:nvSpPr>
        <p:spPr>
          <a:xfrm>
            <a:off x="1435100" y="3238500"/>
            <a:ext cx="3581400" cy="276999"/>
          </a:xfrm>
          <a:prstGeom prst="rect">
            <a:avLst/>
          </a:prstGeom>
          <a:noFill/>
        </p:spPr>
        <p:txBody>
          <a:bodyPr vert="horz" wrap="square" lIns="0" tIns="0" rIns="0" bIns="0" rtlCol="0">
            <a:noAutofit/>
          </a:bodyPr>
          <a:lstStyle/>
          <a:p>
            <a:pPr algn="ctr"/>
            <a:r>
              <a:rPr lang="el-GR" b="1">
                <a:solidFill>
                  <a:srgbClr val="16E3F2"/>
                </a:solidFill>
                <a:latin typeface="Aptos" panose="020B0004020202020204" pitchFamily="34" charset="0"/>
              </a:rPr>
              <a:t>λ </a:t>
            </a:r>
            <a:r>
              <a:rPr lang="en-IN" b="1">
                <a:solidFill>
                  <a:srgbClr val="16E3F2"/>
                </a:solidFill>
                <a:latin typeface="Aptos" panose="020B0004020202020204" pitchFamily="34" charset="0"/>
              </a:rPr>
              <a:t>controls the trade-off</a:t>
            </a:r>
          </a:p>
        </p:txBody>
      </p:sp>
      <p:sp>
        <p:nvSpPr>
          <p:cNvPr id="10" name="Rectangle: Rounded Corners 9">
            <a:extLst>
              <a:ext uri="{FF2B5EF4-FFF2-40B4-BE49-F238E27FC236}">
                <a16:creationId xmlns:a16="http://schemas.microsoft.com/office/drawing/2014/main" id="{E9FC0C95-14D2-50B1-7FEE-67A64A1E55C4}"/>
              </a:ext>
            </a:extLst>
          </p:cNvPr>
          <p:cNvSpPr/>
          <p:nvPr/>
        </p:nvSpPr>
        <p:spPr>
          <a:xfrm>
            <a:off x="6350000" y="1422400"/>
            <a:ext cx="4673600" cy="1117600"/>
          </a:xfrm>
          <a:prstGeom prst="roundRect">
            <a:avLst/>
          </a:prstGeom>
          <a:solidFill>
            <a:srgbClr val="071E35">
              <a:alpha val="98000"/>
            </a:srgbClr>
          </a:solidFill>
          <a:ln w="16510">
            <a:solidFill>
              <a:srgbClr val="A7B7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BD45C80-9EDA-E397-3A41-C1A493A17436}"/>
              </a:ext>
            </a:extLst>
          </p:cNvPr>
          <p:cNvSpPr/>
          <p:nvPr/>
        </p:nvSpPr>
        <p:spPr>
          <a:xfrm>
            <a:off x="6553200" y="1676400"/>
            <a:ext cx="533400" cy="533400"/>
          </a:xfrm>
          <a:prstGeom prst="ellipse">
            <a:avLst/>
          </a:prstGeom>
          <a:solidFill>
            <a:srgbClr val="06182B"/>
          </a:solidFill>
          <a:ln w="25400">
            <a:solidFill>
              <a:srgbClr val="A7B7C9"/>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700" b="1">
                <a:solidFill>
                  <a:srgbClr val="A7B7C9"/>
                </a:solidFill>
                <a:latin typeface="Aptos Display" panose="020B0004020202020204" pitchFamily="34" charset="0"/>
              </a:rPr>
              <a:t>A</a:t>
            </a:r>
          </a:p>
        </p:txBody>
      </p:sp>
      <p:sp>
        <p:nvSpPr>
          <p:cNvPr id="12" name="TextBox 11">
            <a:extLst>
              <a:ext uri="{FF2B5EF4-FFF2-40B4-BE49-F238E27FC236}">
                <a16:creationId xmlns:a16="http://schemas.microsoft.com/office/drawing/2014/main" id="{218857A9-89A9-C5D8-E664-33A74FD32656}"/>
              </a:ext>
            </a:extLst>
          </p:cNvPr>
          <p:cNvSpPr txBox="1"/>
          <p:nvPr/>
        </p:nvSpPr>
        <p:spPr>
          <a:xfrm>
            <a:off x="7264400" y="1549400"/>
            <a:ext cx="3479800" cy="276999"/>
          </a:xfrm>
          <a:prstGeom prst="rect">
            <a:avLst/>
          </a:prstGeom>
          <a:noFill/>
        </p:spPr>
        <p:txBody>
          <a:bodyPr vert="horz" wrap="square" lIns="0" tIns="0" rIns="0" bIns="0" rtlCol="0">
            <a:noAutofit/>
          </a:bodyPr>
          <a:lstStyle/>
          <a:p>
            <a:r>
              <a:rPr lang="fr-FR" sz="1600" b="1">
                <a:solidFill>
                  <a:srgbClr val="F5F7FA"/>
                </a:solidFill>
                <a:latin typeface="Aptos" panose="020B0004020202020204" pitchFamily="34" charset="0"/>
              </a:rPr>
              <a:t>large Coding Unit + simple mode</a:t>
            </a:r>
            <a:endParaRPr lang="en-IN" sz="1600" b="1">
              <a:solidFill>
                <a:srgbClr val="F5F7FA"/>
              </a:solidFill>
              <a:latin typeface="Aptos" panose="020B0004020202020204" pitchFamily="34" charset="0"/>
            </a:endParaRPr>
          </a:p>
        </p:txBody>
      </p:sp>
      <p:sp>
        <p:nvSpPr>
          <p:cNvPr id="13" name="TextBox 12">
            <a:extLst>
              <a:ext uri="{FF2B5EF4-FFF2-40B4-BE49-F238E27FC236}">
                <a16:creationId xmlns:a16="http://schemas.microsoft.com/office/drawing/2014/main" id="{71588409-0CC9-D654-29E9-E7F16D27E548}"/>
              </a:ext>
            </a:extLst>
          </p:cNvPr>
          <p:cNvSpPr txBox="1"/>
          <p:nvPr/>
        </p:nvSpPr>
        <p:spPr>
          <a:xfrm>
            <a:off x="7264400" y="2006600"/>
            <a:ext cx="3479800" cy="276999"/>
          </a:xfrm>
          <a:prstGeom prst="rect">
            <a:avLst/>
          </a:prstGeom>
          <a:noFill/>
        </p:spPr>
        <p:txBody>
          <a:bodyPr vert="horz" wrap="square" lIns="0" tIns="0" rIns="0" bIns="0" rtlCol="0">
            <a:noAutofit/>
          </a:bodyPr>
          <a:lstStyle/>
          <a:p>
            <a:r>
              <a:rPr lang="pt-BR" sz="1400" b="1">
                <a:solidFill>
                  <a:srgbClr val="A7B7C9"/>
                </a:solidFill>
                <a:latin typeface="Consolas" panose="020B0609020204030204" pitchFamily="49" charset="0"/>
              </a:rPr>
              <a:t>D = 18     R = 6     J = 30</a:t>
            </a:r>
            <a:endParaRPr lang="en-IN" sz="1400" b="1">
              <a:solidFill>
                <a:srgbClr val="A7B7C9"/>
              </a:solidFill>
              <a:latin typeface="Consolas" panose="020B0609020204030204" pitchFamily="49" charset="0"/>
            </a:endParaRPr>
          </a:p>
        </p:txBody>
      </p:sp>
      <p:sp>
        <p:nvSpPr>
          <p:cNvPr id="14" name="Rectangle: Rounded Corners 13">
            <a:extLst>
              <a:ext uri="{FF2B5EF4-FFF2-40B4-BE49-F238E27FC236}">
                <a16:creationId xmlns:a16="http://schemas.microsoft.com/office/drawing/2014/main" id="{2DD4D08C-A3A3-8308-512E-491817A248BD}"/>
              </a:ext>
            </a:extLst>
          </p:cNvPr>
          <p:cNvSpPr/>
          <p:nvPr/>
        </p:nvSpPr>
        <p:spPr>
          <a:xfrm>
            <a:off x="6350000" y="2870200"/>
            <a:ext cx="4673600" cy="1117600"/>
          </a:xfrm>
          <a:prstGeom prst="roundRect">
            <a:avLst/>
          </a:prstGeom>
          <a:solidFill>
            <a:srgbClr val="071E35">
              <a:alpha val="98000"/>
            </a:srgbClr>
          </a:solidFill>
          <a:ln w="3302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DB4FCE5-49C3-71F5-D320-0800B21B8DF4}"/>
              </a:ext>
            </a:extLst>
          </p:cNvPr>
          <p:cNvSpPr/>
          <p:nvPr/>
        </p:nvSpPr>
        <p:spPr>
          <a:xfrm>
            <a:off x="6553200" y="3124200"/>
            <a:ext cx="533400" cy="5334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700" b="1">
                <a:solidFill>
                  <a:srgbClr val="55E6A5"/>
                </a:solidFill>
                <a:latin typeface="Aptos Display" panose="020B0004020202020204" pitchFamily="34" charset="0"/>
              </a:rPr>
              <a:t>B</a:t>
            </a:r>
          </a:p>
        </p:txBody>
      </p:sp>
      <p:sp>
        <p:nvSpPr>
          <p:cNvPr id="16" name="TextBox 15">
            <a:extLst>
              <a:ext uri="{FF2B5EF4-FFF2-40B4-BE49-F238E27FC236}">
                <a16:creationId xmlns:a16="http://schemas.microsoft.com/office/drawing/2014/main" id="{6FFB1133-9511-E418-83B5-907B3D452E86}"/>
              </a:ext>
            </a:extLst>
          </p:cNvPr>
          <p:cNvSpPr txBox="1"/>
          <p:nvPr/>
        </p:nvSpPr>
        <p:spPr>
          <a:xfrm>
            <a:off x="7264400" y="2997200"/>
            <a:ext cx="3479800" cy="276999"/>
          </a:xfrm>
          <a:prstGeom prst="rect">
            <a:avLst/>
          </a:prstGeom>
          <a:noFill/>
        </p:spPr>
        <p:txBody>
          <a:bodyPr vert="horz" wrap="square" lIns="0" tIns="0" rIns="0" bIns="0" rtlCol="0">
            <a:noAutofit/>
          </a:bodyPr>
          <a:lstStyle/>
          <a:p>
            <a:r>
              <a:rPr lang="en-US" sz="1600" b="1">
                <a:solidFill>
                  <a:srgbClr val="F5F7FA"/>
                </a:solidFill>
                <a:latin typeface="Aptos" panose="020B0004020202020204" pitchFamily="34" charset="0"/>
              </a:rPr>
              <a:t>smaller Coding Units + better prediction</a:t>
            </a:r>
            <a:endParaRPr lang="en-IN" sz="1600" b="1">
              <a:solidFill>
                <a:srgbClr val="F5F7FA"/>
              </a:solidFill>
              <a:latin typeface="Aptos" panose="020B0004020202020204" pitchFamily="34" charset="0"/>
            </a:endParaRPr>
          </a:p>
        </p:txBody>
      </p:sp>
      <p:sp>
        <p:nvSpPr>
          <p:cNvPr id="17" name="TextBox 16">
            <a:extLst>
              <a:ext uri="{FF2B5EF4-FFF2-40B4-BE49-F238E27FC236}">
                <a16:creationId xmlns:a16="http://schemas.microsoft.com/office/drawing/2014/main" id="{EAB4B1EC-8BE9-71DC-1E7C-29B592AEB44A}"/>
              </a:ext>
            </a:extLst>
          </p:cNvPr>
          <p:cNvSpPr txBox="1"/>
          <p:nvPr/>
        </p:nvSpPr>
        <p:spPr>
          <a:xfrm>
            <a:off x="7264400" y="3454400"/>
            <a:ext cx="3479800" cy="276999"/>
          </a:xfrm>
          <a:prstGeom prst="rect">
            <a:avLst/>
          </a:prstGeom>
          <a:noFill/>
        </p:spPr>
        <p:txBody>
          <a:bodyPr vert="horz" wrap="square" lIns="0" tIns="0" rIns="0" bIns="0" rtlCol="0">
            <a:noAutofit/>
          </a:bodyPr>
          <a:lstStyle/>
          <a:p>
            <a:r>
              <a:rPr lang="pt-BR" sz="1400" b="1">
                <a:solidFill>
                  <a:srgbClr val="55E6A5"/>
                </a:solidFill>
                <a:latin typeface="Consolas" panose="020B0609020204030204" pitchFamily="49" charset="0"/>
              </a:rPr>
              <a:t>D = 8     R = 10     J = 28</a:t>
            </a:r>
            <a:endParaRPr lang="en-IN" sz="1400" b="1">
              <a:solidFill>
                <a:srgbClr val="55E6A5"/>
              </a:solidFill>
              <a:latin typeface="Consolas" panose="020B0609020204030204" pitchFamily="49" charset="0"/>
            </a:endParaRPr>
          </a:p>
        </p:txBody>
      </p:sp>
      <p:sp>
        <p:nvSpPr>
          <p:cNvPr id="18" name="Rectangle: Rounded Corners 17">
            <a:extLst>
              <a:ext uri="{FF2B5EF4-FFF2-40B4-BE49-F238E27FC236}">
                <a16:creationId xmlns:a16="http://schemas.microsoft.com/office/drawing/2014/main" id="{C5901DB4-0524-40D8-339D-B54ABECFECD8}"/>
              </a:ext>
            </a:extLst>
          </p:cNvPr>
          <p:cNvSpPr/>
          <p:nvPr/>
        </p:nvSpPr>
        <p:spPr>
          <a:xfrm>
            <a:off x="6350000" y="4318000"/>
            <a:ext cx="4673600" cy="1117600"/>
          </a:xfrm>
          <a:prstGeom prst="roundRect">
            <a:avLst/>
          </a:prstGeom>
          <a:solidFill>
            <a:srgbClr val="071E35">
              <a:alpha val="98000"/>
            </a:srgbClr>
          </a:solidFill>
          <a:ln w="16510">
            <a:solidFill>
              <a:srgbClr val="FF6B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D37BA847-5930-C0FB-803E-14F1AACF16A7}"/>
              </a:ext>
            </a:extLst>
          </p:cNvPr>
          <p:cNvSpPr/>
          <p:nvPr/>
        </p:nvSpPr>
        <p:spPr>
          <a:xfrm>
            <a:off x="6553200" y="4572000"/>
            <a:ext cx="533400" cy="533400"/>
          </a:xfrm>
          <a:prstGeom prst="ellipse">
            <a:avLst/>
          </a:prstGeom>
          <a:solidFill>
            <a:srgbClr val="06182B"/>
          </a:solidFill>
          <a:ln w="25400">
            <a:solidFill>
              <a:srgbClr val="FF6B7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700" b="1">
                <a:solidFill>
                  <a:srgbClr val="FF6B78"/>
                </a:solidFill>
                <a:latin typeface="Aptos Display" panose="020B0004020202020204" pitchFamily="34" charset="0"/>
              </a:rPr>
              <a:t>C</a:t>
            </a:r>
          </a:p>
        </p:txBody>
      </p:sp>
      <p:sp>
        <p:nvSpPr>
          <p:cNvPr id="20" name="TextBox 19">
            <a:extLst>
              <a:ext uri="{FF2B5EF4-FFF2-40B4-BE49-F238E27FC236}">
                <a16:creationId xmlns:a16="http://schemas.microsoft.com/office/drawing/2014/main" id="{A8B6A0CE-E65E-F0D0-738D-7DDD8FB7C63F}"/>
              </a:ext>
            </a:extLst>
          </p:cNvPr>
          <p:cNvSpPr txBox="1"/>
          <p:nvPr/>
        </p:nvSpPr>
        <p:spPr>
          <a:xfrm>
            <a:off x="7264400" y="4445000"/>
            <a:ext cx="3479800" cy="276999"/>
          </a:xfrm>
          <a:prstGeom prst="rect">
            <a:avLst/>
          </a:prstGeom>
          <a:noFill/>
        </p:spPr>
        <p:txBody>
          <a:bodyPr vert="horz" wrap="square" lIns="0" tIns="0" rIns="0" bIns="0" rtlCol="0">
            <a:noAutofit/>
          </a:bodyPr>
          <a:lstStyle/>
          <a:p>
            <a:r>
              <a:rPr lang="en-IN" sz="1600" b="1">
                <a:solidFill>
                  <a:srgbClr val="F5F7FA"/>
                </a:solidFill>
                <a:latin typeface="Aptos" panose="020B0004020202020204" pitchFamily="34" charset="0"/>
              </a:rPr>
              <a:t>deep split + many flags</a:t>
            </a:r>
          </a:p>
        </p:txBody>
      </p:sp>
      <p:sp>
        <p:nvSpPr>
          <p:cNvPr id="21" name="TextBox 20">
            <a:extLst>
              <a:ext uri="{FF2B5EF4-FFF2-40B4-BE49-F238E27FC236}">
                <a16:creationId xmlns:a16="http://schemas.microsoft.com/office/drawing/2014/main" id="{779B0DDE-3CA0-52BC-9443-B54CA0675D2E}"/>
              </a:ext>
            </a:extLst>
          </p:cNvPr>
          <p:cNvSpPr txBox="1"/>
          <p:nvPr/>
        </p:nvSpPr>
        <p:spPr>
          <a:xfrm>
            <a:off x="7264400" y="4902200"/>
            <a:ext cx="3479800" cy="276999"/>
          </a:xfrm>
          <a:prstGeom prst="rect">
            <a:avLst/>
          </a:prstGeom>
          <a:noFill/>
        </p:spPr>
        <p:txBody>
          <a:bodyPr vert="horz" wrap="square" lIns="0" tIns="0" rIns="0" bIns="0" rtlCol="0">
            <a:noAutofit/>
          </a:bodyPr>
          <a:lstStyle/>
          <a:p>
            <a:r>
              <a:rPr lang="pt-BR" sz="1400" b="1">
                <a:solidFill>
                  <a:srgbClr val="FF6B78"/>
                </a:solidFill>
                <a:latin typeface="Consolas" panose="020B0609020204030204" pitchFamily="49" charset="0"/>
              </a:rPr>
              <a:t>D = 5     R = 16     J = 37</a:t>
            </a:r>
            <a:endParaRPr lang="en-IN" sz="1400" b="1">
              <a:solidFill>
                <a:srgbClr val="FF6B78"/>
              </a:solidFill>
              <a:latin typeface="Consolas" panose="020B0609020204030204" pitchFamily="49" charset="0"/>
            </a:endParaRPr>
          </a:p>
        </p:txBody>
      </p:sp>
      <p:sp>
        <p:nvSpPr>
          <p:cNvPr id="22" name="Rectangle: Rounded Corners 21">
            <a:extLst>
              <a:ext uri="{FF2B5EF4-FFF2-40B4-BE49-F238E27FC236}">
                <a16:creationId xmlns:a16="http://schemas.microsoft.com/office/drawing/2014/main" id="{C58373CA-767F-50C3-10A1-CEBB702F6F97}"/>
              </a:ext>
            </a:extLst>
          </p:cNvPr>
          <p:cNvSpPr/>
          <p:nvPr/>
        </p:nvSpPr>
        <p:spPr>
          <a:xfrm>
            <a:off x="990600" y="4432300"/>
            <a:ext cx="4445000" cy="1333500"/>
          </a:xfrm>
          <a:prstGeom prst="roundRect">
            <a:avLst/>
          </a:prstGeom>
          <a:solidFill>
            <a:srgbClr val="071E35">
              <a:alpha val="98000"/>
            </a:srgbClr>
          </a:solidFill>
          <a:ln w="1778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7B02BC71-30C5-A64F-5C11-AD59C1F856B0}"/>
              </a:ext>
            </a:extLst>
          </p:cNvPr>
          <p:cNvSpPr txBox="1"/>
          <p:nvPr/>
        </p:nvSpPr>
        <p:spPr>
          <a:xfrm>
            <a:off x="1079500" y="4635500"/>
            <a:ext cx="4279900" cy="276999"/>
          </a:xfrm>
          <a:prstGeom prst="rect">
            <a:avLst/>
          </a:prstGeom>
          <a:noFill/>
        </p:spPr>
        <p:txBody>
          <a:bodyPr vert="horz" wrap="square" lIns="0" tIns="0" rIns="0" bIns="0" rtlCol="0">
            <a:noAutofit/>
          </a:bodyPr>
          <a:lstStyle/>
          <a:p>
            <a:pPr algn="ctr"/>
            <a:r>
              <a:rPr lang="en-US" sz="1500" b="1">
                <a:solidFill>
                  <a:srgbClr val="16E3F2"/>
                </a:solidFill>
                <a:latin typeface="Aptos Display" panose="020B0004020202020204" pitchFamily="34" charset="0"/>
              </a:rPr>
              <a:t>Rate–Distortion Optimization can compare</a:t>
            </a:r>
            <a:endParaRPr lang="en-IN" sz="1500" b="1">
              <a:solidFill>
                <a:srgbClr val="16E3F2"/>
              </a:solidFill>
              <a:latin typeface="Aptos Display" panose="020B0004020202020204" pitchFamily="34" charset="0"/>
            </a:endParaRPr>
          </a:p>
        </p:txBody>
      </p:sp>
      <p:sp>
        <p:nvSpPr>
          <p:cNvPr id="24" name="TextBox 23">
            <a:extLst>
              <a:ext uri="{FF2B5EF4-FFF2-40B4-BE49-F238E27FC236}">
                <a16:creationId xmlns:a16="http://schemas.microsoft.com/office/drawing/2014/main" id="{7922BEF4-A590-52C2-8D4C-96C80E3FCBDC}"/>
              </a:ext>
            </a:extLst>
          </p:cNvPr>
          <p:cNvSpPr txBox="1"/>
          <p:nvPr/>
        </p:nvSpPr>
        <p:spPr>
          <a:xfrm>
            <a:off x="1193800" y="5054600"/>
            <a:ext cx="4064000" cy="276999"/>
          </a:xfrm>
          <a:prstGeom prst="rect">
            <a:avLst/>
          </a:prstGeom>
          <a:noFill/>
        </p:spPr>
        <p:txBody>
          <a:bodyPr vert="horz" wrap="square" lIns="0" tIns="0" rIns="0" bIns="0" rtlCol="0">
            <a:noAutofit/>
          </a:bodyPr>
          <a:lstStyle/>
          <a:p>
            <a:pPr algn="ctr"/>
            <a:r>
              <a:rPr lang="en-IN" sz="1300">
                <a:solidFill>
                  <a:srgbClr val="F5F7FA"/>
                </a:solidFill>
                <a:latin typeface="Aptos" panose="020B0004020202020204" pitchFamily="34" charset="0"/>
              </a:rPr>
              <a:t>Coding Unit splits • prediction modes • motion vectors
Transform Unit splits • Quantization Parameter choices • filters</a:t>
            </a:r>
          </a:p>
        </p:txBody>
      </p:sp>
      <p:sp>
        <p:nvSpPr>
          <p:cNvPr id="25" name="TextBox 24">
            <a:extLst>
              <a:ext uri="{FF2B5EF4-FFF2-40B4-BE49-F238E27FC236}">
                <a16:creationId xmlns:a16="http://schemas.microsoft.com/office/drawing/2014/main" id="{D56A4A91-E41E-8841-0BF8-4E6706A1671C}"/>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16 / 19</a:t>
            </a:r>
          </a:p>
        </p:txBody>
      </p:sp>
    </p:spTree>
    <p:extLst>
      <p:ext uri="{BB962C8B-B14F-4D97-AF65-F5344CB8AC3E}">
        <p14:creationId xmlns:p14="http://schemas.microsoft.com/office/powerpoint/2010/main" val="403635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EA3E32-6298-8832-9A6D-032572BF8076}"/>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E634B56F-3E29-6D92-C507-F39DB3D9994A}"/>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228AA403-55D9-A109-AE24-7E572EA705CE}"/>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E16EB81-4BD7-72EC-9A9A-5BB02858931D}"/>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One block's journey through the High Efficiency Video Coding encoder</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6F622EBC-B9EF-71C6-A460-8D9800093A2E}"/>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5FB471B-CCE1-424D-ECE3-CAD9B7C22FE0}"/>
              </a:ext>
            </a:extLst>
          </p:cNvPr>
          <p:cNvSpPr/>
          <p:nvPr/>
        </p:nvSpPr>
        <p:spPr>
          <a:xfrm>
            <a:off x="876300" y="1625600"/>
            <a:ext cx="406400" cy="4064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6E3F2"/>
                </a:solidFill>
                <a:latin typeface="Aptos Display" panose="020B0004020202020204" pitchFamily="34" charset="0"/>
              </a:rPr>
              <a:t>1</a:t>
            </a:r>
          </a:p>
        </p:txBody>
      </p:sp>
      <p:sp>
        <p:nvSpPr>
          <p:cNvPr id="8" name="TextBox 7">
            <a:extLst>
              <a:ext uri="{FF2B5EF4-FFF2-40B4-BE49-F238E27FC236}">
                <a16:creationId xmlns:a16="http://schemas.microsoft.com/office/drawing/2014/main" id="{13AEBD48-B64B-1E2D-2851-BEFF89F18B14}"/>
              </a:ext>
            </a:extLst>
          </p:cNvPr>
          <p:cNvSpPr txBox="1"/>
          <p:nvPr/>
        </p:nvSpPr>
        <p:spPr>
          <a:xfrm>
            <a:off x="444500" y="2159000"/>
            <a:ext cx="1270000" cy="276999"/>
          </a:xfrm>
          <a:prstGeom prst="rect">
            <a:avLst/>
          </a:prstGeom>
          <a:noFill/>
        </p:spPr>
        <p:txBody>
          <a:bodyPr vert="horz" wrap="square" lIns="0" tIns="0" rIns="0" bIns="0" rtlCol="0">
            <a:noAutofit/>
          </a:bodyPr>
          <a:lstStyle/>
          <a:p>
            <a:pPr algn="ctr"/>
            <a:r>
              <a:rPr lang="en-IN" sz="1400" b="1">
                <a:solidFill>
                  <a:srgbClr val="16E3F2"/>
                </a:solidFill>
                <a:latin typeface="Aptos" panose="020B0004020202020204" pitchFamily="34" charset="0"/>
              </a:rPr>
              <a:t>PARTITION</a:t>
            </a:r>
          </a:p>
        </p:txBody>
      </p:sp>
      <p:sp>
        <p:nvSpPr>
          <p:cNvPr id="9" name="Rectangle: Rounded Corners 8">
            <a:extLst>
              <a:ext uri="{FF2B5EF4-FFF2-40B4-BE49-F238E27FC236}">
                <a16:creationId xmlns:a16="http://schemas.microsoft.com/office/drawing/2014/main" id="{C7A1433C-34E1-4529-1828-CA008172B760}"/>
              </a:ext>
            </a:extLst>
          </p:cNvPr>
          <p:cNvSpPr/>
          <p:nvPr/>
        </p:nvSpPr>
        <p:spPr>
          <a:xfrm>
            <a:off x="444500" y="2641600"/>
            <a:ext cx="1270000" cy="1270000"/>
          </a:xfrm>
          <a:prstGeom prst="roundRect">
            <a:avLst/>
          </a:prstGeom>
          <a:solidFill>
            <a:srgbClr val="071E35">
              <a:alpha val="98000"/>
            </a:srgbClr>
          </a:solidFill>
          <a:ln w="1651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01CA4F4E-56B5-C183-0A0A-EB2C70F5CAB9}"/>
              </a:ext>
            </a:extLst>
          </p:cNvPr>
          <p:cNvCxnSpPr/>
          <p:nvPr/>
        </p:nvCxnSpPr>
        <p:spPr>
          <a:xfrm>
            <a:off x="1079500" y="2654300"/>
            <a:ext cx="0" cy="1244600"/>
          </a:xfrm>
          <a:prstGeom prst="line">
            <a:avLst/>
          </a:prstGeom>
          <a:ln w="15240">
            <a:solidFill>
              <a:srgbClr val="16E3F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5AE2AA5-7F48-88D6-9697-CABC301A057E}"/>
              </a:ext>
            </a:extLst>
          </p:cNvPr>
          <p:cNvCxnSpPr/>
          <p:nvPr/>
        </p:nvCxnSpPr>
        <p:spPr>
          <a:xfrm>
            <a:off x="444500" y="3276600"/>
            <a:ext cx="1270000" cy="0"/>
          </a:xfrm>
          <a:prstGeom prst="line">
            <a:avLst/>
          </a:prstGeom>
          <a:ln w="15240">
            <a:solidFill>
              <a:srgbClr val="16E3F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EA50803-9032-94E5-AB04-4E578BDCAFB5}"/>
              </a:ext>
            </a:extLst>
          </p:cNvPr>
          <p:cNvSpPr txBox="1"/>
          <p:nvPr/>
        </p:nvSpPr>
        <p:spPr>
          <a:xfrm>
            <a:off x="342900" y="4064000"/>
            <a:ext cx="1473200" cy="276999"/>
          </a:xfrm>
          <a:prstGeom prst="rect">
            <a:avLst/>
          </a:prstGeom>
          <a:noFill/>
        </p:spPr>
        <p:txBody>
          <a:bodyPr vert="horz" wrap="square" lIns="0" tIns="0" rIns="0" bIns="0" rtlCol="0">
            <a:noAutofit/>
          </a:bodyPr>
          <a:lstStyle/>
          <a:p>
            <a:pPr algn="ctr"/>
            <a:r>
              <a:rPr lang="en-US" sz="1000">
                <a:solidFill>
                  <a:srgbClr val="A7B7C9"/>
                </a:solidFill>
                <a:latin typeface="Aptos" panose="020B0004020202020204" pitchFamily="34" charset="0"/>
              </a:rPr>
              <a:t>Coding Tree Unit → Coding Unit</a:t>
            </a:r>
            <a:endParaRPr lang="en-IN" sz="1000">
              <a:solidFill>
                <a:srgbClr val="A7B7C9"/>
              </a:solidFill>
              <a:latin typeface="Aptos" panose="020B0004020202020204" pitchFamily="34" charset="0"/>
            </a:endParaRPr>
          </a:p>
        </p:txBody>
      </p:sp>
      <p:cxnSp>
        <p:nvCxnSpPr>
          <p:cNvPr id="13" name="Straight Connector 12">
            <a:extLst>
              <a:ext uri="{FF2B5EF4-FFF2-40B4-BE49-F238E27FC236}">
                <a16:creationId xmlns:a16="http://schemas.microsoft.com/office/drawing/2014/main" id="{5D3B8A95-1985-5D11-F4AA-B10F521284F0}"/>
              </a:ext>
            </a:extLst>
          </p:cNvPr>
          <p:cNvCxnSpPr/>
          <p:nvPr/>
        </p:nvCxnSpPr>
        <p:spPr>
          <a:xfrm>
            <a:off x="1739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6C5A2340-93EA-A55C-4C38-39E66C0FE576}"/>
              </a:ext>
            </a:extLst>
          </p:cNvPr>
          <p:cNvSpPr/>
          <p:nvPr/>
        </p:nvSpPr>
        <p:spPr>
          <a:xfrm>
            <a:off x="2527300" y="1625600"/>
            <a:ext cx="406400" cy="4064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6E3F2"/>
                </a:solidFill>
                <a:latin typeface="Aptos Display" panose="020B0004020202020204" pitchFamily="34" charset="0"/>
              </a:rPr>
              <a:t>2</a:t>
            </a:r>
          </a:p>
        </p:txBody>
      </p:sp>
      <p:sp>
        <p:nvSpPr>
          <p:cNvPr id="15" name="TextBox 14">
            <a:extLst>
              <a:ext uri="{FF2B5EF4-FFF2-40B4-BE49-F238E27FC236}">
                <a16:creationId xmlns:a16="http://schemas.microsoft.com/office/drawing/2014/main" id="{E5707839-012F-7E58-6272-2910C71FF985}"/>
              </a:ext>
            </a:extLst>
          </p:cNvPr>
          <p:cNvSpPr txBox="1"/>
          <p:nvPr/>
        </p:nvSpPr>
        <p:spPr>
          <a:xfrm>
            <a:off x="2095500" y="2159000"/>
            <a:ext cx="1270000" cy="276999"/>
          </a:xfrm>
          <a:prstGeom prst="rect">
            <a:avLst/>
          </a:prstGeom>
          <a:noFill/>
        </p:spPr>
        <p:txBody>
          <a:bodyPr vert="horz" wrap="square" lIns="0" tIns="0" rIns="0" bIns="0" rtlCol="0">
            <a:noAutofit/>
          </a:bodyPr>
          <a:lstStyle/>
          <a:p>
            <a:pPr algn="ctr"/>
            <a:r>
              <a:rPr lang="en-IN" sz="1400" b="1">
                <a:solidFill>
                  <a:srgbClr val="16E3F2"/>
                </a:solidFill>
                <a:latin typeface="Aptos" panose="020B0004020202020204" pitchFamily="34" charset="0"/>
              </a:rPr>
              <a:t>PREDICT</a:t>
            </a:r>
          </a:p>
        </p:txBody>
      </p:sp>
      <p:sp>
        <p:nvSpPr>
          <p:cNvPr id="16" name="Rectangle: Rounded Corners 15">
            <a:extLst>
              <a:ext uri="{FF2B5EF4-FFF2-40B4-BE49-F238E27FC236}">
                <a16:creationId xmlns:a16="http://schemas.microsoft.com/office/drawing/2014/main" id="{96B99241-0497-912B-6798-D501D6CBE8AE}"/>
              </a:ext>
            </a:extLst>
          </p:cNvPr>
          <p:cNvSpPr/>
          <p:nvPr/>
        </p:nvSpPr>
        <p:spPr>
          <a:xfrm>
            <a:off x="2095500" y="2641600"/>
            <a:ext cx="1270000" cy="1270000"/>
          </a:xfrm>
          <a:prstGeom prst="roundRect">
            <a:avLst/>
          </a:prstGeom>
          <a:solidFill>
            <a:srgbClr val="071E35">
              <a:alpha val="98000"/>
            </a:srgbClr>
          </a:solidFill>
          <a:ln w="1651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Connector 16">
            <a:extLst>
              <a:ext uri="{FF2B5EF4-FFF2-40B4-BE49-F238E27FC236}">
                <a16:creationId xmlns:a16="http://schemas.microsoft.com/office/drawing/2014/main" id="{B7BA90AF-8FDD-9428-5305-5A455F84D952}"/>
              </a:ext>
            </a:extLst>
          </p:cNvPr>
          <p:cNvCxnSpPr/>
          <p:nvPr/>
        </p:nvCxnSpPr>
        <p:spPr>
          <a:xfrm>
            <a:off x="2298700" y="2908300"/>
            <a:ext cx="850900" cy="0"/>
          </a:xfrm>
          <a:prstGeom prst="line">
            <a:avLst/>
          </a:prstGeom>
          <a:ln w="19050">
            <a:solidFill>
              <a:srgbClr val="16E3F2"/>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E7CE34F-1CF1-1247-F221-762F22A66AC7}"/>
              </a:ext>
            </a:extLst>
          </p:cNvPr>
          <p:cNvCxnSpPr/>
          <p:nvPr/>
        </p:nvCxnSpPr>
        <p:spPr>
          <a:xfrm>
            <a:off x="2298700" y="3136900"/>
            <a:ext cx="850900" cy="0"/>
          </a:xfrm>
          <a:prstGeom prst="line">
            <a:avLst/>
          </a:prstGeom>
          <a:ln w="19050">
            <a:solidFill>
              <a:srgbClr val="16E3F2"/>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07DF21F-D588-9AD7-33C5-B01EAEA55EC2}"/>
              </a:ext>
            </a:extLst>
          </p:cNvPr>
          <p:cNvCxnSpPr/>
          <p:nvPr/>
        </p:nvCxnSpPr>
        <p:spPr>
          <a:xfrm>
            <a:off x="2298700" y="3365500"/>
            <a:ext cx="850900" cy="0"/>
          </a:xfrm>
          <a:prstGeom prst="line">
            <a:avLst/>
          </a:prstGeom>
          <a:ln w="19050">
            <a:solidFill>
              <a:srgbClr val="16E3F2"/>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BECA3CA-9D64-C5AD-8ED2-E3004E77D644}"/>
              </a:ext>
            </a:extLst>
          </p:cNvPr>
          <p:cNvCxnSpPr/>
          <p:nvPr/>
        </p:nvCxnSpPr>
        <p:spPr>
          <a:xfrm>
            <a:off x="2298700" y="3594100"/>
            <a:ext cx="850900" cy="0"/>
          </a:xfrm>
          <a:prstGeom prst="line">
            <a:avLst/>
          </a:prstGeom>
          <a:ln w="19050">
            <a:solidFill>
              <a:srgbClr val="16E3F2"/>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3F49DEE-B658-4BAD-D122-AFB5CA22B77C}"/>
              </a:ext>
            </a:extLst>
          </p:cNvPr>
          <p:cNvSpPr txBox="1"/>
          <p:nvPr/>
        </p:nvSpPr>
        <p:spPr>
          <a:xfrm>
            <a:off x="1993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Prediction Unit mode</a:t>
            </a:r>
          </a:p>
        </p:txBody>
      </p:sp>
      <p:cxnSp>
        <p:nvCxnSpPr>
          <p:cNvPr id="22" name="Straight Connector 21">
            <a:extLst>
              <a:ext uri="{FF2B5EF4-FFF2-40B4-BE49-F238E27FC236}">
                <a16:creationId xmlns:a16="http://schemas.microsoft.com/office/drawing/2014/main" id="{BBDD8431-76C3-5E54-233A-B2CFB7AE53B9}"/>
              </a:ext>
            </a:extLst>
          </p:cNvPr>
          <p:cNvCxnSpPr/>
          <p:nvPr/>
        </p:nvCxnSpPr>
        <p:spPr>
          <a:xfrm>
            <a:off x="3390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4FDAEF1-8859-F32C-5072-109F14668F81}"/>
              </a:ext>
            </a:extLst>
          </p:cNvPr>
          <p:cNvSpPr/>
          <p:nvPr/>
        </p:nvSpPr>
        <p:spPr>
          <a:xfrm>
            <a:off x="4178300" y="1625600"/>
            <a:ext cx="406400" cy="4064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55E6A5"/>
                </a:solidFill>
                <a:latin typeface="Aptos Display" panose="020B0004020202020204" pitchFamily="34" charset="0"/>
              </a:rPr>
              <a:t>3</a:t>
            </a:r>
          </a:p>
        </p:txBody>
      </p:sp>
      <p:sp>
        <p:nvSpPr>
          <p:cNvPr id="24" name="TextBox 23">
            <a:extLst>
              <a:ext uri="{FF2B5EF4-FFF2-40B4-BE49-F238E27FC236}">
                <a16:creationId xmlns:a16="http://schemas.microsoft.com/office/drawing/2014/main" id="{705EDF89-12A8-1FF2-315C-B2024A7E15AD}"/>
              </a:ext>
            </a:extLst>
          </p:cNvPr>
          <p:cNvSpPr txBox="1"/>
          <p:nvPr/>
        </p:nvSpPr>
        <p:spPr>
          <a:xfrm>
            <a:off x="3746500" y="2159000"/>
            <a:ext cx="1270000" cy="276999"/>
          </a:xfrm>
          <a:prstGeom prst="rect">
            <a:avLst/>
          </a:prstGeom>
          <a:noFill/>
        </p:spPr>
        <p:txBody>
          <a:bodyPr vert="horz" wrap="square" lIns="0" tIns="0" rIns="0" bIns="0" rtlCol="0">
            <a:noAutofit/>
          </a:bodyPr>
          <a:lstStyle/>
          <a:p>
            <a:pPr algn="ctr"/>
            <a:r>
              <a:rPr lang="en-IN" sz="1400" b="1">
                <a:solidFill>
                  <a:srgbClr val="55E6A5"/>
                </a:solidFill>
                <a:latin typeface="Aptos" panose="020B0004020202020204" pitchFamily="34" charset="0"/>
              </a:rPr>
              <a:t>SUBTRACT</a:t>
            </a:r>
          </a:p>
        </p:txBody>
      </p:sp>
      <p:sp>
        <p:nvSpPr>
          <p:cNvPr id="25" name="Rectangle: Rounded Corners 24">
            <a:extLst>
              <a:ext uri="{FF2B5EF4-FFF2-40B4-BE49-F238E27FC236}">
                <a16:creationId xmlns:a16="http://schemas.microsoft.com/office/drawing/2014/main" id="{E59BEF4A-F9E8-72B8-7CBC-1F8CAE28A3B1}"/>
              </a:ext>
            </a:extLst>
          </p:cNvPr>
          <p:cNvSpPr/>
          <p:nvPr/>
        </p:nvSpPr>
        <p:spPr>
          <a:xfrm>
            <a:off x="3746500" y="2641600"/>
            <a:ext cx="1270000" cy="1270000"/>
          </a:xfrm>
          <a:prstGeom prst="roundRect">
            <a:avLst/>
          </a:prstGeom>
          <a:solidFill>
            <a:srgbClr val="071E35">
              <a:alpha val="98000"/>
            </a:srgbClr>
          </a:solidFill>
          <a:ln w="1651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1C4CDA88-8170-6309-5BF4-8271A9D404D7}"/>
              </a:ext>
            </a:extLst>
          </p:cNvPr>
          <p:cNvSpPr txBox="1"/>
          <p:nvPr/>
        </p:nvSpPr>
        <p:spPr>
          <a:xfrm>
            <a:off x="3797300" y="2908300"/>
            <a:ext cx="1168400" cy="276999"/>
          </a:xfrm>
          <a:prstGeom prst="rect">
            <a:avLst/>
          </a:prstGeom>
          <a:noFill/>
        </p:spPr>
        <p:txBody>
          <a:bodyPr vert="horz" wrap="square" lIns="0" tIns="0" rIns="0" bIns="0" rtlCol="0">
            <a:noAutofit/>
          </a:bodyPr>
          <a:lstStyle/>
          <a:p>
            <a:pPr algn="ctr"/>
            <a:r>
              <a:rPr lang="en-IN" sz="1300" b="1">
                <a:solidFill>
                  <a:srgbClr val="55E6A5"/>
                </a:solidFill>
                <a:latin typeface="Consolas" panose="020B0609020204030204" pitchFamily="49" charset="0"/>
              </a:rPr>
              <a:t>+2  0 −1
 0 −1  0
+1  0  0</a:t>
            </a:r>
          </a:p>
        </p:txBody>
      </p:sp>
      <p:sp>
        <p:nvSpPr>
          <p:cNvPr id="27" name="TextBox 26">
            <a:extLst>
              <a:ext uri="{FF2B5EF4-FFF2-40B4-BE49-F238E27FC236}">
                <a16:creationId xmlns:a16="http://schemas.microsoft.com/office/drawing/2014/main" id="{70EB742F-AB88-D42E-696F-1747F7CC493F}"/>
              </a:ext>
            </a:extLst>
          </p:cNvPr>
          <p:cNvSpPr txBox="1"/>
          <p:nvPr/>
        </p:nvSpPr>
        <p:spPr>
          <a:xfrm>
            <a:off x="3644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residual</a:t>
            </a:r>
          </a:p>
        </p:txBody>
      </p:sp>
      <p:cxnSp>
        <p:nvCxnSpPr>
          <p:cNvPr id="28" name="Straight Connector 27">
            <a:extLst>
              <a:ext uri="{FF2B5EF4-FFF2-40B4-BE49-F238E27FC236}">
                <a16:creationId xmlns:a16="http://schemas.microsoft.com/office/drawing/2014/main" id="{07C5A4CA-0FBE-032B-FC82-3F24E6132E54}"/>
              </a:ext>
            </a:extLst>
          </p:cNvPr>
          <p:cNvCxnSpPr/>
          <p:nvPr/>
        </p:nvCxnSpPr>
        <p:spPr>
          <a:xfrm>
            <a:off x="5041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1509CF70-B183-640E-81BD-0DF2062B242C}"/>
              </a:ext>
            </a:extLst>
          </p:cNvPr>
          <p:cNvSpPr/>
          <p:nvPr/>
        </p:nvSpPr>
        <p:spPr>
          <a:xfrm>
            <a:off x="5829300" y="1625600"/>
            <a:ext cx="406400" cy="4064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4</a:t>
            </a:r>
          </a:p>
        </p:txBody>
      </p:sp>
      <p:sp>
        <p:nvSpPr>
          <p:cNvPr id="30" name="TextBox 29">
            <a:extLst>
              <a:ext uri="{FF2B5EF4-FFF2-40B4-BE49-F238E27FC236}">
                <a16:creationId xmlns:a16="http://schemas.microsoft.com/office/drawing/2014/main" id="{9E3A3EE6-E8B8-8A91-DF7A-59A5A3984635}"/>
              </a:ext>
            </a:extLst>
          </p:cNvPr>
          <p:cNvSpPr txBox="1"/>
          <p:nvPr/>
        </p:nvSpPr>
        <p:spPr>
          <a:xfrm>
            <a:off x="5397500" y="2159000"/>
            <a:ext cx="1270000" cy="276999"/>
          </a:xfrm>
          <a:prstGeom prst="rect">
            <a:avLst/>
          </a:prstGeom>
          <a:noFill/>
        </p:spPr>
        <p:txBody>
          <a:bodyPr vert="horz" wrap="square" lIns="0" tIns="0" rIns="0" bIns="0" rtlCol="0">
            <a:noAutofit/>
          </a:bodyPr>
          <a:lstStyle/>
          <a:p>
            <a:pPr algn="ctr"/>
            <a:r>
              <a:rPr lang="en-IN" sz="1400" b="1">
                <a:solidFill>
                  <a:srgbClr val="1A8BFF"/>
                </a:solidFill>
                <a:latin typeface="Aptos" panose="020B0004020202020204" pitchFamily="34" charset="0"/>
              </a:rPr>
              <a:t>TRANSFORM</a:t>
            </a:r>
          </a:p>
        </p:txBody>
      </p:sp>
      <p:sp>
        <p:nvSpPr>
          <p:cNvPr id="31" name="Rectangle: Rounded Corners 30">
            <a:extLst>
              <a:ext uri="{FF2B5EF4-FFF2-40B4-BE49-F238E27FC236}">
                <a16:creationId xmlns:a16="http://schemas.microsoft.com/office/drawing/2014/main" id="{272D44F3-8957-CA48-52B5-07B0A2854FE3}"/>
              </a:ext>
            </a:extLst>
          </p:cNvPr>
          <p:cNvSpPr/>
          <p:nvPr/>
        </p:nvSpPr>
        <p:spPr>
          <a:xfrm>
            <a:off x="5397500" y="2641600"/>
            <a:ext cx="1270000" cy="1270000"/>
          </a:xfrm>
          <a:prstGeom prst="roundRect">
            <a:avLst/>
          </a:prstGeom>
          <a:solidFill>
            <a:srgbClr val="071E35">
              <a:alpha val="98000"/>
            </a:srgbClr>
          </a:solidFill>
          <a:ln w="1651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12902FFD-478E-9E57-0999-2F86D9F18D60}"/>
              </a:ext>
            </a:extLst>
          </p:cNvPr>
          <p:cNvSpPr txBox="1"/>
          <p:nvPr/>
        </p:nvSpPr>
        <p:spPr>
          <a:xfrm>
            <a:off x="5448300" y="2908300"/>
            <a:ext cx="1168400" cy="276999"/>
          </a:xfrm>
          <a:prstGeom prst="rect">
            <a:avLst/>
          </a:prstGeom>
          <a:noFill/>
        </p:spPr>
        <p:txBody>
          <a:bodyPr vert="horz" wrap="square" lIns="0" tIns="0" rIns="0" bIns="0" rtlCol="0">
            <a:noAutofit/>
          </a:bodyPr>
          <a:lstStyle/>
          <a:p>
            <a:pPr algn="ctr"/>
            <a:r>
              <a:rPr lang="en-IN" sz="1300" b="1">
                <a:solidFill>
                  <a:srgbClr val="1A8BFF"/>
                </a:solidFill>
                <a:latin typeface="Consolas" panose="020B0609020204030204" pitchFamily="49" charset="0"/>
              </a:rPr>
              <a:t>18 −4  1
−3  1  0
 1  0  0</a:t>
            </a:r>
          </a:p>
        </p:txBody>
      </p:sp>
      <p:sp>
        <p:nvSpPr>
          <p:cNvPr id="33" name="TextBox 32">
            <a:extLst>
              <a:ext uri="{FF2B5EF4-FFF2-40B4-BE49-F238E27FC236}">
                <a16:creationId xmlns:a16="http://schemas.microsoft.com/office/drawing/2014/main" id="{EFC5344D-C31C-EE87-C54B-D16357D25FFE}"/>
              </a:ext>
            </a:extLst>
          </p:cNvPr>
          <p:cNvSpPr txBox="1"/>
          <p:nvPr/>
        </p:nvSpPr>
        <p:spPr>
          <a:xfrm>
            <a:off x="5295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Transform Unit coefficients</a:t>
            </a:r>
          </a:p>
        </p:txBody>
      </p:sp>
      <p:cxnSp>
        <p:nvCxnSpPr>
          <p:cNvPr id="34" name="Straight Connector 33">
            <a:extLst>
              <a:ext uri="{FF2B5EF4-FFF2-40B4-BE49-F238E27FC236}">
                <a16:creationId xmlns:a16="http://schemas.microsoft.com/office/drawing/2014/main" id="{D9D3529F-7A10-28B7-0553-EC440F1A7624}"/>
              </a:ext>
            </a:extLst>
          </p:cNvPr>
          <p:cNvCxnSpPr/>
          <p:nvPr/>
        </p:nvCxnSpPr>
        <p:spPr>
          <a:xfrm>
            <a:off x="6692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EBF9144B-9ECF-A388-683A-02D5E634B131}"/>
              </a:ext>
            </a:extLst>
          </p:cNvPr>
          <p:cNvSpPr/>
          <p:nvPr/>
        </p:nvSpPr>
        <p:spPr>
          <a:xfrm>
            <a:off x="7480300" y="1625600"/>
            <a:ext cx="406400" cy="406400"/>
          </a:xfrm>
          <a:prstGeom prst="ellipse">
            <a:avLst/>
          </a:prstGeom>
          <a:solidFill>
            <a:srgbClr val="06182B"/>
          </a:solidFill>
          <a:ln w="2540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FFB454"/>
                </a:solidFill>
                <a:latin typeface="Aptos Display" panose="020B0004020202020204" pitchFamily="34" charset="0"/>
              </a:rPr>
              <a:t>5</a:t>
            </a:r>
          </a:p>
        </p:txBody>
      </p:sp>
      <p:sp>
        <p:nvSpPr>
          <p:cNvPr id="36" name="TextBox 35">
            <a:extLst>
              <a:ext uri="{FF2B5EF4-FFF2-40B4-BE49-F238E27FC236}">
                <a16:creationId xmlns:a16="http://schemas.microsoft.com/office/drawing/2014/main" id="{1DCBA181-2140-769E-E1A3-058E7C9DDBA7}"/>
              </a:ext>
            </a:extLst>
          </p:cNvPr>
          <p:cNvSpPr txBox="1"/>
          <p:nvPr/>
        </p:nvSpPr>
        <p:spPr>
          <a:xfrm>
            <a:off x="7048500" y="2159000"/>
            <a:ext cx="1270000" cy="276999"/>
          </a:xfrm>
          <a:prstGeom prst="rect">
            <a:avLst/>
          </a:prstGeom>
          <a:noFill/>
        </p:spPr>
        <p:txBody>
          <a:bodyPr vert="horz" wrap="square" lIns="0" tIns="0" rIns="0" bIns="0" rtlCol="0">
            <a:noAutofit/>
          </a:bodyPr>
          <a:lstStyle/>
          <a:p>
            <a:pPr algn="ctr"/>
            <a:r>
              <a:rPr lang="en-IN" sz="1400" b="1">
                <a:solidFill>
                  <a:srgbClr val="FFB454"/>
                </a:solidFill>
                <a:latin typeface="Aptos" panose="020B0004020202020204" pitchFamily="34" charset="0"/>
              </a:rPr>
              <a:t>QUANTIZE</a:t>
            </a:r>
          </a:p>
        </p:txBody>
      </p:sp>
      <p:sp>
        <p:nvSpPr>
          <p:cNvPr id="37" name="Rectangle: Rounded Corners 36">
            <a:extLst>
              <a:ext uri="{FF2B5EF4-FFF2-40B4-BE49-F238E27FC236}">
                <a16:creationId xmlns:a16="http://schemas.microsoft.com/office/drawing/2014/main" id="{E8AFD1E4-A166-4FAB-12F0-58CE31504883}"/>
              </a:ext>
            </a:extLst>
          </p:cNvPr>
          <p:cNvSpPr/>
          <p:nvPr/>
        </p:nvSpPr>
        <p:spPr>
          <a:xfrm>
            <a:off x="7048500" y="2641600"/>
            <a:ext cx="1270000" cy="1270000"/>
          </a:xfrm>
          <a:prstGeom prst="roundRect">
            <a:avLst/>
          </a:prstGeom>
          <a:solidFill>
            <a:srgbClr val="071E35">
              <a:alpha val="98000"/>
            </a:srgbClr>
          </a:solidFill>
          <a:ln w="1651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F7017B2D-96AA-EA13-F162-117E5F42BBDD}"/>
              </a:ext>
            </a:extLst>
          </p:cNvPr>
          <p:cNvSpPr txBox="1"/>
          <p:nvPr/>
        </p:nvSpPr>
        <p:spPr>
          <a:xfrm>
            <a:off x="7099300" y="2908300"/>
            <a:ext cx="1168400" cy="276999"/>
          </a:xfrm>
          <a:prstGeom prst="rect">
            <a:avLst/>
          </a:prstGeom>
          <a:noFill/>
        </p:spPr>
        <p:txBody>
          <a:bodyPr vert="horz" wrap="square" lIns="0" tIns="0" rIns="0" bIns="0" rtlCol="0">
            <a:noAutofit/>
          </a:bodyPr>
          <a:lstStyle/>
          <a:p>
            <a:pPr algn="ctr"/>
            <a:r>
              <a:rPr lang="en-IN" sz="1300" b="1">
                <a:solidFill>
                  <a:srgbClr val="FFB454"/>
                </a:solidFill>
                <a:latin typeface="Consolas" panose="020B0609020204030204" pitchFamily="49" charset="0"/>
              </a:rPr>
              <a:t>5 −1  0
−1  0  0
0  0  0</a:t>
            </a:r>
          </a:p>
        </p:txBody>
      </p:sp>
      <p:sp>
        <p:nvSpPr>
          <p:cNvPr id="39" name="TextBox 38">
            <a:extLst>
              <a:ext uri="{FF2B5EF4-FFF2-40B4-BE49-F238E27FC236}">
                <a16:creationId xmlns:a16="http://schemas.microsoft.com/office/drawing/2014/main" id="{EEB6E1A2-B0E2-CEE4-0A44-14CDF2087226}"/>
              </a:ext>
            </a:extLst>
          </p:cNvPr>
          <p:cNvSpPr txBox="1"/>
          <p:nvPr/>
        </p:nvSpPr>
        <p:spPr>
          <a:xfrm>
            <a:off x="6946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many zeros</a:t>
            </a:r>
          </a:p>
        </p:txBody>
      </p:sp>
      <p:cxnSp>
        <p:nvCxnSpPr>
          <p:cNvPr id="40" name="Straight Connector 39">
            <a:extLst>
              <a:ext uri="{FF2B5EF4-FFF2-40B4-BE49-F238E27FC236}">
                <a16:creationId xmlns:a16="http://schemas.microsoft.com/office/drawing/2014/main" id="{A0BD57AB-C522-634F-DC87-F8949E8285C3}"/>
              </a:ext>
            </a:extLst>
          </p:cNvPr>
          <p:cNvCxnSpPr/>
          <p:nvPr/>
        </p:nvCxnSpPr>
        <p:spPr>
          <a:xfrm>
            <a:off x="8343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48F247A6-BE06-550E-11BE-2BC000B30992}"/>
              </a:ext>
            </a:extLst>
          </p:cNvPr>
          <p:cNvSpPr/>
          <p:nvPr/>
        </p:nvSpPr>
        <p:spPr>
          <a:xfrm>
            <a:off x="9131300" y="1625600"/>
            <a:ext cx="406400" cy="4064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1A8BFF"/>
                </a:solidFill>
                <a:latin typeface="Aptos Display" panose="020B0004020202020204" pitchFamily="34" charset="0"/>
              </a:rPr>
              <a:t>6</a:t>
            </a:r>
          </a:p>
        </p:txBody>
      </p:sp>
      <p:sp>
        <p:nvSpPr>
          <p:cNvPr id="42" name="TextBox 41">
            <a:extLst>
              <a:ext uri="{FF2B5EF4-FFF2-40B4-BE49-F238E27FC236}">
                <a16:creationId xmlns:a16="http://schemas.microsoft.com/office/drawing/2014/main" id="{B188D16D-096F-CD4B-672B-F36CF7C4A6B3}"/>
              </a:ext>
            </a:extLst>
          </p:cNvPr>
          <p:cNvSpPr txBox="1"/>
          <p:nvPr/>
        </p:nvSpPr>
        <p:spPr>
          <a:xfrm>
            <a:off x="8699500" y="2159000"/>
            <a:ext cx="1270000" cy="276999"/>
          </a:xfrm>
          <a:prstGeom prst="rect">
            <a:avLst/>
          </a:prstGeom>
          <a:noFill/>
        </p:spPr>
        <p:txBody>
          <a:bodyPr vert="horz" wrap="square" lIns="0" tIns="0" rIns="0" bIns="0" rtlCol="0">
            <a:noAutofit/>
          </a:bodyPr>
          <a:lstStyle/>
          <a:p>
            <a:pPr algn="ctr"/>
            <a:r>
              <a:rPr lang="en-IN" sz="1400" b="1">
                <a:solidFill>
                  <a:srgbClr val="1A8BFF"/>
                </a:solidFill>
                <a:latin typeface="Aptos" panose="020B0004020202020204" pitchFamily="34" charset="0"/>
              </a:rPr>
              <a:t>ENTROPY CODE</a:t>
            </a:r>
          </a:p>
        </p:txBody>
      </p:sp>
      <p:sp>
        <p:nvSpPr>
          <p:cNvPr id="43" name="Rectangle: Rounded Corners 42">
            <a:extLst>
              <a:ext uri="{FF2B5EF4-FFF2-40B4-BE49-F238E27FC236}">
                <a16:creationId xmlns:a16="http://schemas.microsoft.com/office/drawing/2014/main" id="{57AE38CF-0116-8FC3-B27E-5C26DBE6C43C}"/>
              </a:ext>
            </a:extLst>
          </p:cNvPr>
          <p:cNvSpPr/>
          <p:nvPr/>
        </p:nvSpPr>
        <p:spPr>
          <a:xfrm>
            <a:off x="8699500" y="2641600"/>
            <a:ext cx="1270000" cy="1270000"/>
          </a:xfrm>
          <a:prstGeom prst="roundRect">
            <a:avLst/>
          </a:prstGeom>
          <a:solidFill>
            <a:srgbClr val="071E35">
              <a:alpha val="98000"/>
            </a:srgbClr>
          </a:solidFill>
          <a:ln w="1651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9E7FD005-7130-60FA-206D-4EE51455B436}"/>
              </a:ext>
            </a:extLst>
          </p:cNvPr>
          <p:cNvSpPr txBox="1"/>
          <p:nvPr/>
        </p:nvSpPr>
        <p:spPr>
          <a:xfrm>
            <a:off x="8750300" y="2946400"/>
            <a:ext cx="1168400" cy="276999"/>
          </a:xfrm>
          <a:prstGeom prst="rect">
            <a:avLst/>
          </a:prstGeom>
          <a:noFill/>
        </p:spPr>
        <p:txBody>
          <a:bodyPr vert="horz" wrap="square" lIns="0" tIns="0" rIns="0" bIns="0" rtlCol="0">
            <a:noAutofit/>
          </a:bodyPr>
          <a:lstStyle/>
          <a:p>
            <a:pPr algn="ctr"/>
            <a:r>
              <a:rPr lang="en-IN" sz="1400" b="1">
                <a:solidFill>
                  <a:srgbClr val="1A8BFF"/>
                </a:solidFill>
                <a:latin typeface="Consolas" panose="020B0609020204030204" pitchFamily="49" charset="0"/>
              </a:rPr>
              <a:t>01011010
10100101
001…</a:t>
            </a:r>
          </a:p>
        </p:txBody>
      </p:sp>
      <p:sp>
        <p:nvSpPr>
          <p:cNvPr id="45" name="TextBox 44">
            <a:extLst>
              <a:ext uri="{FF2B5EF4-FFF2-40B4-BE49-F238E27FC236}">
                <a16:creationId xmlns:a16="http://schemas.microsoft.com/office/drawing/2014/main" id="{19548BF2-43B2-CD50-0524-7937AB169485}"/>
              </a:ext>
            </a:extLst>
          </p:cNvPr>
          <p:cNvSpPr txBox="1"/>
          <p:nvPr/>
        </p:nvSpPr>
        <p:spPr>
          <a:xfrm>
            <a:off x="8597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bitstream</a:t>
            </a:r>
          </a:p>
        </p:txBody>
      </p:sp>
      <p:cxnSp>
        <p:nvCxnSpPr>
          <p:cNvPr id="46" name="Straight Connector 45">
            <a:extLst>
              <a:ext uri="{FF2B5EF4-FFF2-40B4-BE49-F238E27FC236}">
                <a16:creationId xmlns:a16="http://schemas.microsoft.com/office/drawing/2014/main" id="{2FAD81B0-668C-7CA6-09C5-C8493E333551}"/>
              </a:ext>
            </a:extLst>
          </p:cNvPr>
          <p:cNvCxnSpPr/>
          <p:nvPr/>
        </p:nvCxnSpPr>
        <p:spPr>
          <a:xfrm>
            <a:off x="9994900" y="3276600"/>
            <a:ext cx="304800" cy="0"/>
          </a:xfrm>
          <a:prstGeom prst="line">
            <a:avLst/>
          </a:prstGeom>
          <a:ln w="19050">
            <a:solidFill>
              <a:srgbClr val="5F7690"/>
            </a:solidFill>
            <a:tailEnd type="arrow"/>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4D37CF6-25AD-317E-BD9F-0F602C98476D}"/>
              </a:ext>
            </a:extLst>
          </p:cNvPr>
          <p:cNvSpPr/>
          <p:nvPr/>
        </p:nvSpPr>
        <p:spPr>
          <a:xfrm>
            <a:off x="10782300" y="1625600"/>
            <a:ext cx="406400" cy="4064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solidFill>
                  <a:srgbClr val="55E6A5"/>
                </a:solidFill>
                <a:latin typeface="Aptos Display" panose="020B0004020202020204" pitchFamily="34" charset="0"/>
              </a:rPr>
              <a:t>7</a:t>
            </a:r>
          </a:p>
        </p:txBody>
      </p:sp>
      <p:sp>
        <p:nvSpPr>
          <p:cNvPr id="48" name="TextBox 47">
            <a:extLst>
              <a:ext uri="{FF2B5EF4-FFF2-40B4-BE49-F238E27FC236}">
                <a16:creationId xmlns:a16="http://schemas.microsoft.com/office/drawing/2014/main" id="{A88BE24D-6210-615C-7A10-6B4998CA1FDD}"/>
              </a:ext>
            </a:extLst>
          </p:cNvPr>
          <p:cNvSpPr txBox="1"/>
          <p:nvPr/>
        </p:nvSpPr>
        <p:spPr>
          <a:xfrm>
            <a:off x="10350500" y="2159000"/>
            <a:ext cx="1270000" cy="276999"/>
          </a:xfrm>
          <a:prstGeom prst="rect">
            <a:avLst/>
          </a:prstGeom>
          <a:noFill/>
        </p:spPr>
        <p:txBody>
          <a:bodyPr vert="horz" wrap="square" lIns="0" tIns="0" rIns="0" bIns="0" rtlCol="0">
            <a:noAutofit/>
          </a:bodyPr>
          <a:lstStyle/>
          <a:p>
            <a:pPr algn="ctr"/>
            <a:r>
              <a:rPr lang="en-IN" sz="1400" b="1">
                <a:solidFill>
                  <a:srgbClr val="55E6A5"/>
                </a:solidFill>
                <a:latin typeface="Aptos" panose="020B0004020202020204" pitchFamily="34" charset="0"/>
              </a:rPr>
              <a:t>RECONSTRUCT</a:t>
            </a:r>
          </a:p>
        </p:txBody>
      </p:sp>
      <p:sp>
        <p:nvSpPr>
          <p:cNvPr id="49" name="Rectangle: Rounded Corners 48">
            <a:extLst>
              <a:ext uri="{FF2B5EF4-FFF2-40B4-BE49-F238E27FC236}">
                <a16:creationId xmlns:a16="http://schemas.microsoft.com/office/drawing/2014/main" id="{EF1C9218-20AC-FEBF-FBB0-6E94E29E5E7D}"/>
              </a:ext>
            </a:extLst>
          </p:cNvPr>
          <p:cNvSpPr/>
          <p:nvPr/>
        </p:nvSpPr>
        <p:spPr>
          <a:xfrm>
            <a:off x="10350500" y="2641600"/>
            <a:ext cx="1270000" cy="1270000"/>
          </a:xfrm>
          <a:prstGeom prst="roundRect">
            <a:avLst/>
          </a:prstGeom>
          <a:solidFill>
            <a:srgbClr val="071E35">
              <a:alpha val="98000"/>
            </a:srgbClr>
          </a:solidFill>
          <a:ln w="1651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6FAADB58-D46D-143A-930B-99D5CF087B22}"/>
              </a:ext>
            </a:extLst>
          </p:cNvPr>
          <p:cNvSpPr txBox="1"/>
          <p:nvPr/>
        </p:nvSpPr>
        <p:spPr>
          <a:xfrm>
            <a:off x="10401300" y="3022600"/>
            <a:ext cx="1168400" cy="276999"/>
          </a:xfrm>
          <a:prstGeom prst="rect">
            <a:avLst/>
          </a:prstGeom>
          <a:noFill/>
        </p:spPr>
        <p:txBody>
          <a:bodyPr vert="horz" wrap="square" lIns="0" tIns="0" rIns="0" bIns="0" rtlCol="0">
            <a:noAutofit/>
          </a:bodyPr>
          <a:lstStyle/>
          <a:p>
            <a:pPr algn="ctr"/>
            <a:r>
              <a:rPr lang="en-IN" sz="1600" b="1">
                <a:solidFill>
                  <a:srgbClr val="55E6A5"/>
                </a:solidFill>
                <a:latin typeface="Aptos" panose="020B0004020202020204" pitchFamily="34" charset="0"/>
              </a:rPr>
              <a:t>reference
picture</a:t>
            </a:r>
          </a:p>
        </p:txBody>
      </p:sp>
      <p:sp>
        <p:nvSpPr>
          <p:cNvPr id="51" name="TextBox 50">
            <a:extLst>
              <a:ext uri="{FF2B5EF4-FFF2-40B4-BE49-F238E27FC236}">
                <a16:creationId xmlns:a16="http://schemas.microsoft.com/office/drawing/2014/main" id="{703CD7B9-B11A-07D0-601C-7A6A0B14AC49}"/>
              </a:ext>
            </a:extLst>
          </p:cNvPr>
          <p:cNvSpPr txBox="1"/>
          <p:nvPr/>
        </p:nvSpPr>
        <p:spPr>
          <a:xfrm>
            <a:off x="10248900" y="4064000"/>
            <a:ext cx="1473200" cy="276999"/>
          </a:xfrm>
          <a:prstGeom prst="rect">
            <a:avLst/>
          </a:prstGeom>
          <a:noFill/>
        </p:spPr>
        <p:txBody>
          <a:bodyPr vert="horz" wrap="square" lIns="0" tIns="0" rIns="0" bIns="0" rtlCol="0">
            <a:noAutofit/>
          </a:bodyPr>
          <a:lstStyle/>
          <a:p>
            <a:pPr algn="ctr"/>
            <a:r>
              <a:rPr lang="en-IN" sz="1000">
                <a:solidFill>
                  <a:srgbClr val="A7B7C9"/>
                </a:solidFill>
                <a:latin typeface="Aptos" panose="020B0004020202020204" pitchFamily="34" charset="0"/>
              </a:rPr>
              <a:t>filter + store</a:t>
            </a:r>
          </a:p>
        </p:txBody>
      </p:sp>
      <p:cxnSp>
        <p:nvCxnSpPr>
          <p:cNvPr id="52" name="Straight Connector 51">
            <a:extLst>
              <a:ext uri="{FF2B5EF4-FFF2-40B4-BE49-F238E27FC236}">
                <a16:creationId xmlns:a16="http://schemas.microsoft.com/office/drawing/2014/main" id="{8D2789A5-E5BE-96E3-F1AB-3D4CBBC3F1B1}"/>
              </a:ext>
            </a:extLst>
          </p:cNvPr>
          <p:cNvCxnSpPr/>
          <p:nvPr/>
        </p:nvCxnSpPr>
        <p:spPr>
          <a:xfrm>
            <a:off x="10998200" y="4610100"/>
            <a:ext cx="0" cy="571500"/>
          </a:xfrm>
          <a:prstGeom prst="line">
            <a:avLst/>
          </a:prstGeom>
          <a:ln w="25400">
            <a:solidFill>
              <a:srgbClr val="55E6A5"/>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F84BAD1-C4B1-6BA9-3A37-BB8903D56A71}"/>
              </a:ext>
            </a:extLst>
          </p:cNvPr>
          <p:cNvCxnSpPr/>
          <p:nvPr/>
        </p:nvCxnSpPr>
        <p:spPr>
          <a:xfrm flipH="1">
            <a:off x="2514600" y="5181600"/>
            <a:ext cx="8483600" cy="0"/>
          </a:xfrm>
          <a:prstGeom prst="line">
            <a:avLst/>
          </a:prstGeom>
          <a:ln w="25400">
            <a:solidFill>
              <a:srgbClr val="55E6A5"/>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BCA137C-CC4B-AA2A-CF9C-18DEFB385D73}"/>
              </a:ext>
            </a:extLst>
          </p:cNvPr>
          <p:cNvCxnSpPr/>
          <p:nvPr/>
        </p:nvCxnSpPr>
        <p:spPr>
          <a:xfrm flipV="1">
            <a:off x="2514600" y="4483100"/>
            <a:ext cx="0" cy="698500"/>
          </a:xfrm>
          <a:prstGeom prst="line">
            <a:avLst/>
          </a:prstGeom>
          <a:ln w="25400">
            <a:solidFill>
              <a:srgbClr val="55E6A5"/>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3DC335E6-20BB-D87A-EC4A-2B2A11F6F946}"/>
              </a:ext>
            </a:extLst>
          </p:cNvPr>
          <p:cNvSpPr txBox="1"/>
          <p:nvPr/>
        </p:nvSpPr>
        <p:spPr>
          <a:xfrm>
            <a:off x="3276600" y="5346700"/>
            <a:ext cx="6959600" cy="276999"/>
          </a:xfrm>
          <a:prstGeom prst="rect">
            <a:avLst/>
          </a:prstGeom>
          <a:noFill/>
        </p:spPr>
        <p:txBody>
          <a:bodyPr vert="horz" wrap="square" lIns="0" tIns="0" rIns="0" bIns="0" rtlCol="0">
            <a:noAutofit/>
          </a:bodyPr>
          <a:lstStyle/>
          <a:p>
            <a:pPr algn="ctr"/>
            <a:r>
              <a:rPr lang="en-US" sz="1700" b="1">
                <a:solidFill>
                  <a:srgbClr val="55E6A5"/>
                </a:solidFill>
                <a:latin typeface="Aptos Display" panose="020B0004020202020204" pitchFamily="34" charset="0"/>
              </a:rPr>
              <a:t>feedback: future prediction uses the reconstructed, filtered picture</a:t>
            </a:r>
            <a:endParaRPr lang="en-IN" sz="1700" b="1">
              <a:solidFill>
                <a:srgbClr val="55E6A5"/>
              </a:solidFill>
              <a:latin typeface="Aptos Display" panose="020B0004020202020204" pitchFamily="34" charset="0"/>
            </a:endParaRPr>
          </a:p>
        </p:txBody>
      </p:sp>
      <p:sp>
        <p:nvSpPr>
          <p:cNvPr id="56" name="Rectangle: Rounded Corners 55">
            <a:extLst>
              <a:ext uri="{FF2B5EF4-FFF2-40B4-BE49-F238E27FC236}">
                <a16:creationId xmlns:a16="http://schemas.microsoft.com/office/drawing/2014/main" id="{21D53110-CEF6-5E24-1433-82CD1A6313C7}"/>
              </a:ext>
            </a:extLst>
          </p:cNvPr>
          <p:cNvSpPr/>
          <p:nvPr/>
        </p:nvSpPr>
        <p:spPr>
          <a:xfrm>
            <a:off x="1524000" y="5918200"/>
            <a:ext cx="9144000" cy="508000"/>
          </a:xfrm>
          <a:prstGeom prst="roundRect">
            <a:avLst/>
          </a:prstGeom>
          <a:solidFill>
            <a:srgbClr val="071E35">
              <a:alpha val="97000"/>
            </a:srgbClr>
          </a:solidFill>
          <a:ln w="1524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59FA15A6-5091-3649-D022-612579758D01}"/>
              </a:ext>
            </a:extLst>
          </p:cNvPr>
          <p:cNvSpPr txBox="1"/>
          <p:nvPr/>
        </p:nvSpPr>
        <p:spPr>
          <a:xfrm>
            <a:off x="1765300" y="6032500"/>
            <a:ext cx="8661400" cy="276999"/>
          </a:xfrm>
          <a:prstGeom prst="rect">
            <a:avLst/>
          </a:prstGeom>
          <a:noFill/>
        </p:spPr>
        <p:txBody>
          <a:bodyPr vert="horz" wrap="square" lIns="0" tIns="0" rIns="0" bIns="0" rtlCol="0">
            <a:noAutofit/>
          </a:bodyPr>
          <a:lstStyle/>
          <a:p>
            <a:pPr algn="ctr"/>
            <a:r>
              <a:rPr lang="en-US" sz="1700" b="1">
                <a:solidFill>
                  <a:srgbClr val="F5F7FA"/>
                </a:solidFill>
                <a:latin typeface="Aptos Display" panose="020B0004020202020204" pitchFamily="34" charset="0"/>
              </a:rPr>
              <a:t>Rate–Distortion Optimization (RDO) keeps the lowest-cost journey.</a:t>
            </a:r>
            <a:endParaRPr lang="en-IN" sz="1700" b="1">
              <a:solidFill>
                <a:srgbClr val="F5F7FA"/>
              </a:solidFill>
              <a:latin typeface="Aptos Display" panose="020B0004020202020204" pitchFamily="34" charset="0"/>
            </a:endParaRPr>
          </a:p>
        </p:txBody>
      </p:sp>
      <p:sp>
        <p:nvSpPr>
          <p:cNvPr id="58" name="TextBox 57">
            <a:extLst>
              <a:ext uri="{FF2B5EF4-FFF2-40B4-BE49-F238E27FC236}">
                <a16:creationId xmlns:a16="http://schemas.microsoft.com/office/drawing/2014/main" id="{67024D59-D52E-E820-C321-DF07845A2943}"/>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17 / 19</a:t>
            </a:r>
          </a:p>
        </p:txBody>
      </p:sp>
    </p:spTree>
    <p:extLst>
      <p:ext uri="{BB962C8B-B14F-4D97-AF65-F5344CB8AC3E}">
        <p14:creationId xmlns:p14="http://schemas.microsoft.com/office/powerpoint/2010/main" val="355813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2DB0FB-A34B-3A4D-50A9-BEA52A9C4F2D}"/>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4ACFB181-1462-41CD-FCFF-20E0C4B77208}"/>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5A849FFE-BC0E-04DB-097A-3C34997B7610}"/>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3F5DDB7-1AC9-A08C-73C6-FCABE0D515AD}"/>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High Efficiency Video Coding (HEVC) expands encoder choices</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BC16F06F-FA3D-8932-1275-3498F1D6932A}"/>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984D8B5-DDE9-E464-61DC-ED3352572585}"/>
              </a:ext>
            </a:extLst>
          </p:cNvPr>
          <p:cNvSpPr/>
          <p:nvPr/>
        </p:nvSpPr>
        <p:spPr>
          <a:xfrm>
            <a:off x="787400" y="1333500"/>
            <a:ext cx="508000" cy="5080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16E3F2"/>
                </a:solidFill>
                <a:latin typeface="Aptos Display" panose="020B0004020202020204" pitchFamily="34" charset="0"/>
              </a:rPr>
              <a:t>1</a:t>
            </a:r>
          </a:p>
        </p:txBody>
      </p:sp>
      <p:sp>
        <p:nvSpPr>
          <p:cNvPr id="8" name="TextBox 7">
            <a:extLst>
              <a:ext uri="{FF2B5EF4-FFF2-40B4-BE49-F238E27FC236}">
                <a16:creationId xmlns:a16="http://schemas.microsoft.com/office/drawing/2014/main" id="{2FE00820-639D-BE61-EE50-BA586EABBAB5}"/>
              </a:ext>
            </a:extLst>
          </p:cNvPr>
          <p:cNvSpPr txBox="1"/>
          <p:nvPr/>
        </p:nvSpPr>
        <p:spPr>
          <a:xfrm>
            <a:off x="1549400" y="1320800"/>
            <a:ext cx="3530600" cy="276999"/>
          </a:xfrm>
          <a:prstGeom prst="rect">
            <a:avLst/>
          </a:prstGeom>
          <a:noFill/>
        </p:spPr>
        <p:txBody>
          <a:bodyPr vert="horz" wrap="square" lIns="0" tIns="0" rIns="0" bIns="0" rtlCol="0">
            <a:noAutofit/>
          </a:bodyPr>
          <a:lstStyle/>
          <a:p>
            <a:r>
              <a:rPr lang="en-IN" sz="2000" b="1">
                <a:solidFill>
                  <a:srgbClr val="16E3F2"/>
                </a:solidFill>
                <a:latin typeface="Aptos Display" panose="020B0004020202020204" pitchFamily="34" charset="0"/>
              </a:rPr>
              <a:t>Partition adaptively</a:t>
            </a:r>
          </a:p>
        </p:txBody>
      </p:sp>
      <p:sp>
        <p:nvSpPr>
          <p:cNvPr id="9" name="TextBox 8">
            <a:extLst>
              <a:ext uri="{FF2B5EF4-FFF2-40B4-BE49-F238E27FC236}">
                <a16:creationId xmlns:a16="http://schemas.microsoft.com/office/drawing/2014/main" id="{8E269ACB-8E55-5BA5-9A7A-3091FBAECB49}"/>
              </a:ext>
            </a:extLst>
          </p:cNvPr>
          <p:cNvSpPr txBox="1"/>
          <p:nvPr/>
        </p:nvSpPr>
        <p:spPr>
          <a:xfrm>
            <a:off x="5207000" y="13208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Coding Tree Units and Coding Units place detail where it is useful.</a:t>
            </a:r>
            <a:endParaRPr lang="en-IN" sz="1600">
              <a:solidFill>
                <a:srgbClr val="F5F7FA"/>
              </a:solidFill>
              <a:latin typeface="Aptos" panose="020B0004020202020204" pitchFamily="34" charset="0"/>
            </a:endParaRPr>
          </a:p>
        </p:txBody>
      </p:sp>
      <p:sp>
        <p:nvSpPr>
          <p:cNvPr id="10" name="Oval 9">
            <a:extLst>
              <a:ext uri="{FF2B5EF4-FFF2-40B4-BE49-F238E27FC236}">
                <a16:creationId xmlns:a16="http://schemas.microsoft.com/office/drawing/2014/main" id="{8AE6BB31-F367-FD04-A0AE-7AF29D8AB0C6}"/>
              </a:ext>
            </a:extLst>
          </p:cNvPr>
          <p:cNvSpPr/>
          <p:nvPr/>
        </p:nvSpPr>
        <p:spPr>
          <a:xfrm>
            <a:off x="787400" y="2387600"/>
            <a:ext cx="508000" cy="508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1A8BFF"/>
                </a:solidFill>
                <a:latin typeface="Aptos Display" panose="020B0004020202020204" pitchFamily="34" charset="0"/>
              </a:rPr>
              <a:t>2</a:t>
            </a:r>
          </a:p>
        </p:txBody>
      </p:sp>
      <p:sp>
        <p:nvSpPr>
          <p:cNvPr id="11" name="TextBox 10">
            <a:extLst>
              <a:ext uri="{FF2B5EF4-FFF2-40B4-BE49-F238E27FC236}">
                <a16:creationId xmlns:a16="http://schemas.microsoft.com/office/drawing/2014/main" id="{0C3314D6-A30D-3490-AB9D-2FF7CCA35B68}"/>
              </a:ext>
            </a:extLst>
          </p:cNvPr>
          <p:cNvSpPr txBox="1"/>
          <p:nvPr/>
        </p:nvSpPr>
        <p:spPr>
          <a:xfrm>
            <a:off x="1549400" y="2374900"/>
            <a:ext cx="3530600" cy="276999"/>
          </a:xfrm>
          <a:prstGeom prst="rect">
            <a:avLst/>
          </a:prstGeom>
          <a:noFill/>
        </p:spPr>
        <p:txBody>
          <a:bodyPr vert="horz" wrap="square" lIns="0" tIns="0" rIns="0" bIns="0" rtlCol="0">
            <a:noAutofit/>
          </a:bodyPr>
          <a:lstStyle/>
          <a:p>
            <a:r>
              <a:rPr lang="en-IN" sz="2000" b="1">
                <a:solidFill>
                  <a:srgbClr val="1A8BFF"/>
                </a:solidFill>
                <a:latin typeface="Aptos Display" panose="020B0004020202020204" pitchFamily="34" charset="0"/>
              </a:rPr>
              <a:t>Code the residual</a:t>
            </a:r>
          </a:p>
        </p:txBody>
      </p:sp>
      <p:sp>
        <p:nvSpPr>
          <p:cNvPr id="12" name="TextBox 11">
            <a:extLst>
              <a:ext uri="{FF2B5EF4-FFF2-40B4-BE49-F238E27FC236}">
                <a16:creationId xmlns:a16="http://schemas.microsoft.com/office/drawing/2014/main" id="{957F25E9-1820-F226-556F-9DB564846C1A}"/>
              </a:ext>
            </a:extLst>
          </p:cNvPr>
          <p:cNvSpPr txBox="1"/>
          <p:nvPr/>
        </p:nvSpPr>
        <p:spPr>
          <a:xfrm>
            <a:off x="5207000" y="23749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Prediction Units predict; Transform Units transform; quantization creates zeros.</a:t>
            </a:r>
            <a:endParaRPr lang="en-IN" sz="1600">
              <a:solidFill>
                <a:srgbClr val="F5F7FA"/>
              </a:solidFill>
              <a:latin typeface="Aptos" panose="020B0004020202020204" pitchFamily="34" charset="0"/>
            </a:endParaRPr>
          </a:p>
        </p:txBody>
      </p:sp>
      <p:sp>
        <p:nvSpPr>
          <p:cNvPr id="13" name="Oval 12">
            <a:extLst>
              <a:ext uri="{FF2B5EF4-FFF2-40B4-BE49-F238E27FC236}">
                <a16:creationId xmlns:a16="http://schemas.microsoft.com/office/drawing/2014/main" id="{93DCD568-C6E7-B69C-FC5D-7526D671E9C3}"/>
              </a:ext>
            </a:extLst>
          </p:cNvPr>
          <p:cNvSpPr/>
          <p:nvPr/>
        </p:nvSpPr>
        <p:spPr>
          <a:xfrm>
            <a:off x="787400" y="3441700"/>
            <a:ext cx="508000" cy="5080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55E6A5"/>
                </a:solidFill>
                <a:latin typeface="Aptos Display" panose="020B0004020202020204" pitchFamily="34" charset="0"/>
              </a:rPr>
              <a:t>3</a:t>
            </a:r>
          </a:p>
        </p:txBody>
      </p:sp>
      <p:sp>
        <p:nvSpPr>
          <p:cNvPr id="14" name="TextBox 13">
            <a:extLst>
              <a:ext uri="{FF2B5EF4-FFF2-40B4-BE49-F238E27FC236}">
                <a16:creationId xmlns:a16="http://schemas.microsoft.com/office/drawing/2014/main" id="{D19BF2B1-BA28-1E98-1136-199CDE53483F}"/>
              </a:ext>
            </a:extLst>
          </p:cNvPr>
          <p:cNvSpPr txBox="1"/>
          <p:nvPr/>
        </p:nvSpPr>
        <p:spPr>
          <a:xfrm>
            <a:off x="1549400" y="3429000"/>
            <a:ext cx="3530600" cy="276999"/>
          </a:xfrm>
          <a:prstGeom prst="rect">
            <a:avLst/>
          </a:prstGeom>
          <a:noFill/>
        </p:spPr>
        <p:txBody>
          <a:bodyPr vert="horz" wrap="square" lIns="0" tIns="0" rIns="0" bIns="0" rtlCol="0">
            <a:noAutofit/>
          </a:bodyPr>
          <a:lstStyle/>
          <a:p>
            <a:r>
              <a:rPr lang="en-IN" sz="2000" b="1">
                <a:solidFill>
                  <a:srgbClr val="55E6A5"/>
                </a:solidFill>
                <a:latin typeface="Aptos Display" panose="020B0004020202020204" pitchFamily="34" charset="0"/>
              </a:rPr>
              <a:t>Stay decoder-consistent</a:t>
            </a:r>
          </a:p>
        </p:txBody>
      </p:sp>
      <p:sp>
        <p:nvSpPr>
          <p:cNvPr id="15" name="TextBox 14">
            <a:extLst>
              <a:ext uri="{FF2B5EF4-FFF2-40B4-BE49-F238E27FC236}">
                <a16:creationId xmlns:a16="http://schemas.microsoft.com/office/drawing/2014/main" id="{015C9582-B83E-F2F9-B1DB-E0BCEBE6A509}"/>
              </a:ext>
            </a:extLst>
          </p:cNvPr>
          <p:cNvSpPr txBox="1"/>
          <p:nvPr/>
        </p:nvSpPr>
        <p:spPr>
          <a:xfrm>
            <a:off x="5207000" y="34290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Inverse operations and in-loop filters prevent drift.</a:t>
            </a:r>
            <a:endParaRPr lang="en-IN" sz="1600">
              <a:solidFill>
                <a:srgbClr val="F5F7FA"/>
              </a:solidFill>
              <a:latin typeface="Aptos" panose="020B0004020202020204" pitchFamily="34" charset="0"/>
            </a:endParaRPr>
          </a:p>
        </p:txBody>
      </p:sp>
      <p:sp>
        <p:nvSpPr>
          <p:cNvPr id="16" name="Oval 15">
            <a:extLst>
              <a:ext uri="{FF2B5EF4-FFF2-40B4-BE49-F238E27FC236}">
                <a16:creationId xmlns:a16="http://schemas.microsoft.com/office/drawing/2014/main" id="{948F9846-85B6-CC5E-E221-98F9318B182E}"/>
              </a:ext>
            </a:extLst>
          </p:cNvPr>
          <p:cNvSpPr/>
          <p:nvPr/>
        </p:nvSpPr>
        <p:spPr>
          <a:xfrm>
            <a:off x="787400" y="4495800"/>
            <a:ext cx="508000" cy="508000"/>
          </a:xfrm>
          <a:prstGeom prst="ellipse">
            <a:avLst/>
          </a:prstGeom>
          <a:solidFill>
            <a:srgbClr val="06182B"/>
          </a:solidFill>
          <a:ln w="2540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B454"/>
                </a:solidFill>
                <a:latin typeface="Aptos Display" panose="020B0004020202020204" pitchFamily="34" charset="0"/>
              </a:rPr>
              <a:t>4</a:t>
            </a:r>
          </a:p>
        </p:txBody>
      </p:sp>
      <p:sp>
        <p:nvSpPr>
          <p:cNvPr id="17" name="TextBox 16">
            <a:extLst>
              <a:ext uri="{FF2B5EF4-FFF2-40B4-BE49-F238E27FC236}">
                <a16:creationId xmlns:a16="http://schemas.microsoft.com/office/drawing/2014/main" id="{5080FAE5-70FD-09E4-554D-32117E446FC1}"/>
              </a:ext>
            </a:extLst>
          </p:cNvPr>
          <p:cNvSpPr txBox="1"/>
          <p:nvPr/>
        </p:nvSpPr>
        <p:spPr>
          <a:xfrm>
            <a:off x="1549400" y="4483100"/>
            <a:ext cx="3530600" cy="276999"/>
          </a:xfrm>
          <a:prstGeom prst="rect">
            <a:avLst/>
          </a:prstGeom>
          <a:noFill/>
        </p:spPr>
        <p:txBody>
          <a:bodyPr vert="horz" wrap="square" lIns="0" tIns="0" rIns="0" bIns="0" rtlCol="0">
            <a:noAutofit/>
          </a:bodyPr>
          <a:lstStyle/>
          <a:p>
            <a:r>
              <a:rPr lang="en-IN" sz="2000" b="1">
                <a:solidFill>
                  <a:srgbClr val="FFB454"/>
                </a:solidFill>
                <a:latin typeface="Aptos Display" panose="020B0004020202020204" pitchFamily="34" charset="0"/>
              </a:rPr>
              <a:t>Optimize the full choice</a:t>
            </a:r>
          </a:p>
        </p:txBody>
      </p:sp>
      <p:sp>
        <p:nvSpPr>
          <p:cNvPr id="18" name="TextBox 17">
            <a:extLst>
              <a:ext uri="{FF2B5EF4-FFF2-40B4-BE49-F238E27FC236}">
                <a16:creationId xmlns:a16="http://schemas.microsoft.com/office/drawing/2014/main" id="{C2CB07A5-8078-4362-7B92-68923AEE8B3E}"/>
              </a:ext>
            </a:extLst>
          </p:cNvPr>
          <p:cNvSpPr txBox="1"/>
          <p:nvPr/>
        </p:nvSpPr>
        <p:spPr>
          <a:xfrm>
            <a:off x="5207000" y="4483100"/>
            <a:ext cx="5969000" cy="276999"/>
          </a:xfrm>
          <a:prstGeom prst="rect">
            <a:avLst/>
          </a:prstGeom>
          <a:noFill/>
        </p:spPr>
        <p:txBody>
          <a:bodyPr vert="horz" wrap="square" lIns="0" tIns="0" rIns="0" bIns="0" rtlCol="0">
            <a:noAutofit/>
          </a:bodyPr>
          <a:lstStyle/>
          <a:p>
            <a:r>
              <a:rPr lang="en-IN" sz="1600">
                <a:solidFill>
                  <a:srgbClr val="F5F7FA"/>
                </a:solidFill>
                <a:latin typeface="Aptos" panose="020B0004020202020204" pitchFamily="34" charset="0"/>
              </a:rPr>
              <a:t>Rate–Distortion Optimization balances distortion against bitrate.</a:t>
            </a:r>
          </a:p>
        </p:txBody>
      </p:sp>
      <p:sp>
        <p:nvSpPr>
          <p:cNvPr id="19" name="Rectangle: Rounded Corners 18">
            <a:extLst>
              <a:ext uri="{FF2B5EF4-FFF2-40B4-BE49-F238E27FC236}">
                <a16:creationId xmlns:a16="http://schemas.microsoft.com/office/drawing/2014/main" id="{87DA9B67-B983-3A2B-37AB-9BF1875E7624}"/>
              </a:ext>
            </a:extLst>
          </p:cNvPr>
          <p:cNvSpPr/>
          <p:nvPr/>
        </p:nvSpPr>
        <p:spPr>
          <a:xfrm>
            <a:off x="787400" y="5676900"/>
            <a:ext cx="10617200" cy="762000"/>
          </a:xfrm>
          <a:prstGeom prst="roundRect">
            <a:avLst/>
          </a:prstGeom>
          <a:solidFill>
            <a:srgbClr val="071E35">
              <a:alpha val="97000"/>
            </a:srgbClr>
          </a:solidFill>
          <a:ln w="1905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AB31DD98-B775-1551-F21F-77C41F0111D7}"/>
              </a:ext>
            </a:extLst>
          </p:cNvPr>
          <p:cNvSpPr txBox="1"/>
          <p:nvPr/>
        </p:nvSpPr>
        <p:spPr>
          <a:xfrm>
            <a:off x="1066800" y="5854700"/>
            <a:ext cx="2514600" cy="276999"/>
          </a:xfrm>
          <a:prstGeom prst="rect">
            <a:avLst/>
          </a:prstGeom>
          <a:noFill/>
        </p:spPr>
        <p:txBody>
          <a:bodyPr vert="horz" wrap="square" lIns="0" tIns="0" rIns="0" bIns="0" rtlCol="0">
            <a:noAutofit/>
          </a:bodyPr>
          <a:lstStyle/>
          <a:p>
            <a:r>
              <a:rPr lang="en-IN" sz="1700" b="1">
                <a:solidFill>
                  <a:srgbClr val="1A8BFF"/>
                </a:solidFill>
                <a:latin typeface="Aptos" panose="020B0004020202020204" pitchFamily="34" charset="0"/>
              </a:rPr>
              <a:t>Next research question:</a:t>
            </a:r>
          </a:p>
        </p:txBody>
      </p:sp>
      <p:sp>
        <p:nvSpPr>
          <p:cNvPr id="21" name="TextBox 20">
            <a:extLst>
              <a:ext uri="{FF2B5EF4-FFF2-40B4-BE49-F238E27FC236}">
                <a16:creationId xmlns:a16="http://schemas.microsoft.com/office/drawing/2014/main" id="{D83F69D9-24E7-A261-A43B-10780B3C577E}"/>
              </a:ext>
            </a:extLst>
          </p:cNvPr>
          <p:cNvSpPr txBox="1"/>
          <p:nvPr/>
        </p:nvSpPr>
        <p:spPr>
          <a:xfrm>
            <a:off x="3581400" y="5803900"/>
            <a:ext cx="7467600" cy="276999"/>
          </a:xfrm>
          <a:prstGeom prst="rect">
            <a:avLst/>
          </a:prstGeom>
          <a:noFill/>
        </p:spPr>
        <p:txBody>
          <a:bodyPr vert="horz" wrap="square" lIns="0" tIns="0" rIns="0" bIns="0" rtlCol="0">
            <a:noAutofit/>
          </a:bodyPr>
          <a:lstStyle/>
          <a:p>
            <a:r>
              <a:rPr lang="en-US" sz="2200" b="1">
                <a:solidFill>
                  <a:srgbClr val="F5F7FA"/>
                </a:solidFill>
                <a:latin typeface="Aptos Display" panose="020B0004020202020204" pitchFamily="34" charset="0"/>
              </a:rPr>
              <a:t>How do we search this space in real time with less energy?</a:t>
            </a:r>
            <a:endParaRPr lang="en-IN" sz="2200" b="1">
              <a:solidFill>
                <a:srgbClr val="F5F7FA"/>
              </a:solidFill>
              <a:latin typeface="Aptos Display" panose="020B0004020202020204" pitchFamily="34" charset="0"/>
            </a:endParaRPr>
          </a:p>
        </p:txBody>
      </p:sp>
      <p:sp>
        <p:nvSpPr>
          <p:cNvPr id="22" name="TextBox 21">
            <a:extLst>
              <a:ext uri="{FF2B5EF4-FFF2-40B4-BE49-F238E27FC236}">
                <a16:creationId xmlns:a16="http://schemas.microsoft.com/office/drawing/2014/main" id="{7FC2ADEC-611E-13B7-3E8C-348FDA22AA48}"/>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18 / 19</a:t>
            </a:r>
          </a:p>
        </p:txBody>
      </p:sp>
    </p:spTree>
    <p:extLst>
      <p:ext uri="{BB962C8B-B14F-4D97-AF65-F5344CB8AC3E}">
        <p14:creationId xmlns:p14="http://schemas.microsoft.com/office/powerpoint/2010/main" val="141865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2DB0FB-A34B-3A4D-50A9-BEA52A9C4F2D}"/>
              </a:ext>
            </a:extLst>
          </p:cNvPr>
          <p:cNvSpPr/>
          <p:nvPr/>
        </p:nvSpPr>
        <p:spPr>
          <a:xfrm>
            <a:off x="0" y="0"/>
            <a:ext cx="12192000" cy="6858000"/>
          </a:xfrm>
          <a:prstGeom prst="rect">
            <a:avLst/>
          </a:prstGeom>
          <a:solidFill>
            <a:srgbClr val="020B1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4ACFB181-1462-41CD-FCFF-20E0C4B77208}"/>
              </a:ext>
            </a:extLst>
          </p:cNvPr>
          <p:cNvSpPr/>
          <p:nvPr/>
        </p:nvSpPr>
        <p:spPr>
          <a:xfrm>
            <a:off x="9652000" y="-1397000"/>
            <a:ext cx="3556000" cy="3556000"/>
          </a:xfrm>
          <a:prstGeom prst="ellipse">
            <a:avLst/>
          </a:prstGeom>
          <a:solidFill>
            <a:srgbClr val="1A8BFF">
              <a:alpha val="1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5A849FFE-BC0E-04DB-097A-3C34997B7610}"/>
              </a:ext>
            </a:extLst>
          </p:cNvPr>
          <p:cNvSpPr/>
          <p:nvPr/>
        </p:nvSpPr>
        <p:spPr>
          <a:xfrm>
            <a:off x="-1524000" y="5207000"/>
            <a:ext cx="3175000" cy="3175000"/>
          </a:xfrm>
          <a:prstGeom prst="ellipse">
            <a:avLst/>
          </a:prstGeom>
          <a:solidFill>
            <a:srgbClr val="16E3F2">
              <a:alpha val="7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3F5DDB7-1AC9-A08C-73C6-FCABE0D515AD}"/>
              </a:ext>
            </a:extLst>
          </p:cNvPr>
          <p:cNvSpPr txBox="1"/>
          <p:nvPr/>
        </p:nvSpPr>
        <p:spPr>
          <a:xfrm>
            <a:off x="482600" y="304800"/>
            <a:ext cx="11226800" cy="276999"/>
          </a:xfrm>
          <a:prstGeom prst="rect">
            <a:avLst/>
          </a:prstGeom>
          <a:noFill/>
        </p:spPr>
        <p:txBody>
          <a:bodyPr vert="horz" wrap="square" lIns="0" tIns="0" rIns="0" bIns="0" rtlCol="0">
            <a:noAutofit/>
          </a:bodyPr>
          <a:lstStyle/>
          <a:p>
            <a:r>
              <a:rPr lang="en-US" sz="2800" b="1">
                <a:solidFill>
                  <a:srgbClr val="F5F7FA"/>
                </a:solidFill>
                <a:latin typeface="Aptos Display" panose="020B0004020202020204" pitchFamily="34" charset="0"/>
              </a:rPr>
              <a:t>What's next: searching HEVC's decision space efficiently</a:t>
            </a:r>
            <a:endParaRPr lang="en-IN" sz="2800" b="1">
              <a:solidFill>
                <a:srgbClr val="F5F7FA"/>
              </a:solidFill>
              <a:latin typeface="Aptos Display" panose="020B0004020202020204" pitchFamily="34" charset="0"/>
            </a:endParaRPr>
          </a:p>
        </p:txBody>
      </p:sp>
      <p:cxnSp>
        <p:nvCxnSpPr>
          <p:cNvPr id="6" name="Straight Connector 5">
            <a:extLst>
              <a:ext uri="{FF2B5EF4-FFF2-40B4-BE49-F238E27FC236}">
                <a16:creationId xmlns:a16="http://schemas.microsoft.com/office/drawing/2014/main" id="{BC16F06F-FA3D-8932-1275-3498F1D6932A}"/>
              </a:ext>
            </a:extLst>
          </p:cNvPr>
          <p:cNvCxnSpPr/>
          <p:nvPr/>
        </p:nvCxnSpPr>
        <p:spPr>
          <a:xfrm>
            <a:off x="508000" y="990600"/>
            <a:ext cx="11176000" cy="0"/>
          </a:xfrm>
          <a:prstGeom prst="line">
            <a:avLst/>
          </a:prstGeom>
          <a:ln w="12700">
            <a:solidFill>
              <a:srgbClr val="17486B"/>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984D8B5-DDE9-E464-61DC-ED3352572585}"/>
              </a:ext>
            </a:extLst>
          </p:cNvPr>
          <p:cNvSpPr/>
          <p:nvPr/>
        </p:nvSpPr>
        <p:spPr>
          <a:xfrm>
            <a:off x="787400" y="1333500"/>
            <a:ext cx="508000" cy="508000"/>
          </a:xfrm>
          <a:prstGeom prst="ellipse">
            <a:avLst/>
          </a:prstGeom>
          <a:solidFill>
            <a:srgbClr val="06182B"/>
          </a:solidFill>
          <a:ln w="25400">
            <a:solidFill>
              <a:srgbClr val="16E3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16E3F2"/>
                </a:solidFill>
                <a:latin typeface="Aptos Display" panose="020B0004020202020204" pitchFamily="34" charset="0"/>
              </a:rPr>
              <a:t>1</a:t>
            </a:r>
          </a:p>
        </p:txBody>
      </p:sp>
      <p:sp>
        <p:nvSpPr>
          <p:cNvPr id="8" name="TextBox 7">
            <a:extLst>
              <a:ext uri="{FF2B5EF4-FFF2-40B4-BE49-F238E27FC236}">
                <a16:creationId xmlns:a16="http://schemas.microsoft.com/office/drawing/2014/main" id="{2FE00820-639D-BE61-EE50-BA586EABBAB5}"/>
              </a:ext>
            </a:extLst>
          </p:cNvPr>
          <p:cNvSpPr txBox="1"/>
          <p:nvPr/>
        </p:nvSpPr>
        <p:spPr>
          <a:xfrm>
            <a:off x="1549400" y="1320800"/>
            <a:ext cx="3530600" cy="276999"/>
          </a:xfrm>
          <a:prstGeom prst="rect">
            <a:avLst/>
          </a:prstGeom>
          <a:noFill/>
        </p:spPr>
        <p:txBody>
          <a:bodyPr vert="horz" wrap="square" lIns="0" tIns="0" rIns="0" bIns="0" rtlCol="0">
            <a:noAutofit/>
          </a:bodyPr>
          <a:lstStyle/>
          <a:p>
            <a:r>
              <a:rPr lang="en-IN" sz="2000" b="1">
                <a:solidFill>
                  <a:srgbClr val="16E3F2"/>
                </a:solidFill>
                <a:latin typeface="Aptos Display" panose="020B0004020202020204" pitchFamily="34" charset="0"/>
              </a:rPr>
              <a:t>Fast mode and partition search</a:t>
            </a:r>
          </a:p>
        </p:txBody>
      </p:sp>
      <p:sp>
        <p:nvSpPr>
          <p:cNvPr id="9" name="TextBox 8">
            <a:extLst>
              <a:ext uri="{FF2B5EF4-FFF2-40B4-BE49-F238E27FC236}">
                <a16:creationId xmlns:a16="http://schemas.microsoft.com/office/drawing/2014/main" id="{8E269ACB-8E55-5BA5-9A7A-3091FBAECB49}"/>
              </a:ext>
            </a:extLst>
          </p:cNvPr>
          <p:cNvSpPr txBox="1"/>
          <p:nvPr/>
        </p:nvSpPr>
        <p:spPr>
          <a:xfrm>
            <a:off x="5207000" y="13208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Early termination and learned heuristics shrink the Rate–Distortion search.</a:t>
            </a:r>
            <a:endParaRPr lang="en-IN" sz="1600">
              <a:solidFill>
                <a:srgbClr val="F5F7FA"/>
              </a:solidFill>
              <a:latin typeface="Aptos" panose="020B0004020202020204" pitchFamily="34" charset="0"/>
            </a:endParaRPr>
          </a:p>
        </p:txBody>
      </p:sp>
      <p:sp>
        <p:nvSpPr>
          <p:cNvPr id="10" name="Oval 9">
            <a:extLst>
              <a:ext uri="{FF2B5EF4-FFF2-40B4-BE49-F238E27FC236}">
                <a16:creationId xmlns:a16="http://schemas.microsoft.com/office/drawing/2014/main" id="{8AE6BB31-F367-FD04-A0AE-7AF29D8AB0C6}"/>
              </a:ext>
            </a:extLst>
          </p:cNvPr>
          <p:cNvSpPr/>
          <p:nvPr/>
        </p:nvSpPr>
        <p:spPr>
          <a:xfrm>
            <a:off x="787400" y="2387600"/>
            <a:ext cx="508000" cy="508000"/>
          </a:xfrm>
          <a:prstGeom prst="ellipse">
            <a:avLst/>
          </a:prstGeom>
          <a:solidFill>
            <a:srgbClr val="06182B"/>
          </a:solidFill>
          <a:ln w="2540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1A8BFF"/>
                </a:solidFill>
                <a:latin typeface="Aptos Display" panose="020B0004020202020204" pitchFamily="34" charset="0"/>
              </a:rPr>
              <a:t>2</a:t>
            </a:r>
          </a:p>
        </p:txBody>
      </p:sp>
      <p:sp>
        <p:nvSpPr>
          <p:cNvPr id="11" name="TextBox 10">
            <a:extLst>
              <a:ext uri="{FF2B5EF4-FFF2-40B4-BE49-F238E27FC236}">
                <a16:creationId xmlns:a16="http://schemas.microsoft.com/office/drawing/2014/main" id="{0C3314D6-A30D-3490-AB9D-2FF7CCA35B68}"/>
              </a:ext>
            </a:extLst>
          </p:cNvPr>
          <p:cNvSpPr txBox="1"/>
          <p:nvPr/>
        </p:nvSpPr>
        <p:spPr>
          <a:xfrm>
            <a:off x="1549400" y="2374900"/>
            <a:ext cx="3530600" cy="276999"/>
          </a:xfrm>
          <a:prstGeom prst="rect">
            <a:avLst/>
          </a:prstGeom>
          <a:noFill/>
        </p:spPr>
        <p:txBody>
          <a:bodyPr vert="horz" wrap="square" lIns="0" tIns="0" rIns="0" bIns="0" rtlCol="0">
            <a:noAutofit/>
          </a:bodyPr>
          <a:lstStyle/>
          <a:p>
            <a:r>
              <a:rPr lang="en-IN" sz="2000" b="1">
                <a:solidFill>
                  <a:srgbClr val="1A8BFF"/>
                </a:solidFill>
                <a:latin typeface="Aptos Display" panose="020B0004020202020204" pitchFamily="34" charset="0"/>
              </a:rPr>
              <a:t>Parallel processing</a:t>
            </a:r>
          </a:p>
        </p:txBody>
      </p:sp>
      <p:sp>
        <p:nvSpPr>
          <p:cNvPr id="12" name="TextBox 11">
            <a:extLst>
              <a:ext uri="{FF2B5EF4-FFF2-40B4-BE49-F238E27FC236}">
                <a16:creationId xmlns:a16="http://schemas.microsoft.com/office/drawing/2014/main" id="{957F25E9-1820-F226-556F-9DB564846C1A}"/>
              </a:ext>
            </a:extLst>
          </p:cNvPr>
          <p:cNvSpPr txBox="1"/>
          <p:nvPr/>
        </p:nvSpPr>
        <p:spPr>
          <a:xfrm>
            <a:off x="5207000" y="23749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Tiles and Wavefront Parallel Processing recover speed despite CABAC's serial coding.</a:t>
            </a:r>
            <a:endParaRPr lang="en-IN" sz="1600">
              <a:solidFill>
                <a:srgbClr val="F5F7FA"/>
              </a:solidFill>
              <a:latin typeface="Aptos" panose="020B0004020202020204" pitchFamily="34" charset="0"/>
            </a:endParaRPr>
          </a:p>
        </p:txBody>
      </p:sp>
      <p:sp>
        <p:nvSpPr>
          <p:cNvPr id="13" name="Oval 12">
            <a:extLst>
              <a:ext uri="{FF2B5EF4-FFF2-40B4-BE49-F238E27FC236}">
                <a16:creationId xmlns:a16="http://schemas.microsoft.com/office/drawing/2014/main" id="{93DCD568-C6E7-B69C-FC5D-7526D671E9C3}"/>
              </a:ext>
            </a:extLst>
          </p:cNvPr>
          <p:cNvSpPr/>
          <p:nvPr/>
        </p:nvSpPr>
        <p:spPr>
          <a:xfrm>
            <a:off x="787400" y="3441700"/>
            <a:ext cx="508000" cy="508000"/>
          </a:xfrm>
          <a:prstGeom prst="ellipse">
            <a:avLst/>
          </a:prstGeom>
          <a:solidFill>
            <a:srgbClr val="06182B"/>
          </a:solidFill>
          <a:ln w="25400">
            <a:solidFill>
              <a:srgbClr val="55E6A5"/>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55E6A5"/>
                </a:solidFill>
                <a:latin typeface="Aptos Display" panose="020B0004020202020204" pitchFamily="34" charset="0"/>
              </a:rPr>
              <a:t>3</a:t>
            </a:r>
          </a:p>
        </p:txBody>
      </p:sp>
      <p:sp>
        <p:nvSpPr>
          <p:cNvPr id="14" name="TextBox 13">
            <a:extLst>
              <a:ext uri="{FF2B5EF4-FFF2-40B4-BE49-F238E27FC236}">
                <a16:creationId xmlns:a16="http://schemas.microsoft.com/office/drawing/2014/main" id="{D19BF2B1-BA28-1E98-1136-199CDE53483F}"/>
              </a:ext>
            </a:extLst>
          </p:cNvPr>
          <p:cNvSpPr txBox="1"/>
          <p:nvPr/>
        </p:nvSpPr>
        <p:spPr>
          <a:xfrm>
            <a:off x="1549400" y="3429000"/>
            <a:ext cx="3530600" cy="276999"/>
          </a:xfrm>
          <a:prstGeom prst="rect">
            <a:avLst/>
          </a:prstGeom>
          <a:noFill/>
        </p:spPr>
        <p:txBody>
          <a:bodyPr vert="horz" wrap="square" lIns="0" tIns="0" rIns="0" bIns="0" rtlCol="0">
            <a:noAutofit/>
          </a:bodyPr>
          <a:lstStyle/>
          <a:p>
            <a:r>
              <a:rPr lang="en-IN" sz="2000" b="1">
                <a:solidFill>
                  <a:srgbClr val="55E6A5"/>
                </a:solidFill>
                <a:latin typeface="Aptos Display" panose="020B0004020202020204" pitchFamily="34" charset="0"/>
              </a:rPr>
              <a:t>Hardware acceleration</a:t>
            </a:r>
          </a:p>
        </p:txBody>
      </p:sp>
      <p:sp>
        <p:nvSpPr>
          <p:cNvPr id="15" name="TextBox 14">
            <a:extLst>
              <a:ext uri="{FF2B5EF4-FFF2-40B4-BE49-F238E27FC236}">
                <a16:creationId xmlns:a16="http://schemas.microsoft.com/office/drawing/2014/main" id="{015C9582-B83E-F2F9-B1DB-E0BCEBE6A509}"/>
              </a:ext>
            </a:extLst>
          </p:cNvPr>
          <p:cNvSpPr txBox="1"/>
          <p:nvPr/>
        </p:nvSpPr>
        <p:spPr>
          <a:xfrm>
            <a:off x="5207000" y="3429000"/>
            <a:ext cx="5969000" cy="276999"/>
          </a:xfrm>
          <a:prstGeom prst="rect">
            <a:avLst/>
          </a:prstGeom>
          <a:noFill/>
        </p:spPr>
        <p:txBody>
          <a:bodyPr vert="horz" wrap="square" lIns="0" tIns="0" rIns="0" bIns="0" rtlCol="0">
            <a:noAutofit/>
          </a:bodyPr>
          <a:lstStyle/>
          <a:p>
            <a:r>
              <a:rPr lang="en-US" sz="1600">
                <a:solidFill>
                  <a:srgbClr val="F5F7FA"/>
                </a:solidFill>
                <a:latin typeface="Aptos" panose="020B0004020202020204" pitchFamily="34" charset="0"/>
              </a:rPr>
              <a:t>Dedicated silicon speeds up motion estimation, the transform, and entropy coding.</a:t>
            </a:r>
            <a:endParaRPr lang="en-IN" sz="1600">
              <a:solidFill>
                <a:srgbClr val="F5F7FA"/>
              </a:solidFill>
              <a:latin typeface="Aptos" panose="020B0004020202020204" pitchFamily="34" charset="0"/>
            </a:endParaRPr>
          </a:p>
        </p:txBody>
      </p:sp>
      <p:sp>
        <p:nvSpPr>
          <p:cNvPr id="16" name="Oval 15">
            <a:extLst>
              <a:ext uri="{FF2B5EF4-FFF2-40B4-BE49-F238E27FC236}">
                <a16:creationId xmlns:a16="http://schemas.microsoft.com/office/drawing/2014/main" id="{948F9846-85B6-CC5E-E221-98F9318B182E}"/>
              </a:ext>
            </a:extLst>
          </p:cNvPr>
          <p:cNvSpPr/>
          <p:nvPr/>
        </p:nvSpPr>
        <p:spPr>
          <a:xfrm>
            <a:off x="787400" y="4495800"/>
            <a:ext cx="508000" cy="508000"/>
          </a:xfrm>
          <a:prstGeom prst="ellipse">
            <a:avLst/>
          </a:prstGeom>
          <a:solidFill>
            <a:srgbClr val="06182B"/>
          </a:solidFill>
          <a:ln w="25400">
            <a:solidFill>
              <a:srgbClr val="FFB45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B454"/>
                </a:solidFill>
                <a:latin typeface="Aptos Display" panose="020B0004020202020204" pitchFamily="34" charset="0"/>
              </a:rPr>
              <a:t>4</a:t>
            </a:r>
          </a:p>
        </p:txBody>
      </p:sp>
      <p:sp>
        <p:nvSpPr>
          <p:cNvPr id="17" name="TextBox 16">
            <a:extLst>
              <a:ext uri="{FF2B5EF4-FFF2-40B4-BE49-F238E27FC236}">
                <a16:creationId xmlns:a16="http://schemas.microsoft.com/office/drawing/2014/main" id="{5080FAE5-70FD-09E4-554D-32117E446FC1}"/>
              </a:ext>
            </a:extLst>
          </p:cNvPr>
          <p:cNvSpPr txBox="1"/>
          <p:nvPr/>
        </p:nvSpPr>
        <p:spPr>
          <a:xfrm>
            <a:off x="1549400" y="4483100"/>
            <a:ext cx="3530600" cy="276999"/>
          </a:xfrm>
          <a:prstGeom prst="rect">
            <a:avLst/>
          </a:prstGeom>
          <a:noFill/>
        </p:spPr>
        <p:txBody>
          <a:bodyPr vert="horz" wrap="square" lIns="0" tIns="0" rIns="0" bIns="0" rtlCol="0">
            <a:noAutofit/>
          </a:bodyPr>
          <a:lstStyle/>
          <a:p>
            <a:r>
              <a:rPr lang="en-IN" sz="2000" b="1">
                <a:solidFill>
                  <a:srgbClr val="FFB454"/>
                </a:solidFill>
                <a:latin typeface="Aptos Display" panose="020B0004020202020204" pitchFamily="34" charset="0"/>
              </a:rPr>
              <a:t>Approximate computing</a:t>
            </a:r>
          </a:p>
        </p:txBody>
      </p:sp>
      <p:sp>
        <p:nvSpPr>
          <p:cNvPr id="18" name="TextBox 17">
            <a:extLst>
              <a:ext uri="{FF2B5EF4-FFF2-40B4-BE49-F238E27FC236}">
                <a16:creationId xmlns:a16="http://schemas.microsoft.com/office/drawing/2014/main" id="{C2CB07A5-8078-4362-7B92-68923AEE8B3E}"/>
              </a:ext>
            </a:extLst>
          </p:cNvPr>
          <p:cNvSpPr txBox="1"/>
          <p:nvPr/>
        </p:nvSpPr>
        <p:spPr>
          <a:xfrm>
            <a:off x="5207000" y="4483100"/>
            <a:ext cx="5969000" cy="276999"/>
          </a:xfrm>
          <a:prstGeom prst="rect">
            <a:avLst/>
          </a:prstGeom>
          <a:noFill/>
        </p:spPr>
        <p:txBody>
          <a:bodyPr vert="horz" wrap="square" lIns="0" tIns="0" rIns="0" bIns="0" rtlCol="0">
            <a:noAutofit/>
          </a:bodyPr>
          <a:lstStyle/>
          <a:p>
            <a:r>
              <a:rPr lang="en-IN" sz="1600">
                <a:solidFill>
                  <a:srgbClr val="F5F7FA"/>
                </a:solidFill>
                <a:latin typeface="Aptos" panose="020B0004020202020204" pitchFamily="34" charset="0"/>
              </a:rPr>
              <a:t>Low-power transform and quantization datapaths trade accuracy for energy savings.</a:t>
            </a:r>
          </a:p>
        </p:txBody>
      </p:sp>
      <p:sp>
        <p:nvSpPr>
          <p:cNvPr id="19" name="Rectangle: Rounded Corners 18">
            <a:extLst>
              <a:ext uri="{FF2B5EF4-FFF2-40B4-BE49-F238E27FC236}">
                <a16:creationId xmlns:a16="http://schemas.microsoft.com/office/drawing/2014/main" id="{87DA9B67-B983-3A2B-37AB-9BF1875E7624}"/>
              </a:ext>
            </a:extLst>
          </p:cNvPr>
          <p:cNvSpPr/>
          <p:nvPr/>
        </p:nvSpPr>
        <p:spPr>
          <a:xfrm>
            <a:off x="787400" y="5676900"/>
            <a:ext cx="10617200" cy="762000"/>
          </a:xfrm>
          <a:prstGeom prst="roundRect">
            <a:avLst/>
          </a:prstGeom>
          <a:solidFill>
            <a:srgbClr val="071E35">
              <a:alpha val="97000"/>
            </a:srgbClr>
          </a:solidFill>
          <a:ln w="19050">
            <a:solidFill>
              <a:srgbClr val="1A8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AB31DD98-B775-1551-F21F-77C41F0111D7}"/>
              </a:ext>
            </a:extLst>
          </p:cNvPr>
          <p:cNvSpPr txBox="1"/>
          <p:nvPr/>
        </p:nvSpPr>
        <p:spPr>
          <a:xfrm>
            <a:off x="1066800" y="5854700"/>
            <a:ext cx="2514600" cy="276999"/>
          </a:xfrm>
          <a:prstGeom prst="rect">
            <a:avLst/>
          </a:prstGeom>
          <a:noFill/>
        </p:spPr>
        <p:txBody>
          <a:bodyPr vert="horz" wrap="square" lIns="0" tIns="0" rIns="0" bIns="0" rtlCol="0">
            <a:noAutofit/>
          </a:bodyPr>
          <a:lstStyle/>
          <a:p>
            <a:r>
              <a:rPr lang="en-IN" sz="1700" b="1">
                <a:solidFill>
                  <a:srgbClr val="1A8BFF"/>
                </a:solidFill>
                <a:latin typeface="Aptos" panose="020B0004020202020204" pitchFamily="34" charset="0"/>
              </a:rPr>
              <a:t>Coming in Presentation 3:</a:t>
            </a:r>
          </a:p>
        </p:txBody>
      </p:sp>
      <p:sp>
        <p:nvSpPr>
          <p:cNvPr id="21" name="TextBox 20">
            <a:extLst>
              <a:ext uri="{FF2B5EF4-FFF2-40B4-BE49-F238E27FC236}">
                <a16:creationId xmlns:a16="http://schemas.microsoft.com/office/drawing/2014/main" id="{D83F69D9-24E7-A261-A43B-10780B3C577E}"/>
              </a:ext>
            </a:extLst>
          </p:cNvPr>
          <p:cNvSpPr txBox="1"/>
          <p:nvPr/>
        </p:nvSpPr>
        <p:spPr>
          <a:xfrm>
            <a:off x="3581400" y="5803900"/>
            <a:ext cx="7467600" cy="276999"/>
          </a:xfrm>
          <a:prstGeom prst="rect">
            <a:avLst/>
          </a:prstGeom>
          <a:noFill/>
        </p:spPr>
        <p:txBody>
          <a:bodyPr vert="horz" wrap="square" lIns="0" tIns="0" rIns="0" bIns="0" rtlCol="0">
            <a:noAutofit/>
          </a:bodyPr>
          <a:lstStyle/>
          <a:p>
            <a:r>
              <a:rPr lang="en-US" sz="2200" b="1">
                <a:solidFill>
                  <a:srgbClr val="F5F7FA"/>
                </a:solidFill>
                <a:latin typeface="Aptos Display" panose="020B0004020202020204" pitchFamily="34" charset="0"/>
              </a:rPr>
              <a:t>How Professor Sen's lab searches this space in real time, with less energy.</a:t>
            </a:r>
            <a:endParaRPr lang="en-IN" sz="2200" b="1">
              <a:solidFill>
                <a:srgbClr val="F5F7FA"/>
              </a:solidFill>
              <a:latin typeface="Aptos Display" panose="020B0004020202020204" pitchFamily="34" charset="0"/>
            </a:endParaRPr>
          </a:p>
        </p:txBody>
      </p:sp>
      <p:sp>
        <p:nvSpPr>
          <p:cNvPr id="22" name="TextBox 21">
            <a:extLst>
              <a:ext uri="{FF2B5EF4-FFF2-40B4-BE49-F238E27FC236}">
                <a16:creationId xmlns:a16="http://schemas.microsoft.com/office/drawing/2014/main" id="{7FC2ADEC-611E-13B7-3E8C-348FDA22AA48}"/>
              </a:ext>
            </a:extLst>
          </p:cNvPr>
          <p:cNvSpPr txBox="1"/>
          <p:nvPr/>
        </p:nvSpPr>
        <p:spPr>
          <a:xfrm>
            <a:off x="10896600" y="6553200"/>
            <a:ext cx="1041400" cy="276999"/>
          </a:xfrm>
          <a:prstGeom prst="rect">
            <a:avLst/>
          </a:prstGeom>
          <a:noFill/>
        </p:spPr>
        <p:txBody>
          <a:bodyPr vert="horz" wrap="square" lIns="0" tIns="0" rIns="0" bIns="0" rtlCol="0">
            <a:noAutofit/>
          </a:bodyPr>
          <a:lstStyle/>
          <a:p>
            <a:pPr algn="r"/>
            <a:r>
              <a:rPr lang="en-IN" sz="900" b="1">
                <a:solidFill>
                  <a:srgbClr val="16E3F2"/>
                </a:solidFill>
                <a:latin typeface="Aptos" panose="020B0004020202020204" pitchFamily="34" charset="0"/>
              </a:rPr>
              <a:t>19 / 19</a:t>
            </a:r>
          </a:p>
        </p:txBody>
      </p:sp>
    </p:spTree>
    <p:extLst>
      <p:ext uri="{BB962C8B-B14F-4D97-AF65-F5344CB8AC3E}">
        <p14:creationId xmlns:p14="http://schemas.microsoft.com/office/powerpoint/2010/main" val="141865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3117</Words>
  <Application>Microsoft Office PowerPoint</Application>
  <PresentationFormat>Custom</PresentationFormat>
  <Paragraphs>568</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Aptos Display</vt:lpstr>
      <vt:lpstr>Arial</vt:lpstr>
      <vt:lpstr>Calibri</vt:lpstr>
      <vt:lpstr>Calibri Light</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Sharanya Shetty</dc:creator>
  <cp:lastModifiedBy>Sharanya Shetty</cp:lastModifiedBy>
  <cp:revision>1</cp:revision>
  <dcterms:created xsi:type="dcterms:W3CDTF">2026-08-19T12:43:24Z</dcterms:created>
  <dcterms:modified xsi:type="dcterms:W3CDTF">2026-08-19T12:43:25Z</dcterms:modified>
</cp:coreProperties>
</file>