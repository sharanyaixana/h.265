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26cfb1cb24424b" /><Relationship Type="http://schemas.openxmlformats.org/officeDocument/2006/relationships/extended-properties" Target="/docProps/app.xml" Id="R9a2860da272a41e1" /><Relationship Type="http://schemas.openxmlformats.org/officeDocument/2006/relationships/officeDocument" Target="/ppt/presentation.xml" Id="Rfddd2e81b3b34a8c" /></Relationships>
</file>

<file path=ppt/presentation.xml><?xml version="1.0" encoding="utf-8"?>
<p:presentation xmlns:p="http://schemas.openxmlformats.org/presentationml/2006/main">
  <p:sldMasterIdLst>
    <p:sldMasterId xmlns:r="http://schemas.openxmlformats.org/officeDocument/2006/relationships" id="2147483648" r:id="R0a9df84442674f42"/>
  </p:sldMasterIdLst>
  <p:notesMasterIdLst>
    <p:notesMasterId xmlns:r="http://schemas.openxmlformats.org/officeDocument/2006/relationships" r:id="Rbed6bf1947f84b9a"/>
  </p:notesMasterIdLst>
  <p:sldIdLst>
    <p:sldId xmlns:r="http://schemas.openxmlformats.org/officeDocument/2006/relationships" id="256" r:id="R092143d6857544e5"/>
    <p:sldId xmlns:r="http://schemas.openxmlformats.org/officeDocument/2006/relationships" id="257" r:id="R53b48942dbb04d8b"/>
    <p:sldId xmlns:r="http://schemas.openxmlformats.org/officeDocument/2006/relationships" id="258" r:id="R44963efb983d4733"/>
    <p:sldId xmlns:r="http://schemas.openxmlformats.org/officeDocument/2006/relationships" id="259" r:id="Re712dd1a41834c6c"/>
    <p:sldId xmlns:r="http://schemas.openxmlformats.org/officeDocument/2006/relationships" id="260" r:id="R58ad9542db3a4da9"/>
    <p:sldId xmlns:r="http://schemas.openxmlformats.org/officeDocument/2006/relationships" id="261" r:id="Ra84abee55abf4a80"/>
    <p:sldId xmlns:r="http://schemas.openxmlformats.org/officeDocument/2006/relationships" id="262" r:id="Rb3fe3b5a868f45a2"/>
    <p:sldId xmlns:r="http://schemas.openxmlformats.org/officeDocument/2006/relationships" id="263" r:id="Rb6edb21026714ad7"/>
    <p:sldId xmlns:r="http://schemas.openxmlformats.org/officeDocument/2006/relationships" id="264" r:id="R66df55cdb73144c4"/>
    <p:sldId xmlns:r="http://schemas.openxmlformats.org/officeDocument/2006/relationships" id="265" r:id="R23db7fc19432440a"/>
    <p:sldId xmlns:r="http://schemas.openxmlformats.org/officeDocument/2006/relationships" id="266" r:id="Re9687542a14e4e12"/>
    <p:sldId xmlns:r="http://schemas.openxmlformats.org/officeDocument/2006/relationships" id="267" r:id="R11a21ca71af04c0f"/>
    <p:sldId xmlns:r="http://schemas.openxmlformats.org/officeDocument/2006/relationships" id="268" r:id="R7ce7cc510e204eeb"/>
    <p:sldId xmlns:r="http://schemas.openxmlformats.org/officeDocument/2006/relationships" id="269" r:id="R8030b353fb3d44ed"/>
    <p:sldId xmlns:r="http://schemas.openxmlformats.org/officeDocument/2006/relationships" id="270" r:id="R499347055a7140ea"/>
    <p:sldId xmlns:r="http://schemas.openxmlformats.org/officeDocument/2006/relationships" id="271" r:id="Ref4c0ec63f3c4d73"/>
    <p:sldId xmlns:r="http://schemas.openxmlformats.org/officeDocument/2006/relationships" id="272" r:id="Rd8ab85afe25d48fb"/>
    <p:sldId xmlns:r="http://schemas.openxmlformats.org/officeDocument/2006/relationships" id="273" r:id="R94b05822e50646dc"/>
    <p:sldId xmlns:r="http://schemas.openxmlformats.org/officeDocument/2006/relationships" id="274" r:id="Rbad852dfbb0c4307"/>
    <p:sldId xmlns:r="http://schemas.openxmlformats.org/officeDocument/2006/relationships" id="275" r:id="R7e88948a74d54164"/>
    <p:sldId xmlns:r="http://schemas.openxmlformats.org/officeDocument/2006/relationships" id="276" r:id="R6042c6f537e94af4"/>
    <p:sldId xmlns:r="http://schemas.openxmlformats.org/officeDocument/2006/relationships" id="277" r:id="Rf4a52cd5f20c4835"/>
    <p:sldId xmlns:r="http://schemas.openxmlformats.org/officeDocument/2006/relationships" id="278" r:id="R766d26828dab427e"/>
    <p:sldId xmlns:r="http://schemas.openxmlformats.org/officeDocument/2006/relationships" id="279" r:id="Rd52e1db2abe8462e"/>
    <p:sldId xmlns:r="http://schemas.openxmlformats.org/officeDocument/2006/relationships" id="280" r:id="R42fa288b5f8d4389"/>
    <p:sldId xmlns:r="http://schemas.openxmlformats.org/officeDocument/2006/relationships" id="281" r:id="Rfd563742a2bf4161"/>
    <p:sldId xmlns:r="http://schemas.openxmlformats.org/officeDocument/2006/relationships" id="282" r:id="Ra6fc51ab2b7441aa"/>
    <p:sldId xmlns:r="http://schemas.openxmlformats.org/officeDocument/2006/relationships" id="283" r:id="Rf160284c3f854d8f"/>
    <p:sldId xmlns:r="http://schemas.openxmlformats.org/officeDocument/2006/relationships" id="284" r:id="Rf5f30ec2ce6949b6"/>
    <p:sldId xmlns:r="http://schemas.openxmlformats.org/officeDocument/2006/relationships" id="285" r:id="R19992fbef76d493c"/>
    <p:sldId xmlns:r="http://schemas.openxmlformats.org/officeDocument/2006/relationships" id="286" r:id="Rf6a550c4b2df4b46"/>
    <p:sldId xmlns:r="http://schemas.openxmlformats.org/officeDocument/2006/relationships" id="287" r:id="R76a3060556154c47"/>
    <p:sldId xmlns:r="http://schemas.openxmlformats.org/officeDocument/2006/relationships" id="288" r:id="R9f86366f3bd841d6"/>
    <p:sldId xmlns:r="http://schemas.openxmlformats.org/officeDocument/2006/relationships" id="289" r:id="R1ba3b19caaa24148"/>
    <p:sldId xmlns:r="http://schemas.openxmlformats.org/officeDocument/2006/relationships" id="290" r:id="R9504aa45092e4604"/>
    <p:sldId xmlns:r="http://schemas.openxmlformats.org/officeDocument/2006/relationships" id="291" r:id="Re91597231ae94433"/>
    <p:sldId xmlns:r="http://schemas.openxmlformats.org/officeDocument/2006/relationships" id="292" r:id="R51f7c9c87ed74c72"/>
    <p:sldId xmlns:r="http://schemas.openxmlformats.org/officeDocument/2006/relationships" id="293" r:id="R52b2329d852b426c"/>
    <p:sldId xmlns:r="http://schemas.openxmlformats.org/officeDocument/2006/relationships" id="294" r:id="R614582e04213405d"/>
    <p:sldId xmlns:r="http://schemas.openxmlformats.org/officeDocument/2006/relationships" id="295" r:id="R2aac0f0bded146a8"/>
    <p:sldId xmlns:r="http://schemas.openxmlformats.org/officeDocument/2006/relationships" id="296" r:id="Rc12dee4e6c824d99"/>
    <p:sldId xmlns:r="http://schemas.openxmlformats.org/officeDocument/2006/relationships" id="297" r:id="R9b339e53598e4003"/>
    <p:sldId xmlns:r="http://schemas.openxmlformats.org/officeDocument/2006/relationships" id="298" r:id="R335d0694a5e84ecb"/>
    <p:sldId xmlns:r="http://schemas.openxmlformats.org/officeDocument/2006/relationships" id="299" r:id="R464775a608864d9a"/>
    <p:sldId xmlns:r="http://schemas.openxmlformats.org/officeDocument/2006/relationships" id="300" r:id="R5d87143fc2794d79"/>
    <p:sldId xmlns:r="http://schemas.openxmlformats.org/officeDocument/2006/relationships" id="301" r:id="Radfd32dc1f7b4f6d"/>
    <p:sldId xmlns:r="http://schemas.openxmlformats.org/officeDocument/2006/relationships" id="302" r:id="R9b0e26b1fd484848"/>
    <p:sldId xmlns:r="http://schemas.openxmlformats.org/officeDocument/2006/relationships" id="303" r:id="R184ac427d7074cd2"/>
    <p:sldId xmlns:r="http://schemas.openxmlformats.org/officeDocument/2006/relationships" id="304" r:id="R260a4e1dcb9c40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2bb80a5d5814dde" /><Relationship Type="http://schemas.openxmlformats.org/officeDocument/2006/relationships/slideMaster" Target="/ppt/slideMasters/slideMaster1.xml" Id="R0a9df84442674f42" /><Relationship Type="http://schemas.openxmlformats.org/officeDocument/2006/relationships/notesMaster" Target="/ppt/notesMasters/notesMaster1.xml" Id="Rbed6bf1947f84b9a" /><Relationship Type="http://schemas.openxmlformats.org/officeDocument/2006/relationships/presProps" Target="/ppt/presProps.xml" Id="R6b127eefd6b84acc" /><Relationship Type="http://schemas.openxmlformats.org/officeDocument/2006/relationships/viewProps" Target="/ppt/viewProps.xml" Id="Rb699607b85824de8" /><Relationship Type="http://schemas.openxmlformats.org/officeDocument/2006/relationships/tableStyles" Target="/ppt/tableStyles.xml" Id="Rf7217a60a28c4917" /><Relationship Type="http://schemas.openxmlformats.org/officeDocument/2006/relationships/slide" Target="/ppt/slides/slide1.xml" Id="R092143d6857544e5" /><Relationship Type="http://schemas.openxmlformats.org/officeDocument/2006/relationships/slide" Target="/ppt/slides/slide2.xml" Id="R53b48942dbb04d8b" /><Relationship Type="http://schemas.openxmlformats.org/officeDocument/2006/relationships/slide" Target="/ppt/slides/slide3.xml" Id="R44963efb983d4733" /><Relationship Type="http://schemas.openxmlformats.org/officeDocument/2006/relationships/slide" Target="/ppt/slides/slide4.xml" Id="Re712dd1a41834c6c" /><Relationship Type="http://schemas.openxmlformats.org/officeDocument/2006/relationships/slide" Target="/ppt/slides/slide5.xml" Id="R58ad9542db3a4da9" /><Relationship Type="http://schemas.openxmlformats.org/officeDocument/2006/relationships/slide" Target="/ppt/slides/slide6.xml" Id="Ra84abee55abf4a80" /><Relationship Type="http://schemas.openxmlformats.org/officeDocument/2006/relationships/slide" Target="/ppt/slides/slide7.xml" Id="Rb3fe3b5a868f45a2" /><Relationship Type="http://schemas.openxmlformats.org/officeDocument/2006/relationships/slide" Target="/ppt/slides/slide8.xml" Id="Rb6edb21026714ad7" /><Relationship Type="http://schemas.openxmlformats.org/officeDocument/2006/relationships/slide" Target="/ppt/slides/slide9.xml" Id="R66df55cdb73144c4" /><Relationship Type="http://schemas.openxmlformats.org/officeDocument/2006/relationships/slide" Target="/ppt/slides/slide10.xml" Id="R23db7fc19432440a" /><Relationship Type="http://schemas.openxmlformats.org/officeDocument/2006/relationships/slide" Target="/ppt/slides/slide11.xml" Id="Re9687542a14e4e12" /><Relationship Type="http://schemas.openxmlformats.org/officeDocument/2006/relationships/slide" Target="/ppt/slides/slide12.xml" Id="R11a21ca71af04c0f" /><Relationship Type="http://schemas.openxmlformats.org/officeDocument/2006/relationships/slide" Target="/ppt/slides/slide13.xml" Id="R7ce7cc510e204eeb" /><Relationship Type="http://schemas.openxmlformats.org/officeDocument/2006/relationships/slide" Target="/ppt/slides/slide14.xml" Id="R8030b353fb3d44ed" /><Relationship Type="http://schemas.openxmlformats.org/officeDocument/2006/relationships/slide" Target="/ppt/slides/slide15.xml" Id="R499347055a7140ea" /><Relationship Type="http://schemas.openxmlformats.org/officeDocument/2006/relationships/slide" Target="/ppt/slides/slide16.xml" Id="Ref4c0ec63f3c4d73" /><Relationship Type="http://schemas.openxmlformats.org/officeDocument/2006/relationships/slide" Target="/ppt/slides/slide17.xml" Id="Rd8ab85afe25d48fb" /><Relationship Type="http://schemas.openxmlformats.org/officeDocument/2006/relationships/slide" Target="/ppt/slides/slide18.xml" Id="R94b05822e50646dc" /><Relationship Type="http://schemas.openxmlformats.org/officeDocument/2006/relationships/slide" Target="/ppt/slides/slide19.xml" Id="Rbad852dfbb0c4307" /><Relationship Type="http://schemas.openxmlformats.org/officeDocument/2006/relationships/slide" Target="/ppt/slides/slide20.xml" Id="R7e88948a74d54164" /><Relationship Type="http://schemas.openxmlformats.org/officeDocument/2006/relationships/slide" Target="/ppt/slides/slide21.xml" Id="R6042c6f537e94af4" /><Relationship Type="http://schemas.openxmlformats.org/officeDocument/2006/relationships/slide" Target="/ppt/slides/slide22.xml" Id="Rf4a52cd5f20c4835" /><Relationship Type="http://schemas.openxmlformats.org/officeDocument/2006/relationships/slide" Target="/ppt/slides/slide23.xml" Id="R766d26828dab427e" /><Relationship Type="http://schemas.openxmlformats.org/officeDocument/2006/relationships/slide" Target="/ppt/slides/slide24.xml" Id="Rd52e1db2abe8462e" /><Relationship Type="http://schemas.openxmlformats.org/officeDocument/2006/relationships/slide" Target="/ppt/slides/slide25.xml" Id="R42fa288b5f8d4389" /><Relationship Type="http://schemas.openxmlformats.org/officeDocument/2006/relationships/slide" Target="/ppt/slides/slide26.xml" Id="Rfd563742a2bf4161" /><Relationship Type="http://schemas.openxmlformats.org/officeDocument/2006/relationships/slide" Target="/ppt/slides/slide27.xml" Id="Ra6fc51ab2b7441aa" /><Relationship Type="http://schemas.openxmlformats.org/officeDocument/2006/relationships/slide" Target="/ppt/slides/slide28.xml" Id="Rf160284c3f854d8f" /><Relationship Type="http://schemas.openxmlformats.org/officeDocument/2006/relationships/slide" Target="/ppt/slides/slide29.xml" Id="Rf5f30ec2ce6949b6" /><Relationship Type="http://schemas.openxmlformats.org/officeDocument/2006/relationships/slide" Target="/ppt/slides/slide30.xml" Id="R19992fbef76d493c" /><Relationship Type="http://schemas.openxmlformats.org/officeDocument/2006/relationships/slide" Target="/ppt/slides/slide31.xml" Id="Rf6a550c4b2df4b46" /><Relationship Type="http://schemas.openxmlformats.org/officeDocument/2006/relationships/slide" Target="/ppt/slides/slide32.xml" Id="R76a3060556154c47" /><Relationship Type="http://schemas.openxmlformats.org/officeDocument/2006/relationships/slide" Target="/ppt/slides/slide33.xml" Id="R9f86366f3bd841d6" /><Relationship Type="http://schemas.openxmlformats.org/officeDocument/2006/relationships/slide" Target="/ppt/slides/slide34.xml" Id="R1ba3b19caaa24148" /><Relationship Type="http://schemas.openxmlformats.org/officeDocument/2006/relationships/slide" Target="/ppt/slides/slide35.xml" Id="R9504aa45092e4604" /><Relationship Type="http://schemas.openxmlformats.org/officeDocument/2006/relationships/slide" Target="/ppt/slides/slide36.xml" Id="Re91597231ae94433" /><Relationship Type="http://schemas.openxmlformats.org/officeDocument/2006/relationships/slide" Target="/ppt/slides/slide37.xml" Id="R51f7c9c87ed74c72" /><Relationship Type="http://schemas.openxmlformats.org/officeDocument/2006/relationships/slide" Target="/ppt/slides/slide38.xml" Id="R52b2329d852b426c" /><Relationship Type="http://schemas.openxmlformats.org/officeDocument/2006/relationships/slide" Target="/ppt/slides/slide39.xml" Id="R614582e04213405d" /><Relationship Type="http://schemas.openxmlformats.org/officeDocument/2006/relationships/slide" Target="/ppt/slides/slide40.xml" Id="R2aac0f0bded146a8" /><Relationship Type="http://schemas.openxmlformats.org/officeDocument/2006/relationships/slide" Target="/ppt/slides/slide41.xml" Id="Rc12dee4e6c824d99" /><Relationship Type="http://schemas.openxmlformats.org/officeDocument/2006/relationships/slide" Target="/ppt/slides/slide42.xml" Id="R9b339e53598e4003" /><Relationship Type="http://schemas.openxmlformats.org/officeDocument/2006/relationships/slide" Target="/ppt/slides/slide43.xml" Id="R335d0694a5e84ecb" /><Relationship Type="http://schemas.openxmlformats.org/officeDocument/2006/relationships/slide" Target="/ppt/slides/slide44.xml" Id="R464775a608864d9a" /><Relationship Type="http://schemas.openxmlformats.org/officeDocument/2006/relationships/slide" Target="/ppt/slides/slide45.xml" Id="R5d87143fc2794d79" /><Relationship Type="http://schemas.openxmlformats.org/officeDocument/2006/relationships/slide" Target="/ppt/slides/slide46.xml" Id="Radfd32dc1f7b4f6d" /><Relationship Type="http://schemas.openxmlformats.org/officeDocument/2006/relationships/slide" Target="/ppt/slides/slide47.xml" Id="R9b0e26b1fd484848" /><Relationship Type="http://schemas.openxmlformats.org/officeDocument/2006/relationships/slide" Target="/ppt/slides/slide48.xml" Id="R184ac427d7074cd2" /><Relationship Type="http://schemas.openxmlformats.org/officeDocument/2006/relationships/slide" Target="/ppt/slides/slide49.xml" Id="R260a4e1dcb9c40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54f6fbcd2841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5f555485c14e5e" /><Relationship Type="http://schemas.openxmlformats.org/officeDocument/2006/relationships/notesMaster" Target="/ppt/notesMasters/notesMaster1.xml" Id="Ra2f0aa6881f84e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56458aee2c4602" /><Relationship Type="http://schemas.openxmlformats.org/officeDocument/2006/relationships/notesMaster" Target="/ppt/notesMasters/notesMaster1.xml" Id="Rfe5283845e1443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210fb495cf4af1" /><Relationship Type="http://schemas.openxmlformats.org/officeDocument/2006/relationships/notesMaster" Target="/ppt/notesMasters/notesMaster1.xml" Id="Rfb0f777edc4244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2353cd4fb34c63" /><Relationship Type="http://schemas.openxmlformats.org/officeDocument/2006/relationships/notesMaster" Target="/ppt/notesMasters/notesMaster1.xml" Id="R11c9589f49eb42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c21b522bc64969" /><Relationship Type="http://schemas.openxmlformats.org/officeDocument/2006/relationships/notesMaster" Target="/ppt/notesMasters/notesMaster1.xml" Id="Ra041c85d0c294c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7445759ec54359" /><Relationship Type="http://schemas.openxmlformats.org/officeDocument/2006/relationships/notesMaster" Target="/ppt/notesMasters/notesMaster1.xml" Id="R0164d0c613d141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26d3f6f2a74ef4" /><Relationship Type="http://schemas.openxmlformats.org/officeDocument/2006/relationships/notesMaster" Target="/ppt/notesMasters/notesMaster1.xml" Id="R4c28e2a05f6645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173cefbe474751" /><Relationship Type="http://schemas.openxmlformats.org/officeDocument/2006/relationships/notesMaster" Target="/ppt/notesMasters/notesMaster1.xml" Id="R5d0cbf9125b341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59a1964da3484a" /><Relationship Type="http://schemas.openxmlformats.org/officeDocument/2006/relationships/notesMaster" Target="/ppt/notesMasters/notesMaster1.xml" Id="Rf4b0e9e4b8704f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fe7e6ccbb744ae" /><Relationship Type="http://schemas.openxmlformats.org/officeDocument/2006/relationships/notesMaster" Target="/ppt/notesMasters/notesMaster1.xml" Id="Rcdf232173cf84e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166eb59bb748a6" /><Relationship Type="http://schemas.openxmlformats.org/officeDocument/2006/relationships/notesMaster" Target="/ppt/notesMasters/notesMaster1.xml" Id="Rb5099a36bf5446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096e1bbb6946ea" /><Relationship Type="http://schemas.openxmlformats.org/officeDocument/2006/relationships/notesMaster" Target="/ppt/notesMasters/notesMaster1.xml" Id="Rb18c9e9f020c42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1da7e8e21b4624" /><Relationship Type="http://schemas.openxmlformats.org/officeDocument/2006/relationships/notesMaster" Target="/ppt/notesMasters/notesMaster1.xml" Id="R897804655e8741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15c973983747c0" /><Relationship Type="http://schemas.openxmlformats.org/officeDocument/2006/relationships/notesMaster" Target="/ppt/notesMasters/notesMaster1.xml" Id="Ra834b14726bf40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e40cc94e4e4a2d" /><Relationship Type="http://schemas.openxmlformats.org/officeDocument/2006/relationships/notesMaster" Target="/ppt/notesMasters/notesMaster1.xml" Id="R6d4d8df0b36e49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6c939676a640ca" /><Relationship Type="http://schemas.openxmlformats.org/officeDocument/2006/relationships/notesMaster" Target="/ppt/notesMasters/notesMaster1.xml" Id="R2c4ef3d838ac46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6887c5fd4e4e0b" /><Relationship Type="http://schemas.openxmlformats.org/officeDocument/2006/relationships/notesMaster" Target="/ppt/notesMasters/notesMaster1.xml" Id="R94f343d33d164d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249aa34f8c4d45" /><Relationship Type="http://schemas.openxmlformats.org/officeDocument/2006/relationships/notesMaster" Target="/ppt/notesMasters/notesMaster1.xml" Id="Rc1cc1e16a5ee460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290901df25640c8" /><Relationship Type="http://schemas.openxmlformats.org/officeDocument/2006/relationships/notesMaster" Target="/ppt/notesMasters/notesMaster1.xml" Id="Rea1443a96b0143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5fa6d52baf46a7" /><Relationship Type="http://schemas.openxmlformats.org/officeDocument/2006/relationships/notesMaster" Target="/ppt/notesMasters/notesMaster1.xml" Id="R0feb5e6cb4c74ff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afd39c3aa24054" /><Relationship Type="http://schemas.openxmlformats.org/officeDocument/2006/relationships/notesMaster" Target="/ppt/notesMasters/notesMaster1.xml" Id="Rec1aedabb4d441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3839ad49f204bbc" /><Relationship Type="http://schemas.openxmlformats.org/officeDocument/2006/relationships/notesMaster" Target="/ppt/notesMasters/notesMaster1.xml" Id="R95b8b798e59940a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a7e95ee5ab4074" /><Relationship Type="http://schemas.openxmlformats.org/officeDocument/2006/relationships/notesMaster" Target="/ppt/notesMasters/notesMaster1.xml" Id="Rb7dd50c7fbc747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f7d1f15ca4471b" /><Relationship Type="http://schemas.openxmlformats.org/officeDocument/2006/relationships/notesMaster" Target="/ppt/notesMasters/notesMaster1.xml" Id="R38488947509b447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4011138a34e4ea5" /><Relationship Type="http://schemas.openxmlformats.org/officeDocument/2006/relationships/notesMaster" Target="/ppt/notesMasters/notesMaster1.xml" Id="R7664309d793d41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2b39541bda4051" /><Relationship Type="http://schemas.openxmlformats.org/officeDocument/2006/relationships/notesMaster" Target="/ppt/notesMasters/notesMaster1.xml" Id="Raae56aec2bd34c0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9c8790c4364744" /><Relationship Type="http://schemas.openxmlformats.org/officeDocument/2006/relationships/notesMaster" Target="/ppt/notesMasters/notesMaster1.xml" Id="R95cae7b620e3478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4e525d6939468e" /><Relationship Type="http://schemas.openxmlformats.org/officeDocument/2006/relationships/notesMaster" Target="/ppt/notesMasters/notesMaster1.xml" Id="R7fffe43b36e9401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a69485108c34a48" /><Relationship Type="http://schemas.openxmlformats.org/officeDocument/2006/relationships/notesMaster" Target="/ppt/notesMasters/notesMaster1.xml" Id="R236a2b9a9a15479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10588256e604ce8" /><Relationship Type="http://schemas.openxmlformats.org/officeDocument/2006/relationships/notesMaster" Target="/ppt/notesMasters/notesMaster1.xml" Id="R11e491a2ab20416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61883bc00a4ac2" /><Relationship Type="http://schemas.openxmlformats.org/officeDocument/2006/relationships/notesMaster" Target="/ppt/notesMasters/notesMaster1.xml" Id="R9c53fd78d7e6464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fee6ff0296a444c" /><Relationship Type="http://schemas.openxmlformats.org/officeDocument/2006/relationships/notesMaster" Target="/ppt/notesMasters/notesMaster1.xml" Id="Rdf86e0a4af36461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40afc8df32f42e0" /><Relationship Type="http://schemas.openxmlformats.org/officeDocument/2006/relationships/notesMaster" Target="/ppt/notesMasters/notesMaster1.xml" Id="R0ced13c90a6d4c9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f24b95a61ff43a6" /><Relationship Type="http://schemas.openxmlformats.org/officeDocument/2006/relationships/notesMaster" Target="/ppt/notesMasters/notesMaster1.xml" Id="Rc2cd393be9444de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0c908c59d86482d" /><Relationship Type="http://schemas.openxmlformats.org/officeDocument/2006/relationships/notesMaster" Target="/ppt/notesMasters/notesMaster1.xml" Id="R69991433f42f4fc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bd3b8a17d534778" /><Relationship Type="http://schemas.openxmlformats.org/officeDocument/2006/relationships/notesMaster" Target="/ppt/notesMasters/notesMaster1.xml" Id="R4875f42365ae415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d593c0270904c1f" /><Relationship Type="http://schemas.openxmlformats.org/officeDocument/2006/relationships/notesMaster" Target="/ppt/notesMasters/notesMaster1.xml" Id="R6278ac6b92214fd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589294ef0d042f6" /><Relationship Type="http://schemas.openxmlformats.org/officeDocument/2006/relationships/notesMaster" Target="/ppt/notesMasters/notesMaster1.xml" Id="Rc30ce6f5e6434d5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b4ffe756c5a48c6" /><Relationship Type="http://schemas.openxmlformats.org/officeDocument/2006/relationships/notesMaster" Target="/ppt/notesMasters/notesMaster1.xml" Id="Rd965e30facb94dd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d6ebd0408034e02" /><Relationship Type="http://schemas.openxmlformats.org/officeDocument/2006/relationships/notesMaster" Target="/ppt/notesMasters/notesMaster1.xml" Id="R3aa9ff64fc704d0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a0cb6a5ce9f4a0f" /><Relationship Type="http://schemas.openxmlformats.org/officeDocument/2006/relationships/notesMaster" Target="/ppt/notesMasters/notesMaster1.xml" Id="R44b1a3963a6c404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68b9b5e4df34359" /><Relationship Type="http://schemas.openxmlformats.org/officeDocument/2006/relationships/notesMaster" Target="/ppt/notesMasters/notesMaster1.xml" Id="R2c06019995c342e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dbe78afa7a9463d" /><Relationship Type="http://schemas.openxmlformats.org/officeDocument/2006/relationships/notesMaster" Target="/ppt/notesMasters/notesMaster1.xml" Id="R3ecdc38836064ea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0629b5c47b34b5d" /><Relationship Type="http://schemas.openxmlformats.org/officeDocument/2006/relationships/notesMaster" Target="/ppt/notesMasters/notesMaster1.xml" Id="Rb628626745ec4ed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f301a7af7c34a92" /><Relationship Type="http://schemas.openxmlformats.org/officeDocument/2006/relationships/notesMaster" Target="/ppt/notesMasters/notesMaster1.xml" Id="R411e5b0dbdee412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fdf87a993c54310" /><Relationship Type="http://schemas.openxmlformats.org/officeDocument/2006/relationships/notesMaster" Target="/ppt/notesMasters/notesMaster1.xml" Id="Rf1e31c2cf6304d5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12930a61cfa433b" /><Relationship Type="http://schemas.openxmlformats.org/officeDocument/2006/relationships/notesMaster" Target="/ppt/notesMasters/notesMaster1.xml" Id="Rf96ba695e9e84ca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f47dd42d7d74af7" /><Relationship Type="http://schemas.openxmlformats.org/officeDocument/2006/relationships/notesMaster" Target="/ppt/notesMasters/notesMaster1.xml" Id="R20ab5e0ff1f6465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471b8ca7f9a4fab" /><Relationship Type="http://schemas.openxmlformats.org/officeDocument/2006/relationships/notesMaster" Target="/ppt/notesMasters/notesMaster1.xml" Id="Rceb288ccf9c743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one-minute recap of Presentation 1. Video compression works because pictures contain spatial and temporal repetition. Intra prediction uses already decoded neighboring samples, while inter prediction finds a similar block in a decoded reference picture and signals motion information. The encoder sends the residual rather than repeating the original pixels. I, P, and B picture roles organize which references may be used, and the Group of Pictures structure trades compression efficiency against random access and latency. HEVC improves efficiency through larger, more flexible coding blocks and additional prediction choices. Finish with the bridge: this presentation follows the residual through the rest of the HEVC coding loop.</a:t>
            </a:r>
          </a:p>
          <a:p xmlns:a="http://schemas.openxmlformats.org/drawingml/2006/main">
            <a:endParaRPr/>
          </a:p>
          <a:p xmlns:a="http://schemas.openxmlformats.org/drawingml/2006/main">
            <a:r>
              <a:t>[Slide-specific evidence]</a:t>
            </a:r>
          </a:p>
          <a:p xmlns:a="http://schemas.openxmlformats.org/drawingml/2006/main">
            <a:r>
              <a:t>Summary derived from Presentation 1: C:/Users/shara/Desktop/GitHub/H.265/presentation/1_introduction.pptx, especially slides 2–21. Core technical sources: ITU-T Recommendation H.265 and G. J. Sullivan et al., Overview of the High Efficiency Video Coding Standard.</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upper path first. The encoder creates the bitstream. Then return to quantization: the same quantized coefficients travel down through inverse quantization and inverse transform. The encoder adds the prediction, filters the result, and stores the reference picture. The green return arrow feeds that picture into future prediction. This local decoder loop prevents prediction drift.</a:t>
            </a:r>
          </a:p>
          <a:p xmlns:a="http://schemas.openxmlformats.org/drawingml/2006/main">
            <a:endParaRPr/>
          </a:p>
          <a:p xmlns:a="http://schemas.openxmlformats.org/drawingml/2006/main">
            <a:r>
              <a:t>[Slide-specific evidence]</a:t>
            </a:r>
          </a:p>
          <a:p xmlns:a="http://schemas.openxmlformats.org/drawingml/2006/main">
            <a:r>
              <a:t>Chapter 11, Sections 11.1 to 11.4</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full picture on the left. A picture is tiled into Coding Tree Units, and the cyan square marks Block 1, the Coding Tree Unit followed in this presentation. Then move across the zoom arrow. The right image shows the same picture region enlarged. The blue and amber boundaries illustrate its Coding Unit quadtree. At each quadtree node, the encoder either keeps one square Coding Unit or splits it into four equal child Coding Units. Smooth content can remain in a larger Coding Unit, while detailed content may justify smaller Coding Units. Keep the split-selection question open here. The later Rate-Distortion Optimization section explains how an encoder compares legal partitions.</a:t>
            </a:r>
          </a:p>
          <a:p xmlns:a="http://schemas.openxmlformats.org/drawingml/2006/main">
            <a:endParaRPr/>
          </a:p>
          <a:p xmlns:a="http://schemas.openxmlformats.org/drawingml/2006/main">
            <a:r>
              <a:t>[Slide-specific evidence]</a:t>
            </a:r>
          </a:p>
          <a:p xmlns:a="http://schemas.openxmlformats.org/drawingml/2006/main">
            <a:r>
              <a:t>TEXTBOOK.md, Chapter 12, Sections 12.2 and 12.3. Coding Tree Unit and Coding Unit syntax: ITU-T Recommendation H.265.</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Coding Unit and Prediction Unit are not redundant. Coding Unit recursion divides a square into four equal smaller squares, so every leaf Coding Unit remains square. It cannot directly produce one rectangular or quarter–three-quarter prediction region. A Prediction Unit asks a different question: after the leaf Coding Unit size is fixed, what geometry should share one prediction description? Rectangular and asymmetric options can follow an object or motion boundary without recursively splitting the entire Coding Unit. The square Coding Unit also provides a common parent from which Prediction Unit and Transform Unit structures can vary independently. Restricting the richer prediction shapes to a menu at the leaf avoids multiplying asymmetric recursive choices through the whole Coding Unit tree. Keep the final choice among legal candidates open until Rate-Distortion Optimization.</a:t>
            </a:r>
          </a:p>
          <a:p xmlns:a="http://schemas.openxmlformats.org/drawingml/2006/main">
            <a:endParaRPr/>
          </a:p>
          <a:p xmlns:a="http://schemas.openxmlformats.org/drawingml/2006/main">
            <a:r>
              <a:t>[Slide-specific evidence]</a:t>
            </a:r>
          </a:p>
          <a:p xmlns:a="http://schemas.openxmlformats.org/drawingml/2006/main">
            <a:r>
              <a:t>TEXTBOOK.md, Chapter 12, Sections 12.3 through 12.5, Figures 12.2 through 12.4.</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same selected Coding Unit from left to right. The middle image uses two Prediction Units, so the tree side and building side may carry different prediction information. Subtracting prediction from original creates signed residual values. Four Transform Units divide the residual independently of the two-PU boundary. The open question appears directly on this slide: why should transform geometry remain independent from prediction geometry? The later transform-size discussion answers it using the spatial distribution of the residual.</a:t>
            </a:r>
          </a:p>
          <a:p xmlns:a="http://schemas.openxmlformats.org/drawingml/2006/main">
            <a:endParaRPr/>
          </a:p>
          <a:p xmlns:a="http://schemas.openxmlformats.org/drawingml/2006/main">
            <a:r>
              <a:t>[Slide-specific evidence]</a:t>
            </a:r>
          </a:p>
          <a:p xmlns:a="http://schemas.openxmlformats.org/drawingml/2006/main">
            <a:r>
              <a:t>TEXTBOOK.md, Chapter 12, Sections 12.4 to 12.6, Figure 12.4. The selected-CU prediction and residual were derived deterministically from the Block X teaching image.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slide from left to right. Begin with the whole source picture and identify Block 1. The second panel enlarges Block 1 as one Coding Tree Unit. The third panel applies the Coding Unit quadtree to that same Coding Tree Unit and highlights one leaf Coding Unit. The fourth panel follows that selected Coding Unit and divides its prediction into two Prediction Units. The fifth panel follows the residual of the same Coding Unit and divides it into four Transform Units. The last two structures serve different jobs: Prediction Units describe prediction geometry, while Transform Units describe transform geometry for the residual.</a:t>
            </a:r>
          </a:p>
          <a:p xmlns:a="http://schemas.openxmlformats.org/drawingml/2006/main">
            <a:endParaRPr/>
          </a:p>
          <a:p xmlns:a="http://schemas.openxmlformats.org/drawingml/2006/main">
            <a:r>
              <a:t>[Slide-specific evidence]</a:t>
            </a:r>
          </a:p>
          <a:p xmlns:a="http://schemas.openxmlformats.org/drawingml/2006/main">
            <a:r>
              <a:t>TEXTBOOK.md, Chapter 12, Sections 12.2 through 12.9. Coding structure: ITU-T Recommendation H.265.</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select one Transform Unit and one row inside it. The original luma samples and predicted luma samples come from corresponding positions. Subtract prediction from original at every position. This produces the signed residual row minus 7, minus 5, minus 5, minus 5, minus 5, minus 5, minus 5, minus 5. The picture displays magnitude only because negative values cannot be shown directly as ordinary brightness. The numerical row is the data sent into the transform.</a:t>
            </a:r>
          </a:p>
          <a:p xmlns:a="http://schemas.openxmlformats.org/drawingml/2006/main">
            <a:endParaRPr/>
          </a:p>
          <a:p xmlns:a="http://schemas.openxmlformats.org/drawingml/2006/main">
            <a:r>
              <a:t>[Slide-specific evidence]</a:t>
            </a:r>
          </a:p>
          <a:p xmlns:a="http://schemas.openxmlformats.org/drawingml/2006/main">
            <a:r>
              <a:t>Chapter 13, Sections 13.1 and 13.1b. Worked values sampled from the selected teaching image.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the one-dimensional orthonormal Discrete Cosine Transform to the eight signed residual values. For every frequency index k, multiply the residual row by one cosine pattern and add the products. The result contains decimal coefficients: minus 14.85, minus 0.98, minus 0.92, minus 0.83, minus 0.71, minus 0.56, minus 0.38, and minus 0.20. The transform is reversible before quantization and does not reduce eight values to fewer values.</a:t>
            </a:r>
          </a:p>
          <a:p xmlns:a="http://schemas.openxmlformats.org/drawingml/2006/main">
            <a:endParaRPr/>
          </a:p>
          <a:p xmlns:a="http://schemas.openxmlformats.org/drawingml/2006/main">
            <a:r>
              <a:t>[Slide-specific evidence]</a:t>
            </a:r>
          </a:p>
          <a:p xmlns:a="http://schemas.openxmlformats.org/drawingml/2006/main">
            <a:r>
              <a:t>Chapter 13, Sections 13.1b and 13.2. Decimal values use an orthonormal DCT-II for the worked example.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residual row is almost constant: one value is minus 7 and the remaining values are minus 5. The k equals zero Direct Current coefficient therefore dominates. It captures the row's average level. Low-frequency coefficients describe slow changes, while high-frequency coefficients describe rapid alternation. The DCT is useful because correlated samples produce a small number of strong coefficients and many weak coefficients.</a:t>
            </a:r>
          </a:p>
          <a:p xmlns:a="http://schemas.openxmlformats.org/drawingml/2006/main">
            <a:endParaRPr/>
          </a:p>
          <a:p xmlns:a="http://schemas.openxmlformats.org/drawingml/2006/main">
            <a:r>
              <a:t>[Slide-specific evidence]</a:t>
            </a:r>
          </a:p>
          <a:p xmlns:a="http://schemas.openxmlformats.org/drawingml/2006/main">
            <a:r>
              <a:t>Chapter 13, Sections 13.1b, 13.2, and 13.6</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by answering where the divisor comes from. A real HEVC encoder uses a Quantization Parameter, and the quantizer derives the step size from that QP and any scaling-list value. Increasing QP by six approximately doubles the step. This worked example deliberately uses delta equal to two so the arithmetic remains easy to see. Then calculate two coefficients. Minus 14.85 divided by two is minus 7.425, which rounds to minus 7 and survives. Minus 0.98 divided by two is minus 0.49, which rounds to zero. Leave the QP-selection question open here and resolve it later in the rate-control and Rate-Distortion Optimization section.</a:t>
            </a:r>
          </a:p>
          <a:p xmlns:a="http://schemas.openxmlformats.org/drawingml/2006/main">
            <a:endParaRPr/>
          </a:p>
          <a:p xmlns:a="http://schemas.openxmlformats.org/drawingml/2006/main">
            <a:r>
              <a:t>[Slide-specific evidence]</a:t>
            </a:r>
          </a:p>
          <a:p xmlns:a="http://schemas.openxmlformats.org/drawingml/2006/main">
            <a:r>
              <a:t>Chapter 14, Sections 14.1 to 14.4. ITU-T Recommendation H.265 quantization process: https://www.itu.int/rec/T-REC-H.265. The step size of two is pedagogical.</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sparse quantized vector and show its two uses. The bitstream path sends coefficients and syntax to Context-Adaptive Binary Arithmetic Coding. The next slide switches to the fuller Block X example with five surviving coefficients so every CABAC stage can be demonstrated. The reconstruction path first dequantizes by multiplying minus seven by the same teaching step of two, producing minus fourteen followed by seven zeros. The arrow then enters the Inverse Discrete Cosine Transform and points directly to the reconstructed residual row. Because only the Direct Current-like coefficient survived, the inverse transform spreads nearly the same value, about minus 4.95, across all eight positions. Quantization caused the mismatch; CABAC itself remains lossless.</a:t>
            </a:r>
          </a:p>
          <a:p xmlns:a="http://schemas.openxmlformats.org/drawingml/2006/main">
            <a:endParaRPr/>
          </a:p>
          <a:p xmlns:a="http://schemas.openxmlformats.org/drawingml/2006/main">
            <a:r>
              <a:t>[Slide-specific evidence]</a:t>
            </a:r>
          </a:p>
          <a:p xmlns:a="http://schemas.openxmlformats.org/drawingml/2006/main">
            <a:r>
              <a:t>Chapters 14 and 15. Reconstruction values use the inverse orthonormal DCT-II for the worked example. CABAC is lossless; quantization caused the information loss.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transform-tree coded-block flag. For the luma component, cbf_luma determines whether residual coefficient syntax is present for this transform block. Block X has nonzero luma coefficients, so cbf_luma is one and the decoder enters residual_coding. If it were zero, the decoder would not try to parse coefficient positions or levels for this luma transform block. Chroma components use their corresponding coded-block flags.</a:t>
            </a:r>
          </a:p>
          <a:p xmlns:a="http://schemas.openxmlformats.org/drawingml/2006/main">
            <a:endParaRPr/>
          </a:p>
          <a:p xmlns:a="http://schemas.openxmlformats.org/drawingml/2006/main">
            <a:r>
              <a:t>[Slide-specific evidence]</a:t>
            </a:r>
          </a:p>
          <a:p xmlns:a="http://schemas.openxmlformats.org/drawingml/2006/main">
            <a:r>
              <a:t>Normative source: ITU-T Recommendation H.265, transform_tree and residual_coding syntax: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correction to the earlier teaching sequence. HEVC does not transmit a unary count such as one-one-one-one-zero to announce four significance flags. In residual_coding, it first parses last_sig_coeff_x_prefix and last_sig_coeff_y_prefix, followed by suffixes when required. These syntax elements recover the coordinates of the last significant coefficient. The transform size and scan order are already known, so the decoder now knows where reverse scanning begins.</a:t>
            </a:r>
          </a:p>
          <a:p xmlns:a="http://schemas.openxmlformats.org/drawingml/2006/main">
            <a:endParaRPr/>
          </a:p>
          <a:p xmlns:a="http://schemas.openxmlformats.org/drawingml/2006/main">
            <a:r>
              <a:t>[Slide-specific evidence]</a:t>
            </a:r>
          </a:p>
          <a:p xmlns:a="http://schemas.openxmlformats.org/drawingml/2006/main">
            <a:r>
              <a:t>Normative source: ITU-T Recommendation H.265, clause 7.3.8.11 residual_coding: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two spatial levels. A transform block is traversed using a specified scan. For applicable coefficient groups, coded_sub_block_flag indicates whether the group contains significant coefficients. Within a coded group, sig_coeff_flag identifies nonzero locations. The last-significant location is already guaranteed nonzero, so its significance can be inferred instead of coded again. The exact presence of a flag is controlled by the residual_coding syntax conditions—not by searching for a special bit pattern.</a:t>
            </a:r>
          </a:p>
          <a:p xmlns:a="http://schemas.openxmlformats.org/drawingml/2006/main">
            <a:endParaRPr/>
          </a:p>
          <a:p xmlns:a="http://schemas.openxmlformats.org/drawingml/2006/main">
            <a:r>
              <a:t>[Slide-specific evidence]</a:t>
            </a:r>
          </a:p>
          <a:p xmlns:a="http://schemas.openxmlformats.org/drawingml/2006/main">
            <a:r>
              <a:t>Normative source: ITU-T Recommendation H.265, clauses 7.3.8.11 and 7.4.9.11: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the user's exact doubt. CABAC is not handed an undifferentiated string and asked to guess boundaries. The HEVC syntax parser executes residual_coding in a defined order. At each step it requests a particular syntax element, selects the element's context or bypass mode and binarization rule, and asks the arithmetic decoder for the required bin or bins. Therefore a one returned for sig_coeff_flag means significant, while a later one returned for coeff_abs_level_greater1_flag means magnitude greater than one. Their identical value creates no ambiguity because the parser is in a different state.</a:t>
            </a:r>
          </a:p>
          <a:p xmlns:a="http://schemas.openxmlformats.org/drawingml/2006/main">
            <a:endParaRPr/>
          </a:p>
          <a:p xmlns:a="http://schemas.openxmlformats.org/drawingml/2006/main">
            <a:r>
              <a:t>[Slide-specific evidence]</a:t>
            </a:r>
          </a:p>
          <a:p xmlns:a="http://schemas.openxmlformats.org/drawingml/2006/main">
            <a:r>
              <a:t>Normative source: ITU-T Recommendation H.265, residual_coding syntax and CABAC parsing process: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the earlier oversimplification. HEVC uses coeff_abs_level_greater1_flag, conditionally coeff_abs_level_greater2_flag, coeff_abs_level_remaining, and coeff_sign_flag. However, not every significant coefficient necessarily carries both greater flags: the syntax maintains counters and presence conditions within each coefficient group. The remaining level uses adaptive Golomb–Rice binarization. Sign flags are bypass-coded and sign-data hiding can infer one sign under specified conditions. For a first presentation, emphasize the roles and the conditional nature instead of claiming a fixed raw bit group for every coefficient.</a:t>
            </a:r>
          </a:p>
          <a:p xmlns:a="http://schemas.openxmlformats.org/drawingml/2006/main">
            <a:endParaRPr/>
          </a:p>
          <a:p xmlns:a="http://schemas.openxmlformats.org/drawingml/2006/main">
            <a:r>
              <a:t>[Slide-specific evidence]</a:t>
            </a:r>
          </a:p>
          <a:p xmlns:a="http://schemas.openxmlformats.org/drawingml/2006/main">
            <a:r>
              <a:t>Normative source: ITU-T Recommendation H.265, clauses 7.3.8.11, 7.4.9.11, and 9.3: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down the grammar. The coded-block flags determine whether residual_coding is entered. The last-significant coordinate establishes the scan endpoint. Coefficient-group and significance syntax establishes locations. Level and sign syntax establishes values. This ordering is what separates fields. A literal output bit string cannot be derived from Block X's five coefficient values alone because CABAC output also depends on transform size, scan mode, neighboring syntax, context states, slice initialization, and arithmetic-coder state.</a:t>
            </a:r>
          </a:p>
          <a:p xmlns:a="http://schemas.openxmlformats.org/drawingml/2006/main">
            <a:endParaRPr/>
          </a:p>
          <a:p xmlns:a="http://schemas.openxmlformats.org/drawingml/2006/main">
            <a:r>
              <a:t>[Slide-specific evidence]</a:t>
            </a:r>
          </a:p>
          <a:p xmlns:a="http://schemas.openxmlformats.org/drawingml/2006/main">
            <a:r>
              <a:t>Normative source: ITU-T Recommendation H.265, transform_tree and residual_coding syntax: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cooperation between two machines. The syntax parser knows what field is legal next. Binarization tells how that syntax value is represented as one or more bins. Context selection supplies the probability model, or bypass mode is selected. The arithmetic decoder returns a bin and updates its state. The parser consumes that bin for the active syntax element, then moves to the next rule. This is why no separator is needed between a significance one and a level one.</a:t>
            </a:r>
          </a:p>
          <a:p xmlns:a="http://schemas.openxmlformats.org/drawingml/2006/main">
            <a:endParaRPr/>
          </a:p>
          <a:p xmlns:a="http://schemas.openxmlformats.org/drawingml/2006/main">
            <a:r>
              <a:t>[Slide-specific evidence]</a:t>
            </a:r>
          </a:p>
          <a:p xmlns:a="http://schemas.openxmlformats.org/drawingml/2006/main">
            <a:r>
              <a:t>Normative source: ITU-T Recommendation H.265, clause 9.3 CABAC parsing process: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corrected section by narrating the decoder. It follows the normative order and conditions, so it knows whether it is decoding a location, a significance decision, a greater-than-level flag, a remaining level, or a sign. The exact same numerical bin may occur in all of these roles. Its interpretation is supplied by the active syntax rule. The old hypothetical unary count, arithmetic probability table, floating-point tag, and claimed 22-bit output have therefore been removed from the main deck.</a:t>
            </a:r>
          </a:p>
          <a:p xmlns:a="http://schemas.openxmlformats.org/drawingml/2006/main">
            <a:endParaRPr/>
          </a:p>
          <a:p xmlns:a="http://schemas.openxmlformats.org/drawingml/2006/main">
            <a:r>
              <a:t>[Slide-specific evidence]</a:t>
            </a:r>
          </a:p>
          <a:p xmlns:a="http://schemas.openxmlformats.org/drawingml/2006/main">
            <a:r>
              <a:t>Normative source: ITU-T Recommendation H.265, clauses 7.3.8.11, 7.4.9.11, and 9.3: https://www.itu.int/rec/dologin_pub.asp?id=T-REC-H.265-201906-S%21%21PDF-E&amp;lang=e&amp;type=items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row, calculate the current width, split the interval using P of zero, and retain the subinterval selected by the supplied bin. The second table continues from the first without restarting. After bin nineteen, the worked interval is approximately zero point nine eight five three six to zero point nine eight five three eight.</a:t>
            </a:r>
          </a:p>
          <a:p xmlns:a="http://schemas.openxmlformats.org/drawingml/2006/main">
            <a:r>
              <a:t/>
            </a:r>
          </a:p>
          <a:p xmlns:a="http://schemas.openxmlformats.org/drawingml/2006/main">
            <a:r>
              <a:t>Sources: ITU-T Recommendation H.265, clauses 7.3.8.11, 7.4.9.11, and 9.3; V. Sze and D. Marpe, Entropy Coding in HEVC. The displayed 19-bin sequence and decimal probabilities are a teaching calculation supplied for this presentation, not a captured conforming HEVC bitstream.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row, calculate the current width, split the interval using P of zero, and retain the subinterval selected by the supplied bin. The second table continues from the first without restarting. After bin nineteen, the worked interval is approximately zero point nine eight five three six to zero point nine eight five three eight.</a:t>
            </a:r>
          </a:p>
          <a:p xmlns:a="http://schemas.openxmlformats.org/drawingml/2006/main">
            <a:r>
              <a:t/>
            </a:r>
          </a:p>
          <a:p xmlns:a="http://schemas.openxmlformats.org/drawingml/2006/main">
            <a:r>
              <a:t>Sources: ITU-T Recommendation H.265, clauses 7.3.8.11, 7.4.9.11, and 9.3; V. Sze and D. Marpe, Entropy Coding in HEVC. The displayed 19-bin sequence and decimal probabilities are a teaching calculation supplied for this presentation, not a captured conforming HEVC bitstream.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converts the final arithmetic interval into a binary tag using bisection. For steps one through six the target lies above the midpoint, so append one and keep the upper half. Steps seven and eight append zero and keep the lower half.</a:t>
            </a:r>
          </a:p>
          <a:p xmlns:a="http://schemas.openxmlformats.org/drawingml/2006/main">
            <a:r>
              <a:t/>
            </a:r>
          </a:p>
          <a:p xmlns:a="http://schemas.openxmlformats.org/drawingml/2006/main">
            <a:r>
              <a:t>Sources: ITU-T Recommendation H.265, clauses 7.3.8.11, 7.4.9.11, and 9.3; V. Sze and D. Marpe, Entropy Coding in HEVC. The displayed 19-bin sequence and decimal probabilities are a teaching calculation supplied for this presentation, not a captured conforming HEVC bitstream.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binary tag calculation. The sixteen-bit binary fraction evaluates to approximately zero point nine eight five three six six eight and lies inside the final target interval. The complete sixteen-bit dyadic cell is not fully contained. Appending zero gives the seventeen-bit prefix cell from approximately zero point nine eight five three six six eight two to zero point nine eight five three seven four four five, which is fully inside. Keep the distinction between an idealized tag calculation and the normative integer CABAC engine.</a:t>
            </a:r>
          </a:p>
          <a:p xmlns:a="http://schemas.openxmlformats.org/drawingml/2006/main">
            <a:r>
              <a:t/>
            </a:r>
          </a:p>
          <a:p xmlns:a="http://schemas.openxmlformats.org/drawingml/2006/main">
            <a:r>
              <a:t>Sources: ITU-T Recommendation H.265, clauses 7.3.8.11, 7.4.9.11, and 9.3; V. Sze and D. Marpe, Entropy Coding in HEVC. The displayed 19-bin sequence and decimal probabilities are a teaching calculation supplied for this presentation, not a captured conforming HEVC bitstream.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deconstruction or decoding table. At each step, compare the selected tag value with the same split point used during encoding. If the tag lies above the split, recover one and retain the upper interval. Otherwise recover zero and retain the lower interval. Because the tag lies inside the final nested interval, all nineteen supplied bins are recovered in the original order.</a:t>
            </a:r>
          </a:p>
          <a:p xmlns:a="http://schemas.openxmlformats.org/drawingml/2006/main">
            <a:r>
              <a:t/>
            </a:r>
          </a:p>
          <a:p xmlns:a="http://schemas.openxmlformats.org/drawingml/2006/main">
            <a:r>
              <a:t>Sources: ITU-T Recommendation H.265, clauses 7.3.8.11, 7.4.9.11, and 9.3; V. Sze and D. Marpe, Entropy Coding in HEVC. The displayed 19-bin sequence and decimal probabilities are a teaching calculation supplied for this presentation, not a captured conforming HEVC bitstream.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deconstruction or decoding table. At each step, compare the selected tag value with the same split point used during encoding. If the tag lies above the split, recover one and retain the upper interval. Otherwise recover zero and retain the lower interval. Because the tag lies inside the final nested interval, all nineteen supplied bins are recovered in the original order.</a:t>
            </a:r>
          </a:p>
          <a:p xmlns:a="http://schemas.openxmlformats.org/drawingml/2006/main">
            <a:r>
              <a:t/>
            </a:r>
          </a:p>
          <a:p xmlns:a="http://schemas.openxmlformats.org/drawingml/2006/main">
            <a:r>
              <a:t>Sources: ITU-T Recommendation H.265, clauses 7.3.8.11, 7.4.9.11, and 9.3; V. Sze and D. Marpe, Entropy Coding in HEVC. The displayed 19-bin sequence and decimal probabilities are a teaching calculation supplied for this presentation, not a captured conforming HEVC bitstream.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CABAC finishes the bitstream branch by coding the syntax bins produced under the normative grammar. Do not claim a literal Block X bit string here: the exact output also depends on the full syntax context and arithmetic-coder state. The reconstruction branch independently takes the same quantized coefficients, dequantizes them, applies the inverse transform, adds the prediction, filters the reconstructed samples, and stores them for future prediction. CABAC does not feed deblocking or Sample Adaptive Offset. Both branches remain decoder-consistent because the decoder receives the coded syntax and reproduces the reconstruction branch.</a:t>
            </a:r>
          </a:p>
          <a:p xmlns:a="http://schemas.openxmlformats.org/drawingml/2006/main">
            <a:endParaRPr/>
          </a:p>
          <a:p xmlns:a="http://schemas.openxmlformats.org/drawingml/2006/main">
            <a:r>
              <a:t>[Slide-specific evidence]</a:t>
            </a:r>
          </a:p>
          <a:p xmlns:a="http://schemas.openxmlformats.org/drawingml/2006/main">
            <a:r>
              <a:t>Closed-loop encoder structure and CABAC: ITU-T Recommendation H.265: https://www.itu.int/rec/T-REC-H.265; G. J. Sullivan et al., Overview of the HEVC Standard: https://doi.org/10.1109/TCSVT.2012.2221191</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exact Block X numbers. Quantization with step eight maps the original coefficients to five nonzero levels. Dequantization multiplies those levels by eight, producing 40, minus 16, 8, minus 8, and 8. These values approximate the original coefficients but do not equal them. Values such as 42 and minus 12 changed, and small coefficients disappeared entirely. This is why the reconstruction remains close to the original but cannot be identical.</a:t>
            </a:r>
          </a:p>
          <a:p xmlns:a="http://schemas.openxmlformats.org/drawingml/2006/main">
            <a:endParaRPr/>
          </a:p>
          <a:p xmlns:a="http://schemas.openxmlformats.org/drawingml/2006/main">
            <a:r>
              <a:t>[Slide-specific evidence]</a:t>
            </a:r>
          </a:p>
          <a:p xmlns:a="http://schemas.openxmlformats.org/drawingml/2006/main">
            <a:r>
              <a:t>Chapter 14; supplied Block X coefficient matrices.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inverse transform converts Block X's dequantized frequency coefficients back into a signed residual block. Add that residual to the prediction sample by sample. The result is the reconstructed Block X that both encoder and decoder possess. The residual panels show magnitude so the structure remains visible, but the actual arithmetic uses positive and negative residual samples. The next two slides filter these reconstructed pixels before storing the picture as a future reference.</a:t>
            </a:r>
          </a:p>
          <a:p xmlns:a="http://schemas.openxmlformats.org/drawingml/2006/main">
            <a:endParaRPr/>
          </a:p>
          <a:p xmlns:a="http://schemas.openxmlformats.org/drawingml/2006/main">
            <a:r>
              <a:t>[Slide-specific evidence]</a:t>
            </a:r>
          </a:p>
          <a:p xmlns:a="http://schemas.openxmlformats.org/drawingml/2006/main">
            <a:r>
              <a:t>Chapter 11, reconstruction loop; supplied Block X visual sequence.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point to the grid: these are candidate Coding Unit or Transform Unit boundaries. Then use the numeric seam. Independent coding produced a jump from 98 to 111 exactly at the boundary, even though the underlying area should vary smoothly. Deblocking adjusts only nearby samples and reduces that jump. Contrast this with the genuine building edge, where the jump from about 55 to 172 corresponds to real content. Local gradients and boundary strength keep filtering weak or disabled there. The numbers are a simplified teaching example, not measured values from the photograph.</a:t>
            </a:r>
          </a:p>
          <a:p xmlns:a="http://schemas.openxmlformats.org/drawingml/2006/main">
            <a:endParaRPr/>
          </a:p>
          <a:p xmlns:a="http://schemas.openxmlformats.org/drawingml/2006/main">
            <a:r>
              <a:t>[Slide-specific evidence]</a:t>
            </a:r>
          </a:p>
          <a:p xmlns:a="http://schemas.openxmlformats.org/drawingml/2006/main">
            <a:r>
              <a:t>Chapter 16, deblocking filter. ITU-T Recommendation H.265 in-loop deblocking process. Numeric values are illustrative.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why Sample Adaptive Offset remains necessary after deblocking. The example samples lie inside a coded region, so no artificial block seam exists for the deblocking filter to target. Quantization and reconstruction still left one peak four levels too high and one valley four levels too low. The encoder measures this bias using the original picture and signals SAO parameters. The decoder uses reconstructed neighbors or intensity bands to reproduce the classification, then applies the signaled offsets. The numbers are a simplified teaching example.</a:t>
            </a:r>
          </a:p>
          <a:p xmlns:a="http://schemas.openxmlformats.org/drawingml/2006/main">
            <a:endParaRPr/>
          </a:p>
          <a:p xmlns:a="http://schemas.openxmlformats.org/drawingml/2006/main">
            <a:r>
              <a:t>[Slide-specific evidence]</a:t>
            </a:r>
          </a:p>
          <a:p xmlns:a="http://schemas.openxmlformats.org/drawingml/2006/main">
            <a:r>
              <a:t>Supplied Complete SAO Process, Sections 1 and 2. ITU-T Recommendation H.265, Sample Adaptive Offset process. Numeric values are illustrative.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Edge Offset first selects one of four directions: horizontal, vertical, or either diagonal. For each reconstructed sample c, the decoder compares c with two neighbors a and b along that direction. The comparisons place the sample into valley, concave-corner, convex-corner, peak, or category zero. Category zero receives no correction. The classification cannot use the source picture because only the encoder has it; the decoder must reproduce the category from reconstructed samples alone.</a:t>
            </a:r>
          </a:p>
          <a:p xmlns:a="http://schemas.openxmlformats.org/drawingml/2006/main">
            <a:endParaRPr/>
          </a:p>
          <a:p xmlns:a="http://schemas.openxmlformats.org/drawingml/2006/main">
            <a:r>
              <a:t>[Slide-specific evidence]</a:t>
            </a:r>
          </a:p>
          <a:p xmlns:a="http://schemas.openxmlformats.org/drawingml/2006/main">
            <a:r>
              <a:t>Supplied Complete SAO Process, Section 3a. ITU-T Recommendation H.265, Edge Offset classification.</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Edge Offset, the encoder signals one magnitude for each nonzero category, but it does not signal a sign. Categories one and two always use positive offsets, lifting valleys and concave corners. Categories three and four always use negative offsets, reducing convex corners and peaks. Category zero always receives zero. This fixed-sign rule makes Edge Offset a smoothing correction rather than a sharpening tool.</a:t>
            </a:r>
          </a:p>
          <a:p xmlns:a="http://schemas.openxmlformats.org/drawingml/2006/main">
            <a:endParaRPr/>
          </a:p>
          <a:p xmlns:a="http://schemas.openxmlformats.org/drawingml/2006/main">
            <a:r>
              <a:t>[Slide-specific evidence]</a:t>
            </a:r>
          </a:p>
          <a:p xmlns:a="http://schemas.openxmlformats.org/drawingml/2006/main">
            <a:r>
              <a:t>Supplied Complete SAO Process, Section 3a. ITU-T Recommendation H.265, Edge Offset signs.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Band Offset does not compare neighbors. For 8-bit samples, it divides values zero through 255 into 32 equal bands, each eight values wide. The encoder selects a window of four consecutive bands and signals its starting index plus four offsets. Samples outside those bands receive zero. Unlike Edge Offset, Band Offset permits either offset sign because its correction follows intensity bias rather than local peak-and-valley shape.</a:t>
            </a:r>
          </a:p>
          <a:p xmlns:a="http://schemas.openxmlformats.org/drawingml/2006/main">
            <a:endParaRPr/>
          </a:p>
          <a:p xmlns:a="http://schemas.openxmlformats.org/drawingml/2006/main">
            <a:r>
              <a:t>[Slide-specific evidence]</a:t>
            </a:r>
          </a:p>
          <a:p xmlns:a="http://schemas.openxmlformats.org/drawingml/2006/main">
            <a:r>
              <a:t>Supplied Complete SAO Process, Section 3b. ITU-T Recommendation H.265, Band Offset classification.</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HEVC signals Sample Adaptive Offset parameters at Coding Tree Block granularity, meaning separately for the component blocks within a Coding Tree Unit. The syntax identifies whether SAO is off, Edge Offset, or Band Offset. Edge Offset adds a direction; Band Offset adds a starting band. Both modes can signal up to four magnitudes. A block may instead merge with its left or upper neighbor and reuse that neighbor's SAO parameters, reducing syntax cost when nearby regions need similar correction.</a:t>
            </a:r>
          </a:p>
          <a:p xmlns:a="http://schemas.openxmlformats.org/drawingml/2006/main">
            <a:endParaRPr/>
          </a:p>
          <a:p xmlns:a="http://schemas.openxmlformats.org/drawingml/2006/main">
            <a:r>
              <a:t>[Slide-specific evidence]</a:t>
            </a:r>
          </a:p>
          <a:p xmlns:a="http://schemas.openxmlformats.org/drawingml/2006/main">
            <a:r>
              <a:t>Supplied Complete SAO Process, Section 4. ITU-T Recommendation H.265, SAO parameter and merge syntax.</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responsibilities clearly. The encoder compares reconstructed samples with the true source, tests candidate SAO parameters, and can use the rate-distortion cost J equals D plus lambda R to balance correction benefit against signaling bits. HEVC does not prescribe the encoder's exact search strategy. The decoder never sees the original. It reads the selected parameters, classifies reconstructed samples, and adds the corresponding offsets. Both sides therefore generate identical filtered references.</a:t>
            </a:r>
          </a:p>
          <a:p xmlns:a="http://schemas.openxmlformats.org/drawingml/2006/main">
            <a:endParaRPr/>
          </a:p>
          <a:p xmlns:a="http://schemas.openxmlformats.org/drawingml/2006/main">
            <a:r>
              <a:t>[Slide-specific evidence]</a:t>
            </a:r>
          </a:p>
          <a:p xmlns:a="http://schemas.openxmlformats.org/drawingml/2006/main">
            <a:r>
              <a:t>Supplied Complete SAO Process, Section 5. ITU-T Recommendation H.265 defines decoder behavior and bitstream syntax, not a mandatory encoder search algorithm.</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complete Block X row. For horizontal Edge Offset, reconstructed value 154 has neighbors 141 and 139. It exceeds both, so it enters category four, the peak category, and receives minus four. Reconstructed value 139 lies between 154 and 131, so it enters category zero and remains unchanged. Reconstructed value 131 is lower than neighbors 139 and 144, so it enters category one, the valley category, and receives plus four. In this teaching example, the corrected peak and valley match their source values exactly. Real results need not be exact.</a:t>
            </a:r>
          </a:p>
          <a:p xmlns:a="http://schemas.openxmlformats.org/drawingml/2006/main">
            <a:endParaRPr/>
          </a:p>
          <a:p xmlns:a="http://schemas.openxmlformats.org/drawingml/2006/main">
            <a:r>
              <a:t>[Slide-specific evidence]</a:t>
            </a:r>
          </a:p>
          <a:p xmlns:a="http://schemas.openxmlformats.org/drawingml/2006/main">
            <a:r>
              <a:t>Supplied Complete SAO Process, Section 6, Block X worked example.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filtering section by contrasting the targets and then explain the evidence carefully. Deblocking addresses discontinuities at coded block boundaries. Norkin and colleagues report an average 1.3 percent BD-rate increase when the HEVC deblocking filter is disabled in the cited HM 7.0 experiment. This means the enabled filter supplied approximately that coding-efficiency benefit under those conditions. Fu and colleagues report that Sample Adaptive Offset produced about two percent average bitrate reduction and up to about six percent in their reported simulations. These numbers come from different experiments and must not be added to produce a combined gain. Results vary with test sequences, coding configuration, quality metric, anchor, and software version.</a:t>
            </a:r>
          </a:p>
          <a:p xmlns:a="http://schemas.openxmlformats.org/drawingml/2006/main">
            <a:endParaRPr/>
          </a:p>
          <a:p xmlns:a="http://schemas.openxmlformats.org/drawingml/2006/main">
            <a:r>
              <a:t>[Slide-specific evidence]</a:t>
            </a:r>
          </a:p>
          <a:p xmlns:a="http://schemas.openxmlformats.org/drawingml/2006/main">
            <a:r>
              <a:t>[S5] A. Norkin et al., HEVC Deblocking Filter, IEEE Transactions on Circuits and Systems for Video Technology, 22(12), 1746-1754, 2012, DOI 10.1109/TCSVT.2012.2223053: https://doi.org/10.1109/TCSVT.2012.2223053. [S6] C.-M. Fu et al., Sample Adaptive Offset in the HEVC Standard, IEEE Transactions on Circuits and Systems for Video Technology, 22(12), 1755-1764, 2012, DOI 10.1109/TCSVT.2012.2221529: https://doi.org/10.1109/TCSVT.2012.2221529.</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problem, not the formula. A Coding Tree Unit can produce many legal Coding Unit trees, Prediction Unit partitions, prediction modes, and Transform Unit structures. Candidate A may use fewer syntax bits but predict poorly. Candidate C may reconstruct more accurately but spend many bits describing deep partitions and coefficients. The encoder cannot select a candidate by quality alone or by rate alone. Rate-Distortion Optimization supplies one comparable cost. The drawings are schematic and do not enumerate the full HEVC search space.</a:t>
            </a:r>
          </a:p>
          <a:p xmlns:a="http://schemas.openxmlformats.org/drawingml/2006/main">
            <a:endParaRPr/>
          </a:p>
          <a:p xmlns:a="http://schemas.openxmlformats.org/drawingml/2006/main">
            <a:r>
              <a:t>[Slide-specific evidence]</a:t>
            </a:r>
          </a:p>
          <a:p xmlns:a="http://schemas.openxmlformats.org/drawingml/2006/main">
            <a:r>
              <a:t>Chapter 17, Rate-Distortion Optimization. HEVC overview by Sullivan et al., 2012. Candidate diagrams are illustrative.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terms slowly. D measures reconstruction error. R represents the coded rate for all syntax associated with the candidate. Lambda converts the bit cost into the same decision scale as distortion. The encoder selects the lowest J. A full evaluation can build and reconstruct a candidate, obtain distortion, simulate entropy coding, and compute the cost. Practical encoders also use fast approximations and early pruning because exhaustive evaluation is expensive. HEVC standardizes the bitstream and decoder behavior, but it does not mandate one encoder search algorithm.</a:t>
            </a:r>
          </a:p>
          <a:p xmlns:a="http://schemas.openxmlformats.org/drawingml/2006/main">
            <a:endParaRPr/>
          </a:p>
          <a:p xmlns:a="http://schemas.openxmlformats.org/drawingml/2006/main">
            <a:r>
              <a:t>[Slide-specific evidence]</a:t>
            </a:r>
          </a:p>
          <a:p xmlns:a="http://schemas.openxmlformats.org/drawingml/2006/main">
            <a:r>
              <a:t>Chapter 17, Sections 17.1 and 17.2. Rate-Distortion Optimization is an encoder design method, not a normative decoder operation.</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 each row. At lambda two, Option A costs eighteen plus two times six, which equals thirty. Option B costs eight plus two times ten, which equals twenty-eight. Option C costs five plus two times sixteen, which equals thirty-seven. Option A minimizes rate. Option C minimizes distortion. Option B minimizes the combined cost and therefore wins. Do not call B Block X's actual encoder decision. These values were chosen to teach the comparison and were not measured from an HEVC encoder.</a:t>
            </a:r>
          </a:p>
          <a:p xmlns:a="http://schemas.openxmlformats.org/drawingml/2006/main">
            <a:endParaRPr/>
          </a:p>
          <a:p xmlns:a="http://schemas.openxmlformats.org/drawingml/2006/main">
            <a:r>
              <a:t>[Slide-specific evidence]</a:t>
            </a:r>
          </a:p>
          <a:p xmlns:a="http://schemas.openxmlformats.org/drawingml/2006/main">
            <a:r>
              <a:t>Chapter 17, worked Rate-Distortion Optimization example. Values are explicitly illustrative.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 the arithmetic with lambda five. Option A costs forty-eight, Option B costs fifty-eight, and Option C costs eighty-five, so A wins. This matches the role of lambda: a larger value places a larger cost on each additional bit. In practical hybrid video encoders, lambda usually grows roughly exponentially with Quantization Parameter because the quantization step grows exponentially. The leading constant and frame-type adjustments are encoder choices rather than universal normative HEVC rules.</a:t>
            </a:r>
          </a:p>
          <a:p xmlns:a="http://schemas.openxmlformats.org/drawingml/2006/main">
            <a:endParaRPr/>
          </a:p>
          <a:p xmlns:a="http://schemas.openxmlformats.org/drawingml/2006/main">
            <a:r>
              <a:t>[Slide-specific evidence]</a:t>
            </a:r>
          </a:p>
          <a:p xmlns:a="http://schemas.openxmlformats.org/drawingml/2006/main">
            <a:r>
              <a:t>Chapter 17, lambda sensitivity. Exact lambda mapping depends on encoder implementation and coding configuration.</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Rate includes every syntax element that changes with the candidate: partition flags, prediction mode, motion information, transform structure, coefficient significance, levels, signs, and related syntax. A full Rate-Distortion Optimization evaluation can run an entropy-coder simulation and accumulate fractional or final bit cost using the current CABAC context state. Faster searches often estimate this cost. The earlier sixteen-bit binary tag represented an idealized arithmetic-coding result for the supplied nineteen-bin coefficient example. It did not include all Block X syntax and should not be presented as the complete candidate rate.</a:t>
            </a:r>
          </a:p>
          <a:p xmlns:a="http://schemas.openxmlformats.org/drawingml/2006/main">
            <a:endParaRPr/>
          </a:p>
          <a:p xmlns:a="http://schemas.openxmlformats.org/drawingml/2006/main">
            <a:r>
              <a:t>[Slide-specific evidence]</a:t>
            </a:r>
          </a:p>
          <a:p xmlns:a="http://schemas.openxmlformats.org/drawingml/2006/main">
            <a:r>
              <a:t>Chapter 15, CABAC; Chapter 17, rate estimation. Practical encoders use exact or estimated entropy costs depending on search stage.</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Subtract the dequantized coefficient block from the original coefficient block to obtain the displayed error matrix. Square and sum its nonzero entries to obtain sixty-three for quantization step eight. As a self-check, requantizing the original coefficients with step sixteen produces dequantized nonzero values forty-eight, minus sixteen, and minus sixteen. The corresponding squared errors sum to one hundred fifty-nine, so the coarser step increases distortion. Parseval's theorem makes coefficient-domain squared error equal to spatial-domain squared error for an orthonormal transform. HEVC uses scaled integer transforms rather than a mathematically exact orthonormal DCT, so a real encoder must apply consistent scaling or compute distortion after reconstruction.</a:t>
            </a:r>
          </a:p>
          <a:p xmlns:a="http://schemas.openxmlformats.org/drawingml/2006/main">
            <a:endParaRPr/>
          </a:p>
          <a:p xmlns:a="http://schemas.openxmlformats.org/drawingml/2006/main">
            <a:r>
              <a:t>[Slide-specific evidence]</a:t>
            </a:r>
          </a:p>
          <a:p xmlns:a="http://schemas.openxmlformats.org/drawingml/2006/main">
            <a:r>
              <a:t>Chapter 13, transform orthogonality; Chapter 17, distortion. Parseval-based shortcut shown with an explicit normalization caveat. Step-16 value is a teaching calculation.</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four open questions. Rate-Distortion Optimization compares whether a Coding Unit remains whole or splits. It compares legal Prediction Unit partitions and prediction choices. It compares independent Transform Unit structures for the resulting residual. Quantization Parameter needs a two-layer answer: the application or rate-control system establishes the base operating point through fixed QP, Constant Rate Factor, or a bitrate target; local optimization can then test permitted QP adjustments. QP also influences lambda. RDO forms the encoder's common local decision framework, but practical implementations combine it with search pruning and heuristics rather than evaluating every legal combination.</a:t>
            </a:r>
          </a:p>
          <a:p xmlns:a="http://schemas.openxmlformats.org/drawingml/2006/main">
            <a:endParaRPr/>
          </a:p>
          <a:p xmlns:a="http://schemas.openxmlformats.org/drawingml/2006/main">
            <a:r>
              <a:t>[Slide-specific evidence]</a:t>
            </a:r>
          </a:p>
          <a:p xmlns:a="http://schemas.openxmlformats.org/drawingml/2006/main">
            <a:r>
              <a:t>Chapter 17, Sections 17.1 to 17.4; Chapter 14, Quantization Parameter and rate control. x265 documentation for Constant Rate Factor and bitrate modes.</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Quantization Parameter open question in two layers. In fixed-QP mode, the application supplies the value directly. In bitrate-controlled encoding, the controller begins with a target and buffer constraints, estimates a useful QP from earlier coding results and current-frame complexity, encodes the picture, measures the real bits, and updates its model. Some encoders also use lookahead. Therefore rate control is neither a perfect one-time calculation nor purely blind reaction. It is a predictive feedback loop. HEVC standardizes the QP-dependent decoding process, but encoder QP-selection policy is implementation-specific.</a:t>
            </a:r>
          </a:p>
          <a:p xmlns:a="http://schemas.openxmlformats.org/drawingml/2006/main">
            <a:endParaRPr/>
          </a:p>
          <a:p xmlns:a="http://schemas.openxmlformats.org/drawingml/2006/main">
            <a:r>
              <a:t>[Slide-specific evidence]</a:t>
            </a:r>
          </a:p>
          <a:p xmlns:a="http://schemas.openxmlformats.org/drawingml/2006/main">
            <a:r>
              <a:t>Rate-control teaching model. HM reference software exposes picture-QP estimation through estimatePicQP and rate-control state: https://hevc.hhi.fraunhofer.de/HM-doc/_t_enc_g_o_p_8cpp_source.html and https://hevc.hhi.fraunhofer.de/HM-doc/_t_enc_rate_ctrl_8h.html. x265 rate-control modes: https://x265.readthedocs.io/en/stable/cli.html.</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table row by row. Frame one starts from a guessed QP of thirty and costs thirteen hundred bits, so the controller is three hundred bits over budget. It raises QP to thirty-two. Frame two costs nine hundred fifty bits, reducing the cumulative overspend to two hundred fifty, so the toy controller holds QP. Frame three overspends again and the balance rises to three hundred fifty, so it raises QP to thirty-three. Frame four underspends and reduces the balance to two hundred, so the teaching policy eases back to QP thirty-two. Emphasize that QP used in each row was selected before that frame was encoded. The actual bits are learned afterward. Real controllers also consider predicted complexity, buffer fullness, frame type, and other constraints.</a:t>
            </a:r>
          </a:p>
          <a:p xmlns:a="http://schemas.openxmlformats.org/drawingml/2006/main">
            <a:endParaRPr/>
          </a:p>
          <a:p xmlns:a="http://schemas.openxmlformats.org/drawingml/2006/main">
            <a:r>
              <a:t>[Slide-specific evidence]</a:t>
            </a:r>
          </a:p>
          <a:p xmlns:a="http://schemas.openxmlformats.org/drawingml/2006/main">
            <a:r>
              <a:t>Illustrative feedback arithmetic supplied by the user, corrected and labeled as a teaching model. General implementation context: HM reference rate control and x265 rate-control documentation.</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audience to calculate before revealing the result. Frame five spends one thousand fifty bits against a one-thousand-bit target, so its error is plus fifty. Add this to the previous running balance of two hundred to obtain two hundred fifty bits over budget overall. The arithmetic is unique. The next QP is not unique from these numbers alone. A simple tolerance-band controller might hold at thirty-two, while a more aggressive controller might raise it. A model-based controller may also incorporate predicted complexity and buffer constraints. This distinction separates measured state from control policy.</a:t>
            </a:r>
          </a:p>
          <a:p xmlns:a="http://schemas.openxmlformats.org/drawingml/2006/main">
            <a:endParaRPr/>
          </a:p>
          <a:p xmlns:a="http://schemas.openxmlformats.org/drawingml/2006/main">
            <a:r>
              <a:t>[Slide-specific evidence]</a:t>
            </a:r>
          </a:p>
          <a:p xmlns:a="http://schemas.openxmlformats.org/drawingml/2006/main">
            <a:r>
              <a:t>Continuation of the supplied teaching example. The non-unique next action is an explicit control-policy caveat.</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complete synthesis narration. The encoder begins with a Coding Tree Unit. This teaching example uses a sixty-four-by-sixty-four luma workspace. It recursively tests Coding Unit splits and accepts extra split syntax only when the improved coding result justifies the cost. Each final Coding Unit receives prediction information. Intra prediction uses previously reconstructed neighboring samples and one of the available spatial modes. Inter prediction references already decoded pictures and describes displacement through motion information. A B picture may reference a picture that lies later in display order but has already been decoded. The encoder subtracts the prediction from the source samples to produce a signed residual. Transform Units partition that residual independently of Prediction Unit boundaries. The transform often concentrates correlated residual energy into fewer important coefficients. Quantization rounds these coefficients and creates most of the irreversible coding loss. Quantization Parameter controls its strength. Context-Adaptive Binary Arithmetic Coding then represents partition flags, modes, motion information, transform syntax, and quantized coefficients. In parallel, the encoder dequantizes and inverse-transforms the coefficients, adds the prediction, applies deblocking followed by Sample Adaptive Offset, and stores the result as a reference. Reconstructing locally keeps the encoder's future references consistent with the decoder. Rate-Distortion Optimization supplies a common local comparison using J equals D plus lambda R. Practical encoders prune candidates and use heuristics, while fixed-QP or rate-control policy establishes the base Quantization Parameter. Residual panels in this slide display magnitude for visibility, but coding and reconstruction use signed values.</a:t>
            </a:r>
          </a:p>
          <a:p xmlns:a="http://schemas.openxmlformats.org/drawingml/2006/main">
            <a:endParaRPr/>
          </a:p>
          <a:p xmlns:a="http://schemas.openxmlformats.org/drawingml/2006/main">
            <a:r>
              <a:t>[Slide-specific evidence]</a:t>
            </a:r>
          </a:p>
          <a:p xmlns:a="http://schemas.openxmlformats.org/drawingml/2006/main">
            <a:r>
              <a:t>Chapter 18 synthesis based on [S1] ITU-T H.265, [S2] Sullivan et al. HEVC overview, [S3] Sze et al. Algorithms and Architectures, and [S4] HEVC Test Model encoder documentation. The 64-by-64 workspace and Block X decisions are teaching choices for this deck.</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to separate the internally consistent teaching calculations from claims about a real encoder run. The partition diagram selects one Coding Unit with two vertical Prediction Units and four Transform Units. The coefficient matrix and quantization step are supplied teaching values. Dividing by eight and rounding leaves five nonzero levels. For CABAC, the deck now shows the normative residual_coding order and deliberately does not claim a literal standalone bit string for Block X; exact CABAC output depends on the complete syntax and coder state. Dequantization produces forty, minus sixteen, eight, minus eight, and eight before inverse transform. Comparing the original and dequantized coefficient examples gives a teaching squared error of sixty-three under the stated normalization caveat. The A, B, and C Rate-Distortion Optimization values elsewhere in the deck form a separate illustrative comparison. They do not prove that a real encoder selected Option B for Block X. Close by previewing the next presentation, which will explain how headers, syntax elements, and coded payloads are organized into the High Efficiency Video Coding bitstream.</a:t>
            </a:r>
          </a:p>
          <a:p xmlns:a="http://schemas.openxmlformats.org/drawingml/2006/main">
            <a:endParaRPr/>
          </a:p>
          <a:p xmlns:a="http://schemas.openxmlformats.org/drawingml/2006/main">
            <a:r>
              <a:t>[Slide-specific evidence]</a:t>
            </a:r>
          </a:p>
          <a:p xmlns:a="http://schemas.openxmlformats.org/drawingml/2006/main">
            <a:r>
              <a:t>Block X numbers are supplied and derived teaching data. Normative pipeline and syntax basis: [S1]-[S4]. CABAC syntax: [S1] H.265 residual_coding and CABAC clauses. The D equals 63 result is arithmetic derived from the displayed coefficient lists, not an experimental measurement.</a:t>
            </a:r>
          </a:p>
          <a:p xmlns:a="http://schemas.openxmlformats.org/drawingml/2006/main">
            <a:endParaRPr/>
          </a:p>
          <a:p xmlns:a="http://schemas.openxmlformats.org/drawingml/2006/main">
            <a:r>
              <a:t>[Core source index]</a:t>
            </a:r>
          </a:p>
          <a:p xmlns:a="http://schemas.openxmlformats.org/drawingml/2006/main">
            <a:r>
              <a:t>[S1] ITU-T Recommendation H.265, High efficiency video coding: https://www.itu.int/rec/T-REC-H.265</a:t>
            </a:r>
          </a:p>
          <a:p xmlns:a="http://schemas.openxmlformats.org/drawingml/2006/main">
            <a:r>
              <a:t>[S2] G. J. Sullivan, J.-R. Ohm, W.-J. Han, and T. Wiegand, Overview of the High Efficiency Video Coding (HEVC) Standard, IEEE TCSVT 22(12), 2012, DOI 10.1109/TCSVT.2012.2221191: https://doi.org/10.1109/TCSVT.2012.2221191</a:t>
            </a:r>
          </a:p>
          <a:p xmlns:a="http://schemas.openxmlformats.org/drawingml/2006/main">
            <a:r>
              <a:t>[S3] V. Sze, M. Budagavi, and G. J. Sullivan, editors, High Efficiency Video Coding: Algorithms and Architectures, Springer, 2014: https://doi.org/10.1007/978-3-319-06895-4</a:t>
            </a:r>
          </a:p>
          <a:p xmlns:a="http://schemas.openxmlformats.org/drawingml/2006/main">
            <a:r>
              <a:t>[S4] HEVC Test Model reference software documentation: https://hevc.hhi.fraunhofer.de/HM-doc/</a:t>
            </a:r>
          </a:p>
          <a:p xmlns:a="http://schemas.openxmlformats.org/drawingml/2006/main">
            <a:r>
              <a:t>[S5] A. Norkin et al., HEVC Deblocking Filter, IEEE TCSVT 22(12), 2012, DOI 10.1109/TCSVT.2012.2223053: https://doi.org/10.1109/TCSVT.2012.2223053</a:t>
            </a:r>
          </a:p>
          <a:p xmlns:a="http://schemas.openxmlformats.org/drawingml/2006/main">
            <a:r>
              <a:t>[S6] C.-M. Fu et al., Sample Adaptive Offset in the HEVC Standard, IEEE TCSVT 22(12), 2012, DOI 10.1109/TCSVT.2012.2221529: https://doi.org/10.1109/TCSVT.2012.2221529</a:t>
            </a:r>
          </a:p>
          <a:p xmlns:a="http://schemas.openxmlformats.org/drawingml/2006/main">
            <a:r>
              <a:t>[S7] x265 documentation: https://x265.readthedocs.io/en/stable/</a:t>
            </a:r>
          </a:p>
          <a:p xmlns:a="http://schemas.openxmlformats.org/drawingml/2006/main">
            <a:endParaRPr/>
          </a:p>
          <a:p xmlns:a="http://schemas.openxmlformats.org/drawingml/2006/main">
            <a:r>
              <a:t>Evidence rule: numerical teaching examples are illustrative unless the slide-specific evidence identifies a measured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2d79d8ff5246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02c8bbc6e24c00" /><Relationship Type="http://schemas.openxmlformats.org/officeDocument/2006/relationships/slideLayout" Target="/ppt/slideLayouts/slideLayout1.xml" Id="R5a3fe2f2c52342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3fe2f2c52342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16e9d867b347f9" /><Relationship Type="http://schemas.openxmlformats.org/officeDocument/2006/relationships/notesSlide" Target="/ppt/notesSlides/notesSlide1.xml" Id="R4e0475cf687d43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4dfa5cac344576" /><Relationship Type="http://schemas.openxmlformats.org/officeDocument/2006/relationships/notesSlide" Target="/ppt/notesSlides/notesSlide2.xml" Id="R9ff68263e37044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c7ca6d35034b8b" /><Relationship Type="http://schemas.openxmlformats.org/officeDocument/2006/relationships/image" Target="/ppt/media/image.png" Id="R590a6bd540044947" /><Relationship Type="http://schemas.openxmlformats.org/officeDocument/2006/relationships/image" Target="/ppt/media/image2.png" Id="Rca7351c95ba548b3" /><Relationship Type="http://schemas.openxmlformats.org/officeDocument/2006/relationships/notesSlide" Target="/ppt/notesSlides/notesSlide3.xml" Id="R1bbce5efc1c748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cf5509986d4028" /><Relationship Type="http://schemas.openxmlformats.org/officeDocument/2006/relationships/notesSlide" Target="/ppt/notesSlides/notesSlide4.xml" Id="R0bac00ab09814d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dc68959cf9468f" /><Relationship Type="http://schemas.openxmlformats.org/officeDocument/2006/relationships/image" Target="/ppt/media/image3.png" Id="R645c4a7520d94a0e" /><Relationship Type="http://schemas.openxmlformats.org/officeDocument/2006/relationships/image" Target="/ppt/media/image4.png" Id="R7cef6ae2f7784618" /><Relationship Type="http://schemas.openxmlformats.org/officeDocument/2006/relationships/image" Target="/ppt/media/image5.png" Id="Rb06c536a653b47a3" /><Relationship Type="http://schemas.openxmlformats.org/officeDocument/2006/relationships/notesSlide" Target="/ppt/notesSlides/notesSlide5.xml" Id="R0b6bee156ad84b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1022939e464d2a" /><Relationship Type="http://schemas.openxmlformats.org/officeDocument/2006/relationships/image" Target="/ppt/media/image.png" Id="Rc7a72bb6c0344160" /><Relationship Type="http://schemas.openxmlformats.org/officeDocument/2006/relationships/image" Target="/ppt/media/image2.png" Id="R72d21327ba8e4455" /><Relationship Type="http://schemas.openxmlformats.org/officeDocument/2006/relationships/image" Target="/ppt/media/image4.png" Id="R82d565b871e449d4" /><Relationship Type="http://schemas.openxmlformats.org/officeDocument/2006/relationships/image" Target="/ppt/media/image5.png" Id="Rd8a72debcea0492d" /><Relationship Type="http://schemas.openxmlformats.org/officeDocument/2006/relationships/notesSlide" Target="/ppt/notesSlides/notesSlide6.xml" Id="R51d713b9cc134c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a6f01494a24ce8" /><Relationship Type="http://schemas.openxmlformats.org/officeDocument/2006/relationships/image" Target="/ppt/media/image5.png" Id="R102201df6701402c" /><Relationship Type="http://schemas.openxmlformats.org/officeDocument/2006/relationships/notesSlide" Target="/ppt/notesSlides/notesSlide7.xml" Id="Rc5f87ab83de340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4738e954164a79" /><Relationship Type="http://schemas.openxmlformats.org/officeDocument/2006/relationships/notesSlide" Target="/ppt/notesSlides/notesSlide8.xml" Id="R1a5e676619834d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f7bc616e404f25" /><Relationship Type="http://schemas.openxmlformats.org/officeDocument/2006/relationships/notesSlide" Target="/ppt/notesSlides/notesSlide9.xml" Id="Rd404a99df5ff4b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e4afadd2664686" /><Relationship Type="http://schemas.openxmlformats.org/officeDocument/2006/relationships/notesSlide" Target="/ppt/notesSlides/notesSlide10.xml" Id="Rf842a5a9ca7549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79cd80c8bf4956" /><Relationship Type="http://schemas.openxmlformats.org/officeDocument/2006/relationships/notesSlide" Target="/ppt/notesSlides/notesSlide11.xml" Id="Rb9810b0ff69f45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55673f40904ef7" /><Relationship Type="http://schemas.openxmlformats.org/officeDocument/2006/relationships/notesSlide" Target="/ppt/notesSlides/notesSlide12.xml" Id="R24d2f60d145646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27b31438864973" /><Relationship Type="http://schemas.openxmlformats.org/officeDocument/2006/relationships/notesSlide" Target="/ppt/notesSlides/notesSlide13.xml" Id="Rc969a09ca04d4e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a9be2a156a401d" /><Relationship Type="http://schemas.openxmlformats.org/officeDocument/2006/relationships/notesSlide" Target="/ppt/notesSlides/notesSlide14.xml" Id="R87866e1f7fca4b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3ade64c10148be" /><Relationship Type="http://schemas.openxmlformats.org/officeDocument/2006/relationships/notesSlide" Target="/ppt/notesSlides/notesSlide15.xml" Id="Rb566edefd85d42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1b64cf6dc948dc" /><Relationship Type="http://schemas.openxmlformats.org/officeDocument/2006/relationships/notesSlide" Target="/ppt/notesSlides/notesSlide16.xml" Id="Rcdff4c87c53240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06e7fd4be2543c9" /><Relationship Type="http://schemas.openxmlformats.org/officeDocument/2006/relationships/notesSlide" Target="/ppt/notesSlides/notesSlide17.xml" Id="R2eb643e55b4548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24885747484f79" /><Relationship Type="http://schemas.openxmlformats.org/officeDocument/2006/relationships/notesSlide" Target="/ppt/notesSlides/notesSlide18.xml" Id="Re844156d94ff4a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8c287eade274563" /><Relationship Type="http://schemas.openxmlformats.org/officeDocument/2006/relationships/notesSlide" Target="/ppt/notesSlides/notesSlide19.xml" Id="R2832e497867647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8b3abeb816b4f31" /><Relationship Type="http://schemas.openxmlformats.org/officeDocument/2006/relationships/notesSlide" Target="/ppt/notesSlides/notesSlide20.xml" Id="Rb3d462810fc145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9d0ac0de9b14586" /><Relationship Type="http://schemas.openxmlformats.org/officeDocument/2006/relationships/notesSlide" Target="/ppt/notesSlides/notesSlide21.xml" Id="R8aad51a3105f473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75c5f0b306e4413" /><Relationship Type="http://schemas.openxmlformats.org/officeDocument/2006/relationships/notesSlide" Target="/ppt/notesSlides/notesSlide22.xml" Id="Re87b32fdf4114bc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1c35d090eef4378" /><Relationship Type="http://schemas.openxmlformats.org/officeDocument/2006/relationships/notesSlide" Target="/ppt/notesSlides/notesSlide23.xml" Id="R165015b7ee484ac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66276990f574973" /><Relationship Type="http://schemas.openxmlformats.org/officeDocument/2006/relationships/notesSlide" Target="/ppt/notesSlides/notesSlide24.xml" Id="Rbfd96c014dfe48f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f5707b102a14739" /><Relationship Type="http://schemas.openxmlformats.org/officeDocument/2006/relationships/notesSlide" Target="/ppt/notesSlides/notesSlide25.xml" Id="Rb4b67fa944674d7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7e7286941e74e22" /><Relationship Type="http://schemas.openxmlformats.org/officeDocument/2006/relationships/notesSlide" Target="/ppt/notesSlides/notesSlide26.xml" Id="R150566dd86c349d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3a580166f1d4dc0" /><Relationship Type="http://schemas.openxmlformats.org/officeDocument/2006/relationships/notesSlide" Target="/ppt/notesSlides/notesSlide27.xml" Id="R3ca42c32f0f047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5e7871ed51d40fc" /><Relationship Type="http://schemas.openxmlformats.org/officeDocument/2006/relationships/image" Target="/ppt/media/image6.png" Id="R457a10bf3fa84ab4" /><Relationship Type="http://schemas.openxmlformats.org/officeDocument/2006/relationships/image" Target="/ppt/media/image4.png" Id="R6e0528eb53024855" /><Relationship Type="http://schemas.openxmlformats.org/officeDocument/2006/relationships/image" Target="/ppt/media/image7.png" Id="Rd5e30eb3894d4c25" /><Relationship Type="http://schemas.openxmlformats.org/officeDocument/2006/relationships/notesSlide" Target="/ppt/notesSlides/notesSlide28.xml" Id="Re121a10320804f1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7be10fca24e44fe" /><Relationship Type="http://schemas.openxmlformats.org/officeDocument/2006/relationships/image" Target="/ppt/media/image7.png" Id="R7309e0cbb65f49e8" /><Relationship Type="http://schemas.openxmlformats.org/officeDocument/2006/relationships/notesSlide" Target="/ppt/notesSlides/notesSlide29.xml" Id="R5f3754ec483f4b0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55ec1d60e174ff2" /><Relationship Type="http://schemas.openxmlformats.org/officeDocument/2006/relationships/image" Target="/ppt/media/image7.png" Id="R1b04e0dcfe304ee6" /><Relationship Type="http://schemas.openxmlformats.org/officeDocument/2006/relationships/notesSlide" Target="/ppt/notesSlides/notesSlide30.xml" Id="Rc4e24d4508f9488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222f1e3c9604f58" /><Relationship Type="http://schemas.openxmlformats.org/officeDocument/2006/relationships/notesSlide" Target="/ppt/notesSlides/notesSlide31.xml" Id="R3afc292485ce420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6a0cd8927d14f43" /><Relationship Type="http://schemas.openxmlformats.org/officeDocument/2006/relationships/notesSlide" Target="/ppt/notesSlides/notesSlide32.xml" Id="R4df07b343eb3422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032dbbfecaa4563" /><Relationship Type="http://schemas.openxmlformats.org/officeDocument/2006/relationships/notesSlide" Target="/ppt/notesSlides/notesSlide33.xml" Id="Ra6d8642894ae48c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79017a845f741e8" /><Relationship Type="http://schemas.openxmlformats.org/officeDocument/2006/relationships/notesSlide" Target="/ppt/notesSlides/notesSlide34.xml" Id="R533022e77c41421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ad10552efeb42b1" /><Relationship Type="http://schemas.openxmlformats.org/officeDocument/2006/relationships/notesSlide" Target="/ppt/notesSlides/notesSlide35.xml" Id="R5c93d9f0adc747e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14aa25fd2cc4c82" /><Relationship Type="http://schemas.openxmlformats.org/officeDocument/2006/relationships/notesSlide" Target="/ppt/notesSlides/notesSlide36.xml" Id="Raf724015a29446d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32a5f600d3347e4" /><Relationship Type="http://schemas.openxmlformats.org/officeDocument/2006/relationships/notesSlide" Target="/ppt/notesSlides/notesSlide37.xml" Id="Rce7393421a0444f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3b2b0d54b0445ba" /><Relationship Type="http://schemas.openxmlformats.org/officeDocument/2006/relationships/image" Target="/ppt/media/image2.png" Id="Rfc3d29e4b9ce4665" /><Relationship Type="http://schemas.openxmlformats.org/officeDocument/2006/relationships/notesSlide" Target="/ppt/notesSlides/notesSlide38.xml" Id="Rb73e626435454b4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453431d45e04747" /><Relationship Type="http://schemas.openxmlformats.org/officeDocument/2006/relationships/notesSlide" Target="/ppt/notesSlides/notesSlide39.xml" Id="R962fb5acf074454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6cb0b08b08641e6" /><Relationship Type="http://schemas.openxmlformats.org/officeDocument/2006/relationships/notesSlide" Target="/ppt/notesSlides/notesSlide40.xml" Id="R82ea9689c30d44c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f4b2f23d5594346" /><Relationship Type="http://schemas.openxmlformats.org/officeDocument/2006/relationships/notesSlide" Target="/ppt/notesSlides/notesSlide41.xml" Id="R401d27e6bc124e7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23741a0175246f6" /><Relationship Type="http://schemas.openxmlformats.org/officeDocument/2006/relationships/notesSlide" Target="/ppt/notesSlides/notesSlide42.xml" Id="Rbd2c5e6ba6854ee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ec5d54dc45246c7" /><Relationship Type="http://schemas.openxmlformats.org/officeDocument/2006/relationships/notesSlide" Target="/ppt/notesSlides/notesSlide43.xml" Id="Rf14108b2bc6c4b9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ce58dcae7364404" /><Relationship Type="http://schemas.openxmlformats.org/officeDocument/2006/relationships/notesSlide" Target="/ppt/notesSlides/notesSlide44.xml" Id="Rdadcd1deb8d9477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f4558648e684ba4" /><Relationship Type="http://schemas.openxmlformats.org/officeDocument/2006/relationships/notesSlide" Target="/ppt/notesSlides/notesSlide45.xml" Id="R11ae1c559ecd42f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38cbe023b11458c" /><Relationship Type="http://schemas.openxmlformats.org/officeDocument/2006/relationships/notesSlide" Target="/ppt/notesSlides/notesSlide46.xml" Id="R1fc6ee56f0a9483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3ddc481b9984cf4" /><Relationship Type="http://schemas.openxmlformats.org/officeDocument/2006/relationships/notesSlide" Target="/ppt/notesSlides/notesSlide47.xml" Id="R8f5e91480a234a8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9f9503ec1af42e3" /><Relationship Type="http://schemas.openxmlformats.org/officeDocument/2006/relationships/image" Target="/ppt/media/image2.png" Id="R36c7aae8965b4e13" /><Relationship Type="http://schemas.openxmlformats.org/officeDocument/2006/relationships/image" Target="/ppt/media/image4.png" Id="R76edc49188fc45dc" /><Relationship Type="http://schemas.openxmlformats.org/officeDocument/2006/relationships/image" Target="/ppt/media/image5.png" Id="R88475a099175420e" /><Relationship Type="http://schemas.openxmlformats.org/officeDocument/2006/relationships/image" Target="/ppt/media/image6.png" Id="R5aeb66f4d948482c" /><Relationship Type="http://schemas.openxmlformats.org/officeDocument/2006/relationships/image" Target="/ppt/media/image7.png" Id="R2a2c4ee6099040c3" /><Relationship Type="http://schemas.openxmlformats.org/officeDocument/2006/relationships/notesSlide" Target="/ppt/notesSlides/notesSlide48.xml" Id="Rf7430811e60c47a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025ab66727a44fd" /><Relationship Type="http://schemas.openxmlformats.org/officeDocument/2006/relationships/notesSlide" Target="/ppt/notesSlides/notesSlide49.xml" Id="R5a21368be7f24607" /></Relationships>
</file>

<file path=ppt/slides/slide1.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30F77BE0-7071-412C-B85B-47FAD1833E3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5DF3777F-B174-4CB2-B1AC-D394903B124C}"/>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4DC773B1-8A5C-4BC9-9CE2-66E548353A59}"/>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Presentation 1 recap: how prediction saves bits</a:t>
            </a:r>
          </a:p>
        </p:txBody>
      </p:sp>
      <p:sp>
        <p:nvSpPr>
          <p:cNvPr id="4" name="Straight Connector 3">
            <a:extLst xmlns:a="http://schemas.openxmlformats.org/drawingml/2006/main">
              <a:ext uri="{FF2B5EF4-FFF2-40B4-BE49-F238E27FC236}">
                <a16:creationId xmlns:a16="http://schemas.microsoft.com/office/drawing/2014/main" id="{E56343E4-D415-4A1B-96FF-09A772574A32}"/>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52853989-651A-4762-844D-FB89A5127830}"/>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first presentation established the motivation, prediction model, picture roles, and HEVC's main efficiency idea</a:t>
            </a:r>
          </a:p>
        </p:txBody>
      </p:sp>
      <p:sp>
        <p:nvSpPr>
          <p:cNvPr id="7" name="Rectangle 6">
            <a:extLst xmlns:a="http://schemas.openxmlformats.org/drawingml/2006/main">
              <a:ext uri="{FF2B5EF4-FFF2-40B4-BE49-F238E27FC236}">
                <a16:creationId xmlns:a16="http://schemas.microsoft.com/office/drawing/2014/main" id="{27A0CE77-ADB6-48C9-8AFF-FEC1C0197F67}"/>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01 / 49</a:t>
            </a:r>
          </a:p>
        </p:txBody>
      </p:sp>
      <p:sp>
        <p:nvSpPr>
          <p:cNvPr id="8" name="Straight Connector 7">
            <a:extLst xmlns:a="http://schemas.openxmlformats.org/drawingml/2006/main">
              <a:ext uri="{FF2B5EF4-FFF2-40B4-BE49-F238E27FC236}">
                <a16:creationId xmlns:a16="http://schemas.microsoft.com/office/drawing/2014/main" id="{CD019185-0962-44A8-94B2-EF9A4B2C25C9}"/>
              </a:ext>
            </a:extLst>
          </p:cNvPr>
          <p:cNvSpPr>
            <a:spLocks xmlns:a="http://schemas.openxmlformats.org/drawingml/2006/main" noGrp="1"/>
          </p:cNvSpPr>
          <p:nvPr/>
        </p:nvSpPr>
        <p:spPr>
          <a:xfrm xmlns:a="http://schemas.openxmlformats.org/drawingml/2006/main">
            <a:off x="1143000" y="2981325"/>
            <a:ext cx="10001250" cy="9525"/>
          </a:xfrm>
          <a:prstGeom xmlns:a="http://schemas.openxmlformats.org/drawingml/2006/main" prst="line">
            <a:avLst/>
          </a:prstGeom>
          <a:noFill xmlns:a="http://schemas.openxmlformats.org/drawingml/2006/main"/>
          <a:ln xmlns:a="http://schemas.openxmlformats.org/drawingml/2006/main" w="28575">
            <a:solidFill>
              <a:srgbClr val="2A5876"/>
            </a:solidFill>
            <a:prstDash val="solid"/>
          </a:ln>
        </p:spPr>
      </p:sp>
      <p:sp>
        <p:nvSpPr>
          <p:cNvPr id="9" name="Oval 8">
            <a:extLst xmlns:a="http://schemas.openxmlformats.org/drawingml/2006/main">
              <a:ext uri="{FF2B5EF4-FFF2-40B4-BE49-F238E27FC236}">
                <a16:creationId xmlns:a16="http://schemas.microsoft.com/office/drawing/2014/main" id="{DD2EA29B-A439-419F-8E30-0A4197AC537A}"/>
              </a:ext>
            </a:extLst>
          </p:cNvPr>
          <p:cNvSpPr>
            <a:spLocks xmlns:a="http://schemas.openxmlformats.org/drawingml/2006/main" noGrp="1"/>
          </p:cNvSpPr>
          <p:nvPr/>
        </p:nvSpPr>
        <p:spPr>
          <a:xfrm xmlns:a="http://schemas.openxmlformats.org/drawingml/2006/main">
            <a:off x="1371600" y="2600325"/>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22D3EE"/>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2D3EE"/>
                </a:solidFill>
                <a:latin typeface="Arial"/>
                <a:ea typeface="Arial"/>
                <a:cs typeface="Arial"/>
              </a:defRPr>
            </a:pPr>
            <a:r>
              <a:rPr sz="1200" b="1">
                <a:solidFill>
                  <a:srgbClr val="22D3EE"/>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AB50803-32A1-4813-8CC6-D00417266875}"/>
              </a:ext>
            </a:extLst>
          </p:cNvPr>
          <p:cNvSpPr>
            <a:spLocks xmlns:a="http://schemas.openxmlformats.org/drawingml/2006/main" noGrp="1"/>
          </p:cNvSpPr>
          <p:nvPr/>
        </p:nvSpPr>
        <p:spPr>
          <a:xfrm xmlns:a="http://schemas.openxmlformats.org/drawingml/2006/main">
            <a:off x="571500" y="3409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22D3EE"/>
                </a:solidFill>
                <a:latin typeface="Arial"/>
                <a:ea typeface="Arial"/>
                <a:cs typeface="Arial"/>
              </a:defRPr>
            </a:pPr>
            <a:r>
              <a:rPr sz="1275" b="1">
                <a:solidFill>
                  <a:srgbClr val="22D3EE"/>
                </a:solidFill>
                <a:latin typeface="Arial"/>
                <a:ea typeface="Arial"/>
                <a:cs typeface="Arial"/>
              </a:rPr>
              <a:t>WHY COMPRESS?</a:t>
            </a:r>
          </a:p>
        </p:txBody>
      </p:sp>
      <p:sp>
        <p:nvSpPr>
          <p:cNvPr id="11" name="Rectangle 10">
            <a:extLst xmlns:a="http://schemas.openxmlformats.org/drawingml/2006/main">
              <a:ext uri="{FF2B5EF4-FFF2-40B4-BE49-F238E27FC236}">
                <a16:creationId xmlns:a16="http://schemas.microsoft.com/office/drawing/2014/main" id="{FF6B07E9-B449-43D1-A4E3-A2A4666D24D9}"/>
              </a:ext>
            </a:extLst>
          </p:cNvPr>
          <p:cNvSpPr>
            <a:spLocks xmlns:a="http://schemas.openxmlformats.org/drawingml/2006/main" noGrp="1"/>
          </p:cNvSpPr>
          <p:nvPr/>
        </p:nvSpPr>
        <p:spPr>
          <a:xfrm xmlns:a="http://schemas.openxmlformats.org/drawingml/2006/main">
            <a:off x="619125" y="3886200"/>
            <a:ext cx="2000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0">
                <a:solidFill>
                  <a:srgbClr val="F4F8FC"/>
                </a:solidFill>
                <a:latin typeface="Arial"/>
                <a:ea typeface="Arial"/>
                <a:cs typeface="Arial"/>
              </a:defRPr>
            </a:pPr>
            <a:r>
              <a:rPr sz="1200" b="0">
                <a:solidFill>
                  <a:srgbClr val="F4F8FC"/>
                </a:solidFill>
                <a:latin typeface="Arial"/>
                <a:ea typeface="Arial"/>
                <a:cs typeface="Arial"/>
              </a:rPr>
              <a:t>Video contains repeated information within and across pictures</a:t>
            </a:r>
          </a:p>
        </p:txBody>
      </p:sp>
      <p:sp>
        <p:nvSpPr>
          <p:cNvPr id="12" name="Oval 11">
            <a:extLst xmlns:a="http://schemas.openxmlformats.org/drawingml/2006/main">
              <a:ext uri="{FF2B5EF4-FFF2-40B4-BE49-F238E27FC236}">
                <a16:creationId xmlns:a16="http://schemas.microsoft.com/office/drawing/2014/main" id="{B8610F74-2440-4928-93D0-6A62D98A06F1}"/>
              </a:ext>
            </a:extLst>
          </p:cNvPr>
          <p:cNvSpPr>
            <a:spLocks xmlns:a="http://schemas.openxmlformats.org/drawingml/2006/main" noGrp="1"/>
          </p:cNvSpPr>
          <p:nvPr/>
        </p:nvSpPr>
        <p:spPr>
          <a:xfrm xmlns:a="http://schemas.openxmlformats.org/drawingml/2006/main">
            <a:off x="3705225" y="2600325"/>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2E9BFF"/>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E9BFF"/>
                </a:solidFill>
                <a:latin typeface="Arial"/>
                <a:ea typeface="Arial"/>
                <a:cs typeface="Arial"/>
              </a:defRPr>
            </a:pPr>
            <a:r>
              <a:rPr sz="1200" b="1">
                <a:solidFill>
                  <a:srgbClr val="2E9BFF"/>
                </a:solidFill>
                <a:latin typeface="Arial"/>
                <a:ea typeface="Arial"/>
                <a:cs typeface="Arial"/>
              </a:rPr>
              <a:t>2</a:t>
            </a:r>
          </a:p>
        </p:txBody>
      </p:sp>
      <p:sp>
        <p:nvSpPr>
          <p:cNvPr id="13" name="Rectangle 12">
            <a:extLst xmlns:a="http://schemas.openxmlformats.org/drawingml/2006/main">
              <a:ext uri="{FF2B5EF4-FFF2-40B4-BE49-F238E27FC236}">
                <a16:creationId xmlns:a16="http://schemas.microsoft.com/office/drawing/2014/main" id="{C2B6BB51-3245-4C84-9EBF-19B2C7D49D38}"/>
              </a:ext>
            </a:extLst>
          </p:cNvPr>
          <p:cNvSpPr>
            <a:spLocks xmlns:a="http://schemas.openxmlformats.org/drawingml/2006/main" noGrp="1"/>
          </p:cNvSpPr>
          <p:nvPr/>
        </p:nvSpPr>
        <p:spPr>
          <a:xfrm xmlns:a="http://schemas.openxmlformats.org/drawingml/2006/main">
            <a:off x="2905125" y="3409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2E9BFF"/>
                </a:solidFill>
                <a:latin typeface="Arial"/>
                <a:ea typeface="Arial"/>
                <a:cs typeface="Arial"/>
              </a:defRPr>
            </a:pPr>
            <a:r>
              <a:rPr sz="1275" b="1">
                <a:solidFill>
                  <a:srgbClr val="2E9BFF"/>
                </a:solidFill>
                <a:latin typeface="Arial"/>
                <a:ea typeface="Arial"/>
                <a:cs typeface="Arial"/>
              </a:rPr>
              <a:t>PREDICT</a:t>
            </a:r>
          </a:p>
        </p:txBody>
      </p:sp>
      <p:sp>
        <p:nvSpPr>
          <p:cNvPr id="14" name="Rectangle 13">
            <a:extLst xmlns:a="http://schemas.openxmlformats.org/drawingml/2006/main">
              <a:ext uri="{FF2B5EF4-FFF2-40B4-BE49-F238E27FC236}">
                <a16:creationId xmlns:a16="http://schemas.microsoft.com/office/drawing/2014/main" id="{9104A7B8-CEC4-43E4-9E86-4E5CBF75A7C8}"/>
              </a:ext>
            </a:extLst>
          </p:cNvPr>
          <p:cNvSpPr>
            <a:spLocks xmlns:a="http://schemas.openxmlformats.org/drawingml/2006/main" noGrp="1"/>
          </p:cNvSpPr>
          <p:nvPr/>
        </p:nvSpPr>
        <p:spPr>
          <a:xfrm xmlns:a="http://schemas.openxmlformats.org/drawingml/2006/main">
            <a:off x="2952750" y="3886200"/>
            <a:ext cx="2000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0">
                <a:solidFill>
                  <a:srgbClr val="F4F8FC"/>
                </a:solidFill>
                <a:latin typeface="Arial"/>
                <a:ea typeface="Arial"/>
                <a:cs typeface="Arial"/>
              </a:defRPr>
            </a:pPr>
            <a:r>
              <a:rPr sz="1200" b="0">
                <a:solidFill>
                  <a:srgbClr val="F4F8FC"/>
                </a:solidFill>
                <a:latin typeface="Arial"/>
                <a:ea typeface="Arial"/>
                <a:cs typeface="Arial"/>
              </a:rPr>
              <a:t>Intra uses decoded neighbors. Inter reuses blocks from decoded reference pictures</a:t>
            </a:r>
          </a:p>
        </p:txBody>
      </p:sp>
      <p:sp>
        <p:nvSpPr>
          <p:cNvPr id="15" name="Oval 14">
            <a:extLst xmlns:a="http://schemas.openxmlformats.org/drawingml/2006/main">
              <a:ext uri="{FF2B5EF4-FFF2-40B4-BE49-F238E27FC236}">
                <a16:creationId xmlns:a16="http://schemas.microsoft.com/office/drawing/2014/main" id="{24B20F54-BD7B-4839-A4A2-9347253668E9}"/>
              </a:ext>
            </a:extLst>
          </p:cNvPr>
          <p:cNvSpPr>
            <a:spLocks xmlns:a="http://schemas.openxmlformats.org/drawingml/2006/main" noGrp="1"/>
          </p:cNvSpPr>
          <p:nvPr/>
        </p:nvSpPr>
        <p:spPr>
          <a:xfrm xmlns:a="http://schemas.openxmlformats.org/drawingml/2006/main">
            <a:off x="6038850" y="2600325"/>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47E6A4"/>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47E6A4"/>
                </a:solidFill>
                <a:latin typeface="Arial"/>
                <a:ea typeface="Arial"/>
                <a:cs typeface="Arial"/>
              </a:defRPr>
            </a:pPr>
            <a:r>
              <a:rPr sz="1200" b="1">
                <a:solidFill>
                  <a:srgbClr val="47E6A4"/>
                </a:solidFill>
                <a:latin typeface="Arial"/>
                <a:ea typeface="Arial"/>
                <a:cs typeface="Arial"/>
              </a:rPr>
              <a:t>3</a:t>
            </a:r>
          </a:p>
        </p:txBody>
      </p:sp>
      <p:sp>
        <p:nvSpPr>
          <p:cNvPr id="16" name="Rectangle 15">
            <a:extLst xmlns:a="http://schemas.openxmlformats.org/drawingml/2006/main">
              <a:ext uri="{FF2B5EF4-FFF2-40B4-BE49-F238E27FC236}">
                <a16:creationId xmlns:a16="http://schemas.microsoft.com/office/drawing/2014/main" id="{7C8D1833-3DCE-4077-83CF-E9D5299CBF6B}"/>
              </a:ext>
            </a:extLst>
          </p:cNvPr>
          <p:cNvSpPr>
            <a:spLocks xmlns:a="http://schemas.openxmlformats.org/drawingml/2006/main" noGrp="1"/>
          </p:cNvSpPr>
          <p:nvPr/>
        </p:nvSpPr>
        <p:spPr>
          <a:xfrm xmlns:a="http://schemas.openxmlformats.org/drawingml/2006/main">
            <a:off x="5238750" y="3409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SEND THE ERROR</a:t>
            </a:r>
          </a:p>
        </p:txBody>
      </p:sp>
      <p:sp>
        <p:nvSpPr>
          <p:cNvPr id="17" name="Rectangle 16">
            <a:extLst xmlns:a="http://schemas.openxmlformats.org/drawingml/2006/main">
              <a:ext uri="{FF2B5EF4-FFF2-40B4-BE49-F238E27FC236}">
                <a16:creationId xmlns:a16="http://schemas.microsoft.com/office/drawing/2014/main" id="{1373B785-713D-45B2-B94A-9CC0880B31D6}"/>
              </a:ext>
            </a:extLst>
          </p:cNvPr>
          <p:cNvSpPr>
            <a:spLocks xmlns:a="http://schemas.openxmlformats.org/drawingml/2006/main" noGrp="1"/>
          </p:cNvSpPr>
          <p:nvPr/>
        </p:nvSpPr>
        <p:spPr>
          <a:xfrm xmlns:a="http://schemas.openxmlformats.org/drawingml/2006/main">
            <a:off x="5286375" y="3886200"/>
            <a:ext cx="2000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0">
                <a:solidFill>
                  <a:srgbClr val="F4F8FC"/>
                </a:solidFill>
                <a:latin typeface="Arial"/>
                <a:ea typeface="Arial"/>
                <a:cs typeface="Arial"/>
              </a:defRPr>
            </a:pPr>
            <a:r>
              <a:rPr sz="1200" b="0">
                <a:solidFill>
                  <a:srgbClr val="F4F8FC"/>
                </a:solidFill>
                <a:latin typeface="Arial"/>
                <a:ea typeface="Arial"/>
                <a:cs typeface="Arial"/>
              </a:rPr>
              <a:t>Original − prediction = residual. A better prediction leaves less information to code</a:t>
            </a:r>
          </a:p>
        </p:txBody>
      </p:sp>
      <p:sp>
        <p:nvSpPr>
          <p:cNvPr id="18" name="Oval 17">
            <a:extLst xmlns:a="http://schemas.openxmlformats.org/drawingml/2006/main">
              <a:ext uri="{FF2B5EF4-FFF2-40B4-BE49-F238E27FC236}">
                <a16:creationId xmlns:a16="http://schemas.microsoft.com/office/drawing/2014/main" id="{F2F618C1-B8A9-4BE0-A7F4-256BCA4263E6}"/>
              </a:ext>
            </a:extLst>
          </p:cNvPr>
          <p:cNvSpPr>
            <a:spLocks xmlns:a="http://schemas.openxmlformats.org/drawingml/2006/main" noGrp="1"/>
          </p:cNvSpPr>
          <p:nvPr/>
        </p:nvSpPr>
        <p:spPr>
          <a:xfrm xmlns:a="http://schemas.openxmlformats.org/drawingml/2006/main">
            <a:off x="8372475" y="2600325"/>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B84D"/>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B84D"/>
                </a:solidFill>
                <a:latin typeface="Arial"/>
                <a:ea typeface="Arial"/>
                <a:cs typeface="Arial"/>
              </a:defRPr>
            </a:pPr>
            <a:r>
              <a:rPr sz="1200" b="1">
                <a:solidFill>
                  <a:srgbClr val="FFB84D"/>
                </a:solidFill>
                <a:latin typeface="Arial"/>
                <a:ea typeface="Arial"/>
                <a:cs typeface="Arial"/>
              </a:rPr>
              <a:t>4</a:t>
            </a:r>
          </a:p>
        </p:txBody>
      </p:sp>
      <p:sp>
        <p:nvSpPr>
          <p:cNvPr id="19" name="Rectangle 18">
            <a:extLst xmlns:a="http://schemas.openxmlformats.org/drawingml/2006/main">
              <a:ext uri="{FF2B5EF4-FFF2-40B4-BE49-F238E27FC236}">
                <a16:creationId xmlns:a16="http://schemas.microsoft.com/office/drawing/2014/main" id="{31A37731-869E-4083-A2B3-692C64821839}"/>
              </a:ext>
            </a:extLst>
          </p:cNvPr>
          <p:cNvSpPr>
            <a:spLocks xmlns:a="http://schemas.openxmlformats.org/drawingml/2006/main" noGrp="1"/>
          </p:cNvSpPr>
          <p:nvPr/>
        </p:nvSpPr>
        <p:spPr>
          <a:xfrm xmlns:a="http://schemas.openxmlformats.org/drawingml/2006/main">
            <a:off x="7572375" y="3409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ORGANIZE PICTURES</a:t>
            </a:r>
          </a:p>
        </p:txBody>
      </p:sp>
      <p:sp>
        <p:nvSpPr>
          <p:cNvPr id="20" name="Rectangle 19">
            <a:extLst xmlns:a="http://schemas.openxmlformats.org/drawingml/2006/main">
              <a:ext uri="{FF2B5EF4-FFF2-40B4-BE49-F238E27FC236}">
                <a16:creationId xmlns:a16="http://schemas.microsoft.com/office/drawing/2014/main" id="{DF7F5F12-F51C-4E71-A2FA-722E363033A9}"/>
              </a:ext>
            </a:extLst>
          </p:cNvPr>
          <p:cNvSpPr>
            <a:spLocks xmlns:a="http://schemas.openxmlformats.org/drawingml/2006/main" noGrp="1"/>
          </p:cNvSpPr>
          <p:nvPr/>
        </p:nvSpPr>
        <p:spPr>
          <a:xfrm xmlns:a="http://schemas.openxmlformats.org/drawingml/2006/main">
            <a:off x="7620000" y="3886200"/>
            <a:ext cx="2000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0">
                <a:solidFill>
                  <a:srgbClr val="F4F8FC"/>
                </a:solidFill>
                <a:latin typeface="Arial"/>
                <a:ea typeface="Arial"/>
                <a:cs typeface="Arial"/>
              </a:defRPr>
            </a:pPr>
            <a:r>
              <a:rPr sz="1200" b="0">
                <a:solidFill>
                  <a:srgbClr val="F4F8FC"/>
                </a:solidFill>
                <a:latin typeface="Arial"/>
                <a:ea typeface="Arial"/>
                <a:cs typeface="Arial"/>
              </a:rPr>
              <a:t>I starts independently. P reuses references. B may use references on both sides</a:t>
            </a:r>
          </a:p>
        </p:txBody>
      </p:sp>
      <p:sp>
        <p:nvSpPr>
          <p:cNvPr id="21" name="Oval 20">
            <a:extLst xmlns:a="http://schemas.openxmlformats.org/drawingml/2006/main">
              <a:ext uri="{FF2B5EF4-FFF2-40B4-BE49-F238E27FC236}">
                <a16:creationId xmlns:a16="http://schemas.microsoft.com/office/drawing/2014/main" id="{5C0FE5D7-EB2B-4C89-94A6-7B127FA51FB3}"/>
              </a:ext>
            </a:extLst>
          </p:cNvPr>
          <p:cNvSpPr>
            <a:spLocks xmlns:a="http://schemas.openxmlformats.org/drawingml/2006/main" noGrp="1"/>
          </p:cNvSpPr>
          <p:nvPr/>
        </p:nvSpPr>
        <p:spPr>
          <a:xfrm xmlns:a="http://schemas.openxmlformats.org/drawingml/2006/main">
            <a:off x="10706100" y="2600325"/>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6577"/>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6577"/>
                </a:solidFill>
                <a:latin typeface="Arial"/>
                <a:ea typeface="Arial"/>
                <a:cs typeface="Arial"/>
              </a:defRPr>
            </a:pPr>
            <a:r>
              <a:rPr sz="1200" b="1">
                <a:solidFill>
                  <a:srgbClr val="FF6577"/>
                </a:solidFill>
                <a:latin typeface="Arial"/>
                <a:ea typeface="Arial"/>
                <a:cs typeface="Arial"/>
              </a:rPr>
              <a:t>5</a:t>
            </a:r>
          </a:p>
        </p:txBody>
      </p:sp>
      <p:sp>
        <p:nvSpPr>
          <p:cNvPr id="22" name="Rectangle 21">
            <a:extLst xmlns:a="http://schemas.openxmlformats.org/drawingml/2006/main">
              <a:ext uri="{FF2B5EF4-FFF2-40B4-BE49-F238E27FC236}">
                <a16:creationId xmlns:a16="http://schemas.microsoft.com/office/drawing/2014/main" id="{2DA05381-0985-4A6B-A69A-F09991CB6D46}"/>
              </a:ext>
            </a:extLst>
          </p:cNvPr>
          <p:cNvSpPr>
            <a:spLocks xmlns:a="http://schemas.openxmlformats.org/drawingml/2006/main" noGrp="1"/>
          </p:cNvSpPr>
          <p:nvPr/>
        </p:nvSpPr>
        <p:spPr>
          <a:xfrm xmlns:a="http://schemas.openxmlformats.org/drawingml/2006/main">
            <a:off x="9906000" y="3409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F6577"/>
                </a:solidFill>
                <a:latin typeface="Arial"/>
                <a:ea typeface="Arial"/>
                <a:cs typeface="Arial"/>
              </a:defRPr>
            </a:pPr>
            <a:r>
              <a:rPr sz="1275" b="1">
                <a:solidFill>
                  <a:srgbClr val="FF6577"/>
                </a:solidFill>
                <a:latin typeface="Arial"/>
                <a:ea typeface="Arial"/>
                <a:cs typeface="Arial"/>
              </a:rPr>
              <a:t>HEVC'S ADVANTAGE</a:t>
            </a:r>
          </a:p>
        </p:txBody>
      </p:sp>
      <p:sp>
        <p:nvSpPr>
          <p:cNvPr id="23" name="Rectangle 22">
            <a:extLst xmlns:a="http://schemas.openxmlformats.org/drawingml/2006/main">
              <a:ext uri="{FF2B5EF4-FFF2-40B4-BE49-F238E27FC236}">
                <a16:creationId xmlns:a16="http://schemas.microsoft.com/office/drawing/2014/main" id="{9222331E-801A-4CCC-B66B-9B420E94DB22}"/>
              </a:ext>
            </a:extLst>
          </p:cNvPr>
          <p:cNvSpPr>
            <a:spLocks xmlns:a="http://schemas.openxmlformats.org/drawingml/2006/main" noGrp="1"/>
          </p:cNvSpPr>
          <p:nvPr/>
        </p:nvSpPr>
        <p:spPr>
          <a:xfrm xmlns:a="http://schemas.openxmlformats.org/drawingml/2006/main">
            <a:off x="9953625" y="3886200"/>
            <a:ext cx="2000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0">
                <a:solidFill>
                  <a:srgbClr val="F4F8FC"/>
                </a:solidFill>
                <a:latin typeface="Arial"/>
                <a:ea typeface="Arial"/>
                <a:cs typeface="Arial"/>
              </a:defRPr>
            </a:pPr>
            <a:r>
              <a:rPr sz="1200" b="0">
                <a:solidFill>
                  <a:srgbClr val="F4F8FC"/>
                </a:solidFill>
                <a:latin typeface="Arial"/>
                <a:ea typeface="Arial"/>
                <a:cs typeface="Arial"/>
              </a:rPr>
              <a:t>Flexible block sizes and more prediction choices fit the content more closely</a:t>
            </a:r>
          </a:p>
        </p:txBody>
      </p:sp>
      <p:sp>
        <p:nvSpPr>
          <p:cNvPr id="28" name="Rectangle 27">
            <a:extLst xmlns:a="http://schemas.openxmlformats.org/drawingml/2006/main">
              <a:ext uri="{FF2B5EF4-FFF2-40B4-BE49-F238E27FC236}">
                <a16:creationId xmlns:a16="http://schemas.microsoft.com/office/drawing/2014/main" id="{F5D3BC83-C86F-4185-8BC4-8029AA746752}"/>
              </a:ext>
            </a:extLst>
          </p:cNvPr>
          <p:cNvSpPr>
            <a:spLocks xmlns:a="http://schemas.openxmlformats.org/drawingml/2006/main" noGrp="1"/>
          </p:cNvSpPr>
          <p:nvPr/>
        </p:nvSpPr>
        <p:spPr>
          <a:xfrm xmlns:a="http://schemas.openxmlformats.org/drawingml/2006/main">
            <a:off x="400050" y="1343025"/>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214" lnSpcReduction="10000"/>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HEVC = High Efficiency Video Coding</a:t>
            </a:r>
          </a:p>
        </p:txBody>
      </p:sp>
    </p:spTree>
    <p:extLst>
      <p:ext uri="{BB962C8B-B14F-4D97-AF65-F5344CB8AC3E}">
        <p14:creationId xmlns:p14="http://schemas.microsoft.com/office/powerpoint/2010/main" val="1689204798"/>
      </p:ext>
    </p:extLst>
  </p:cSld>
</p:sld>
</file>

<file path=ppt/slides/slide2.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79" name="Oval 78">
            <a:extLst xmlns:a="http://schemas.openxmlformats.org/drawingml/2006/main">
              <a:ext uri="{FF2B5EF4-FFF2-40B4-BE49-F238E27FC236}">
                <a16:creationId xmlns:a16="http://schemas.microsoft.com/office/drawing/2014/main" id="{22A0DB05-E2DF-495B-9738-E99D85211C6C}"/>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E505DE36-D248-4AC9-BD46-72C8BFE40DA1}"/>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353D376B-C2E0-418B-AEC6-AE35240C0D32}"/>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The High Efficiency Video Coding (HEVC) closed loop</a:t>
            </a:r>
          </a:p>
        </p:txBody>
      </p:sp>
      <p:sp>
        <p:nvSpPr>
          <p:cNvPr id="4" name="Straight Connector 3">
            <a:extLst xmlns:a="http://schemas.openxmlformats.org/drawingml/2006/main">
              <a:ext uri="{FF2B5EF4-FFF2-40B4-BE49-F238E27FC236}">
                <a16:creationId xmlns:a16="http://schemas.microsoft.com/office/drawing/2014/main" id="{0D006FE3-BAFA-4800-964C-54FC6CC98961}"/>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8CFF6F28-115E-4190-A490-FD5360D53DFA}"/>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upper path writes the bitstream. The lower path rebuilds the reference picture.</a:t>
            </a:r>
          </a:p>
        </p:txBody>
      </p:sp>
      <p:sp>
        <p:nvSpPr>
          <p:cNvPr id="7" name="Rectangle 6">
            <a:extLst xmlns:a="http://schemas.openxmlformats.org/drawingml/2006/main">
              <a:ext uri="{FF2B5EF4-FFF2-40B4-BE49-F238E27FC236}">
                <a16:creationId xmlns:a16="http://schemas.microsoft.com/office/drawing/2014/main" id="{781B427F-CDCC-4DCB-8573-95C738DC7EF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02 / 49</a:t>
            </a:r>
          </a:p>
        </p:txBody>
      </p:sp>
      <p:sp>
        <p:nvSpPr>
          <p:cNvPr id="8" name="Rectangle 7">
            <a:extLst xmlns:a="http://schemas.openxmlformats.org/drawingml/2006/main">
              <a:ext uri="{FF2B5EF4-FFF2-40B4-BE49-F238E27FC236}">
                <a16:creationId xmlns:a16="http://schemas.microsoft.com/office/drawing/2014/main" id="{2AAC0B77-119E-4078-9727-C7DEFCC1395F}"/>
              </a:ext>
            </a:extLst>
          </p:cNvPr>
          <p:cNvSpPr>
            <a:spLocks xmlns:a="http://schemas.openxmlformats.org/drawingml/2006/main" noGrp="1"/>
          </p:cNvSpPr>
          <p:nvPr/>
        </p:nvSpPr>
        <p:spPr>
          <a:xfrm xmlns:a="http://schemas.openxmlformats.org/drawingml/2006/main">
            <a:off x="476250" y="13811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2D3EE"/>
                </a:solidFill>
                <a:latin typeface="Arial"/>
                <a:ea typeface="Arial"/>
                <a:cs typeface="Arial"/>
              </a:defRPr>
            </a:pPr>
            <a:r>
              <a:rPr sz="1125" b="1">
                <a:solidFill>
                  <a:srgbClr val="22D3EE"/>
                </a:solidFill>
                <a:latin typeface="Arial"/>
                <a:ea typeface="Arial"/>
                <a:cs typeface="Arial"/>
              </a:rPr>
              <a:t>ENCODING PATH</a:t>
            </a:r>
          </a:p>
        </p:txBody>
      </p:sp>
      <p:sp>
        <p:nvSpPr>
          <p:cNvPr id="9" name="Rectangle: Rounded Corners 8">
            <a:extLst xmlns:a="http://schemas.openxmlformats.org/drawingml/2006/main">
              <a:ext uri="{FF2B5EF4-FFF2-40B4-BE49-F238E27FC236}">
                <a16:creationId xmlns:a16="http://schemas.microsoft.com/office/drawing/2014/main" id="{E56474D6-3319-4C76-A505-5491129FA211}"/>
              </a:ext>
            </a:extLst>
          </p:cNvPr>
          <p:cNvSpPr>
            <a:spLocks xmlns:a="http://schemas.openxmlformats.org/drawingml/2006/main" noGrp="1"/>
          </p:cNvSpPr>
          <p:nvPr/>
        </p:nvSpPr>
        <p:spPr>
          <a:xfrm xmlns:a="http://schemas.openxmlformats.org/drawingml/2006/main">
            <a:off x="428625" y="1714500"/>
            <a:ext cx="1190625"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22D3EE"/>
            </a:solidFill>
            <a:prstDash val="solid"/>
          </a:ln>
        </p:spPr>
      </p:sp>
      <p:sp>
        <p:nvSpPr>
          <p:cNvPr id="10" name="Rectangle 9">
            <a:extLst xmlns:a="http://schemas.openxmlformats.org/drawingml/2006/main">
              <a:ext uri="{FF2B5EF4-FFF2-40B4-BE49-F238E27FC236}">
                <a16:creationId xmlns:a16="http://schemas.microsoft.com/office/drawing/2014/main" id="{771266DF-63FF-4577-9976-3CD27A136A84}"/>
              </a:ext>
            </a:extLst>
          </p:cNvPr>
          <p:cNvSpPr>
            <a:spLocks xmlns:a="http://schemas.openxmlformats.org/drawingml/2006/main" noGrp="1"/>
          </p:cNvSpPr>
          <p:nvPr/>
        </p:nvSpPr>
        <p:spPr>
          <a:xfrm xmlns:a="http://schemas.openxmlformats.org/drawingml/2006/main">
            <a:off x="542925" y="1809750"/>
            <a:ext cx="962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Partition</a:t>
            </a:r>
          </a:p>
        </p:txBody>
      </p:sp>
      <p:sp>
        <p:nvSpPr>
          <p:cNvPr id="11" name="Rectangle 10">
            <a:extLst xmlns:a="http://schemas.openxmlformats.org/drawingml/2006/main">
              <a:ext uri="{FF2B5EF4-FFF2-40B4-BE49-F238E27FC236}">
                <a16:creationId xmlns:a16="http://schemas.microsoft.com/office/drawing/2014/main" id="{B2D141C1-B610-4AA5-9269-5A6B04450912}"/>
              </a:ext>
            </a:extLst>
          </p:cNvPr>
          <p:cNvSpPr>
            <a:spLocks xmlns:a="http://schemas.openxmlformats.org/drawingml/2006/main" noGrp="1"/>
          </p:cNvSpPr>
          <p:nvPr/>
        </p:nvSpPr>
        <p:spPr>
          <a:xfrm xmlns:a="http://schemas.openxmlformats.org/drawingml/2006/main">
            <a:off x="1905000"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Rectangle 11">
            <a:extLst xmlns:a="http://schemas.openxmlformats.org/drawingml/2006/main">
              <a:ext uri="{FF2B5EF4-FFF2-40B4-BE49-F238E27FC236}">
                <a16:creationId xmlns:a16="http://schemas.microsoft.com/office/drawing/2014/main" id="{2F5E4160-9FC1-4554-B83C-AB62929478CD}"/>
              </a:ext>
            </a:extLst>
          </p:cNvPr>
          <p:cNvSpPr>
            <a:spLocks xmlns:a="http://schemas.openxmlformats.org/drawingml/2006/main" noGrp="1"/>
          </p:cNvSpPr>
          <p:nvPr/>
        </p:nvSpPr>
        <p:spPr>
          <a:xfrm xmlns:a="http://schemas.openxmlformats.org/drawingml/2006/main">
            <a:off x="1666875"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65" name="Straight Arrow Connector 90"/>
          <p:cNvCxnSpPr>
            <a:stCxn xmlns:a="http://schemas.openxmlformats.org/drawingml/2006/main" id="11" idx="1"/>
            <a:endCxn xmlns:a="http://schemas.openxmlformats.org/drawingml/2006/main" id="12" idx="3"/>
          </p:cNvCxnSpPr>
          <p:nvPr/>
        </p:nvCxnSpPr>
        <p:spPr>
          <a:xfrm xmlns:a="http://schemas.openxmlformats.org/drawingml/2006/main" flipH="1">
            <a:off x="1685925" y="1990725"/>
            <a:ext cx="2190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4" name="Rectangle: Rounded Corners 13">
            <a:extLst xmlns:a="http://schemas.openxmlformats.org/drawingml/2006/main">
              <a:ext uri="{FF2B5EF4-FFF2-40B4-BE49-F238E27FC236}">
                <a16:creationId xmlns:a16="http://schemas.microsoft.com/office/drawing/2014/main" id="{39B6EAE3-F23C-488F-84E1-6E20019A600F}"/>
              </a:ext>
            </a:extLst>
          </p:cNvPr>
          <p:cNvSpPr>
            <a:spLocks xmlns:a="http://schemas.openxmlformats.org/drawingml/2006/main" noGrp="1"/>
          </p:cNvSpPr>
          <p:nvPr/>
        </p:nvSpPr>
        <p:spPr>
          <a:xfrm xmlns:a="http://schemas.openxmlformats.org/drawingml/2006/main">
            <a:off x="1952625" y="1714500"/>
            <a:ext cx="1190625"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47E6A4"/>
            </a:solidFill>
            <a:prstDash val="solid"/>
          </a:ln>
        </p:spPr>
      </p:sp>
      <p:sp>
        <p:nvSpPr>
          <p:cNvPr id="15" name="Rectangle 14">
            <a:extLst xmlns:a="http://schemas.openxmlformats.org/drawingml/2006/main">
              <a:ext uri="{FF2B5EF4-FFF2-40B4-BE49-F238E27FC236}">
                <a16:creationId xmlns:a16="http://schemas.microsoft.com/office/drawing/2014/main" id="{24A38082-283A-4CB7-B1D5-199D153B4025}"/>
              </a:ext>
            </a:extLst>
          </p:cNvPr>
          <p:cNvSpPr>
            <a:spLocks xmlns:a="http://schemas.openxmlformats.org/drawingml/2006/main" noGrp="1"/>
          </p:cNvSpPr>
          <p:nvPr/>
        </p:nvSpPr>
        <p:spPr>
          <a:xfrm xmlns:a="http://schemas.openxmlformats.org/drawingml/2006/main">
            <a:off x="2066925" y="1809750"/>
            <a:ext cx="962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Predict</a:t>
            </a:r>
          </a:p>
        </p:txBody>
      </p:sp>
      <p:sp>
        <p:nvSpPr>
          <p:cNvPr id="16" name="Rectangle 15">
            <a:extLst xmlns:a="http://schemas.openxmlformats.org/drawingml/2006/main">
              <a:ext uri="{FF2B5EF4-FFF2-40B4-BE49-F238E27FC236}">
                <a16:creationId xmlns:a16="http://schemas.microsoft.com/office/drawing/2014/main" id="{0E309CCF-B961-4ACF-8684-FFFCE6699B43}"/>
              </a:ext>
            </a:extLst>
          </p:cNvPr>
          <p:cNvSpPr>
            <a:spLocks xmlns:a="http://schemas.openxmlformats.org/drawingml/2006/main" noGrp="1"/>
          </p:cNvSpPr>
          <p:nvPr/>
        </p:nvSpPr>
        <p:spPr>
          <a:xfrm xmlns:a="http://schemas.openxmlformats.org/drawingml/2006/main">
            <a:off x="3429000"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18553708-90E3-4C57-9379-0AE3AB16D446}"/>
              </a:ext>
            </a:extLst>
          </p:cNvPr>
          <p:cNvSpPr>
            <a:spLocks xmlns:a="http://schemas.openxmlformats.org/drawingml/2006/main" noGrp="1"/>
          </p:cNvSpPr>
          <p:nvPr/>
        </p:nvSpPr>
        <p:spPr>
          <a:xfrm xmlns:a="http://schemas.openxmlformats.org/drawingml/2006/main">
            <a:off x="3190875"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70" name="Straight Arrow Connector 95"/>
          <p:cNvCxnSpPr>
            <a:stCxn xmlns:a="http://schemas.openxmlformats.org/drawingml/2006/main" id="16" idx="1"/>
            <a:endCxn xmlns:a="http://schemas.openxmlformats.org/drawingml/2006/main" id="17" idx="3"/>
          </p:cNvCxnSpPr>
          <p:nvPr/>
        </p:nvCxnSpPr>
        <p:spPr>
          <a:xfrm xmlns:a="http://schemas.openxmlformats.org/drawingml/2006/main" flipH="1">
            <a:off x="3209925" y="1990725"/>
            <a:ext cx="2190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9" name="Rectangle: Rounded Corners 18">
            <a:extLst xmlns:a="http://schemas.openxmlformats.org/drawingml/2006/main">
              <a:ext uri="{FF2B5EF4-FFF2-40B4-BE49-F238E27FC236}">
                <a16:creationId xmlns:a16="http://schemas.microsoft.com/office/drawing/2014/main" id="{8155E7C6-28D2-4D99-BE95-CBED3BAD1D9A}"/>
              </a:ext>
            </a:extLst>
          </p:cNvPr>
          <p:cNvSpPr>
            <a:spLocks xmlns:a="http://schemas.openxmlformats.org/drawingml/2006/main" noGrp="1"/>
          </p:cNvSpPr>
          <p:nvPr/>
        </p:nvSpPr>
        <p:spPr>
          <a:xfrm xmlns:a="http://schemas.openxmlformats.org/drawingml/2006/main">
            <a:off x="3476625" y="1714500"/>
            <a:ext cx="1190625"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2E9BFF"/>
            </a:solidFill>
            <a:prstDash val="solid"/>
          </a:ln>
        </p:spPr>
      </p:sp>
      <p:sp>
        <p:nvSpPr>
          <p:cNvPr id="20" name="Rectangle 19">
            <a:extLst xmlns:a="http://schemas.openxmlformats.org/drawingml/2006/main">
              <a:ext uri="{FF2B5EF4-FFF2-40B4-BE49-F238E27FC236}">
                <a16:creationId xmlns:a16="http://schemas.microsoft.com/office/drawing/2014/main" id="{20D7CC90-5286-4D32-B64C-6F955EC4F805}"/>
              </a:ext>
            </a:extLst>
          </p:cNvPr>
          <p:cNvSpPr>
            <a:spLocks xmlns:a="http://schemas.openxmlformats.org/drawingml/2006/main" noGrp="1"/>
          </p:cNvSpPr>
          <p:nvPr/>
        </p:nvSpPr>
        <p:spPr>
          <a:xfrm xmlns:a="http://schemas.openxmlformats.org/drawingml/2006/main">
            <a:off x="3590925" y="1809750"/>
            <a:ext cx="962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Residual</a:t>
            </a:r>
          </a:p>
        </p:txBody>
      </p:sp>
      <p:sp>
        <p:nvSpPr>
          <p:cNvPr id="21" name="Rectangle 20">
            <a:extLst xmlns:a="http://schemas.openxmlformats.org/drawingml/2006/main">
              <a:ext uri="{FF2B5EF4-FFF2-40B4-BE49-F238E27FC236}">
                <a16:creationId xmlns:a16="http://schemas.microsoft.com/office/drawing/2014/main" id="{867D83D5-555B-4D43-A796-808A39DBD929}"/>
              </a:ext>
            </a:extLst>
          </p:cNvPr>
          <p:cNvSpPr>
            <a:spLocks xmlns:a="http://schemas.openxmlformats.org/drawingml/2006/main" noGrp="1"/>
          </p:cNvSpPr>
          <p:nvPr/>
        </p:nvSpPr>
        <p:spPr>
          <a:xfrm xmlns:a="http://schemas.openxmlformats.org/drawingml/2006/main">
            <a:off x="4953000"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2CFE1511-4BD4-4A88-8EE6-5E0F9E19462A}"/>
              </a:ext>
            </a:extLst>
          </p:cNvPr>
          <p:cNvSpPr>
            <a:spLocks xmlns:a="http://schemas.openxmlformats.org/drawingml/2006/main" noGrp="1"/>
          </p:cNvSpPr>
          <p:nvPr/>
        </p:nvSpPr>
        <p:spPr>
          <a:xfrm xmlns:a="http://schemas.openxmlformats.org/drawingml/2006/main">
            <a:off x="4714875"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75" name="Straight Arrow Connector 100"/>
          <p:cNvCxnSpPr>
            <a:stCxn xmlns:a="http://schemas.openxmlformats.org/drawingml/2006/main" id="21" idx="1"/>
            <a:endCxn xmlns:a="http://schemas.openxmlformats.org/drawingml/2006/main" id="22" idx="3"/>
          </p:cNvCxnSpPr>
          <p:nvPr/>
        </p:nvCxnSpPr>
        <p:spPr>
          <a:xfrm xmlns:a="http://schemas.openxmlformats.org/drawingml/2006/main" flipH="1">
            <a:off x="4733925" y="1990725"/>
            <a:ext cx="2190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4" name="Rectangle: Rounded Corners 23">
            <a:extLst xmlns:a="http://schemas.openxmlformats.org/drawingml/2006/main">
              <a:ext uri="{FF2B5EF4-FFF2-40B4-BE49-F238E27FC236}">
                <a16:creationId xmlns:a16="http://schemas.microsoft.com/office/drawing/2014/main" id="{864F9E72-4118-431C-8312-EA7C188F0E00}"/>
              </a:ext>
            </a:extLst>
          </p:cNvPr>
          <p:cNvSpPr>
            <a:spLocks xmlns:a="http://schemas.openxmlformats.org/drawingml/2006/main" noGrp="1"/>
          </p:cNvSpPr>
          <p:nvPr/>
        </p:nvSpPr>
        <p:spPr>
          <a:xfrm xmlns:a="http://schemas.openxmlformats.org/drawingml/2006/main">
            <a:off x="5000625" y="1714500"/>
            <a:ext cx="1190625"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2E9BFF"/>
            </a:solidFill>
            <a:prstDash val="solid"/>
          </a:ln>
        </p:spPr>
      </p:sp>
      <p:sp>
        <p:nvSpPr>
          <p:cNvPr id="25" name="Rectangle 24">
            <a:extLst xmlns:a="http://schemas.openxmlformats.org/drawingml/2006/main">
              <a:ext uri="{FF2B5EF4-FFF2-40B4-BE49-F238E27FC236}">
                <a16:creationId xmlns:a16="http://schemas.microsoft.com/office/drawing/2014/main" id="{43BFCFE8-075A-4DC0-9F97-C64BBB8A64ED}"/>
              </a:ext>
            </a:extLst>
          </p:cNvPr>
          <p:cNvSpPr>
            <a:spLocks xmlns:a="http://schemas.openxmlformats.org/drawingml/2006/main" noGrp="1"/>
          </p:cNvSpPr>
          <p:nvPr/>
        </p:nvSpPr>
        <p:spPr>
          <a:xfrm xmlns:a="http://schemas.openxmlformats.org/drawingml/2006/main">
            <a:off x="5114925" y="1809750"/>
            <a:ext cx="10763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136"/>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Transform</a:t>
            </a:r>
          </a:p>
        </p:txBody>
      </p:sp>
      <p:sp>
        <p:nvSpPr>
          <p:cNvPr id="26" name="Rectangle 25">
            <a:extLst xmlns:a="http://schemas.openxmlformats.org/drawingml/2006/main">
              <a:ext uri="{FF2B5EF4-FFF2-40B4-BE49-F238E27FC236}">
                <a16:creationId xmlns:a16="http://schemas.microsoft.com/office/drawing/2014/main" id="{9CB7A568-2D39-48B0-92A0-074C2057CA22}"/>
              </a:ext>
            </a:extLst>
          </p:cNvPr>
          <p:cNvSpPr>
            <a:spLocks xmlns:a="http://schemas.openxmlformats.org/drawingml/2006/main" noGrp="1"/>
          </p:cNvSpPr>
          <p:nvPr/>
        </p:nvSpPr>
        <p:spPr>
          <a:xfrm xmlns:a="http://schemas.openxmlformats.org/drawingml/2006/main">
            <a:off x="6477000"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7" name="Rectangle 26">
            <a:extLst xmlns:a="http://schemas.openxmlformats.org/drawingml/2006/main">
              <a:ext uri="{FF2B5EF4-FFF2-40B4-BE49-F238E27FC236}">
                <a16:creationId xmlns:a16="http://schemas.microsoft.com/office/drawing/2014/main" id="{0FE43611-B435-4997-89C1-BB68916546C4}"/>
              </a:ext>
            </a:extLst>
          </p:cNvPr>
          <p:cNvSpPr>
            <a:spLocks xmlns:a="http://schemas.openxmlformats.org/drawingml/2006/main" noGrp="1"/>
          </p:cNvSpPr>
          <p:nvPr/>
        </p:nvSpPr>
        <p:spPr>
          <a:xfrm xmlns:a="http://schemas.openxmlformats.org/drawingml/2006/main">
            <a:off x="6238875"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80" name="Straight Arrow Connector 105"/>
          <p:cNvCxnSpPr>
            <a:stCxn xmlns:a="http://schemas.openxmlformats.org/drawingml/2006/main" id="26" idx="1"/>
            <a:endCxn xmlns:a="http://schemas.openxmlformats.org/drawingml/2006/main" id="27" idx="3"/>
          </p:cNvCxnSpPr>
          <p:nvPr/>
        </p:nvCxnSpPr>
        <p:spPr>
          <a:xfrm xmlns:a="http://schemas.openxmlformats.org/drawingml/2006/main" flipH="1">
            <a:off x="6257925" y="1990725"/>
            <a:ext cx="2190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9" name="Rectangle: Rounded Corners 28">
            <a:extLst xmlns:a="http://schemas.openxmlformats.org/drawingml/2006/main">
              <a:ext uri="{FF2B5EF4-FFF2-40B4-BE49-F238E27FC236}">
                <a16:creationId xmlns:a16="http://schemas.microsoft.com/office/drawing/2014/main" id="{2C04F27F-E4AC-4881-8B51-9734D6726EA5}"/>
              </a:ext>
            </a:extLst>
          </p:cNvPr>
          <p:cNvSpPr>
            <a:spLocks xmlns:a="http://schemas.openxmlformats.org/drawingml/2006/main" noGrp="1"/>
          </p:cNvSpPr>
          <p:nvPr/>
        </p:nvSpPr>
        <p:spPr>
          <a:xfrm xmlns:a="http://schemas.openxmlformats.org/drawingml/2006/main">
            <a:off x="6524625" y="1714500"/>
            <a:ext cx="1190625"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FFB84D"/>
            </a:solidFill>
            <a:prstDash val="solid"/>
          </a:ln>
        </p:spPr>
      </p:sp>
      <p:sp>
        <p:nvSpPr>
          <p:cNvPr id="30" name="Rectangle 29">
            <a:extLst xmlns:a="http://schemas.openxmlformats.org/drawingml/2006/main">
              <a:ext uri="{FF2B5EF4-FFF2-40B4-BE49-F238E27FC236}">
                <a16:creationId xmlns:a16="http://schemas.microsoft.com/office/drawing/2014/main" id="{8ABB1357-A709-4D0F-B520-9468952913E0}"/>
              </a:ext>
            </a:extLst>
          </p:cNvPr>
          <p:cNvSpPr>
            <a:spLocks xmlns:a="http://schemas.openxmlformats.org/drawingml/2006/main" noGrp="1"/>
          </p:cNvSpPr>
          <p:nvPr/>
        </p:nvSpPr>
        <p:spPr>
          <a:xfrm xmlns:a="http://schemas.openxmlformats.org/drawingml/2006/main">
            <a:off x="6638925" y="1809750"/>
            <a:ext cx="962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Quantize</a:t>
            </a:r>
          </a:p>
        </p:txBody>
      </p:sp>
      <p:sp>
        <p:nvSpPr>
          <p:cNvPr id="31" name="Rectangle 30">
            <a:extLst xmlns:a="http://schemas.openxmlformats.org/drawingml/2006/main">
              <a:ext uri="{FF2B5EF4-FFF2-40B4-BE49-F238E27FC236}">
                <a16:creationId xmlns:a16="http://schemas.microsoft.com/office/drawing/2014/main" id="{E87FD6E1-7A13-4E12-8DD3-D968C4BB2A41}"/>
              </a:ext>
            </a:extLst>
          </p:cNvPr>
          <p:cNvSpPr>
            <a:spLocks xmlns:a="http://schemas.openxmlformats.org/drawingml/2006/main" noGrp="1"/>
          </p:cNvSpPr>
          <p:nvPr/>
        </p:nvSpPr>
        <p:spPr>
          <a:xfrm xmlns:a="http://schemas.openxmlformats.org/drawingml/2006/main">
            <a:off x="8001000"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Rectangle 31">
            <a:extLst xmlns:a="http://schemas.openxmlformats.org/drawingml/2006/main">
              <a:ext uri="{FF2B5EF4-FFF2-40B4-BE49-F238E27FC236}">
                <a16:creationId xmlns:a16="http://schemas.microsoft.com/office/drawing/2014/main" id="{86822733-B07D-4790-A035-A4636DA28411}"/>
              </a:ext>
            </a:extLst>
          </p:cNvPr>
          <p:cNvSpPr>
            <a:spLocks xmlns:a="http://schemas.openxmlformats.org/drawingml/2006/main" noGrp="1"/>
          </p:cNvSpPr>
          <p:nvPr/>
        </p:nvSpPr>
        <p:spPr>
          <a:xfrm xmlns:a="http://schemas.openxmlformats.org/drawingml/2006/main">
            <a:off x="7762875"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85" name="Straight Arrow Connector 110"/>
          <p:cNvCxnSpPr>
            <a:stCxn xmlns:a="http://schemas.openxmlformats.org/drawingml/2006/main" id="31" idx="1"/>
            <a:endCxn xmlns:a="http://schemas.openxmlformats.org/drawingml/2006/main" id="32" idx="3"/>
          </p:cNvCxnSpPr>
          <p:nvPr/>
        </p:nvCxnSpPr>
        <p:spPr>
          <a:xfrm xmlns:a="http://schemas.openxmlformats.org/drawingml/2006/main" flipH="1">
            <a:off x="7781925" y="1990725"/>
            <a:ext cx="2190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34" name="Rectangle: Rounded Corners 33">
            <a:extLst xmlns:a="http://schemas.openxmlformats.org/drawingml/2006/main">
              <a:ext uri="{FF2B5EF4-FFF2-40B4-BE49-F238E27FC236}">
                <a16:creationId xmlns:a16="http://schemas.microsoft.com/office/drawing/2014/main" id="{35607915-F30C-48FE-9014-F6FF291FE74F}"/>
              </a:ext>
            </a:extLst>
          </p:cNvPr>
          <p:cNvSpPr>
            <a:spLocks xmlns:a="http://schemas.openxmlformats.org/drawingml/2006/main" noGrp="1"/>
          </p:cNvSpPr>
          <p:nvPr/>
        </p:nvSpPr>
        <p:spPr>
          <a:xfrm xmlns:a="http://schemas.openxmlformats.org/drawingml/2006/main">
            <a:off x="8048625" y="1714500"/>
            <a:ext cx="1190625"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FF6577"/>
            </a:solidFill>
            <a:prstDash val="solid"/>
          </a:ln>
        </p:spPr>
      </p:sp>
      <p:sp>
        <p:nvSpPr>
          <p:cNvPr id="35" name="Rectangle 34">
            <a:extLst xmlns:a="http://schemas.openxmlformats.org/drawingml/2006/main">
              <a:ext uri="{FF2B5EF4-FFF2-40B4-BE49-F238E27FC236}">
                <a16:creationId xmlns:a16="http://schemas.microsoft.com/office/drawing/2014/main" id="{E70237C0-D5EF-418E-96A2-281BD4A38549}"/>
              </a:ext>
            </a:extLst>
          </p:cNvPr>
          <p:cNvSpPr>
            <a:spLocks xmlns:a="http://schemas.openxmlformats.org/drawingml/2006/main" noGrp="1"/>
          </p:cNvSpPr>
          <p:nvPr/>
        </p:nvSpPr>
        <p:spPr>
          <a:xfrm xmlns:a="http://schemas.openxmlformats.org/drawingml/2006/main">
            <a:off x="8162925" y="1809750"/>
            <a:ext cx="962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CABAC</a:t>
            </a:r>
          </a:p>
        </p:txBody>
      </p:sp>
      <p:sp>
        <p:nvSpPr>
          <p:cNvPr id="36" name="Rectangle 35">
            <a:extLst xmlns:a="http://schemas.openxmlformats.org/drawingml/2006/main">
              <a:ext uri="{FF2B5EF4-FFF2-40B4-BE49-F238E27FC236}">
                <a16:creationId xmlns:a16="http://schemas.microsoft.com/office/drawing/2014/main" id="{42080FF2-65E6-468B-A75A-D4DCC4FA16D7}"/>
              </a:ext>
            </a:extLst>
          </p:cNvPr>
          <p:cNvSpPr>
            <a:spLocks xmlns:a="http://schemas.openxmlformats.org/drawingml/2006/main" noGrp="1"/>
          </p:cNvSpPr>
          <p:nvPr/>
        </p:nvSpPr>
        <p:spPr>
          <a:xfrm xmlns:a="http://schemas.openxmlformats.org/drawingml/2006/main">
            <a:off x="9906000"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7" name="Rectangle 36">
            <a:extLst xmlns:a="http://schemas.openxmlformats.org/drawingml/2006/main">
              <a:ext uri="{FF2B5EF4-FFF2-40B4-BE49-F238E27FC236}">
                <a16:creationId xmlns:a16="http://schemas.microsoft.com/office/drawing/2014/main" id="{0B3B997B-54B5-47C8-8FCB-235760AB44BA}"/>
              </a:ext>
            </a:extLst>
          </p:cNvPr>
          <p:cNvSpPr>
            <a:spLocks xmlns:a="http://schemas.openxmlformats.org/drawingml/2006/main" noGrp="1"/>
          </p:cNvSpPr>
          <p:nvPr/>
        </p:nvSpPr>
        <p:spPr>
          <a:xfrm xmlns:a="http://schemas.openxmlformats.org/drawingml/2006/main">
            <a:off x="9286875" y="1981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90" name="Straight Arrow Connector 115"/>
          <p:cNvCxnSpPr>
            <a:stCxn xmlns:a="http://schemas.openxmlformats.org/drawingml/2006/main" id="36" idx="1"/>
            <a:endCxn xmlns:a="http://schemas.openxmlformats.org/drawingml/2006/main" id="37" idx="3"/>
          </p:cNvCxnSpPr>
          <p:nvPr/>
        </p:nvCxnSpPr>
        <p:spPr>
          <a:xfrm xmlns:a="http://schemas.openxmlformats.org/drawingml/2006/main" flipH="1">
            <a:off x="9305925" y="1990725"/>
            <a:ext cx="6000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39" name="Rectangle: Rounded Corners 38">
            <a:extLst xmlns:a="http://schemas.openxmlformats.org/drawingml/2006/main">
              <a:ext uri="{FF2B5EF4-FFF2-40B4-BE49-F238E27FC236}">
                <a16:creationId xmlns:a16="http://schemas.microsoft.com/office/drawing/2014/main" id="{5AE95EE7-A713-4FFD-8B6B-F8AA24D99CAE}"/>
              </a:ext>
            </a:extLst>
          </p:cNvPr>
          <p:cNvSpPr>
            <a:spLocks xmlns:a="http://schemas.openxmlformats.org/drawingml/2006/main" noGrp="1"/>
          </p:cNvSpPr>
          <p:nvPr/>
        </p:nvSpPr>
        <p:spPr>
          <a:xfrm xmlns:a="http://schemas.openxmlformats.org/drawingml/2006/main">
            <a:off x="9953625" y="1714500"/>
            <a:ext cx="1619250"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22D3EE"/>
            </a:solidFill>
            <a:prstDash val="solid"/>
          </a:ln>
        </p:spPr>
      </p:sp>
      <p:sp>
        <p:nvSpPr>
          <p:cNvPr id="40" name="Rectangle 39">
            <a:extLst xmlns:a="http://schemas.openxmlformats.org/drawingml/2006/main">
              <a:ext uri="{FF2B5EF4-FFF2-40B4-BE49-F238E27FC236}">
                <a16:creationId xmlns:a16="http://schemas.microsoft.com/office/drawing/2014/main" id="{C453FCF4-7EC1-4804-B1A4-6CE6F20EF8D2}"/>
              </a:ext>
            </a:extLst>
          </p:cNvPr>
          <p:cNvSpPr>
            <a:spLocks xmlns:a="http://schemas.openxmlformats.org/drawingml/2006/main" noGrp="1"/>
          </p:cNvSpPr>
          <p:nvPr/>
        </p:nvSpPr>
        <p:spPr>
          <a:xfrm xmlns:a="http://schemas.openxmlformats.org/drawingml/2006/main">
            <a:off x="10067925" y="1809750"/>
            <a:ext cx="1390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Bitstream</a:t>
            </a:r>
          </a:p>
        </p:txBody>
      </p:sp>
      <p:sp>
        <p:nvSpPr>
          <p:cNvPr id="41" name="Rectangle 40">
            <a:extLst xmlns:a="http://schemas.openxmlformats.org/drawingml/2006/main">
              <a:ext uri="{FF2B5EF4-FFF2-40B4-BE49-F238E27FC236}">
                <a16:creationId xmlns:a16="http://schemas.microsoft.com/office/drawing/2014/main" id="{E502BB14-B3D5-4739-9C3C-08293374C422}"/>
              </a:ext>
            </a:extLst>
          </p:cNvPr>
          <p:cNvSpPr>
            <a:spLocks xmlns:a="http://schemas.openxmlformats.org/drawingml/2006/main" noGrp="1"/>
          </p:cNvSpPr>
          <p:nvPr/>
        </p:nvSpPr>
        <p:spPr>
          <a:xfrm xmlns:a="http://schemas.openxmlformats.org/drawingml/2006/main">
            <a:off x="7858125" y="2362200"/>
            <a:ext cx="157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75" b="0">
                <a:solidFill>
                  <a:srgbClr val="AFC0D0"/>
                </a:solidFill>
                <a:latin typeface="Arial"/>
                <a:ea typeface="Arial"/>
                <a:cs typeface="Arial"/>
              </a:defRPr>
            </a:pPr>
            <a:r>
              <a:rPr sz="975" b="0">
                <a:solidFill>
                  <a:srgbClr val="AFC0D0"/>
                </a:solidFill>
                <a:latin typeface="Arial"/>
                <a:ea typeface="Arial"/>
                <a:cs typeface="Arial"/>
              </a:rPr>
              <a:t>Context-Adaptive Binary</a:t>
            </a:r>
          </a:p>
          <a:p xmlns:a="http://schemas.openxmlformats.org/drawingml/2006/main">
            <a:pPr>
              <a:buNone/>
              <a:defRPr sz="975" b="0">
                <a:solidFill>
                  <a:srgbClr val="AFC0D0"/>
                </a:solidFill>
                <a:latin typeface="Arial"/>
                <a:ea typeface="Arial"/>
                <a:cs typeface="Arial"/>
              </a:defRPr>
            </a:pPr>
            <a:r>
              <a:rPr sz="975" b="0">
                <a:solidFill>
                  <a:srgbClr val="AFC0D0"/>
                </a:solidFill>
                <a:latin typeface="Arial"/>
                <a:ea typeface="Arial"/>
                <a:cs typeface="Arial"/>
              </a:rPr>
              <a:t>Arithmetic Coding</a:t>
            </a:r>
          </a:p>
        </p:txBody>
      </p:sp>
      <p:sp>
        <p:nvSpPr>
          <p:cNvPr id="42" name="Rectangle 41">
            <a:extLst xmlns:a="http://schemas.openxmlformats.org/drawingml/2006/main">
              <a:ext uri="{FF2B5EF4-FFF2-40B4-BE49-F238E27FC236}">
                <a16:creationId xmlns:a16="http://schemas.microsoft.com/office/drawing/2014/main" id="{14F20CE3-8E99-4ED4-82F6-9A8A2A7AB4DB}"/>
              </a:ext>
            </a:extLst>
          </p:cNvPr>
          <p:cNvSpPr>
            <a:spLocks xmlns:a="http://schemas.openxmlformats.org/drawingml/2006/main" noGrp="1"/>
          </p:cNvSpPr>
          <p:nvPr/>
        </p:nvSpPr>
        <p:spPr>
          <a:xfrm xmlns:a="http://schemas.openxmlformats.org/drawingml/2006/main">
            <a:off x="0" y="46672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500" lnSpcReduction="10000"/>
          </a:bodyPr>
          <a:lstStyle xmlns:a="http://schemas.openxmlformats.org/drawingml/2006/main"/>
          <a:p xmlns:a="http://schemas.openxmlformats.org/drawingml/2006/main">
            <a:pPr>
              <a:buNone/>
              <a:defRPr sz="1125" b="1">
                <a:solidFill>
                  <a:srgbClr val="47E6A4"/>
                </a:solidFill>
                <a:latin typeface="Arial"/>
                <a:ea typeface="Arial"/>
                <a:cs typeface="Arial"/>
              </a:defRPr>
            </a:pPr>
            <a:r>
              <a:rPr sz="1125" b="1">
                <a:solidFill>
                  <a:srgbClr val="47E6A4"/>
                </a:solidFill>
                <a:latin typeface="Arial"/>
                <a:ea typeface="Arial"/>
                <a:cs typeface="Arial"/>
              </a:rPr>
              <a:t>LOCAL RECONSTRUCTION</a:t>
            </a:r>
          </a:p>
        </p:txBody>
      </p:sp>
      <p:sp>
        <p:nvSpPr>
          <p:cNvPr id="43" name="Rectangle: Rounded Corners 42">
            <a:extLst xmlns:a="http://schemas.openxmlformats.org/drawingml/2006/main">
              <a:ext uri="{FF2B5EF4-FFF2-40B4-BE49-F238E27FC236}">
                <a16:creationId xmlns:a16="http://schemas.microsoft.com/office/drawing/2014/main" id="{638275FB-04F0-46D4-B2EA-7259832304CA}"/>
              </a:ext>
            </a:extLst>
          </p:cNvPr>
          <p:cNvSpPr>
            <a:spLocks xmlns:a="http://schemas.openxmlformats.org/drawingml/2006/main" noGrp="1"/>
          </p:cNvSpPr>
          <p:nvPr/>
        </p:nvSpPr>
        <p:spPr>
          <a:xfrm xmlns:a="http://schemas.openxmlformats.org/drawingml/2006/main">
            <a:off x="190500" y="3943350"/>
            <a:ext cx="1333500" cy="647700"/>
          </a:xfrm>
          <a:prstGeom xmlns:a="http://schemas.openxmlformats.org/drawingml/2006/main" prst="roundRect">
            <a:avLst>
              <a:gd name="adj" fmla="val 17647"/>
            </a:avLst>
          </a:prstGeom>
          <a:solidFill xmlns:a="http://schemas.openxmlformats.org/drawingml/2006/main">
            <a:srgbClr val="0B2033"/>
          </a:solidFill>
          <a:ln xmlns:a="http://schemas.openxmlformats.org/drawingml/2006/main" w="19050">
            <a:solidFill>
              <a:srgbClr val="47E6A4"/>
            </a:solidFill>
            <a:prstDash val="solid"/>
          </a:ln>
        </p:spPr>
      </p:sp>
      <p:sp>
        <p:nvSpPr>
          <p:cNvPr id="44" name="Rectangle 43">
            <a:extLst xmlns:a="http://schemas.openxmlformats.org/drawingml/2006/main">
              <a:ext uri="{FF2B5EF4-FFF2-40B4-BE49-F238E27FC236}">
                <a16:creationId xmlns:a16="http://schemas.microsoft.com/office/drawing/2014/main" id="{E6DD42C4-9D07-4F89-8C8A-CB6CFEA79EED}"/>
              </a:ext>
            </a:extLst>
          </p:cNvPr>
          <p:cNvSpPr>
            <a:spLocks xmlns:a="http://schemas.openxmlformats.org/drawingml/2006/main" noGrp="1"/>
          </p:cNvSpPr>
          <p:nvPr/>
        </p:nvSpPr>
        <p:spPr>
          <a:xfrm xmlns:a="http://schemas.openxmlformats.org/drawingml/2006/main">
            <a:off x="304800" y="4038600"/>
            <a:ext cx="110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Reference</a:t>
            </a:r>
          </a:p>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picture</a:t>
            </a:r>
          </a:p>
        </p:txBody>
      </p:sp>
      <p:sp>
        <p:nvSpPr>
          <p:cNvPr id="45" name="Rectangle: Rounded Corners 44">
            <a:extLst xmlns:a="http://schemas.openxmlformats.org/drawingml/2006/main">
              <a:ext uri="{FF2B5EF4-FFF2-40B4-BE49-F238E27FC236}">
                <a16:creationId xmlns:a16="http://schemas.microsoft.com/office/drawing/2014/main" id="{4169D298-ABE6-4C87-A51A-FEAA89968209}"/>
              </a:ext>
            </a:extLst>
          </p:cNvPr>
          <p:cNvSpPr>
            <a:spLocks xmlns:a="http://schemas.openxmlformats.org/drawingml/2006/main" noGrp="1"/>
          </p:cNvSpPr>
          <p:nvPr/>
        </p:nvSpPr>
        <p:spPr>
          <a:xfrm xmlns:a="http://schemas.openxmlformats.org/drawingml/2006/main">
            <a:off x="1762125" y="3943350"/>
            <a:ext cx="1714500" cy="647700"/>
          </a:xfrm>
          <a:prstGeom xmlns:a="http://schemas.openxmlformats.org/drawingml/2006/main" prst="roundRect">
            <a:avLst>
              <a:gd name="adj" fmla="val 17647"/>
            </a:avLst>
          </a:prstGeom>
          <a:solidFill xmlns:a="http://schemas.openxmlformats.org/drawingml/2006/main">
            <a:srgbClr val="0B2033"/>
          </a:solidFill>
          <a:ln xmlns:a="http://schemas.openxmlformats.org/drawingml/2006/main" w="19050">
            <a:solidFill>
              <a:srgbClr val="47E6A4"/>
            </a:solidFill>
            <a:prstDash val="solid"/>
          </a:ln>
        </p:spPr>
      </p:sp>
      <p:sp>
        <p:nvSpPr>
          <p:cNvPr id="46" name="Rectangle 45">
            <a:extLst xmlns:a="http://schemas.openxmlformats.org/drawingml/2006/main">
              <a:ext uri="{FF2B5EF4-FFF2-40B4-BE49-F238E27FC236}">
                <a16:creationId xmlns:a16="http://schemas.microsoft.com/office/drawing/2014/main" id="{56BDAD16-1C6B-434F-BD6B-DACDB32CFC9E}"/>
              </a:ext>
            </a:extLst>
          </p:cNvPr>
          <p:cNvSpPr>
            <a:spLocks xmlns:a="http://schemas.openxmlformats.org/drawingml/2006/main" noGrp="1"/>
          </p:cNvSpPr>
          <p:nvPr/>
        </p:nvSpPr>
        <p:spPr>
          <a:xfrm xmlns:a="http://schemas.openxmlformats.org/drawingml/2006/main">
            <a:off x="1876425" y="40386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061"/>
          </a:bodyPr>
          <a:lstStyle xmlns:a="http://schemas.openxmlformats.org/drawingml/2006/main"/>
          <a:p xmlns:a="http://schemas.openxmlformats.org/drawingml/2006/main">
            <a:pPr>
              <a:buNone/>
              <a:defRPr sz="1050" b="1">
                <a:solidFill>
                  <a:srgbClr val="F4F8FC"/>
                </a:solidFill>
                <a:latin typeface="Arial"/>
                <a:ea typeface="Arial"/>
                <a:cs typeface="Arial"/>
              </a:defRPr>
            </a:pPr>
            <a:r>
              <a:rPr sz="1050" b="1">
                <a:solidFill>
                  <a:srgbClr val="F4F8FC"/>
                </a:solidFill>
                <a:latin typeface="Arial"/>
                <a:ea typeface="Arial"/>
                <a:cs typeface="Arial"/>
              </a:rPr>
              <a:t>Deblocking + Sample</a:t>
            </a:r>
          </a:p>
          <a:p xmlns:a="http://schemas.openxmlformats.org/drawingml/2006/main">
            <a:pPr>
              <a:buNone/>
              <a:defRPr sz="1050" b="1">
                <a:solidFill>
                  <a:srgbClr val="F4F8FC"/>
                </a:solidFill>
                <a:latin typeface="Arial"/>
                <a:ea typeface="Arial"/>
                <a:cs typeface="Arial"/>
              </a:defRPr>
            </a:pPr>
            <a:r>
              <a:rPr sz="1050" b="1">
                <a:solidFill>
                  <a:srgbClr val="F4F8FC"/>
                </a:solidFill>
                <a:latin typeface="Arial"/>
                <a:ea typeface="Arial"/>
                <a:cs typeface="Arial"/>
              </a:rPr>
              <a:t>Adaptive Offset (SAO)</a:t>
            </a:r>
          </a:p>
        </p:txBody>
      </p:sp>
      <p:sp>
        <p:nvSpPr>
          <p:cNvPr id="47" name="Rectangle 46">
            <a:extLst xmlns:a="http://schemas.openxmlformats.org/drawingml/2006/main">
              <a:ext uri="{FF2B5EF4-FFF2-40B4-BE49-F238E27FC236}">
                <a16:creationId xmlns:a16="http://schemas.microsoft.com/office/drawing/2014/main" id="{99DCC0D0-E383-45A2-A903-687032157C5E}"/>
              </a:ext>
            </a:extLst>
          </p:cNvPr>
          <p:cNvSpPr>
            <a:spLocks xmlns:a="http://schemas.openxmlformats.org/drawingml/2006/main" noGrp="1"/>
          </p:cNvSpPr>
          <p:nvPr/>
        </p:nvSpPr>
        <p:spPr>
          <a:xfrm xmlns:a="http://schemas.openxmlformats.org/drawingml/2006/main">
            <a:off x="1533525"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8" name="Rectangle 47">
            <a:extLst xmlns:a="http://schemas.openxmlformats.org/drawingml/2006/main">
              <a:ext uri="{FF2B5EF4-FFF2-40B4-BE49-F238E27FC236}">
                <a16:creationId xmlns:a16="http://schemas.microsoft.com/office/drawing/2014/main" id="{E538F2FF-7A33-4C80-94C3-C623236C675E}"/>
              </a:ext>
            </a:extLst>
          </p:cNvPr>
          <p:cNvSpPr>
            <a:spLocks xmlns:a="http://schemas.openxmlformats.org/drawingml/2006/main" noGrp="1"/>
          </p:cNvSpPr>
          <p:nvPr/>
        </p:nvSpPr>
        <p:spPr>
          <a:xfrm xmlns:a="http://schemas.openxmlformats.org/drawingml/2006/main">
            <a:off x="1724025"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01" name="Straight Arrow Connector 126"/>
          <p:cNvCxnSpPr>
            <a:stCxn xmlns:a="http://schemas.openxmlformats.org/drawingml/2006/main" id="47" idx="3"/>
            <a:endCxn xmlns:a="http://schemas.openxmlformats.org/drawingml/2006/main" id="48" idx="1"/>
          </p:cNvCxnSpPr>
          <p:nvPr/>
        </p:nvCxnSpPr>
        <p:spPr>
          <a:xfrm xmlns:a="http://schemas.openxmlformats.org/drawingml/2006/main">
            <a:off x="1552575" y="4276725"/>
            <a:ext cx="171450" cy="0"/>
          </a:xfrm>
          <a:prstGeom xmlns:a="http://schemas.openxmlformats.org/drawingml/2006/main" prst="straightConnector1">
            <a:avLst/>
          </a:prstGeom>
          <a:ln xmlns:a="http://schemas.openxmlformats.org/drawingml/2006/main" w="19050" cap="rnd">
            <a:solidFill>
              <a:srgbClr val="47E6A4"/>
            </a:solidFill>
            <a:prstDash val="solid"/>
            <a:headEnd type="triangle" w="sm" len="sm"/>
          </a:ln>
        </p:spPr>
      </p:cxnSp>
      <p:sp>
        <p:nvSpPr>
          <p:cNvPr id="50" name="Rectangle: Rounded Corners 49">
            <a:extLst xmlns:a="http://schemas.openxmlformats.org/drawingml/2006/main">
              <a:ext uri="{FF2B5EF4-FFF2-40B4-BE49-F238E27FC236}">
                <a16:creationId xmlns:a16="http://schemas.microsoft.com/office/drawing/2014/main" id="{9CF30A6B-5577-417E-B747-60FC40B7566C}"/>
              </a:ext>
            </a:extLst>
          </p:cNvPr>
          <p:cNvSpPr>
            <a:spLocks xmlns:a="http://schemas.openxmlformats.org/drawingml/2006/main" noGrp="1"/>
          </p:cNvSpPr>
          <p:nvPr/>
        </p:nvSpPr>
        <p:spPr>
          <a:xfrm xmlns:a="http://schemas.openxmlformats.org/drawingml/2006/main">
            <a:off x="3714750" y="3943350"/>
            <a:ext cx="1285875" cy="647700"/>
          </a:xfrm>
          <a:prstGeom xmlns:a="http://schemas.openxmlformats.org/drawingml/2006/main" prst="roundRect">
            <a:avLst>
              <a:gd name="adj" fmla="val 17647"/>
            </a:avLst>
          </a:prstGeom>
          <a:solidFill xmlns:a="http://schemas.openxmlformats.org/drawingml/2006/main">
            <a:srgbClr val="0B2033"/>
          </a:solidFill>
          <a:ln xmlns:a="http://schemas.openxmlformats.org/drawingml/2006/main" w="19050">
            <a:solidFill>
              <a:srgbClr val="47E6A4"/>
            </a:solidFill>
            <a:prstDash val="solid"/>
          </a:ln>
        </p:spPr>
      </p:sp>
      <p:sp>
        <p:nvSpPr>
          <p:cNvPr id="51" name="Rectangle 50">
            <a:extLst xmlns:a="http://schemas.openxmlformats.org/drawingml/2006/main">
              <a:ext uri="{FF2B5EF4-FFF2-40B4-BE49-F238E27FC236}">
                <a16:creationId xmlns:a16="http://schemas.microsoft.com/office/drawing/2014/main" id="{C88D5238-3656-4E22-BD03-1AEAA051823D}"/>
              </a:ext>
            </a:extLst>
          </p:cNvPr>
          <p:cNvSpPr>
            <a:spLocks xmlns:a="http://schemas.openxmlformats.org/drawingml/2006/main" noGrp="1"/>
          </p:cNvSpPr>
          <p:nvPr/>
        </p:nvSpPr>
        <p:spPr>
          <a:xfrm xmlns:a="http://schemas.openxmlformats.org/drawingml/2006/main">
            <a:off x="3829050" y="4038600"/>
            <a:ext cx="1057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Add</a:t>
            </a:r>
          </a:p>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prediction</a:t>
            </a:r>
          </a:p>
        </p:txBody>
      </p:sp>
      <p:sp>
        <p:nvSpPr>
          <p:cNvPr id="52" name="Rectangle 51">
            <a:extLst xmlns:a="http://schemas.openxmlformats.org/drawingml/2006/main">
              <a:ext uri="{FF2B5EF4-FFF2-40B4-BE49-F238E27FC236}">
                <a16:creationId xmlns:a16="http://schemas.microsoft.com/office/drawing/2014/main" id="{CFC1ACCD-3C09-43B1-81F5-7BF044E79545}"/>
              </a:ext>
            </a:extLst>
          </p:cNvPr>
          <p:cNvSpPr>
            <a:spLocks xmlns:a="http://schemas.openxmlformats.org/drawingml/2006/main" noGrp="1"/>
          </p:cNvSpPr>
          <p:nvPr/>
        </p:nvSpPr>
        <p:spPr>
          <a:xfrm xmlns:a="http://schemas.openxmlformats.org/drawingml/2006/main">
            <a:off x="3486150"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53" name="Rectangle 52">
            <a:extLst xmlns:a="http://schemas.openxmlformats.org/drawingml/2006/main">
              <a:ext uri="{FF2B5EF4-FFF2-40B4-BE49-F238E27FC236}">
                <a16:creationId xmlns:a16="http://schemas.microsoft.com/office/drawing/2014/main" id="{37779A49-5CB1-474F-A995-6C3DF7CDCF16}"/>
              </a:ext>
            </a:extLst>
          </p:cNvPr>
          <p:cNvSpPr>
            <a:spLocks xmlns:a="http://schemas.openxmlformats.org/drawingml/2006/main" noGrp="1"/>
          </p:cNvSpPr>
          <p:nvPr/>
        </p:nvSpPr>
        <p:spPr>
          <a:xfrm xmlns:a="http://schemas.openxmlformats.org/drawingml/2006/main">
            <a:off x="3676650"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06" name="Straight Arrow Connector 131"/>
          <p:cNvCxnSpPr>
            <a:stCxn xmlns:a="http://schemas.openxmlformats.org/drawingml/2006/main" id="52" idx="3"/>
            <a:endCxn xmlns:a="http://schemas.openxmlformats.org/drawingml/2006/main" id="53" idx="1"/>
          </p:cNvCxnSpPr>
          <p:nvPr/>
        </p:nvCxnSpPr>
        <p:spPr>
          <a:xfrm xmlns:a="http://schemas.openxmlformats.org/drawingml/2006/main">
            <a:off x="3505200" y="4276725"/>
            <a:ext cx="171450" cy="0"/>
          </a:xfrm>
          <a:prstGeom xmlns:a="http://schemas.openxmlformats.org/drawingml/2006/main" prst="straightConnector1">
            <a:avLst/>
          </a:prstGeom>
          <a:ln xmlns:a="http://schemas.openxmlformats.org/drawingml/2006/main" w="19050" cap="rnd">
            <a:solidFill>
              <a:srgbClr val="47E6A4"/>
            </a:solidFill>
            <a:prstDash val="solid"/>
            <a:headEnd type="triangle" w="sm" len="sm"/>
          </a:ln>
        </p:spPr>
      </p:cxnSp>
      <p:sp>
        <p:nvSpPr>
          <p:cNvPr id="55" name="Rectangle: Rounded Corners 54">
            <a:extLst xmlns:a="http://schemas.openxmlformats.org/drawingml/2006/main">
              <a:ext uri="{FF2B5EF4-FFF2-40B4-BE49-F238E27FC236}">
                <a16:creationId xmlns:a16="http://schemas.microsoft.com/office/drawing/2014/main" id="{2FC5961B-1772-4486-912D-E17033A78485}"/>
              </a:ext>
            </a:extLst>
          </p:cNvPr>
          <p:cNvSpPr>
            <a:spLocks xmlns:a="http://schemas.openxmlformats.org/drawingml/2006/main" noGrp="1"/>
          </p:cNvSpPr>
          <p:nvPr/>
        </p:nvSpPr>
        <p:spPr>
          <a:xfrm xmlns:a="http://schemas.openxmlformats.org/drawingml/2006/main">
            <a:off x="5238750" y="3943350"/>
            <a:ext cx="1285875" cy="647700"/>
          </a:xfrm>
          <a:prstGeom xmlns:a="http://schemas.openxmlformats.org/drawingml/2006/main" prst="roundRect">
            <a:avLst>
              <a:gd name="adj" fmla="val 17647"/>
            </a:avLst>
          </a:prstGeom>
          <a:solidFill xmlns:a="http://schemas.openxmlformats.org/drawingml/2006/main">
            <a:srgbClr val="0B2033"/>
          </a:solidFill>
          <a:ln xmlns:a="http://schemas.openxmlformats.org/drawingml/2006/main" w="19050">
            <a:solidFill>
              <a:srgbClr val="47E6A4"/>
            </a:solidFill>
            <a:prstDash val="solid"/>
          </a:ln>
        </p:spPr>
      </p:sp>
      <p:sp>
        <p:nvSpPr>
          <p:cNvPr id="56" name="Rectangle 55">
            <a:extLst xmlns:a="http://schemas.openxmlformats.org/drawingml/2006/main">
              <a:ext uri="{FF2B5EF4-FFF2-40B4-BE49-F238E27FC236}">
                <a16:creationId xmlns:a16="http://schemas.microsoft.com/office/drawing/2014/main" id="{8943B39C-8455-45A8-9D54-5F2D6FDEEC71}"/>
              </a:ext>
            </a:extLst>
          </p:cNvPr>
          <p:cNvSpPr>
            <a:spLocks xmlns:a="http://schemas.openxmlformats.org/drawingml/2006/main" noGrp="1"/>
          </p:cNvSpPr>
          <p:nvPr/>
        </p:nvSpPr>
        <p:spPr>
          <a:xfrm xmlns:a="http://schemas.openxmlformats.org/drawingml/2006/main">
            <a:off x="5353050" y="4038600"/>
            <a:ext cx="1057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Inverse</a:t>
            </a:r>
          </a:p>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transform</a:t>
            </a:r>
          </a:p>
        </p:txBody>
      </p:sp>
      <p:sp>
        <p:nvSpPr>
          <p:cNvPr id="57" name="Rectangle 56">
            <a:extLst xmlns:a="http://schemas.openxmlformats.org/drawingml/2006/main">
              <a:ext uri="{FF2B5EF4-FFF2-40B4-BE49-F238E27FC236}">
                <a16:creationId xmlns:a16="http://schemas.microsoft.com/office/drawing/2014/main" id="{4F7EAE3C-0475-42C0-8406-5F35EB3BE8F2}"/>
              </a:ext>
            </a:extLst>
          </p:cNvPr>
          <p:cNvSpPr>
            <a:spLocks xmlns:a="http://schemas.openxmlformats.org/drawingml/2006/main" noGrp="1"/>
          </p:cNvSpPr>
          <p:nvPr/>
        </p:nvSpPr>
        <p:spPr>
          <a:xfrm xmlns:a="http://schemas.openxmlformats.org/drawingml/2006/main">
            <a:off x="5010150"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58" name="Rectangle 57">
            <a:extLst xmlns:a="http://schemas.openxmlformats.org/drawingml/2006/main">
              <a:ext uri="{FF2B5EF4-FFF2-40B4-BE49-F238E27FC236}">
                <a16:creationId xmlns:a16="http://schemas.microsoft.com/office/drawing/2014/main" id="{AF133778-177C-4776-917D-3BD2628042E1}"/>
              </a:ext>
            </a:extLst>
          </p:cNvPr>
          <p:cNvSpPr>
            <a:spLocks xmlns:a="http://schemas.openxmlformats.org/drawingml/2006/main" noGrp="1"/>
          </p:cNvSpPr>
          <p:nvPr/>
        </p:nvSpPr>
        <p:spPr>
          <a:xfrm xmlns:a="http://schemas.openxmlformats.org/drawingml/2006/main">
            <a:off x="5200650"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11" name="Straight Arrow Connector 136"/>
          <p:cNvCxnSpPr>
            <a:stCxn xmlns:a="http://schemas.openxmlformats.org/drawingml/2006/main" id="57" idx="3"/>
            <a:endCxn xmlns:a="http://schemas.openxmlformats.org/drawingml/2006/main" id="58" idx="1"/>
          </p:cNvCxnSpPr>
          <p:nvPr/>
        </p:nvCxnSpPr>
        <p:spPr>
          <a:xfrm xmlns:a="http://schemas.openxmlformats.org/drawingml/2006/main">
            <a:off x="5029200" y="4276725"/>
            <a:ext cx="171450" cy="0"/>
          </a:xfrm>
          <a:prstGeom xmlns:a="http://schemas.openxmlformats.org/drawingml/2006/main" prst="straightConnector1">
            <a:avLst/>
          </a:prstGeom>
          <a:ln xmlns:a="http://schemas.openxmlformats.org/drawingml/2006/main" w="19050" cap="rnd">
            <a:solidFill>
              <a:srgbClr val="47E6A4"/>
            </a:solidFill>
            <a:prstDash val="solid"/>
            <a:headEnd type="triangle" w="sm" len="sm"/>
          </a:ln>
        </p:spPr>
      </p:cxnSp>
      <p:sp>
        <p:nvSpPr>
          <p:cNvPr id="60" name="Rectangle: Rounded Corners 59">
            <a:extLst xmlns:a="http://schemas.openxmlformats.org/drawingml/2006/main">
              <a:ext uri="{FF2B5EF4-FFF2-40B4-BE49-F238E27FC236}">
                <a16:creationId xmlns:a16="http://schemas.microsoft.com/office/drawing/2014/main" id="{A17C32D6-DDFA-4669-8048-AAB9BE60FB28}"/>
              </a:ext>
            </a:extLst>
          </p:cNvPr>
          <p:cNvSpPr>
            <a:spLocks xmlns:a="http://schemas.openxmlformats.org/drawingml/2006/main" noGrp="1"/>
          </p:cNvSpPr>
          <p:nvPr/>
        </p:nvSpPr>
        <p:spPr>
          <a:xfrm xmlns:a="http://schemas.openxmlformats.org/drawingml/2006/main">
            <a:off x="6762750" y="3943350"/>
            <a:ext cx="1428750" cy="647700"/>
          </a:xfrm>
          <a:prstGeom xmlns:a="http://schemas.openxmlformats.org/drawingml/2006/main" prst="roundRect">
            <a:avLst>
              <a:gd name="adj" fmla="val 17647"/>
            </a:avLst>
          </a:prstGeom>
          <a:solidFill xmlns:a="http://schemas.openxmlformats.org/drawingml/2006/main">
            <a:srgbClr val="0B2033"/>
          </a:solidFill>
          <a:ln xmlns:a="http://schemas.openxmlformats.org/drawingml/2006/main" w="19050">
            <a:solidFill>
              <a:srgbClr val="47E6A4"/>
            </a:solidFill>
            <a:prstDash val="solid"/>
          </a:ln>
        </p:spPr>
      </p:sp>
      <p:sp>
        <p:nvSpPr>
          <p:cNvPr id="61" name="Rectangle 60">
            <a:extLst xmlns:a="http://schemas.openxmlformats.org/drawingml/2006/main">
              <a:ext uri="{FF2B5EF4-FFF2-40B4-BE49-F238E27FC236}">
                <a16:creationId xmlns:a16="http://schemas.microsoft.com/office/drawing/2014/main" id="{C80D7193-9255-4DD9-88FF-B2F255253D4B}"/>
              </a:ext>
            </a:extLst>
          </p:cNvPr>
          <p:cNvSpPr>
            <a:spLocks xmlns:a="http://schemas.openxmlformats.org/drawingml/2006/main" noGrp="1"/>
          </p:cNvSpPr>
          <p:nvPr/>
        </p:nvSpPr>
        <p:spPr>
          <a:xfrm xmlns:a="http://schemas.openxmlformats.org/drawingml/2006/main">
            <a:off x="6877050" y="4038600"/>
            <a:ext cx="1200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Inverse</a:t>
            </a:r>
          </a:p>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quantization</a:t>
            </a:r>
          </a:p>
        </p:txBody>
      </p:sp>
      <p:sp>
        <p:nvSpPr>
          <p:cNvPr id="62" name="Rectangle 61">
            <a:extLst xmlns:a="http://schemas.openxmlformats.org/drawingml/2006/main">
              <a:ext uri="{FF2B5EF4-FFF2-40B4-BE49-F238E27FC236}">
                <a16:creationId xmlns:a16="http://schemas.microsoft.com/office/drawing/2014/main" id="{F2E3A073-F821-4F5D-ADFE-9C1DAB288E3B}"/>
              </a:ext>
            </a:extLst>
          </p:cNvPr>
          <p:cNvSpPr>
            <a:spLocks xmlns:a="http://schemas.openxmlformats.org/drawingml/2006/main" noGrp="1"/>
          </p:cNvSpPr>
          <p:nvPr/>
        </p:nvSpPr>
        <p:spPr>
          <a:xfrm xmlns:a="http://schemas.openxmlformats.org/drawingml/2006/main">
            <a:off x="6534150"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63" name="Rectangle 62">
            <a:extLst xmlns:a="http://schemas.openxmlformats.org/drawingml/2006/main">
              <a:ext uri="{FF2B5EF4-FFF2-40B4-BE49-F238E27FC236}">
                <a16:creationId xmlns:a16="http://schemas.microsoft.com/office/drawing/2014/main" id="{0BBEA1BA-8AE0-47F9-A7FF-97E19D015748}"/>
              </a:ext>
            </a:extLst>
          </p:cNvPr>
          <p:cNvSpPr>
            <a:spLocks xmlns:a="http://schemas.openxmlformats.org/drawingml/2006/main" noGrp="1"/>
          </p:cNvSpPr>
          <p:nvPr/>
        </p:nvSpPr>
        <p:spPr>
          <a:xfrm xmlns:a="http://schemas.openxmlformats.org/drawingml/2006/main">
            <a:off x="6724650" y="4267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16" name="Straight Arrow Connector 141"/>
          <p:cNvCxnSpPr>
            <a:stCxn xmlns:a="http://schemas.openxmlformats.org/drawingml/2006/main" id="62" idx="3"/>
            <a:endCxn xmlns:a="http://schemas.openxmlformats.org/drawingml/2006/main" id="63" idx="1"/>
          </p:cNvCxnSpPr>
          <p:nvPr/>
        </p:nvCxnSpPr>
        <p:spPr>
          <a:xfrm xmlns:a="http://schemas.openxmlformats.org/drawingml/2006/main">
            <a:off x="6553200" y="4276725"/>
            <a:ext cx="171450" cy="0"/>
          </a:xfrm>
          <a:prstGeom xmlns:a="http://schemas.openxmlformats.org/drawingml/2006/main" prst="straightConnector1">
            <a:avLst/>
          </a:prstGeom>
          <a:ln xmlns:a="http://schemas.openxmlformats.org/drawingml/2006/main" w="19050" cap="rnd">
            <a:solidFill>
              <a:srgbClr val="47E6A4"/>
            </a:solidFill>
            <a:prstDash val="solid"/>
            <a:headEnd type="triangle" w="sm" len="sm"/>
          </a:ln>
        </p:spPr>
      </p:cxnSp>
      <p:sp>
        <p:nvSpPr>
          <p:cNvPr id="65" name="Straight Connector 64">
            <a:extLst xmlns:a="http://schemas.openxmlformats.org/drawingml/2006/main">
              <a:ext uri="{FF2B5EF4-FFF2-40B4-BE49-F238E27FC236}">
                <a16:creationId xmlns:a16="http://schemas.microsoft.com/office/drawing/2014/main" id="{BF08F828-F9FC-4BD5-8B82-04461D453822}"/>
              </a:ext>
            </a:extLst>
          </p:cNvPr>
          <p:cNvSpPr>
            <a:spLocks xmlns:a="http://schemas.openxmlformats.org/drawingml/2006/main" noGrp="1"/>
          </p:cNvSpPr>
          <p:nvPr/>
        </p:nvSpPr>
        <p:spPr>
          <a:xfrm xmlns:a="http://schemas.openxmlformats.org/drawingml/2006/main">
            <a:off x="7124700" y="2333625"/>
            <a:ext cx="9525" cy="1257300"/>
          </a:xfrm>
          <a:prstGeom xmlns:a="http://schemas.openxmlformats.org/drawingml/2006/main" prst="line">
            <a:avLst/>
          </a:prstGeom>
          <a:noFill xmlns:a="http://schemas.openxmlformats.org/drawingml/2006/main"/>
          <a:ln xmlns:a="http://schemas.openxmlformats.org/drawingml/2006/main" w="19050">
            <a:solidFill>
              <a:srgbClr val="FFB84D"/>
            </a:solidFill>
            <a:prstDash val="solid"/>
          </a:ln>
        </p:spPr>
      </p:sp>
      <p:sp>
        <p:nvSpPr>
          <p:cNvPr id="66" name="Rectangle 65">
            <a:extLst xmlns:a="http://schemas.openxmlformats.org/drawingml/2006/main">
              <a:ext uri="{FF2B5EF4-FFF2-40B4-BE49-F238E27FC236}">
                <a16:creationId xmlns:a16="http://schemas.microsoft.com/office/drawing/2014/main" id="{0AF049BF-6106-4ECB-8C19-4905C6209E1E}"/>
              </a:ext>
            </a:extLst>
          </p:cNvPr>
          <p:cNvSpPr>
            <a:spLocks xmlns:a="http://schemas.openxmlformats.org/drawingml/2006/main" noGrp="1"/>
          </p:cNvSpPr>
          <p:nvPr/>
        </p:nvSpPr>
        <p:spPr>
          <a:xfrm xmlns:a="http://schemas.openxmlformats.org/drawingml/2006/main">
            <a:off x="7124700" y="37719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67" name="Rectangle 66">
            <a:extLst xmlns:a="http://schemas.openxmlformats.org/drawingml/2006/main">
              <a:ext uri="{FF2B5EF4-FFF2-40B4-BE49-F238E27FC236}">
                <a16:creationId xmlns:a16="http://schemas.microsoft.com/office/drawing/2014/main" id="{C2B8B2CA-88E9-461D-9295-BF8E8C7C87D1}"/>
              </a:ext>
            </a:extLst>
          </p:cNvPr>
          <p:cNvSpPr>
            <a:spLocks xmlns:a="http://schemas.openxmlformats.org/drawingml/2006/main" noGrp="1"/>
          </p:cNvSpPr>
          <p:nvPr/>
        </p:nvSpPr>
        <p:spPr>
          <a:xfrm xmlns:a="http://schemas.openxmlformats.org/drawingml/2006/main">
            <a:off x="7124700" y="35433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20" name="Straight Arrow Connector 145"/>
          <p:cNvCxnSpPr>
            <a:stCxn xmlns:a="http://schemas.openxmlformats.org/drawingml/2006/main" id="66" idx="0"/>
            <a:endCxn xmlns:a="http://schemas.openxmlformats.org/drawingml/2006/main" id="67" idx="2"/>
          </p:cNvCxnSpPr>
          <p:nvPr/>
        </p:nvCxnSpPr>
        <p:spPr>
          <a:xfrm xmlns:a="http://schemas.openxmlformats.org/drawingml/2006/main" flipV="1">
            <a:off x="7134225" y="3562350"/>
            <a:ext cx="0" cy="209550"/>
          </a:xfrm>
          <a:prstGeom xmlns:a="http://schemas.openxmlformats.org/drawingml/2006/main" prst="straightConnector1">
            <a:avLst/>
          </a:prstGeom>
          <a:ln xmlns:a="http://schemas.openxmlformats.org/drawingml/2006/main" w="19050" cap="rnd">
            <a:solidFill>
              <a:srgbClr val="FFB84D"/>
            </a:solidFill>
            <a:prstDash val="solid"/>
            <a:headEnd type="triangle" w="sm" len="sm"/>
          </a:ln>
        </p:spPr>
      </p:cxnSp>
      <p:sp>
        <p:nvSpPr>
          <p:cNvPr id="69" name="Rectangle 68">
            <a:extLst xmlns:a="http://schemas.openxmlformats.org/drawingml/2006/main">
              <a:ext uri="{FF2B5EF4-FFF2-40B4-BE49-F238E27FC236}">
                <a16:creationId xmlns:a16="http://schemas.microsoft.com/office/drawing/2014/main" id="{29F35653-C384-485B-8C73-BE8D32A46E77}"/>
              </a:ext>
            </a:extLst>
          </p:cNvPr>
          <p:cNvSpPr>
            <a:spLocks xmlns:a="http://schemas.openxmlformats.org/drawingml/2006/main" noGrp="1"/>
          </p:cNvSpPr>
          <p:nvPr/>
        </p:nvSpPr>
        <p:spPr>
          <a:xfrm xmlns:a="http://schemas.openxmlformats.org/drawingml/2006/main">
            <a:off x="6461569" y="1481138"/>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lnSpcReduction="10000"/>
          </a:bodyPr>
          <a:lstStyle xmlns:a="http://schemas.openxmlformats.org/drawingml/2006/main"/>
          <a:p xmlns:a="http://schemas.openxmlformats.org/drawingml/2006/main">
            <a:pPr>
              <a:buNone/>
              <a:defRPr sz="975" b="1">
                <a:solidFill>
                  <a:srgbClr val="FFB84D"/>
                </a:solidFill>
                <a:latin typeface="Arial"/>
                <a:ea typeface="Arial"/>
                <a:cs typeface="Arial"/>
              </a:defRPr>
            </a:pPr>
            <a:r>
              <a:rPr sz="975" b="1">
                <a:solidFill>
                  <a:srgbClr val="FFB84D"/>
                </a:solidFill>
                <a:latin typeface="Arial"/>
                <a:ea typeface="Arial"/>
                <a:cs typeface="Arial"/>
              </a:rPr>
              <a:t>quantized coefficients</a:t>
            </a:r>
          </a:p>
        </p:txBody>
      </p:sp>
      <p:sp>
        <p:nvSpPr>
          <p:cNvPr id="70" name="Straight Connector 69">
            <a:extLst xmlns:a="http://schemas.openxmlformats.org/drawingml/2006/main">
              <a:ext uri="{FF2B5EF4-FFF2-40B4-BE49-F238E27FC236}">
                <a16:creationId xmlns:a16="http://schemas.microsoft.com/office/drawing/2014/main" id="{BF7499A0-1F34-48A4-9323-F6B267716A0C}"/>
              </a:ext>
            </a:extLst>
          </p:cNvPr>
          <p:cNvSpPr>
            <a:spLocks xmlns:a="http://schemas.openxmlformats.org/drawingml/2006/main" noGrp="1"/>
          </p:cNvSpPr>
          <p:nvPr/>
        </p:nvSpPr>
        <p:spPr>
          <a:xfrm xmlns:a="http://schemas.openxmlformats.org/drawingml/2006/main" flipV="1">
            <a:off x="857250" y="3067050"/>
            <a:ext cx="9525" cy="876300"/>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71" name="Straight Connector 70">
            <a:extLst xmlns:a="http://schemas.openxmlformats.org/drawingml/2006/main">
              <a:ext uri="{FF2B5EF4-FFF2-40B4-BE49-F238E27FC236}">
                <a16:creationId xmlns:a16="http://schemas.microsoft.com/office/drawing/2014/main" id="{BAAD817C-E261-4845-AA35-E50C9F264C47}"/>
              </a:ext>
            </a:extLst>
          </p:cNvPr>
          <p:cNvSpPr>
            <a:spLocks xmlns:a="http://schemas.openxmlformats.org/drawingml/2006/main" noGrp="1"/>
          </p:cNvSpPr>
          <p:nvPr/>
        </p:nvSpPr>
        <p:spPr>
          <a:xfrm xmlns:a="http://schemas.openxmlformats.org/drawingml/2006/main">
            <a:off x="857250" y="3067050"/>
            <a:ext cx="1676400" cy="9525"/>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72" name="Straight Connector 71">
            <a:extLst xmlns:a="http://schemas.openxmlformats.org/drawingml/2006/main">
              <a:ext uri="{FF2B5EF4-FFF2-40B4-BE49-F238E27FC236}">
                <a16:creationId xmlns:a16="http://schemas.microsoft.com/office/drawing/2014/main" id="{7AC1A617-7510-4FA0-BA85-8D52764DFC7E}"/>
              </a:ext>
            </a:extLst>
          </p:cNvPr>
          <p:cNvSpPr>
            <a:spLocks xmlns:a="http://schemas.openxmlformats.org/drawingml/2006/main" noGrp="1"/>
          </p:cNvSpPr>
          <p:nvPr/>
        </p:nvSpPr>
        <p:spPr>
          <a:xfrm xmlns:a="http://schemas.openxmlformats.org/drawingml/2006/main" flipV="1">
            <a:off x="2533650" y="2543175"/>
            <a:ext cx="9525" cy="523875"/>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73" name="Rectangle 72">
            <a:extLst xmlns:a="http://schemas.openxmlformats.org/drawingml/2006/main">
              <a:ext uri="{FF2B5EF4-FFF2-40B4-BE49-F238E27FC236}">
                <a16:creationId xmlns:a16="http://schemas.microsoft.com/office/drawing/2014/main" id="{E7387A8C-360F-4FD9-847C-DF2DC2EFD624}"/>
              </a:ext>
            </a:extLst>
          </p:cNvPr>
          <p:cNvSpPr>
            <a:spLocks xmlns:a="http://schemas.openxmlformats.org/drawingml/2006/main" noGrp="1"/>
          </p:cNvSpPr>
          <p:nvPr/>
        </p:nvSpPr>
        <p:spPr>
          <a:xfrm xmlns:a="http://schemas.openxmlformats.org/drawingml/2006/main">
            <a:off x="2533650" y="23050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74" name="Rectangle 73">
            <a:extLst xmlns:a="http://schemas.openxmlformats.org/drawingml/2006/main">
              <a:ext uri="{FF2B5EF4-FFF2-40B4-BE49-F238E27FC236}">
                <a16:creationId xmlns:a16="http://schemas.microsoft.com/office/drawing/2014/main" id="{4AB235A8-D612-4524-BA57-18ADA4A45C8D}"/>
              </a:ext>
            </a:extLst>
          </p:cNvPr>
          <p:cNvSpPr>
            <a:spLocks xmlns:a="http://schemas.openxmlformats.org/drawingml/2006/main" noGrp="1"/>
          </p:cNvSpPr>
          <p:nvPr/>
        </p:nvSpPr>
        <p:spPr>
          <a:xfrm xmlns:a="http://schemas.openxmlformats.org/drawingml/2006/main">
            <a:off x="2533650" y="2571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27" name="Straight Arrow Connector 152"/>
          <p:cNvCxnSpPr>
            <a:stCxn xmlns:a="http://schemas.openxmlformats.org/drawingml/2006/main" id="73" idx="2"/>
            <a:endCxn xmlns:a="http://schemas.openxmlformats.org/drawingml/2006/main" id="74" idx="0"/>
          </p:cNvCxnSpPr>
          <p:nvPr/>
        </p:nvCxnSpPr>
        <p:spPr>
          <a:xfrm xmlns:a="http://schemas.openxmlformats.org/drawingml/2006/main">
            <a:off x="2543175" y="2324100"/>
            <a:ext cx="0" cy="247650"/>
          </a:xfrm>
          <a:prstGeom xmlns:a="http://schemas.openxmlformats.org/drawingml/2006/main" prst="straightConnector1">
            <a:avLst/>
          </a:prstGeom>
          <a:ln xmlns:a="http://schemas.openxmlformats.org/drawingml/2006/main" w="19050" cap="rnd">
            <a:solidFill>
              <a:srgbClr val="47E6A4"/>
            </a:solidFill>
            <a:prstDash val="solid"/>
            <a:headEnd type="triangle" w="sm" len="sm"/>
          </a:ln>
        </p:spPr>
      </p:cxnSp>
      <p:sp>
        <p:nvSpPr>
          <p:cNvPr id="76" name="Rectangle 75">
            <a:extLst xmlns:a="http://schemas.openxmlformats.org/drawingml/2006/main">
              <a:ext uri="{FF2B5EF4-FFF2-40B4-BE49-F238E27FC236}">
                <a16:creationId xmlns:a16="http://schemas.microsoft.com/office/drawing/2014/main" id="{7D49B82A-9D25-41F4-858D-890C498339E8}"/>
              </a:ext>
            </a:extLst>
          </p:cNvPr>
          <p:cNvSpPr>
            <a:spLocks xmlns:a="http://schemas.openxmlformats.org/drawingml/2006/main" noGrp="1"/>
          </p:cNvSpPr>
          <p:nvPr/>
        </p:nvSpPr>
        <p:spPr>
          <a:xfrm xmlns:a="http://schemas.openxmlformats.org/drawingml/2006/main">
            <a:off x="1952625" y="5191125"/>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The encoder contains the same reconstruction steps as the decoder</a:t>
            </a:r>
          </a:p>
        </p:txBody>
      </p:sp>
      <p:sp>
        <p:nvSpPr>
          <p:cNvPr id="77" name="Rectangle: Rounded Corners 76">
            <a:extLst xmlns:a="http://schemas.openxmlformats.org/drawingml/2006/main">
              <a:ext uri="{FF2B5EF4-FFF2-40B4-BE49-F238E27FC236}">
                <a16:creationId xmlns:a16="http://schemas.microsoft.com/office/drawing/2014/main" id="{B2519563-16CB-48F7-97A5-2AFAC37BEEB8}"/>
              </a:ext>
            </a:extLst>
          </p:cNvPr>
          <p:cNvSpPr>
            <a:spLocks xmlns:a="http://schemas.openxmlformats.org/drawingml/2006/main" noGrp="1"/>
          </p:cNvSpPr>
          <p:nvPr/>
        </p:nvSpPr>
        <p:spPr>
          <a:xfrm xmlns:a="http://schemas.openxmlformats.org/drawingml/2006/main">
            <a:off x="3143250" y="5715000"/>
            <a:ext cx="5905500" cy="514350"/>
          </a:xfrm>
          <a:prstGeom xmlns:a="http://schemas.openxmlformats.org/drawingml/2006/main" prst="roundRect">
            <a:avLst>
              <a:gd name="adj" fmla="val 22222"/>
            </a:avLst>
          </a:prstGeom>
          <a:solidFill xmlns:a="http://schemas.openxmlformats.org/drawingml/2006/main">
            <a:srgbClr val="0A2830"/>
          </a:solidFill>
          <a:ln xmlns:a="http://schemas.openxmlformats.org/drawingml/2006/main" w="19050">
            <a:solidFill>
              <a:srgbClr val="47E6A4"/>
            </a:solidFill>
            <a:prstDash val="solid"/>
          </a:ln>
        </p:spPr>
      </p:sp>
      <p:sp>
        <p:nvSpPr>
          <p:cNvPr id="78" name="Rectangle 77">
            <a:extLst xmlns:a="http://schemas.openxmlformats.org/drawingml/2006/main">
              <a:ext uri="{FF2B5EF4-FFF2-40B4-BE49-F238E27FC236}">
                <a16:creationId xmlns:a16="http://schemas.microsoft.com/office/drawing/2014/main" id="{644FEA57-1387-4200-B0A4-93D5D51C1726}"/>
              </a:ext>
            </a:extLst>
          </p:cNvPr>
          <p:cNvSpPr>
            <a:spLocks xmlns:a="http://schemas.openxmlformats.org/drawingml/2006/main" noGrp="1"/>
          </p:cNvSpPr>
          <p:nvPr/>
        </p:nvSpPr>
        <p:spPr>
          <a:xfrm xmlns:a="http://schemas.openxmlformats.org/drawingml/2006/main">
            <a:off x="3257550" y="5810250"/>
            <a:ext cx="567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Matching reference pictures prevent prediction drift</a:t>
            </a:r>
          </a:p>
        </p:txBody>
      </p:sp>
    </p:spTree>
    <p:extLst>
      <p:ext uri="{BB962C8B-B14F-4D97-AF65-F5344CB8AC3E}">
        <p14:creationId xmlns:p14="http://schemas.microsoft.com/office/powerpoint/2010/main" val="537097983"/>
      </p:ext>
    </p:extLst>
  </p:cSld>
</p:sld>
</file>

<file path=ppt/slides/slide3.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3" name="Oval 32">
            <a:extLst xmlns:a="http://schemas.openxmlformats.org/drawingml/2006/main">
              <a:ext uri="{FF2B5EF4-FFF2-40B4-BE49-F238E27FC236}">
                <a16:creationId xmlns:a16="http://schemas.microsoft.com/office/drawing/2014/main" id="{8431EC8F-8BF7-48D4-95A6-D0701E9C356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5E74E502-61A6-4165-847E-0BE7AF93E439}"/>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B98F392B-692B-4F09-BD9A-95E43BF8ED0F}"/>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From the full picture to Coding Units</a:t>
            </a:r>
          </a:p>
        </p:txBody>
      </p:sp>
      <p:sp>
        <p:nvSpPr>
          <p:cNvPr id="4" name="Straight Connector 3">
            <a:extLst xmlns:a="http://schemas.openxmlformats.org/drawingml/2006/main">
              <a:ext uri="{FF2B5EF4-FFF2-40B4-BE49-F238E27FC236}">
                <a16:creationId xmlns:a16="http://schemas.microsoft.com/office/drawing/2014/main" id="{EE2BD418-79AA-46C7-AC47-8010F645BF99}"/>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46B6D33C-858F-4516-82F4-D41D047A560D}"/>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First select one Coding Tree Unit, then subdivide that same region into Coding Units</a:t>
            </a:r>
          </a:p>
        </p:txBody>
      </p:sp>
      <p:sp>
        <p:nvSpPr>
          <p:cNvPr id="7" name="Rectangle 6">
            <a:extLst xmlns:a="http://schemas.openxmlformats.org/drawingml/2006/main">
              <a:ext uri="{FF2B5EF4-FFF2-40B4-BE49-F238E27FC236}">
                <a16:creationId xmlns:a16="http://schemas.microsoft.com/office/drawing/2014/main" id="{DA6BC26A-D7E3-4036-9683-77F3EA8A624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03 / 49</a:t>
            </a:r>
          </a:p>
        </p:txBody>
      </p:sp>
      <p:sp>
        <p:nvSpPr>
          <p:cNvPr id="8" name="Rectangle 7">
            <a:extLst xmlns:a="http://schemas.openxmlformats.org/drawingml/2006/main">
              <a:ext uri="{FF2B5EF4-FFF2-40B4-BE49-F238E27FC236}">
                <a16:creationId xmlns:a16="http://schemas.microsoft.com/office/drawing/2014/main" id="{2B06BE02-BFAD-4955-8EF9-944E67AE3BBD}"/>
              </a:ext>
            </a:extLst>
          </p:cNvPr>
          <p:cNvSpPr>
            <a:spLocks xmlns:a="http://schemas.openxmlformats.org/drawingml/2006/main" noGrp="1"/>
          </p:cNvSpPr>
          <p:nvPr/>
        </p:nvSpPr>
        <p:spPr>
          <a:xfrm xmlns:a="http://schemas.openxmlformats.org/drawingml/2006/main">
            <a:off x="666750" y="13811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22D3EE"/>
                </a:solidFill>
                <a:latin typeface="Arial"/>
                <a:ea typeface="Arial"/>
                <a:cs typeface="Arial"/>
              </a:defRPr>
            </a:pPr>
            <a:r>
              <a:rPr sz="1500" b="1">
                <a:solidFill>
                  <a:srgbClr val="22D3EE"/>
                </a:solidFill>
                <a:latin typeface="Arial"/>
                <a:ea typeface="Arial"/>
                <a:cs typeface="Arial"/>
              </a:rPr>
              <a:t>1  FULL PICTURE</a:t>
            </a:r>
          </a:p>
        </p:txBody>
      </p:sp>
      <p:pic>
        <p:nvPicPr>
          <p:cNvPr id="59" name="Picture 40"/>
          <p:cNvPicPr>
            <a:picLocks xmlns:a="http://schemas.openxmlformats.org/drawingml/2006/main" noChangeAspect="1"/>
          </p:cNvPicPr>
          <p:nvPr/>
        </p:nvPicPr>
        <p:blipFill>
          <a:blip xmlns:r="http://schemas.openxmlformats.org/officeDocument/2006/relationships" xmlns:a="http://schemas.openxmlformats.org/drawingml/2006/main" r:embed="R590a6bd540044947"/>
          <a:srcRect xmlns:a="http://schemas.openxmlformats.org/drawingml/2006/main" l="5333" t="0" r="5333" b="0"/>
          <a:stretch xmlns:a="http://schemas.openxmlformats.org/drawingml/2006/main">
            <a:fillRect l="0" t="0" r="0" b="0"/>
          </a:stretch>
        </p:blipFill>
        <p:spPr>
          <a:xfrm xmlns:a="http://schemas.openxmlformats.org/drawingml/2006/main">
            <a:off x="571500" y="1762125"/>
            <a:ext cx="4762500" cy="3000375"/>
          </a:xfrm>
          <a:prstGeom xmlns:a="http://schemas.openxmlformats.org/drawingml/2006/main" prst="roundRect">
            <a:avLst>
              <a:gd name="adj" fmla="val 3810"/>
            </a:avLst>
          </a:prstGeom>
        </p:spPr>
      </p:pic>
      <p:sp>
        <p:nvSpPr>
          <p:cNvPr id="10" name="Rectangle 9">
            <a:extLst xmlns:a="http://schemas.openxmlformats.org/drawingml/2006/main">
              <a:ext uri="{FF2B5EF4-FFF2-40B4-BE49-F238E27FC236}">
                <a16:creationId xmlns:a16="http://schemas.microsoft.com/office/drawing/2014/main" id="{FB54B554-B6FF-42BE-91CE-373C965255F0}"/>
              </a:ext>
            </a:extLst>
          </p:cNvPr>
          <p:cNvSpPr>
            <a:spLocks xmlns:a="http://schemas.openxmlformats.org/drawingml/2006/main" noGrp="1"/>
          </p:cNvSpPr>
          <p:nvPr/>
        </p:nvSpPr>
        <p:spPr>
          <a:xfrm xmlns:a="http://schemas.openxmlformats.org/drawingml/2006/main">
            <a:off x="571500" y="1762125"/>
            <a:ext cx="4762500" cy="3000375"/>
          </a:xfrm>
          <a:prstGeom xmlns:a="http://schemas.openxmlformats.org/drawingml/2006/main" prst="rect">
            <a:avLst/>
          </a:prstGeom>
          <a:noFill xmlns:a="http://schemas.openxmlformats.org/drawingml/2006/main"/>
          <a:ln xmlns:a="http://schemas.openxmlformats.org/drawingml/2006/main" w="19050">
            <a:solidFill>
              <a:srgbClr val="2A5876"/>
            </a:solidFill>
            <a:prstDash val="solid"/>
          </a:ln>
        </p:spPr>
      </p:sp>
      <p:sp>
        <p:nvSpPr>
          <p:cNvPr id="11" name="Rectangle 10">
            <a:extLst xmlns:a="http://schemas.openxmlformats.org/drawingml/2006/main">
              <a:ext uri="{FF2B5EF4-FFF2-40B4-BE49-F238E27FC236}">
                <a16:creationId xmlns:a16="http://schemas.microsoft.com/office/drawing/2014/main" id="{80577FE4-4F90-4296-8494-ED711DC873CB}"/>
              </a:ext>
            </a:extLst>
          </p:cNvPr>
          <p:cNvSpPr>
            <a:spLocks xmlns:a="http://schemas.openxmlformats.org/drawingml/2006/main" noGrp="1"/>
          </p:cNvSpPr>
          <p:nvPr/>
        </p:nvSpPr>
        <p:spPr>
          <a:xfrm xmlns:a="http://schemas.openxmlformats.org/drawingml/2006/main">
            <a:off x="3810000" y="2190750"/>
            <a:ext cx="1428750" cy="1428750"/>
          </a:xfrm>
          <a:prstGeom xmlns:a="http://schemas.openxmlformats.org/drawingml/2006/main" prst="rect">
            <a:avLst/>
          </a:prstGeom>
          <a:noFill xmlns:a="http://schemas.openxmlformats.org/drawingml/2006/main"/>
          <a:ln xmlns:a="http://schemas.openxmlformats.org/drawingml/2006/main" w="47625">
            <a:solidFill>
              <a:srgbClr val="22D3EE"/>
            </a:solidFill>
            <a:prstDash val="solid"/>
          </a:ln>
        </p:spPr>
      </p:sp>
      <p:sp>
        <p:nvSpPr>
          <p:cNvPr id="12" name="Rectangle: Rounded Corners 11">
            <a:extLst xmlns:a="http://schemas.openxmlformats.org/drawingml/2006/main">
              <a:ext uri="{FF2B5EF4-FFF2-40B4-BE49-F238E27FC236}">
                <a16:creationId xmlns:a16="http://schemas.microsoft.com/office/drawing/2014/main" id="{7D1A06EB-EA22-4E01-AFF5-D96E213469F3}"/>
              </a:ext>
            </a:extLst>
          </p:cNvPr>
          <p:cNvSpPr>
            <a:spLocks xmlns:a="http://schemas.openxmlformats.org/drawingml/2006/main" noGrp="1"/>
          </p:cNvSpPr>
          <p:nvPr/>
        </p:nvSpPr>
        <p:spPr>
          <a:xfrm xmlns:a="http://schemas.openxmlformats.org/drawingml/2006/main">
            <a:off x="3857625" y="2286000"/>
            <a:ext cx="1285875"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2D3EE"/>
            </a:solidFill>
            <a:prstDash val="solid"/>
          </a:ln>
        </p:spPr>
      </p:sp>
      <p:sp>
        <p:nvSpPr>
          <p:cNvPr id="13" name="Rectangle 12">
            <a:extLst xmlns:a="http://schemas.openxmlformats.org/drawingml/2006/main">
              <a:ext uri="{FF2B5EF4-FFF2-40B4-BE49-F238E27FC236}">
                <a16:creationId xmlns:a16="http://schemas.microsoft.com/office/drawing/2014/main" id="{04087FF0-A005-4232-9B73-BE00431DA089}"/>
              </a:ext>
            </a:extLst>
          </p:cNvPr>
          <p:cNvSpPr>
            <a:spLocks xmlns:a="http://schemas.openxmlformats.org/drawingml/2006/main" noGrp="1"/>
          </p:cNvSpPr>
          <p:nvPr/>
        </p:nvSpPr>
        <p:spPr>
          <a:xfrm xmlns:a="http://schemas.openxmlformats.org/drawingml/2006/main">
            <a:off x="3905250" y="2324100"/>
            <a:ext cx="1190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BLOCK 1: CTU</a:t>
            </a:r>
          </a:p>
        </p:txBody>
      </p:sp>
      <p:sp>
        <p:nvSpPr>
          <p:cNvPr id="14" name="Rectangle 13">
            <a:extLst xmlns:a="http://schemas.openxmlformats.org/drawingml/2006/main">
              <a:ext uri="{FF2B5EF4-FFF2-40B4-BE49-F238E27FC236}">
                <a16:creationId xmlns:a16="http://schemas.microsoft.com/office/drawing/2014/main" id="{EFE656D7-0471-4715-996D-A8431A15B026}"/>
              </a:ext>
            </a:extLst>
          </p:cNvPr>
          <p:cNvSpPr>
            <a:spLocks xmlns:a="http://schemas.openxmlformats.org/drawingml/2006/main" noGrp="1"/>
          </p:cNvSpPr>
          <p:nvPr/>
        </p:nvSpPr>
        <p:spPr>
          <a:xfrm xmlns:a="http://schemas.openxmlformats.org/drawingml/2006/main">
            <a:off x="714375" y="4905375"/>
            <a:ext cx="447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0">
                <a:solidFill>
                  <a:srgbClr val="F4F8FC"/>
                </a:solidFill>
                <a:latin typeface="Arial"/>
                <a:ea typeface="Arial"/>
                <a:cs typeface="Arial"/>
              </a:defRPr>
            </a:pPr>
            <a:r>
              <a:rPr sz="1200" b="0">
                <a:solidFill>
                  <a:srgbClr val="F4F8FC"/>
                </a:solidFill>
                <a:latin typeface="Arial"/>
                <a:ea typeface="Arial"/>
                <a:cs typeface="Arial"/>
              </a:rPr>
              <a:t>The picture contains many Coding Tree Units. Block 1 is the CTU selected for this example.</a:t>
            </a:r>
          </a:p>
        </p:txBody>
      </p:sp>
      <p:sp>
        <p:nvSpPr>
          <p:cNvPr id="15" name="Rectangle 14">
            <a:extLst xmlns:a="http://schemas.openxmlformats.org/drawingml/2006/main">
              <a:ext uri="{FF2B5EF4-FFF2-40B4-BE49-F238E27FC236}">
                <a16:creationId xmlns:a16="http://schemas.microsoft.com/office/drawing/2014/main" id="{1D2BAD53-AE5A-4BB5-8DD9-3E791EBFBC2F}"/>
              </a:ext>
            </a:extLst>
          </p:cNvPr>
          <p:cNvSpPr>
            <a:spLocks xmlns:a="http://schemas.openxmlformats.org/drawingml/2006/main" noGrp="1"/>
          </p:cNvSpPr>
          <p:nvPr/>
        </p:nvSpPr>
        <p:spPr>
          <a:xfrm xmlns:a="http://schemas.openxmlformats.org/drawingml/2006/main">
            <a:off x="6143625" y="31908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BD8709CD-DC6F-48E9-A0D6-89D47B43372B}"/>
              </a:ext>
            </a:extLst>
          </p:cNvPr>
          <p:cNvSpPr>
            <a:spLocks xmlns:a="http://schemas.openxmlformats.org/drawingml/2006/main" noGrp="1"/>
          </p:cNvSpPr>
          <p:nvPr/>
        </p:nvSpPr>
        <p:spPr>
          <a:xfrm xmlns:a="http://schemas.openxmlformats.org/drawingml/2006/main">
            <a:off x="5476875" y="31908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7" name="Straight Arrow Connector 48"/>
          <p:cNvCxnSpPr>
            <a:stCxn xmlns:a="http://schemas.openxmlformats.org/drawingml/2006/main" id="15" idx="1"/>
            <a:endCxn xmlns:a="http://schemas.openxmlformats.org/drawingml/2006/main" id="16" idx="3"/>
          </p:cNvCxnSpPr>
          <p:nvPr/>
        </p:nvCxnSpPr>
        <p:spPr>
          <a:xfrm xmlns:a="http://schemas.openxmlformats.org/drawingml/2006/main" flipH="1">
            <a:off x="5495925" y="3200400"/>
            <a:ext cx="647700" cy="0"/>
          </a:xfrm>
          <a:prstGeom xmlns:a="http://schemas.openxmlformats.org/drawingml/2006/main" prst="straightConnector1">
            <a:avLst/>
          </a:prstGeom>
          <a:ln xmlns:a="http://schemas.openxmlformats.org/drawingml/2006/main" w="19050" cap="rnd">
            <a:solidFill>
              <a:srgbClr val="22D3EE"/>
            </a:solidFill>
            <a:prstDash val="solid"/>
            <a:headEnd type="triangle" w="sm" len="sm"/>
          </a:ln>
        </p:spPr>
      </p:cxnSp>
      <p:sp>
        <p:nvSpPr>
          <p:cNvPr id="18" name="Rectangle 17">
            <a:extLst xmlns:a="http://schemas.openxmlformats.org/drawingml/2006/main">
              <a:ext uri="{FF2B5EF4-FFF2-40B4-BE49-F238E27FC236}">
                <a16:creationId xmlns:a16="http://schemas.microsoft.com/office/drawing/2014/main" id="{AB630620-4A61-4D3D-AC58-217AD7531403}"/>
              </a:ext>
            </a:extLst>
          </p:cNvPr>
          <p:cNvSpPr>
            <a:spLocks xmlns:a="http://schemas.openxmlformats.org/drawingml/2006/main" noGrp="1"/>
          </p:cNvSpPr>
          <p:nvPr/>
        </p:nvSpPr>
        <p:spPr>
          <a:xfrm xmlns:a="http://schemas.openxmlformats.org/drawingml/2006/main">
            <a:off x="5476875" y="26860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217"/>
          </a:bodyPr>
          <a:lstStyle xmlns:a="http://schemas.openxmlformats.org/drawingml/2006/main"/>
          <a:p xmlns:a="http://schemas.openxmlformats.org/drawingml/2006/main">
            <a:pPr>
              <a:buNone/>
              <a:defRPr sz="1125" b="1">
                <a:solidFill>
                  <a:srgbClr val="22D3EE"/>
                </a:solidFill>
                <a:latin typeface="Arial"/>
                <a:ea typeface="Arial"/>
                <a:cs typeface="Arial"/>
              </a:defRPr>
            </a:pPr>
            <a:r>
              <a:rPr sz="1125" b="1">
                <a:solidFill>
                  <a:srgbClr val="22D3EE"/>
                </a:solidFill>
                <a:latin typeface="Arial"/>
                <a:ea typeface="Arial"/>
                <a:cs typeface="Arial"/>
              </a:rPr>
              <a:t>ZOOM IN</a:t>
            </a:r>
          </a:p>
        </p:txBody>
      </p:sp>
      <p:sp>
        <p:nvSpPr>
          <p:cNvPr id="19" name="Rectangle 18">
            <a:extLst xmlns:a="http://schemas.openxmlformats.org/drawingml/2006/main">
              <a:ext uri="{FF2B5EF4-FFF2-40B4-BE49-F238E27FC236}">
                <a16:creationId xmlns:a16="http://schemas.microsoft.com/office/drawing/2014/main" id="{D176ED04-7AF2-4F1D-AED4-6E47A0B92098}"/>
              </a:ext>
            </a:extLst>
          </p:cNvPr>
          <p:cNvSpPr>
            <a:spLocks xmlns:a="http://schemas.openxmlformats.org/drawingml/2006/main" noGrp="1"/>
          </p:cNvSpPr>
          <p:nvPr/>
        </p:nvSpPr>
        <p:spPr>
          <a:xfrm xmlns:a="http://schemas.openxmlformats.org/drawingml/2006/main">
            <a:off x="6572250" y="13811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FFB84D"/>
                </a:solidFill>
                <a:latin typeface="Arial"/>
                <a:ea typeface="Arial"/>
                <a:cs typeface="Arial"/>
              </a:defRPr>
            </a:pPr>
            <a:r>
              <a:rPr sz="1500" b="1">
                <a:solidFill>
                  <a:srgbClr val="FFB84D"/>
                </a:solidFill>
                <a:latin typeface="Arial"/>
                <a:ea typeface="Arial"/>
                <a:cs typeface="Arial"/>
              </a:rPr>
              <a:t>2  BLOCK 1 DIVIDED INTO CUs</a:t>
            </a:r>
          </a:p>
        </p:txBody>
      </p:sp>
      <p:pic>
        <p:nvPicPr>
          <p:cNvPr id="70" name="Picture 51"/>
          <p:cNvPicPr>
            <a:picLocks xmlns:a="http://schemas.openxmlformats.org/drawingml/2006/main" noChangeAspect="1"/>
          </p:cNvPicPr>
          <p:nvPr/>
        </p:nvPicPr>
        <p:blipFill>
          <a:blip xmlns:r="http://schemas.openxmlformats.org/officeDocument/2006/relationships" xmlns:a="http://schemas.openxmlformats.org/drawingml/2006/main" r:embed="Rca7351c95ba548b3"/>
          <a:srcRect xmlns:a="http://schemas.openxmlformats.org/drawingml/2006/main" l="0" t="0" r="0" b="0"/>
          <a:stretch xmlns:a="http://schemas.openxmlformats.org/drawingml/2006/main">
            <a:fillRect l="0" t="0" r="0" b="0"/>
          </a:stretch>
        </p:blipFill>
        <p:spPr>
          <a:xfrm xmlns:a="http://schemas.openxmlformats.org/drawingml/2006/main">
            <a:off x="7191375" y="1762125"/>
            <a:ext cx="3524250" cy="3524250"/>
          </a:xfrm>
          <a:prstGeom xmlns:a="http://schemas.openxmlformats.org/drawingml/2006/main" prst="roundRect">
            <a:avLst>
              <a:gd name="adj" fmla="val 3243"/>
            </a:avLst>
          </a:prstGeom>
        </p:spPr>
      </p:pic>
      <p:sp>
        <p:nvSpPr>
          <p:cNvPr id="21" name="Rectangle 20">
            <a:extLst xmlns:a="http://schemas.openxmlformats.org/drawingml/2006/main">
              <a:ext uri="{FF2B5EF4-FFF2-40B4-BE49-F238E27FC236}">
                <a16:creationId xmlns:a16="http://schemas.microsoft.com/office/drawing/2014/main" id="{558143A1-C23E-4224-9343-E1856ED00AC8}"/>
              </a:ext>
            </a:extLst>
          </p:cNvPr>
          <p:cNvSpPr>
            <a:spLocks xmlns:a="http://schemas.openxmlformats.org/drawingml/2006/main" noGrp="1"/>
          </p:cNvSpPr>
          <p:nvPr/>
        </p:nvSpPr>
        <p:spPr>
          <a:xfrm xmlns:a="http://schemas.openxmlformats.org/drawingml/2006/main">
            <a:off x="7191375" y="1762125"/>
            <a:ext cx="3524250" cy="3524250"/>
          </a:xfrm>
          <a:prstGeom xmlns:a="http://schemas.openxmlformats.org/drawingml/2006/main" prst="rect">
            <a:avLst/>
          </a:prstGeom>
          <a:noFill xmlns:a="http://schemas.openxmlformats.org/drawingml/2006/main"/>
          <a:ln xmlns:a="http://schemas.openxmlformats.org/drawingml/2006/main" w="38100">
            <a:solidFill>
              <a:srgbClr val="22D3EE"/>
            </a:solidFill>
            <a:prstDash val="solid"/>
          </a:ln>
        </p:spPr>
      </p:sp>
      <p:sp>
        <p:nvSpPr>
          <p:cNvPr id="22" name="Straight Connector 21">
            <a:extLst xmlns:a="http://schemas.openxmlformats.org/drawingml/2006/main">
              <a:ext uri="{FF2B5EF4-FFF2-40B4-BE49-F238E27FC236}">
                <a16:creationId xmlns:a16="http://schemas.microsoft.com/office/drawing/2014/main" id="{B7F2E46A-39A3-49C8-9F56-4864E10C6C27}"/>
              </a:ext>
            </a:extLst>
          </p:cNvPr>
          <p:cNvSpPr>
            <a:spLocks xmlns:a="http://schemas.openxmlformats.org/drawingml/2006/main" noGrp="1"/>
          </p:cNvSpPr>
          <p:nvPr/>
        </p:nvSpPr>
        <p:spPr>
          <a:xfrm xmlns:a="http://schemas.openxmlformats.org/drawingml/2006/main">
            <a:off x="8953500" y="1762125"/>
            <a:ext cx="9525" cy="3524250"/>
          </a:xfrm>
          <a:prstGeom xmlns:a="http://schemas.openxmlformats.org/drawingml/2006/main" prst="line">
            <a:avLst/>
          </a:prstGeom>
          <a:noFill xmlns:a="http://schemas.openxmlformats.org/drawingml/2006/main"/>
          <a:ln xmlns:a="http://schemas.openxmlformats.org/drawingml/2006/main" w="28575">
            <a:solidFill>
              <a:srgbClr val="2E9BFF"/>
            </a:solidFill>
            <a:prstDash val="solid"/>
          </a:ln>
        </p:spPr>
      </p:sp>
      <p:sp>
        <p:nvSpPr>
          <p:cNvPr id="23" name="Straight Connector 22">
            <a:extLst xmlns:a="http://schemas.openxmlformats.org/drawingml/2006/main">
              <a:ext uri="{FF2B5EF4-FFF2-40B4-BE49-F238E27FC236}">
                <a16:creationId xmlns:a16="http://schemas.microsoft.com/office/drawing/2014/main" id="{958B48AE-CDE2-4CB1-8B17-A04F97FCDAF4}"/>
              </a:ext>
            </a:extLst>
          </p:cNvPr>
          <p:cNvSpPr>
            <a:spLocks xmlns:a="http://schemas.openxmlformats.org/drawingml/2006/main" noGrp="1"/>
          </p:cNvSpPr>
          <p:nvPr/>
        </p:nvSpPr>
        <p:spPr>
          <a:xfrm xmlns:a="http://schemas.openxmlformats.org/drawingml/2006/main">
            <a:off x="7191375" y="3524250"/>
            <a:ext cx="3524250" cy="9525"/>
          </a:xfrm>
          <a:prstGeom xmlns:a="http://schemas.openxmlformats.org/drawingml/2006/main" prst="line">
            <a:avLst/>
          </a:prstGeom>
          <a:noFill xmlns:a="http://schemas.openxmlformats.org/drawingml/2006/main"/>
          <a:ln xmlns:a="http://schemas.openxmlformats.org/drawingml/2006/main" w="28575">
            <a:solidFill>
              <a:srgbClr val="2E9BFF"/>
            </a:solidFill>
            <a:prstDash val="solid"/>
          </a:ln>
        </p:spPr>
      </p:sp>
      <p:sp>
        <p:nvSpPr>
          <p:cNvPr id="24" name="Straight Connector 23">
            <a:extLst xmlns:a="http://schemas.openxmlformats.org/drawingml/2006/main">
              <a:ext uri="{FF2B5EF4-FFF2-40B4-BE49-F238E27FC236}">
                <a16:creationId xmlns:a16="http://schemas.microsoft.com/office/drawing/2014/main" id="{2833010F-4B8A-4E65-AE7D-644DA327B76F}"/>
              </a:ext>
            </a:extLst>
          </p:cNvPr>
          <p:cNvSpPr>
            <a:spLocks xmlns:a="http://schemas.openxmlformats.org/drawingml/2006/main" noGrp="1"/>
          </p:cNvSpPr>
          <p:nvPr/>
        </p:nvSpPr>
        <p:spPr>
          <a:xfrm xmlns:a="http://schemas.openxmlformats.org/drawingml/2006/main">
            <a:off x="9834563" y="3524250"/>
            <a:ext cx="9525" cy="1762125"/>
          </a:xfrm>
          <a:prstGeom xmlns:a="http://schemas.openxmlformats.org/drawingml/2006/main" prst="line">
            <a:avLst/>
          </a:prstGeom>
          <a:noFill xmlns:a="http://schemas.openxmlformats.org/drawingml/2006/main"/>
          <a:ln xmlns:a="http://schemas.openxmlformats.org/drawingml/2006/main" w="28575">
            <a:solidFill>
              <a:srgbClr val="FFB84D"/>
            </a:solidFill>
            <a:prstDash val="solid"/>
          </a:ln>
        </p:spPr>
      </p:sp>
      <p:sp>
        <p:nvSpPr>
          <p:cNvPr id="25" name="Straight Connector 24">
            <a:extLst xmlns:a="http://schemas.openxmlformats.org/drawingml/2006/main">
              <a:ext uri="{FF2B5EF4-FFF2-40B4-BE49-F238E27FC236}">
                <a16:creationId xmlns:a16="http://schemas.microsoft.com/office/drawing/2014/main" id="{51D1264F-D754-447D-994C-4A155B484B1A}"/>
              </a:ext>
            </a:extLst>
          </p:cNvPr>
          <p:cNvSpPr>
            <a:spLocks xmlns:a="http://schemas.openxmlformats.org/drawingml/2006/main" noGrp="1"/>
          </p:cNvSpPr>
          <p:nvPr/>
        </p:nvSpPr>
        <p:spPr>
          <a:xfrm xmlns:a="http://schemas.openxmlformats.org/drawingml/2006/main">
            <a:off x="8953500" y="4405313"/>
            <a:ext cx="1762125" cy="9525"/>
          </a:xfrm>
          <a:prstGeom xmlns:a="http://schemas.openxmlformats.org/drawingml/2006/main" prst="line">
            <a:avLst/>
          </a:prstGeom>
          <a:noFill xmlns:a="http://schemas.openxmlformats.org/drawingml/2006/main"/>
          <a:ln xmlns:a="http://schemas.openxmlformats.org/drawingml/2006/main" w="28575">
            <a:solidFill>
              <a:srgbClr val="FFB84D"/>
            </a:solidFill>
            <a:prstDash val="solid"/>
          </a:ln>
        </p:spPr>
      </p:sp>
      <p:sp>
        <p:nvSpPr>
          <p:cNvPr id="26" name="Rectangle: Rounded Corners 25">
            <a:extLst xmlns:a="http://schemas.openxmlformats.org/drawingml/2006/main">
              <a:ext uri="{FF2B5EF4-FFF2-40B4-BE49-F238E27FC236}">
                <a16:creationId xmlns:a16="http://schemas.microsoft.com/office/drawing/2014/main" id="{62BD920C-F438-4977-817A-DE63F542ABC0}"/>
              </a:ext>
            </a:extLst>
          </p:cNvPr>
          <p:cNvSpPr>
            <a:spLocks xmlns:a="http://schemas.openxmlformats.org/drawingml/2006/main" noGrp="1"/>
          </p:cNvSpPr>
          <p:nvPr/>
        </p:nvSpPr>
        <p:spPr>
          <a:xfrm xmlns:a="http://schemas.openxmlformats.org/drawingml/2006/main">
            <a:off x="7381875" y="1952625"/>
            <a:ext cx="1095375"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2D3EE"/>
            </a:solidFill>
            <a:prstDash val="solid"/>
          </a:ln>
        </p:spPr>
      </p:sp>
      <p:sp>
        <p:nvSpPr>
          <p:cNvPr id="27" name="Rectangle 26">
            <a:extLst xmlns:a="http://schemas.openxmlformats.org/drawingml/2006/main">
              <a:ext uri="{FF2B5EF4-FFF2-40B4-BE49-F238E27FC236}">
                <a16:creationId xmlns:a16="http://schemas.microsoft.com/office/drawing/2014/main" id="{315673DC-46F5-4BFE-A338-439EC5569614}"/>
              </a:ext>
            </a:extLst>
          </p:cNvPr>
          <p:cNvSpPr>
            <a:spLocks xmlns:a="http://schemas.openxmlformats.org/drawingml/2006/main" noGrp="1"/>
          </p:cNvSpPr>
          <p:nvPr/>
        </p:nvSpPr>
        <p:spPr>
          <a:xfrm xmlns:a="http://schemas.openxmlformats.org/drawingml/2006/main">
            <a:off x="7429500" y="19907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SAME CTU</a:t>
            </a:r>
          </a:p>
        </p:txBody>
      </p:sp>
      <p:sp>
        <p:nvSpPr>
          <p:cNvPr id="28" name="Rectangle: Rounded Corners 27">
            <a:extLst xmlns:a="http://schemas.openxmlformats.org/drawingml/2006/main">
              <a:ext uri="{FF2B5EF4-FFF2-40B4-BE49-F238E27FC236}">
                <a16:creationId xmlns:a16="http://schemas.microsoft.com/office/drawing/2014/main" id="{76193AAE-1AFD-45AB-9FE2-D14DD384D1E5}"/>
              </a:ext>
            </a:extLst>
          </p:cNvPr>
          <p:cNvSpPr>
            <a:spLocks xmlns:a="http://schemas.openxmlformats.org/drawingml/2006/main" noGrp="1"/>
          </p:cNvSpPr>
          <p:nvPr/>
        </p:nvSpPr>
        <p:spPr>
          <a:xfrm xmlns:a="http://schemas.openxmlformats.org/drawingml/2006/main">
            <a:off x="9191625" y="4810125"/>
            <a:ext cx="1285875"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FFB84D"/>
            </a:solidFill>
            <a:prstDash val="solid"/>
          </a:ln>
        </p:spPr>
      </p:sp>
      <p:sp>
        <p:nvSpPr>
          <p:cNvPr id="29" name="Rectangle 28">
            <a:extLst xmlns:a="http://schemas.openxmlformats.org/drawingml/2006/main">
              <a:ext uri="{FF2B5EF4-FFF2-40B4-BE49-F238E27FC236}">
                <a16:creationId xmlns:a16="http://schemas.microsoft.com/office/drawing/2014/main" id="{0FD3A3BA-F750-4E38-B4F4-2C92CC1F4B43}"/>
              </a:ext>
            </a:extLst>
          </p:cNvPr>
          <p:cNvSpPr>
            <a:spLocks xmlns:a="http://schemas.openxmlformats.org/drawingml/2006/main" noGrp="1"/>
          </p:cNvSpPr>
          <p:nvPr/>
        </p:nvSpPr>
        <p:spPr>
          <a:xfrm xmlns:a="http://schemas.openxmlformats.org/drawingml/2006/main">
            <a:off x="9239250" y="4848225"/>
            <a:ext cx="1190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FFB84D"/>
                </a:solidFill>
                <a:latin typeface="Arial"/>
                <a:ea typeface="Arial"/>
                <a:cs typeface="Arial"/>
              </a:defRPr>
            </a:pPr>
            <a:r>
              <a:rPr sz="975" b="1">
                <a:solidFill>
                  <a:srgbClr val="FFB84D"/>
                </a:solidFill>
                <a:latin typeface="Arial"/>
                <a:ea typeface="Arial"/>
                <a:cs typeface="Arial"/>
              </a:rPr>
              <a:t>CU LEAVES</a:t>
            </a:r>
          </a:p>
        </p:txBody>
      </p:sp>
      <p:sp>
        <p:nvSpPr>
          <p:cNvPr id="30" name="Rectangle 29">
            <a:extLst xmlns:a="http://schemas.openxmlformats.org/drawingml/2006/main">
              <a:ext uri="{FF2B5EF4-FFF2-40B4-BE49-F238E27FC236}">
                <a16:creationId xmlns:a16="http://schemas.microsoft.com/office/drawing/2014/main" id="{E2DDD44A-9C08-4544-A64A-7DEA1E4E5275}"/>
              </a:ext>
            </a:extLst>
          </p:cNvPr>
          <p:cNvSpPr>
            <a:spLocks xmlns:a="http://schemas.openxmlformats.org/drawingml/2006/main" noGrp="1"/>
          </p:cNvSpPr>
          <p:nvPr/>
        </p:nvSpPr>
        <p:spPr>
          <a:xfrm xmlns:a="http://schemas.openxmlformats.org/drawingml/2006/main">
            <a:off x="6667500" y="5476875"/>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0">
                <a:solidFill>
                  <a:srgbClr val="F4F8FC"/>
                </a:solidFill>
                <a:latin typeface="Arial"/>
                <a:ea typeface="Arial"/>
                <a:cs typeface="Arial"/>
              </a:defRPr>
            </a:pPr>
            <a:r>
              <a:rPr sz="1200" b="0">
                <a:solidFill>
                  <a:srgbClr val="F4F8FC"/>
                </a:solidFill>
                <a:latin typeface="Arial"/>
                <a:ea typeface="Arial"/>
                <a:cs typeface="Arial"/>
              </a:rPr>
              <a:t>The quadtree keeps smooth regions large and can split detailed regions into smaller square CUs.</a:t>
            </a:r>
          </a:p>
        </p:txBody>
      </p:sp>
      <p:sp>
        <p:nvSpPr>
          <p:cNvPr id="31" name="Rectangle: Rounded Corners 30">
            <a:extLst xmlns:a="http://schemas.openxmlformats.org/drawingml/2006/main">
              <a:ext uri="{FF2B5EF4-FFF2-40B4-BE49-F238E27FC236}">
                <a16:creationId xmlns:a16="http://schemas.microsoft.com/office/drawing/2014/main" id="{069E0B94-7CF8-4704-ACDB-F729C82513B4}"/>
              </a:ext>
            </a:extLst>
          </p:cNvPr>
          <p:cNvSpPr>
            <a:spLocks xmlns:a="http://schemas.openxmlformats.org/drawingml/2006/main" noGrp="1"/>
          </p:cNvSpPr>
          <p:nvPr/>
        </p:nvSpPr>
        <p:spPr>
          <a:xfrm xmlns:a="http://schemas.openxmlformats.org/drawingml/2006/main">
            <a:off x="1809750" y="6048375"/>
            <a:ext cx="8572500" cy="457200"/>
          </a:xfrm>
          <a:prstGeom xmlns:a="http://schemas.openxmlformats.org/drawingml/2006/main" prst="roundRect">
            <a:avLst>
              <a:gd name="adj" fmla="val 25000"/>
            </a:avLst>
          </a:prstGeom>
          <a:solidFill xmlns:a="http://schemas.openxmlformats.org/drawingml/2006/main">
            <a:srgbClr val="132536"/>
          </a:solidFill>
          <a:ln xmlns:a="http://schemas.openxmlformats.org/drawingml/2006/main" w="19050">
            <a:solidFill>
              <a:srgbClr val="FFB84D"/>
            </a:solidFill>
            <a:prstDash val="solid"/>
          </a:ln>
        </p:spPr>
      </p:sp>
      <p:sp>
        <p:nvSpPr>
          <p:cNvPr id="32" name="Rectangle 31">
            <a:extLst xmlns:a="http://schemas.openxmlformats.org/drawingml/2006/main">
              <a:ext uri="{FF2B5EF4-FFF2-40B4-BE49-F238E27FC236}">
                <a16:creationId xmlns:a16="http://schemas.microsoft.com/office/drawing/2014/main" id="{F3BEDDFF-4FE0-4207-8CA9-471CA4EA79A4}"/>
              </a:ext>
            </a:extLst>
          </p:cNvPr>
          <p:cNvSpPr>
            <a:spLocks xmlns:a="http://schemas.openxmlformats.org/drawingml/2006/main" noGrp="1"/>
          </p:cNvSpPr>
          <p:nvPr/>
        </p:nvSpPr>
        <p:spPr>
          <a:xfrm xmlns:a="http://schemas.openxmlformats.org/drawingml/2006/main">
            <a:off x="1924050" y="6143625"/>
            <a:ext cx="834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Open question: which CU split pattern gives the best quality for the required number of bits?</a:t>
            </a:r>
          </a:p>
        </p:txBody>
      </p:sp>
    </p:spTree>
    <p:extLst>
      <p:ext uri="{BB962C8B-B14F-4D97-AF65-F5344CB8AC3E}">
        <p14:creationId xmlns:p14="http://schemas.microsoft.com/office/powerpoint/2010/main" val="1547458160"/>
      </p:ext>
    </p:extLst>
  </p:cSld>
</p:sld>
</file>

<file path=ppt/slides/slide4.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6" name="Oval 35">
            <a:extLst xmlns:a="http://schemas.openxmlformats.org/drawingml/2006/main">
              <a:ext uri="{FF2B5EF4-FFF2-40B4-BE49-F238E27FC236}">
                <a16:creationId xmlns:a16="http://schemas.microsoft.com/office/drawing/2014/main" id="{9EE601C7-4232-45E6-8888-B32AD9C298CE}"/>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DA806E12-AA7E-4FCB-B582-EFDABC2C7EB4}"/>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20656FFB-CB3C-40DB-A573-8DA8535212AC}"/>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Prediction Unit (PU): prediction geometry inside a leaf Coding Unit</a:t>
            </a:r>
          </a:p>
        </p:txBody>
      </p:sp>
      <p:sp>
        <p:nvSpPr>
          <p:cNvPr id="4" name="Straight Connector 3">
            <a:extLst xmlns:a="http://schemas.openxmlformats.org/drawingml/2006/main">
              <a:ext uri="{FF2B5EF4-FFF2-40B4-BE49-F238E27FC236}">
                <a16:creationId xmlns:a16="http://schemas.microsoft.com/office/drawing/2014/main" id="{D15B79AA-CF7E-416A-9BC5-E4B279D034CC}"/>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07677326-FF03-4008-B1F7-6691F98CADB5}"/>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CU quadtree creates squares; PU partitions add directional shapes for prediction</a:t>
            </a:r>
          </a:p>
        </p:txBody>
      </p:sp>
      <p:sp>
        <p:nvSpPr>
          <p:cNvPr id="6" name="Rectangle 5">
            <a:extLst xmlns:a="http://schemas.openxmlformats.org/drawingml/2006/main">
              <a:ext uri="{FF2B5EF4-FFF2-40B4-BE49-F238E27FC236}">
                <a16:creationId xmlns:a16="http://schemas.microsoft.com/office/drawing/2014/main" id="{AADC28FD-13D7-4C1B-B23C-AA445EC4BF5E}"/>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A6CBBD6C-7F00-4740-8C94-DA5DB34178DA}"/>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04 / 49</a:t>
            </a:r>
          </a:p>
        </p:txBody>
      </p:sp>
      <p:sp>
        <p:nvSpPr>
          <p:cNvPr id="8" name="Rectangle 7">
            <a:extLst xmlns:a="http://schemas.openxmlformats.org/drawingml/2006/main">
              <a:ext uri="{FF2B5EF4-FFF2-40B4-BE49-F238E27FC236}">
                <a16:creationId xmlns:a16="http://schemas.microsoft.com/office/drawing/2014/main" id="{18063298-B1AA-4C6B-BFF4-56181993CEA6}"/>
              </a:ext>
            </a:extLst>
          </p:cNvPr>
          <p:cNvSpPr>
            <a:spLocks xmlns:a="http://schemas.openxmlformats.org/drawingml/2006/main" noGrp="1"/>
          </p:cNvSpPr>
          <p:nvPr/>
        </p:nvSpPr>
        <p:spPr>
          <a:xfrm xmlns:a="http://schemas.openxmlformats.org/drawingml/2006/main">
            <a:off x="476250" y="1666875"/>
            <a:ext cx="1619250" cy="1619250"/>
          </a:xfrm>
          <a:prstGeom xmlns:a="http://schemas.openxmlformats.org/drawingml/2006/main" prst="rect">
            <a:avLst/>
          </a:prstGeom>
          <a:solidFill xmlns:a="http://schemas.openxmlformats.org/drawingml/2006/main">
            <a:srgbClr val="0B2033"/>
          </a:solidFill>
          <a:ln xmlns:a="http://schemas.openxmlformats.org/drawingml/2006/main" w="19050">
            <a:solidFill>
              <a:srgbClr val="22D3EE"/>
            </a:solidFill>
            <a:prstDash val="solid"/>
          </a:ln>
        </p:spPr>
      </p:sp>
      <p:sp>
        <p:nvSpPr>
          <p:cNvPr id="9" name="Rectangle 8">
            <a:extLst xmlns:a="http://schemas.openxmlformats.org/drawingml/2006/main">
              <a:ext uri="{FF2B5EF4-FFF2-40B4-BE49-F238E27FC236}">
                <a16:creationId xmlns:a16="http://schemas.microsoft.com/office/drawing/2014/main" id="{B04EF153-A88F-4F2A-A092-0EBEF2171597}"/>
              </a:ext>
            </a:extLst>
          </p:cNvPr>
          <p:cNvSpPr>
            <a:spLocks xmlns:a="http://schemas.openxmlformats.org/drawingml/2006/main" noGrp="1"/>
          </p:cNvSpPr>
          <p:nvPr/>
        </p:nvSpPr>
        <p:spPr>
          <a:xfrm xmlns:a="http://schemas.openxmlformats.org/drawingml/2006/main">
            <a:off x="476250" y="1666875"/>
            <a:ext cx="1619250" cy="1619250"/>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10" name="Rectangle 9">
            <a:extLst xmlns:a="http://schemas.openxmlformats.org/drawingml/2006/main">
              <a:ext uri="{FF2B5EF4-FFF2-40B4-BE49-F238E27FC236}">
                <a16:creationId xmlns:a16="http://schemas.microsoft.com/office/drawing/2014/main" id="{663CA3BF-BFD7-4BA0-8551-FA2FEB6326EE}"/>
              </a:ext>
            </a:extLst>
          </p:cNvPr>
          <p:cNvSpPr>
            <a:spLocks xmlns:a="http://schemas.openxmlformats.org/drawingml/2006/main" noGrp="1"/>
          </p:cNvSpPr>
          <p:nvPr/>
        </p:nvSpPr>
        <p:spPr>
          <a:xfrm xmlns:a="http://schemas.openxmlformats.org/drawingml/2006/main">
            <a:off x="381000" y="3476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2N × 2N</a:t>
            </a:r>
          </a:p>
        </p:txBody>
      </p:sp>
      <p:sp>
        <p:nvSpPr>
          <p:cNvPr id="11" name="Rectangle 10">
            <a:extLst xmlns:a="http://schemas.openxmlformats.org/drawingml/2006/main">
              <a:ext uri="{FF2B5EF4-FFF2-40B4-BE49-F238E27FC236}">
                <a16:creationId xmlns:a16="http://schemas.microsoft.com/office/drawing/2014/main" id="{93901B21-3E52-4FB0-B3E8-6D54D97B9DC9}"/>
              </a:ext>
            </a:extLst>
          </p:cNvPr>
          <p:cNvSpPr>
            <a:spLocks xmlns:a="http://schemas.openxmlformats.org/drawingml/2006/main" noGrp="1"/>
          </p:cNvSpPr>
          <p:nvPr/>
        </p:nvSpPr>
        <p:spPr>
          <a:xfrm xmlns:a="http://schemas.openxmlformats.org/drawingml/2006/main">
            <a:off x="2762250" y="1666875"/>
            <a:ext cx="1619250" cy="1619250"/>
          </a:xfrm>
          <a:prstGeom xmlns:a="http://schemas.openxmlformats.org/drawingml/2006/main" prst="rect">
            <a:avLst/>
          </a:prstGeom>
          <a:solidFill xmlns:a="http://schemas.openxmlformats.org/drawingml/2006/main">
            <a:srgbClr val="0B2033"/>
          </a:solidFill>
          <a:ln xmlns:a="http://schemas.openxmlformats.org/drawingml/2006/main" w="19050">
            <a:solidFill>
              <a:srgbClr val="22D3EE"/>
            </a:solidFill>
            <a:prstDash val="solid"/>
          </a:ln>
        </p:spPr>
      </p:sp>
      <p:sp>
        <p:nvSpPr>
          <p:cNvPr id="12" name="Rectangle 11">
            <a:extLst xmlns:a="http://schemas.openxmlformats.org/drawingml/2006/main">
              <a:ext uri="{FF2B5EF4-FFF2-40B4-BE49-F238E27FC236}">
                <a16:creationId xmlns:a16="http://schemas.microsoft.com/office/drawing/2014/main" id="{C6E60436-645B-4026-AE4F-0AC4129DC6B3}"/>
              </a:ext>
            </a:extLst>
          </p:cNvPr>
          <p:cNvSpPr>
            <a:spLocks xmlns:a="http://schemas.openxmlformats.org/drawingml/2006/main" noGrp="1"/>
          </p:cNvSpPr>
          <p:nvPr/>
        </p:nvSpPr>
        <p:spPr>
          <a:xfrm xmlns:a="http://schemas.openxmlformats.org/drawingml/2006/main">
            <a:off x="2762250" y="1666875"/>
            <a:ext cx="1619250" cy="809625"/>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13" name="Rectangle 12">
            <a:extLst xmlns:a="http://schemas.openxmlformats.org/drawingml/2006/main">
              <a:ext uri="{FF2B5EF4-FFF2-40B4-BE49-F238E27FC236}">
                <a16:creationId xmlns:a16="http://schemas.microsoft.com/office/drawing/2014/main" id="{0E81833D-6851-4097-966F-EF06A67E250C}"/>
              </a:ext>
            </a:extLst>
          </p:cNvPr>
          <p:cNvSpPr>
            <a:spLocks xmlns:a="http://schemas.openxmlformats.org/drawingml/2006/main" noGrp="1"/>
          </p:cNvSpPr>
          <p:nvPr/>
        </p:nvSpPr>
        <p:spPr>
          <a:xfrm xmlns:a="http://schemas.openxmlformats.org/drawingml/2006/main">
            <a:off x="2762250" y="2476500"/>
            <a:ext cx="1619250" cy="809625"/>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14" name="Rectangle 13">
            <a:extLst xmlns:a="http://schemas.openxmlformats.org/drawingml/2006/main">
              <a:ext uri="{FF2B5EF4-FFF2-40B4-BE49-F238E27FC236}">
                <a16:creationId xmlns:a16="http://schemas.microsoft.com/office/drawing/2014/main" id="{72C80454-A4F5-48EB-9E9E-C45C98FBD205}"/>
              </a:ext>
            </a:extLst>
          </p:cNvPr>
          <p:cNvSpPr>
            <a:spLocks xmlns:a="http://schemas.openxmlformats.org/drawingml/2006/main" noGrp="1"/>
          </p:cNvSpPr>
          <p:nvPr/>
        </p:nvSpPr>
        <p:spPr>
          <a:xfrm xmlns:a="http://schemas.openxmlformats.org/drawingml/2006/main">
            <a:off x="2667000" y="3476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2N × N</a:t>
            </a:r>
          </a:p>
        </p:txBody>
      </p:sp>
      <p:sp>
        <p:nvSpPr>
          <p:cNvPr id="15" name="Rectangle 14">
            <a:extLst xmlns:a="http://schemas.openxmlformats.org/drawingml/2006/main">
              <a:ext uri="{FF2B5EF4-FFF2-40B4-BE49-F238E27FC236}">
                <a16:creationId xmlns:a16="http://schemas.microsoft.com/office/drawing/2014/main" id="{EED77E83-3AC8-45BC-8D41-7D32540D8D12}"/>
              </a:ext>
            </a:extLst>
          </p:cNvPr>
          <p:cNvSpPr>
            <a:spLocks xmlns:a="http://schemas.openxmlformats.org/drawingml/2006/main" noGrp="1"/>
          </p:cNvSpPr>
          <p:nvPr/>
        </p:nvSpPr>
        <p:spPr>
          <a:xfrm xmlns:a="http://schemas.openxmlformats.org/drawingml/2006/main">
            <a:off x="5048250" y="1666875"/>
            <a:ext cx="1619250" cy="1619250"/>
          </a:xfrm>
          <a:prstGeom xmlns:a="http://schemas.openxmlformats.org/drawingml/2006/main" prst="rect">
            <a:avLst/>
          </a:prstGeom>
          <a:solidFill xmlns:a="http://schemas.openxmlformats.org/drawingml/2006/main">
            <a:srgbClr val="0B2033"/>
          </a:solidFill>
          <a:ln xmlns:a="http://schemas.openxmlformats.org/drawingml/2006/main" w="19050">
            <a:solidFill>
              <a:srgbClr val="22D3EE"/>
            </a:solidFill>
            <a:prstDash val="solid"/>
          </a:ln>
        </p:spPr>
      </p:sp>
      <p:sp>
        <p:nvSpPr>
          <p:cNvPr id="16" name="Rectangle 15">
            <a:extLst xmlns:a="http://schemas.openxmlformats.org/drawingml/2006/main">
              <a:ext uri="{FF2B5EF4-FFF2-40B4-BE49-F238E27FC236}">
                <a16:creationId xmlns:a16="http://schemas.microsoft.com/office/drawing/2014/main" id="{7312F906-7F2C-424B-B001-B68716445866}"/>
              </a:ext>
            </a:extLst>
          </p:cNvPr>
          <p:cNvSpPr>
            <a:spLocks xmlns:a="http://schemas.openxmlformats.org/drawingml/2006/main" noGrp="1"/>
          </p:cNvSpPr>
          <p:nvPr/>
        </p:nvSpPr>
        <p:spPr>
          <a:xfrm xmlns:a="http://schemas.openxmlformats.org/drawingml/2006/main">
            <a:off x="5048250" y="1666875"/>
            <a:ext cx="809625" cy="1619250"/>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17" name="Rectangle 16">
            <a:extLst xmlns:a="http://schemas.openxmlformats.org/drawingml/2006/main">
              <a:ext uri="{FF2B5EF4-FFF2-40B4-BE49-F238E27FC236}">
                <a16:creationId xmlns:a16="http://schemas.microsoft.com/office/drawing/2014/main" id="{AC561B81-2392-4656-A660-F931DE72EEEB}"/>
              </a:ext>
            </a:extLst>
          </p:cNvPr>
          <p:cNvSpPr>
            <a:spLocks xmlns:a="http://schemas.openxmlformats.org/drawingml/2006/main" noGrp="1"/>
          </p:cNvSpPr>
          <p:nvPr/>
        </p:nvSpPr>
        <p:spPr>
          <a:xfrm xmlns:a="http://schemas.openxmlformats.org/drawingml/2006/main">
            <a:off x="5857875" y="1666875"/>
            <a:ext cx="809625" cy="1619250"/>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18" name="Rectangle 17">
            <a:extLst xmlns:a="http://schemas.openxmlformats.org/drawingml/2006/main">
              <a:ext uri="{FF2B5EF4-FFF2-40B4-BE49-F238E27FC236}">
                <a16:creationId xmlns:a16="http://schemas.microsoft.com/office/drawing/2014/main" id="{AFBAAF22-7D97-41F5-B5E7-41A528E400F1}"/>
              </a:ext>
            </a:extLst>
          </p:cNvPr>
          <p:cNvSpPr>
            <a:spLocks xmlns:a="http://schemas.openxmlformats.org/drawingml/2006/main" noGrp="1"/>
          </p:cNvSpPr>
          <p:nvPr/>
        </p:nvSpPr>
        <p:spPr>
          <a:xfrm xmlns:a="http://schemas.openxmlformats.org/drawingml/2006/main">
            <a:off x="4953000" y="3476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N × 2N</a:t>
            </a:r>
          </a:p>
        </p:txBody>
      </p:sp>
      <p:sp>
        <p:nvSpPr>
          <p:cNvPr id="19" name="Rectangle 18">
            <a:extLst xmlns:a="http://schemas.openxmlformats.org/drawingml/2006/main">
              <a:ext uri="{FF2B5EF4-FFF2-40B4-BE49-F238E27FC236}">
                <a16:creationId xmlns:a16="http://schemas.microsoft.com/office/drawing/2014/main" id="{977EDAB3-1ECD-445A-B9ED-8ED7EA5C9088}"/>
              </a:ext>
            </a:extLst>
          </p:cNvPr>
          <p:cNvSpPr>
            <a:spLocks xmlns:a="http://schemas.openxmlformats.org/drawingml/2006/main" noGrp="1"/>
          </p:cNvSpPr>
          <p:nvPr/>
        </p:nvSpPr>
        <p:spPr>
          <a:xfrm xmlns:a="http://schemas.openxmlformats.org/drawingml/2006/main">
            <a:off x="7334250" y="1666875"/>
            <a:ext cx="1619250" cy="1619250"/>
          </a:xfrm>
          <a:prstGeom xmlns:a="http://schemas.openxmlformats.org/drawingml/2006/main" prst="rect">
            <a:avLst/>
          </a:prstGeom>
          <a:solidFill xmlns:a="http://schemas.openxmlformats.org/drawingml/2006/main">
            <a:srgbClr val="0B2033"/>
          </a:solidFill>
          <a:ln xmlns:a="http://schemas.openxmlformats.org/drawingml/2006/main" w="19050">
            <a:solidFill>
              <a:srgbClr val="22D3EE"/>
            </a:solidFill>
            <a:prstDash val="solid"/>
          </a:ln>
        </p:spPr>
      </p:sp>
      <p:sp>
        <p:nvSpPr>
          <p:cNvPr id="20" name="Rectangle 19">
            <a:extLst xmlns:a="http://schemas.openxmlformats.org/drawingml/2006/main">
              <a:ext uri="{FF2B5EF4-FFF2-40B4-BE49-F238E27FC236}">
                <a16:creationId xmlns:a16="http://schemas.microsoft.com/office/drawing/2014/main" id="{DFAB247F-053E-4ABF-BD82-9B83E5A20A38}"/>
              </a:ext>
            </a:extLst>
          </p:cNvPr>
          <p:cNvSpPr>
            <a:spLocks xmlns:a="http://schemas.openxmlformats.org/drawingml/2006/main" noGrp="1"/>
          </p:cNvSpPr>
          <p:nvPr/>
        </p:nvSpPr>
        <p:spPr>
          <a:xfrm xmlns:a="http://schemas.openxmlformats.org/drawingml/2006/main">
            <a:off x="7334250" y="1666875"/>
            <a:ext cx="809625" cy="809625"/>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21" name="Rectangle 20">
            <a:extLst xmlns:a="http://schemas.openxmlformats.org/drawingml/2006/main">
              <a:ext uri="{FF2B5EF4-FFF2-40B4-BE49-F238E27FC236}">
                <a16:creationId xmlns:a16="http://schemas.microsoft.com/office/drawing/2014/main" id="{E573D343-C65D-4D46-9E6C-2176861842C2}"/>
              </a:ext>
            </a:extLst>
          </p:cNvPr>
          <p:cNvSpPr>
            <a:spLocks xmlns:a="http://schemas.openxmlformats.org/drawingml/2006/main" noGrp="1"/>
          </p:cNvSpPr>
          <p:nvPr/>
        </p:nvSpPr>
        <p:spPr>
          <a:xfrm xmlns:a="http://schemas.openxmlformats.org/drawingml/2006/main">
            <a:off x="8143875" y="1666875"/>
            <a:ext cx="809625" cy="809625"/>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22" name="Rectangle 21">
            <a:extLst xmlns:a="http://schemas.openxmlformats.org/drawingml/2006/main">
              <a:ext uri="{FF2B5EF4-FFF2-40B4-BE49-F238E27FC236}">
                <a16:creationId xmlns:a16="http://schemas.microsoft.com/office/drawing/2014/main" id="{65CF06A1-6DC5-4879-BB9B-F7FF21E5C530}"/>
              </a:ext>
            </a:extLst>
          </p:cNvPr>
          <p:cNvSpPr>
            <a:spLocks xmlns:a="http://schemas.openxmlformats.org/drawingml/2006/main" noGrp="1"/>
          </p:cNvSpPr>
          <p:nvPr/>
        </p:nvSpPr>
        <p:spPr>
          <a:xfrm xmlns:a="http://schemas.openxmlformats.org/drawingml/2006/main">
            <a:off x="7334250" y="2476500"/>
            <a:ext cx="809625" cy="809625"/>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23" name="Rectangle 22">
            <a:extLst xmlns:a="http://schemas.openxmlformats.org/drawingml/2006/main">
              <a:ext uri="{FF2B5EF4-FFF2-40B4-BE49-F238E27FC236}">
                <a16:creationId xmlns:a16="http://schemas.microsoft.com/office/drawing/2014/main" id="{CF6220FA-687C-48AC-8846-541852583F01}"/>
              </a:ext>
            </a:extLst>
          </p:cNvPr>
          <p:cNvSpPr>
            <a:spLocks xmlns:a="http://schemas.openxmlformats.org/drawingml/2006/main" noGrp="1"/>
          </p:cNvSpPr>
          <p:nvPr/>
        </p:nvSpPr>
        <p:spPr>
          <a:xfrm xmlns:a="http://schemas.openxmlformats.org/drawingml/2006/main">
            <a:off x="8143875" y="2476500"/>
            <a:ext cx="809625" cy="809625"/>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24" name="Rectangle 23">
            <a:extLst xmlns:a="http://schemas.openxmlformats.org/drawingml/2006/main">
              <a:ext uri="{FF2B5EF4-FFF2-40B4-BE49-F238E27FC236}">
                <a16:creationId xmlns:a16="http://schemas.microsoft.com/office/drawing/2014/main" id="{420E6F3D-517F-4D2D-BE56-8ECE37F6648B}"/>
              </a:ext>
            </a:extLst>
          </p:cNvPr>
          <p:cNvSpPr>
            <a:spLocks xmlns:a="http://schemas.openxmlformats.org/drawingml/2006/main" noGrp="1"/>
          </p:cNvSpPr>
          <p:nvPr/>
        </p:nvSpPr>
        <p:spPr>
          <a:xfrm xmlns:a="http://schemas.openxmlformats.org/drawingml/2006/main">
            <a:off x="7239000" y="3476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N × N</a:t>
            </a:r>
          </a:p>
        </p:txBody>
      </p:sp>
      <p:sp>
        <p:nvSpPr>
          <p:cNvPr id="25" name="Rectangle 24">
            <a:extLst xmlns:a="http://schemas.openxmlformats.org/drawingml/2006/main">
              <a:ext uri="{FF2B5EF4-FFF2-40B4-BE49-F238E27FC236}">
                <a16:creationId xmlns:a16="http://schemas.microsoft.com/office/drawing/2014/main" id="{77071E61-2457-4F26-9AA6-D38EB76429B2}"/>
              </a:ext>
            </a:extLst>
          </p:cNvPr>
          <p:cNvSpPr>
            <a:spLocks xmlns:a="http://schemas.openxmlformats.org/drawingml/2006/main" noGrp="1"/>
          </p:cNvSpPr>
          <p:nvPr/>
        </p:nvSpPr>
        <p:spPr>
          <a:xfrm xmlns:a="http://schemas.openxmlformats.org/drawingml/2006/main">
            <a:off x="9620250" y="1666875"/>
            <a:ext cx="1619250" cy="1619250"/>
          </a:xfrm>
          <a:prstGeom xmlns:a="http://schemas.openxmlformats.org/drawingml/2006/main" prst="rect">
            <a:avLst/>
          </a:prstGeom>
          <a:solidFill xmlns:a="http://schemas.openxmlformats.org/drawingml/2006/main">
            <a:srgbClr val="0B2033"/>
          </a:solidFill>
          <a:ln xmlns:a="http://schemas.openxmlformats.org/drawingml/2006/main" w="19050">
            <a:solidFill>
              <a:srgbClr val="22D3EE"/>
            </a:solidFill>
            <a:prstDash val="solid"/>
          </a:ln>
        </p:spPr>
      </p:sp>
      <p:sp>
        <p:nvSpPr>
          <p:cNvPr id="26" name="Rectangle 25">
            <a:extLst xmlns:a="http://schemas.openxmlformats.org/drawingml/2006/main">
              <a:ext uri="{FF2B5EF4-FFF2-40B4-BE49-F238E27FC236}">
                <a16:creationId xmlns:a16="http://schemas.microsoft.com/office/drawing/2014/main" id="{EB5B931F-6B66-4AAD-95EA-24E49A384BCE}"/>
              </a:ext>
            </a:extLst>
          </p:cNvPr>
          <p:cNvSpPr>
            <a:spLocks xmlns:a="http://schemas.openxmlformats.org/drawingml/2006/main" noGrp="1"/>
          </p:cNvSpPr>
          <p:nvPr/>
        </p:nvSpPr>
        <p:spPr>
          <a:xfrm xmlns:a="http://schemas.openxmlformats.org/drawingml/2006/main">
            <a:off x="9620250" y="1666875"/>
            <a:ext cx="1619250" cy="404813"/>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27" name="Rectangle 26">
            <a:extLst xmlns:a="http://schemas.openxmlformats.org/drawingml/2006/main">
              <a:ext uri="{FF2B5EF4-FFF2-40B4-BE49-F238E27FC236}">
                <a16:creationId xmlns:a16="http://schemas.microsoft.com/office/drawing/2014/main" id="{3ABF582D-5D42-492D-B834-DA24B31DE52B}"/>
              </a:ext>
            </a:extLst>
          </p:cNvPr>
          <p:cNvSpPr>
            <a:spLocks xmlns:a="http://schemas.openxmlformats.org/drawingml/2006/main" noGrp="1"/>
          </p:cNvSpPr>
          <p:nvPr/>
        </p:nvSpPr>
        <p:spPr>
          <a:xfrm xmlns:a="http://schemas.openxmlformats.org/drawingml/2006/main">
            <a:off x="9620250" y="2071688"/>
            <a:ext cx="1619250" cy="1214438"/>
          </a:xfrm>
          <a:prstGeom xmlns:a="http://schemas.openxmlformats.org/drawingml/2006/main" prst="rect">
            <a:avLst/>
          </a:prstGeom>
          <a:noFill xmlns:a="http://schemas.openxmlformats.org/drawingml/2006/main"/>
          <a:ln xmlns:a="http://schemas.openxmlformats.org/drawingml/2006/main" w="19050">
            <a:solidFill>
              <a:srgbClr val="2E9BFF"/>
            </a:solidFill>
            <a:prstDash val="solid"/>
          </a:ln>
        </p:spPr>
      </p:sp>
      <p:sp>
        <p:nvSpPr>
          <p:cNvPr id="28" name="Rectangle 27">
            <a:extLst xmlns:a="http://schemas.openxmlformats.org/drawingml/2006/main">
              <a:ext uri="{FF2B5EF4-FFF2-40B4-BE49-F238E27FC236}">
                <a16:creationId xmlns:a16="http://schemas.microsoft.com/office/drawing/2014/main" id="{F48A9F70-6AFF-44B0-8BF9-C19EE5EEABEC}"/>
              </a:ext>
            </a:extLst>
          </p:cNvPr>
          <p:cNvSpPr>
            <a:spLocks xmlns:a="http://schemas.openxmlformats.org/drawingml/2006/main" noGrp="1"/>
          </p:cNvSpPr>
          <p:nvPr/>
        </p:nvSpPr>
        <p:spPr>
          <a:xfrm xmlns:a="http://schemas.openxmlformats.org/drawingml/2006/main">
            <a:off x="9525000" y="3476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020"/>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Asymmetric Motion</a:t>
            </a:r>
          </a:p>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Partition (AMP)</a:t>
            </a:r>
          </a:p>
        </p:txBody>
      </p:sp>
      <p:sp>
        <p:nvSpPr>
          <p:cNvPr id="29" name="Rectangle 28">
            <a:extLst xmlns:a="http://schemas.openxmlformats.org/drawingml/2006/main">
              <a:ext uri="{FF2B5EF4-FFF2-40B4-BE49-F238E27FC236}">
                <a16:creationId xmlns:a16="http://schemas.microsoft.com/office/drawing/2014/main" id="{75344089-58F4-4006-82B0-A34D751B7DBF}"/>
              </a:ext>
            </a:extLst>
          </p:cNvPr>
          <p:cNvSpPr>
            <a:spLocks xmlns:a="http://schemas.openxmlformats.org/drawingml/2006/main" noGrp="1"/>
          </p:cNvSpPr>
          <p:nvPr/>
        </p:nvSpPr>
        <p:spPr>
          <a:xfrm xmlns:a="http://schemas.openxmlformats.org/drawingml/2006/main">
            <a:off x="476250" y="40957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AFC0D0"/>
                </a:solidFill>
                <a:latin typeface="Arial"/>
                <a:ea typeface="Arial"/>
                <a:cs typeface="Arial"/>
              </a:defRPr>
            </a:pPr>
            <a:r>
              <a:rPr sz="1350" b="1">
                <a:solidFill>
                  <a:srgbClr val="AFC0D0"/>
                </a:solidFill>
                <a:latin typeface="Arial"/>
                <a:ea typeface="Arial"/>
                <a:cs typeface="Arial"/>
              </a:rPr>
              <a:t>N means half of the Coding Unit width or height</a:t>
            </a:r>
          </a:p>
        </p:txBody>
      </p:sp>
      <p:sp>
        <p:nvSpPr>
          <p:cNvPr id="30" name="Rectangle 29">
            <a:extLst xmlns:a="http://schemas.openxmlformats.org/drawingml/2006/main">
              <a:ext uri="{FF2B5EF4-FFF2-40B4-BE49-F238E27FC236}">
                <a16:creationId xmlns:a16="http://schemas.microsoft.com/office/drawing/2014/main" id="{56383C89-3DA9-4D77-B72A-5C03DBFB660B}"/>
              </a:ext>
            </a:extLst>
          </p:cNvPr>
          <p:cNvSpPr>
            <a:spLocks xmlns:a="http://schemas.openxmlformats.org/drawingml/2006/main" noGrp="1"/>
          </p:cNvSpPr>
          <p:nvPr/>
        </p:nvSpPr>
        <p:spPr>
          <a:xfrm xmlns:a="http://schemas.openxmlformats.org/drawingml/2006/main">
            <a:off x="523875" y="4476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22D3EE"/>
                </a:solidFill>
                <a:latin typeface="Arial"/>
                <a:ea typeface="Arial"/>
                <a:cs typeface="Arial"/>
              </a:defRPr>
            </a:pPr>
            <a:r>
              <a:rPr sz="1575" b="1">
                <a:solidFill>
                  <a:srgbClr val="22D3EE"/>
                </a:solidFill>
                <a:latin typeface="Arial"/>
                <a:ea typeface="Arial"/>
                <a:cs typeface="Arial"/>
              </a:rPr>
              <a:t>Why CU splitting cannot replace PU shapes</a:t>
            </a:r>
          </a:p>
        </p:txBody>
      </p:sp>
      <p:sp>
        <p:nvSpPr>
          <p:cNvPr id="31" name="Rectangle 30">
            <a:extLst xmlns:a="http://schemas.openxmlformats.org/drawingml/2006/main">
              <a:ext uri="{FF2B5EF4-FFF2-40B4-BE49-F238E27FC236}">
                <a16:creationId xmlns:a16="http://schemas.microsoft.com/office/drawing/2014/main" id="{0F602C8F-AEA4-4A26-B652-1992C9F1EE5C}"/>
              </a:ext>
            </a:extLst>
          </p:cNvPr>
          <p:cNvSpPr>
            <a:spLocks xmlns:a="http://schemas.openxmlformats.org/drawingml/2006/main" noGrp="1"/>
          </p:cNvSpPr>
          <p:nvPr/>
        </p:nvSpPr>
        <p:spPr>
          <a:xfrm xmlns:a="http://schemas.openxmlformats.org/drawingml/2006/main">
            <a:off x="523875" y="48577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0">
                <a:solidFill>
                  <a:srgbClr val="F4F8FC"/>
                </a:solidFill>
                <a:latin typeface="Arial"/>
                <a:ea typeface="Arial"/>
                <a:cs typeface="Arial"/>
              </a:defRPr>
            </a:pPr>
            <a:r>
              <a:rPr sz="1275" b="0">
                <a:solidFill>
                  <a:srgbClr val="F4F8FC"/>
                </a:solidFill>
                <a:latin typeface="Arial"/>
                <a:ea typeface="Arial"/>
                <a:cs typeface="Arial"/>
              </a:rPr>
              <a:t>A quadtree split creates four equal squares. Every resulting leaf remains square, so it cannot directly become a rectangular or quarter–three-quarter PU.</a:t>
            </a:r>
          </a:p>
        </p:txBody>
      </p:sp>
      <p:sp>
        <p:nvSpPr>
          <p:cNvPr id="32" name="Rectangle 31">
            <a:extLst xmlns:a="http://schemas.openxmlformats.org/drawingml/2006/main">
              <a:ext uri="{FF2B5EF4-FFF2-40B4-BE49-F238E27FC236}">
                <a16:creationId xmlns:a16="http://schemas.microsoft.com/office/drawing/2014/main" id="{EC7E46D0-C4B6-4F3B-A7C9-A0B43BD0D438}"/>
              </a:ext>
            </a:extLst>
          </p:cNvPr>
          <p:cNvSpPr>
            <a:spLocks xmlns:a="http://schemas.openxmlformats.org/drawingml/2006/main" noGrp="1"/>
          </p:cNvSpPr>
          <p:nvPr/>
        </p:nvSpPr>
        <p:spPr>
          <a:xfrm xmlns:a="http://schemas.openxmlformats.org/drawingml/2006/main">
            <a:off x="6334125" y="44767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47E6A4"/>
                </a:solidFill>
                <a:latin typeface="Arial"/>
                <a:ea typeface="Arial"/>
                <a:cs typeface="Arial"/>
              </a:defRPr>
            </a:pPr>
            <a:r>
              <a:rPr sz="1575" b="1">
                <a:solidFill>
                  <a:srgbClr val="47E6A4"/>
                </a:solidFill>
                <a:latin typeface="Arial"/>
                <a:ea typeface="Arial"/>
                <a:cs typeface="Arial"/>
              </a:rPr>
              <a:t>Why PU remains separate</a:t>
            </a:r>
          </a:p>
        </p:txBody>
      </p:sp>
      <p:sp>
        <p:nvSpPr>
          <p:cNvPr id="33" name="Rectangle 32">
            <a:extLst xmlns:a="http://schemas.openxmlformats.org/drawingml/2006/main">
              <a:ext uri="{FF2B5EF4-FFF2-40B4-BE49-F238E27FC236}">
                <a16:creationId xmlns:a16="http://schemas.microsoft.com/office/drawing/2014/main" id="{59335A08-C3AE-4218-9322-6AA6C63112D2}"/>
              </a:ext>
            </a:extLst>
          </p:cNvPr>
          <p:cNvSpPr>
            <a:spLocks xmlns:a="http://schemas.openxmlformats.org/drawingml/2006/main" noGrp="1"/>
          </p:cNvSpPr>
          <p:nvPr/>
        </p:nvSpPr>
        <p:spPr>
          <a:xfrm xmlns:a="http://schemas.openxmlformats.org/drawingml/2006/main">
            <a:off x="6334125" y="4857750"/>
            <a:ext cx="5095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0">
                <a:solidFill>
                  <a:srgbClr val="F4F8FC"/>
                </a:solidFill>
                <a:latin typeface="Arial"/>
                <a:ea typeface="Arial"/>
                <a:cs typeface="Arial"/>
              </a:defRPr>
            </a:pPr>
            <a:r>
              <a:rPr sz="1275" b="0">
                <a:solidFill>
                  <a:srgbClr val="F4F8FC"/>
                </a:solidFill>
                <a:latin typeface="Arial"/>
                <a:ea typeface="Arial"/>
                <a:cs typeface="Arial"/>
              </a:rPr>
              <a:t>A PU selects prediction direction and shape once the leaf CU is fixed, avoiding extra recursive CU splits merely to follow a boundary.</a:t>
            </a:r>
          </a:p>
        </p:txBody>
      </p:sp>
      <p:sp>
        <p:nvSpPr>
          <p:cNvPr id="34" name="Rectangle: Rounded Corners 33">
            <a:extLst xmlns:a="http://schemas.openxmlformats.org/drawingml/2006/main">
              <a:ext uri="{FF2B5EF4-FFF2-40B4-BE49-F238E27FC236}">
                <a16:creationId xmlns:a16="http://schemas.microsoft.com/office/drawing/2014/main" id="{DC01858E-FAA1-433A-9E81-62A4BE79B2D2}"/>
              </a:ext>
            </a:extLst>
          </p:cNvPr>
          <p:cNvSpPr>
            <a:spLocks xmlns:a="http://schemas.openxmlformats.org/drawingml/2006/main" noGrp="1"/>
          </p:cNvSpPr>
          <p:nvPr/>
        </p:nvSpPr>
        <p:spPr>
          <a:xfrm xmlns:a="http://schemas.openxmlformats.org/drawingml/2006/main">
            <a:off x="2333625" y="5905500"/>
            <a:ext cx="7524750" cy="457200"/>
          </a:xfrm>
          <a:prstGeom xmlns:a="http://schemas.openxmlformats.org/drawingml/2006/main" prst="roundRect">
            <a:avLst>
              <a:gd name="adj" fmla="val 25000"/>
            </a:avLst>
          </a:prstGeom>
          <a:solidFill xmlns:a="http://schemas.openxmlformats.org/drawingml/2006/main">
            <a:srgbClr val="132536"/>
          </a:solidFill>
          <a:ln xmlns:a="http://schemas.openxmlformats.org/drawingml/2006/main" w="19050">
            <a:solidFill>
              <a:srgbClr val="FFB84D"/>
            </a:solidFill>
            <a:prstDash val="solid"/>
          </a:ln>
        </p:spPr>
      </p:sp>
      <p:sp>
        <p:nvSpPr>
          <p:cNvPr id="35" name="Rectangle 34">
            <a:extLst xmlns:a="http://schemas.openxmlformats.org/drawingml/2006/main">
              <a:ext uri="{FF2B5EF4-FFF2-40B4-BE49-F238E27FC236}">
                <a16:creationId xmlns:a16="http://schemas.microsoft.com/office/drawing/2014/main" id="{ED9CFDF1-CC02-4015-B501-52C4BB703D4B}"/>
              </a:ext>
            </a:extLst>
          </p:cNvPr>
          <p:cNvSpPr>
            <a:spLocks xmlns:a="http://schemas.openxmlformats.org/drawingml/2006/main" noGrp="1"/>
          </p:cNvSpPr>
          <p:nvPr/>
        </p:nvSpPr>
        <p:spPr>
          <a:xfrm xmlns:a="http://schemas.openxmlformats.org/drawingml/2006/main">
            <a:off x="2447925" y="6000750"/>
            <a:ext cx="7296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Open Question 2: which legal PU shape and prediction mode give the best rate–quality trade-off?</a:t>
            </a:r>
          </a:p>
        </p:txBody>
      </p:sp>
    </p:spTree>
    <p:extLst>
      <p:ext uri="{BB962C8B-B14F-4D97-AF65-F5344CB8AC3E}">
        <p14:creationId xmlns:p14="http://schemas.microsoft.com/office/powerpoint/2010/main" val="333236191"/>
      </p:ext>
    </p:extLst>
  </p:cSld>
</p:sld>
</file>

<file path=ppt/slides/slide5.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3" name="Oval 32">
            <a:extLst xmlns:a="http://schemas.openxmlformats.org/drawingml/2006/main">
              <a:ext uri="{FF2B5EF4-FFF2-40B4-BE49-F238E27FC236}">
                <a16:creationId xmlns:a16="http://schemas.microsoft.com/office/drawing/2014/main" id="{90977FCB-5497-4835-9DF0-C9A80D4D7590}"/>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A33AE12F-CB4A-4CFA-B22F-AD54209D0AA3}"/>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C6D2D2C4-22F5-4711-A145-31D7CACEEC75}"/>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Prediction Unit and Transform Unit answer different questions</a:t>
            </a:r>
          </a:p>
        </p:txBody>
      </p:sp>
      <p:sp>
        <p:nvSpPr>
          <p:cNvPr id="4" name="Straight Connector 3">
            <a:extLst xmlns:a="http://schemas.openxmlformats.org/drawingml/2006/main">
              <a:ext uri="{FF2B5EF4-FFF2-40B4-BE49-F238E27FC236}">
                <a16:creationId xmlns:a16="http://schemas.microsoft.com/office/drawing/2014/main" id="{AD2EE043-20F2-4F02-8EC9-7D0DCBD10D71}"/>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3E703DA7-2F8C-4E5C-B0B3-9480E748011B}"/>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Follow one selected Coding Unit through prediction and residual coding</a:t>
            </a:r>
          </a:p>
        </p:txBody>
      </p:sp>
      <p:sp>
        <p:nvSpPr>
          <p:cNvPr id="6" name="Rectangle 5">
            <a:extLst xmlns:a="http://schemas.openxmlformats.org/drawingml/2006/main">
              <a:ext uri="{FF2B5EF4-FFF2-40B4-BE49-F238E27FC236}">
                <a16:creationId xmlns:a16="http://schemas.microsoft.com/office/drawing/2014/main" id="{399E8FA1-A3FE-4164-B5AE-9A4FC0FD573B}"/>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7B757B5E-A2BD-46E2-BD5B-1760962A8C78}"/>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05 / 49</a:t>
            </a:r>
          </a:p>
        </p:txBody>
      </p:sp>
      <p:sp>
        <p:nvSpPr>
          <p:cNvPr id="8" name="Rectangle 7">
            <a:extLst xmlns:a="http://schemas.openxmlformats.org/drawingml/2006/main">
              <a:ext uri="{FF2B5EF4-FFF2-40B4-BE49-F238E27FC236}">
                <a16:creationId xmlns:a16="http://schemas.microsoft.com/office/drawing/2014/main" id="{09D81E28-5318-4092-A34D-CB5E981F2945}"/>
              </a:ext>
            </a:extLst>
          </p:cNvPr>
          <p:cNvSpPr>
            <a:spLocks xmlns:a="http://schemas.openxmlformats.org/drawingml/2006/main" noGrp="1"/>
          </p:cNvSpPr>
          <p:nvPr/>
        </p:nvSpPr>
        <p:spPr>
          <a:xfrm xmlns:a="http://schemas.openxmlformats.org/drawingml/2006/main">
            <a:off x="666750" y="1381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22D3EE"/>
                </a:solidFill>
                <a:latin typeface="Arial"/>
                <a:ea typeface="Arial"/>
                <a:cs typeface="Arial"/>
              </a:defRPr>
            </a:pPr>
            <a:r>
              <a:rPr sz="1350" b="1">
                <a:solidFill>
                  <a:srgbClr val="22D3EE"/>
                </a:solidFill>
                <a:latin typeface="Arial"/>
                <a:ea typeface="Arial"/>
                <a:cs typeface="Arial"/>
              </a:rPr>
              <a:t>SELECTED CU</a:t>
            </a:r>
          </a:p>
        </p:txBody>
      </p:sp>
      <p:pic>
        <p:nvPicPr>
          <p:cNvPr id="45" name="Picture 40"/>
          <p:cNvPicPr>
            <a:picLocks xmlns:a="http://schemas.openxmlformats.org/drawingml/2006/main" noChangeAspect="1"/>
          </p:cNvPicPr>
          <p:nvPr/>
        </p:nvPicPr>
        <p:blipFill>
          <a:blip xmlns:r="http://schemas.openxmlformats.org/officeDocument/2006/relationships" xmlns:a="http://schemas.openxmlformats.org/drawingml/2006/main" r:embed="R645c4a7520d94a0e"/>
          <a:srcRect xmlns:a="http://schemas.openxmlformats.org/drawingml/2006/main" l="0" t="0" r="0" b="0"/>
          <a:stretch xmlns:a="http://schemas.openxmlformats.org/drawingml/2006/main">
            <a:fillRect l="0" t="0" r="0" b="0"/>
          </a:stretch>
        </p:blipFill>
        <p:spPr>
          <a:xfrm xmlns:a="http://schemas.openxmlformats.org/drawingml/2006/main">
            <a:off x="666750" y="1762125"/>
            <a:ext cx="2857500" cy="2857500"/>
          </a:xfrm>
          <a:prstGeom xmlns:a="http://schemas.openxmlformats.org/drawingml/2006/main" prst="roundRect">
            <a:avLst>
              <a:gd name="adj" fmla="val 4000"/>
            </a:avLst>
          </a:prstGeom>
        </p:spPr>
      </p:pic>
      <p:sp>
        <p:nvSpPr>
          <p:cNvPr id="10" name="Rectangle 9">
            <a:extLst xmlns:a="http://schemas.openxmlformats.org/drawingml/2006/main">
              <a:ext uri="{FF2B5EF4-FFF2-40B4-BE49-F238E27FC236}">
                <a16:creationId xmlns:a16="http://schemas.microsoft.com/office/drawing/2014/main" id="{959867E6-5633-4886-8C19-0156CF4C71CB}"/>
              </a:ext>
            </a:extLst>
          </p:cNvPr>
          <p:cNvSpPr>
            <a:spLocks xmlns:a="http://schemas.openxmlformats.org/drawingml/2006/main" noGrp="1"/>
          </p:cNvSpPr>
          <p:nvPr/>
        </p:nvSpPr>
        <p:spPr>
          <a:xfrm xmlns:a="http://schemas.openxmlformats.org/drawingml/2006/main">
            <a:off x="666750" y="1762125"/>
            <a:ext cx="2857500" cy="2857500"/>
          </a:xfrm>
          <a:prstGeom xmlns:a="http://schemas.openxmlformats.org/drawingml/2006/main" prst="rect">
            <a:avLst/>
          </a:prstGeom>
          <a:noFill xmlns:a="http://schemas.openxmlformats.org/drawingml/2006/main"/>
          <a:ln xmlns:a="http://schemas.openxmlformats.org/drawingml/2006/main" w="28575">
            <a:solidFill>
              <a:srgbClr val="22D3EE"/>
            </a:solidFill>
            <a:prstDash val="solid"/>
          </a:ln>
        </p:spPr>
      </p:sp>
      <p:sp>
        <p:nvSpPr>
          <p:cNvPr id="11" name="Rectangle 10">
            <a:extLst xmlns:a="http://schemas.openxmlformats.org/drawingml/2006/main">
              <a:ext uri="{FF2B5EF4-FFF2-40B4-BE49-F238E27FC236}">
                <a16:creationId xmlns:a16="http://schemas.microsoft.com/office/drawing/2014/main" id="{468F1EB6-F0F1-4D6C-905F-649FD773448E}"/>
              </a:ext>
            </a:extLst>
          </p:cNvPr>
          <p:cNvSpPr>
            <a:spLocks xmlns:a="http://schemas.openxmlformats.org/drawingml/2006/main" noGrp="1"/>
          </p:cNvSpPr>
          <p:nvPr/>
        </p:nvSpPr>
        <p:spPr>
          <a:xfrm xmlns:a="http://schemas.openxmlformats.org/drawingml/2006/main">
            <a:off x="4667250" y="1381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2E9BFF"/>
                </a:solidFill>
                <a:latin typeface="Arial"/>
                <a:ea typeface="Arial"/>
                <a:cs typeface="Arial"/>
              </a:defRPr>
            </a:pPr>
            <a:r>
              <a:rPr sz="1350" b="1">
                <a:solidFill>
                  <a:srgbClr val="2E9BFF"/>
                </a:solidFill>
                <a:latin typeface="Arial"/>
                <a:ea typeface="Arial"/>
                <a:cs typeface="Arial"/>
              </a:rPr>
              <a:t>PREDICTION FROM TWO PUs</a:t>
            </a:r>
          </a:p>
        </p:txBody>
      </p:sp>
      <p:pic>
        <p:nvPicPr>
          <p:cNvPr id="48" name="Picture 43"/>
          <p:cNvPicPr>
            <a:picLocks xmlns:a="http://schemas.openxmlformats.org/drawingml/2006/main" noChangeAspect="1"/>
          </p:cNvPicPr>
          <p:nvPr/>
        </p:nvPicPr>
        <p:blipFill>
          <a:blip xmlns:r="http://schemas.openxmlformats.org/officeDocument/2006/relationships" xmlns:a="http://schemas.openxmlformats.org/drawingml/2006/main" r:embed="R7cef6ae2f7784618"/>
          <a:srcRect xmlns:a="http://schemas.openxmlformats.org/drawingml/2006/main" l="0" t="0" r="0" b="0"/>
          <a:stretch xmlns:a="http://schemas.openxmlformats.org/drawingml/2006/main">
            <a:fillRect l="0" t="0" r="0" b="0"/>
          </a:stretch>
        </p:blipFill>
        <p:spPr>
          <a:xfrm xmlns:a="http://schemas.openxmlformats.org/drawingml/2006/main">
            <a:off x="4667250" y="1762125"/>
            <a:ext cx="2857500" cy="2857500"/>
          </a:xfrm>
          <a:prstGeom xmlns:a="http://schemas.openxmlformats.org/drawingml/2006/main" prst="roundRect">
            <a:avLst>
              <a:gd name="adj" fmla="val 4000"/>
            </a:avLst>
          </a:prstGeom>
        </p:spPr>
      </p:pic>
      <p:sp>
        <p:nvSpPr>
          <p:cNvPr id="13" name="Rectangle 12">
            <a:extLst xmlns:a="http://schemas.openxmlformats.org/drawingml/2006/main">
              <a:ext uri="{FF2B5EF4-FFF2-40B4-BE49-F238E27FC236}">
                <a16:creationId xmlns:a16="http://schemas.microsoft.com/office/drawing/2014/main" id="{D8183739-3A32-4BD6-82C4-E5E942607733}"/>
              </a:ext>
            </a:extLst>
          </p:cNvPr>
          <p:cNvSpPr>
            <a:spLocks xmlns:a="http://schemas.openxmlformats.org/drawingml/2006/main" noGrp="1"/>
          </p:cNvSpPr>
          <p:nvPr/>
        </p:nvSpPr>
        <p:spPr>
          <a:xfrm xmlns:a="http://schemas.openxmlformats.org/drawingml/2006/main">
            <a:off x="4667250" y="1762125"/>
            <a:ext cx="2857500" cy="2857500"/>
          </a:xfrm>
          <a:prstGeom xmlns:a="http://schemas.openxmlformats.org/drawingml/2006/main" prst="rect">
            <a:avLst/>
          </a:prstGeom>
          <a:noFill xmlns:a="http://schemas.openxmlformats.org/drawingml/2006/main"/>
          <a:ln xmlns:a="http://schemas.openxmlformats.org/drawingml/2006/main" w="28575">
            <a:solidFill>
              <a:srgbClr val="2E9BFF"/>
            </a:solidFill>
            <a:prstDash val="solid"/>
          </a:ln>
        </p:spPr>
      </p:sp>
      <p:sp>
        <p:nvSpPr>
          <p:cNvPr id="14" name="Straight Connector 13">
            <a:extLst xmlns:a="http://schemas.openxmlformats.org/drawingml/2006/main">
              <a:ext uri="{FF2B5EF4-FFF2-40B4-BE49-F238E27FC236}">
                <a16:creationId xmlns:a16="http://schemas.microsoft.com/office/drawing/2014/main" id="{CE90CC7D-684E-4452-850D-0080F13ED36D}"/>
              </a:ext>
            </a:extLst>
          </p:cNvPr>
          <p:cNvSpPr>
            <a:spLocks xmlns:a="http://schemas.openxmlformats.org/drawingml/2006/main" noGrp="1"/>
          </p:cNvSpPr>
          <p:nvPr/>
        </p:nvSpPr>
        <p:spPr>
          <a:xfrm xmlns:a="http://schemas.openxmlformats.org/drawingml/2006/main">
            <a:off x="6096000" y="1762125"/>
            <a:ext cx="9525" cy="2857500"/>
          </a:xfrm>
          <a:prstGeom xmlns:a="http://schemas.openxmlformats.org/drawingml/2006/main" prst="line">
            <a:avLst/>
          </a:prstGeom>
          <a:noFill xmlns:a="http://schemas.openxmlformats.org/drawingml/2006/main"/>
          <a:ln xmlns:a="http://schemas.openxmlformats.org/drawingml/2006/main" w="28575">
            <a:solidFill>
              <a:srgbClr val="2E9BFF"/>
            </a:solidFill>
            <a:prstDash val="solid"/>
          </a:ln>
        </p:spPr>
      </p:sp>
      <p:sp>
        <p:nvSpPr>
          <p:cNvPr id="15" name="Rectangle: Rounded Corners 14">
            <a:extLst xmlns:a="http://schemas.openxmlformats.org/drawingml/2006/main">
              <a:ext uri="{FF2B5EF4-FFF2-40B4-BE49-F238E27FC236}">
                <a16:creationId xmlns:a16="http://schemas.microsoft.com/office/drawing/2014/main" id="{C9240DB4-5EE7-4EB8-9184-81EC5A91C5EC}"/>
              </a:ext>
            </a:extLst>
          </p:cNvPr>
          <p:cNvSpPr>
            <a:spLocks xmlns:a="http://schemas.openxmlformats.org/drawingml/2006/main" noGrp="1"/>
          </p:cNvSpPr>
          <p:nvPr/>
        </p:nvSpPr>
        <p:spPr>
          <a:xfrm xmlns:a="http://schemas.openxmlformats.org/drawingml/2006/main">
            <a:off x="4905375" y="1952625"/>
            <a:ext cx="781050"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E9BFF"/>
            </a:solidFill>
            <a:prstDash val="solid"/>
          </a:ln>
        </p:spPr>
      </p:sp>
      <p:sp>
        <p:nvSpPr>
          <p:cNvPr id="16" name="Rectangle 15">
            <a:extLst xmlns:a="http://schemas.openxmlformats.org/drawingml/2006/main">
              <a:ext uri="{FF2B5EF4-FFF2-40B4-BE49-F238E27FC236}">
                <a16:creationId xmlns:a16="http://schemas.microsoft.com/office/drawing/2014/main" id="{28B589D5-C459-4818-A55C-0CB82CECCEAF}"/>
              </a:ext>
            </a:extLst>
          </p:cNvPr>
          <p:cNvSpPr>
            <a:spLocks xmlns:a="http://schemas.openxmlformats.org/drawingml/2006/main" noGrp="1"/>
          </p:cNvSpPr>
          <p:nvPr/>
        </p:nvSpPr>
        <p:spPr>
          <a:xfrm xmlns:a="http://schemas.openxmlformats.org/drawingml/2006/main">
            <a:off x="4953000" y="19907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2E9BFF"/>
                </a:solidFill>
                <a:latin typeface="Arial"/>
                <a:ea typeface="Arial"/>
                <a:cs typeface="Arial"/>
              </a:defRPr>
            </a:pPr>
            <a:r>
              <a:rPr sz="975" b="1">
                <a:solidFill>
                  <a:srgbClr val="2E9BFF"/>
                </a:solidFill>
                <a:latin typeface="Arial"/>
                <a:ea typeface="Arial"/>
                <a:cs typeface="Arial"/>
              </a:rPr>
              <a:t>PU 1</a:t>
            </a:r>
          </a:p>
        </p:txBody>
      </p:sp>
      <p:sp>
        <p:nvSpPr>
          <p:cNvPr id="17" name="Rectangle: Rounded Corners 16">
            <a:extLst xmlns:a="http://schemas.openxmlformats.org/drawingml/2006/main">
              <a:ext uri="{FF2B5EF4-FFF2-40B4-BE49-F238E27FC236}">
                <a16:creationId xmlns:a16="http://schemas.microsoft.com/office/drawing/2014/main" id="{8E38B351-6F39-4649-A17F-0D18F861A2D2}"/>
              </a:ext>
            </a:extLst>
          </p:cNvPr>
          <p:cNvSpPr>
            <a:spLocks xmlns:a="http://schemas.openxmlformats.org/drawingml/2006/main" noGrp="1"/>
          </p:cNvSpPr>
          <p:nvPr/>
        </p:nvSpPr>
        <p:spPr>
          <a:xfrm xmlns:a="http://schemas.openxmlformats.org/drawingml/2006/main">
            <a:off x="6334125" y="1952625"/>
            <a:ext cx="781050"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E9BFF"/>
            </a:solidFill>
            <a:prstDash val="solid"/>
          </a:ln>
        </p:spPr>
      </p:sp>
      <p:sp>
        <p:nvSpPr>
          <p:cNvPr id="18" name="Rectangle 17">
            <a:extLst xmlns:a="http://schemas.openxmlformats.org/drawingml/2006/main">
              <a:ext uri="{FF2B5EF4-FFF2-40B4-BE49-F238E27FC236}">
                <a16:creationId xmlns:a16="http://schemas.microsoft.com/office/drawing/2014/main" id="{EA463531-E72B-4487-BA30-A50168A45240}"/>
              </a:ext>
            </a:extLst>
          </p:cNvPr>
          <p:cNvSpPr>
            <a:spLocks xmlns:a="http://schemas.openxmlformats.org/drawingml/2006/main" noGrp="1"/>
          </p:cNvSpPr>
          <p:nvPr/>
        </p:nvSpPr>
        <p:spPr>
          <a:xfrm xmlns:a="http://schemas.openxmlformats.org/drawingml/2006/main">
            <a:off x="6381750" y="19907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2E9BFF"/>
                </a:solidFill>
                <a:latin typeface="Arial"/>
                <a:ea typeface="Arial"/>
                <a:cs typeface="Arial"/>
              </a:defRPr>
            </a:pPr>
            <a:r>
              <a:rPr sz="975" b="1">
                <a:solidFill>
                  <a:srgbClr val="2E9BFF"/>
                </a:solidFill>
                <a:latin typeface="Arial"/>
                <a:ea typeface="Arial"/>
                <a:cs typeface="Arial"/>
              </a:rPr>
              <a:t>PU 2</a:t>
            </a:r>
          </a:p>
        </p:txBody>
      </p:sp>
      <p:sp>
        <p:nvSpPr>
          <p:cNvPr id="19" name="Rectangle 18">
            <a:extLst xmlns:a="http://schemas.openxmlformats.org/drawingml/2006/main">
              <a:ext uri="{FF2B5EF4-FFF2-40B4-BE49-F238E27FC236}">
                <a16:creationId xmlns:a16="http://schemas.microsoft.com/office/drawing/2014/main" id="{299E1642-B5AB-490A-8FE9-3FE604BD0C8E}"/>
              </a:ext>
            </a:extLst>
          </p:cNvPr>
          <p:cNvSpPr>
            <a:spLocks xmlns:a="http://schemas.openxmlformats.org/drawingml/2006/main" noGrp="1"/>
          </p:cNvSpPr>
          <p:nvPr/>
        </p:nvSpPr>
        <p:spPr>
          <a:xfrm xmlns:a="http://schemas.openxmlformats.org/drawingml/2006/main">
            <a:off x="8667750" y="1381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47E6A4"/>
                </a:solidFill>
                <a:latin typeface="Arial"/>
                <a:ea typeface="Arial"/>
                <a:cs typeface="Arial"/>
              </a:defRPr>
            </a:pPr>
            <a:r>
              <a:rPr sz="1350" b="1">
                <a:solidFill>
                  <a:srgbClr val="47E6A4"/>
                </a:solidFill>
                <a:latin typeface="Arial"/>
                <a:ea typeface="Arial"/>
                <a:cs typeface="Arial"/>
              </a:rPr>
              <a:t>RESIDUAL SPLIT INTO 4 TUs</a:t>
            </a:r>
          </a:p>
        </p:txBody>
      </p:sp>
      <p:pic>
        <p:nvPicPr>
          <p:cNvPr id="56" name="Picture 51"/>
          <p:cNvPicPr>
            <a:picLocks xmlns:a="http://schemas.openxmlformats.org/drawingml/2006/main" noChangeAspect="1"/>
          </p:cNvPicPr>
          <p:nvPr/>
        </p:nvPicPr>
        <p:blipFill>
          <a:blip xmlns:r="http://schemas.openxmlformats.org/officeDocument/2006/relationships" xmlns:a="http://schemas.openxmlformats.org/drawingml/2006/main" r:embed="Rb06c536a653b47a3"/>
          <a:srcRect xmlns:a="http://schemas.openxmlformats.org/drawingml/2006/main" l="0" t="0" r="0" b="0"/>
          <a:stretch xmlns:a="http://schemas.openxmlformats.org/drawingml/2006/main">
            <a:fillRect l="0" t="0" r="0" b="0"/>
          </a:stretch>
        </p:blipFill>
        <p:spPr>
          <a:xfrm xmlns:a="http://schemas.openxmlformats.org/drawingml/2006/main">
            <a:off x="8667750" y="1762125"/>
            <a:ext cx="2857500" cy="2857500"/>
          </a:xfrm>
          <a:prstGeom xmlns:a="http://schemas.openxmlformats.org/drawingml/2006/main" prst="roundRect">
            <a:avLst>
              <a:gd name="adj" fmla="val 4000"/>
            </a:avLst>
          </a:prstGeom>
        </p:spPr>
      </p:pic>
      <p:sp>
        <p:nvSpPr>
          <p:cNvPr id="21" name="Rectangle 20">
            <a:extLst xmlns:a="http://schemas.openxmlformats.org/drawingml/2006/main">
              <a:ext uri="{FF2B5EF4-FFF2-40B4-BE49-F238E27FC236}">
                <a16:creationId xmlns:a16="http://schemas.microsoft.com/office/drawing/2014/main" id="{E67CACE1-6450-4259-83DA-6A1D21A272F7}"/>
              </a:ext>
            </a:extLst>
          </p:cNvPr>
          <p:cNvSpPr>
            <a:spLocks xmlns:a="http://schemas.openxmlformats.org/drawingml/2006/main" noGrp="1"/>
          </p:cNvSpPr>
          <p:nvPr/>
        </p:nvSpPr>
        <p:spPr>
          <a:xfrm xmlns:a="http://schemas.openxmlformats.org/drawingml/2006/main">
            <a:off x="8667750" y="1762125"/>
            <a:ext cx="2857500" cy="2857500"/>
          </a:xfrm>
          <a:prstGeom xmlns:a="http://schemas.openxmlformats.org/drawingml/2006/main" prst="rect">
            <a:avLst/>
          </a:prstGeom>
          <a:noFill xmlns:a="http://schemas.openxmlformats.org/drawingml/2006/main"/>
          <a:ln xmlns:a="http://schemas.openxmlformats.org/drawingml/2006/main" w="28575">
            <a:solidFill>
              <a:srgbClr val="47E6A4"/>
            </a:solidFill>
            <a:prstDash val="solid"/>
          </a:ln>
        </p:spPr>
      </p:sp>
      <p:sp>
        <p:nvSpPr>
          <p:cNvPr id="22" name="Straight Connector 21">
            <a:extLst xmlns:a="http://schemas.openxmlformats.org/drawingml/2006/main">
              <a:ext uri="{FF2B5EF4-FFF2-40B4-BE49-F238E27FC236}">
                <a16:creationId xmlns:a16="http://schemas.microsoft.com/office/drawing/2014/main" id="{EFDFD42A-9E69-44CE-8F53-28D5860F952E}"/>
              </a:ext>
            </a:extLst>
          </p:cNvPr>
          <p:cNvSpPr>
            <a:spLocks xmlns:a="http://schemas.openxmlformats.org/drawingml/2006/main" noGrp="1"/>
          </p:cNvSpPr>
          <p:nvPr/>
        </p:nvSpPr>
        <p:spPr>
          <a:xfrm xmlns:a="http://schemas.openxmlformats.org/drawingml/2006/main">
            <a:off x="10096500" y="1762125"/>
            <a:ext cx="9525" cy="2857500"/>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23" name="Straight Connector 22">
            <a:extLst xmlns:a="http://schemas.openxmlformats.org/drawingml/2006/main">
              <a:ext uri="{FF2B5EF4-FFF2-40B4-BE49-F238E27FC236}">
                <a16:creationId xmlns:a16="http://schemas.microsoft.com/office/drawing/2014/main" id="{295BA9C8-FA1A-44A3-9D4E-94B7720DEF8F}"/>
              </a:ext>
            </a:extLst>
          </p:cNvPr>
          <p:cNvSpPr>
            <a:spLocks xmlns:a="http://schemas.openxmlformats.org/drawingml/2006/main" noGrp="1"/>
          </p:cNvSpPr>
          <p:nvPr/>
        </p:nvSpPr>
        <p:spPr>
          <a:xfrm xmlns:a="http://schemas.openxmlformats.org/drawingml/2006/main">
            <a:off x="8667750" y="3190875"/>
            <a:ext cx="2857500" cy="9525"/>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24" name="Rectangle 23">
            <a:extLst xmlns:a="http://schemas.openxmlformats.org/drawingml/2006/main">
              <a:ext uri="{FF2B5EF4-FFF2-40B4-BE49-F238E27FC236}">
                <a16:creationId xmlns:a16="http://schemas.microsoft.com/office/drawing/2014/main" id="{A670281E-9D6D-45C1-8CBE-5EBC27122D6E}"/>
              </a:ext>
            </a:extLst>
          </p:cNvPr>
          <p:cNvSpPr>
            <a:spLocks xmlns:a="http://schemas.openxmlformats.org/drawingml/2006/main" noGrp="1"/>
          </p:cNvSpPr>
          <p:nvPr/>
        </p:nvSpPr>
        <p:spPr>
          <a:xfrm xmlns:a="http://schemas.openxmlformats.org/drawingml/2006/main">
            <a:off x="9001125" y="233362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TU 1</a:t>
            </a:r>
          </a:p>
        </p:txBody>
      </p:sp>
      <p:sp>
        <p:nvSpPr>
          <p:cNvPr id="25" name="Rectangle 24">
            <a:extLst xmlns:a="http://schemas.openxmlformats.org/drawingml/2006/main">
              <a:ext uri="{FF2B5EF4-FFF2-40B4-BE49-F238E27FC236}">
                <a16:creationId xmlns:a16="http://schemas.microsoft.com/office/drawing/2014/main" id="{EEB106D5-CA99-409B-9177-1B281F9E30C5}"/>
              </a:ext>
            </a:extLst>
          </p:cNvPr>
          <p:cNvSpPr>
            <a:spLocks xmlns:a="http://schemas.openxmlformats.org/drawingml/2006/main" noGrp="1"/>
          </p:cNvSpPr>
          <p:nvPr/>
        </p:nvSpPr>
        <p:spPr>
          <a:xfrm xmlns:a="http://schemas.openxmlformats.org/drawingml/2006/main">
            <a:off x="10429875" y="233362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TU 2</a:t>
            </a:r>
          </a:p>
        </p:txBody>
      </p:sp>
      <p:sp>
        <p:nvSpPr>
          <p:cNvPr id="26" name="Rectangle 25">
            <a:extLst xmlns:a="http://schemas.openxmlformats.org/drawingml/2006/main">
              <a:ext uri="{FF2B5EF4-FFF2-40B4-BE49-F238E27FC236}">
                <a16:creationId xmlns:a16="http://schemas.microsoft.com/office/drawing/2014/main" id="{C6260CD3-2B6A-4531-9AB6-DFB6DA10E8E1}"/>
              </a:ext>
            </a:extLst>
          </p:cNvPr>
          <p:cNvSpPr>
            <a:spLocks xmlns:a="http://schemas.openxmlformats.org/drawingml/2006/main" noGrp="1"/>
          </p:cNvSpPr>
          <p:nvPr/>
        </p:nvSpPr>
        <p:spPr>
          <a:xfrm xmlns:a="http://schemas.openxmlformats.org/drawingml/2006/main">
            <a:off x="9001125" y="37623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TU 3</a:t>
            </a:r>
          </a:p>
        </p:txBody>
      </p:sp>
      <p:sp>
        <p:nvSpPr>
          <p:cNvPr id="27" name="Rectangle 26">
            <a:extLst xmlns:a="http://schemas.openxmlformats.org/drawingml/2006/main">
              <a:ext uri="{FF2B5EF4-FFF2-40B4-BE49-F238E27FC236}">
                <a16:creationId xmlns:a16="http://schemas.microsoft.com/office/drawing/2014/main" id="{5B139B4A-6302-4AF7-A325-1028CEF737F2}"/>
              </a:ext>
            </a:extLst>
          </p:cNvPr>
          <p:cNvSpPr>
            <a:spLocks xmlns:a="http://schemas.openxmlformats.org/drawingml/2006/main" noGrp="1"/>
          </p:cNvSpPr>
          <p:nvPr/>
        </p:nvSpPr>
        <p:spPr>
          <a:xfrm xmlns:a="http://schemas.openxmlformats.org/drawingml/2006/main">
            <a:off x="10429875" y="37623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TU 4</a:t>
            </a:r>
          </a:p>
        </p:txBody>
      </p:sp>
      <p:sp>
        <p:nvSpPr>
          <p:cNvPr id="28" name="Rectangle 27">
            <a:extLst xmlns:a="http://schemas.openxmlformats.org/drawingml/2006/main">
              <a:ext uri="{FF2B5EF4-FFF2-40B4-BE49-F238E27FC236}">
                <a16:creationId xmlns:a16="http://schemas.microsoft.com/office/drawing/2014/main" id="{B5C3A374-E945-4A5B-906F-66F532C67B3E}"/>
              </a:ext>
            </a:extLst>
          </p:cNvPr>
          <p:cNvSpPr>
            <a:spLocks xmlns:a="http://schemas.openxmlformats.org/drawingml/2006/main" noGrp="1"/>
          </p:cNvSpPr>
          <p:nvPr/>
        </p:nvSpPr>
        <p:spPr>
          <a:xfrm xmlns:a="http://schemas.openxmlformats.org/drawingml/2006/main">
            <a:off x="3857625" y="2857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596"/>
          </a:bodyPr>
          <a:lstStyle xmlns:a="http://schemas.openxmlformats.org/drawingml/2006/main"/>
          <a:p xmlns:a="http://schemas.openxmlformats.org/drawingml/2006/main">
            <a:pPr>
              <a:buNone/>
              <a:defRPr sz="2850" b="1">
                <a:solidFill>
                  <a:srgbClr val="F4F8FC"/>
                </a:solidFill>
                <a:latin typeface="Arial"/>
                <a:ea typeface="Arial"/>
                <a:cs typeface="Arial"/>
              </a:defRPr>
            </a:pPr>
            <a:r>
              <a:rPr sz="2850" b="1">
                <a:solidFill>
                  <a:srgbClr val="F4F8FC"/>
                </a:solidFill>
                <a:latin typeface="Arial"/>
                <a:ea typeface="Arial"/>
                <a:cs typeface="Arial"/>
              </a:rPr>
              <a:t>−</a:t>
            </a:r>
          </a:p>
        </p:txBody>
      </p:sp>
      <p:sp>
        <p:nvSpPr>
          <p:cNvPr id="29" name="Rectangle 28">
            <a:extLst xmlns:a="http://schemas.openxmlformats.org/drawingml/2006/main">
              <a:ext uri="{FF2B5EF4-FFF2-40B4-BE49-F238E27FC236}">
                <a16:creationId xmlns:a16="http://schemas.microsoft.com/office/drawing/2014/main" id="{B8237D38-3DDC-4F54-BBF2-85FB640378D2}"/>
              </a:ext>
            </a:extLst>
          </p:cNvPr>
          <p:cNvSpPr>
            <a:spLocks xmlns:a="http://schemas.openxmlformats.org/drawingml/2006/main" noGrp="1"/>
          </p:cNvSpPr>
          <p:nvPr/>
        </p:nvSpPr>
        <p:spPr>
          <a:xfrm xmlns:a="http://schemas.openxmlformats.org/drawingml/2006/main">
            <a:off x="7905750" y="2857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596"/>
          </a:bodyPr>
          <a:lstStyle xmlns:a="http://schemas.openxmlformats.org/drawingml/2006/main"/>
          <a:p xmlns:a="http://schemas.openxmlformats.org/drawingml/2006/main">
            <a:pPr>
              <a:buNone/>
              <a:defRPr sz="2850" b="1">
                <a:solidFill>
                  <a:srgbClr val="F4F8FC"/>
                </a:solidFill>
                <a:latin typeface="Arial"/>
                <a:ea typeface="Arial"/>
                <a:cs typeface="Arial"/>
              </a:defRPr>
            </a:pPr>
            <a:r>
              <a:rPr sz="2850" b="1">
                <a:solidFill>
                  <a:srgbClr val="F4F8FC"/>
                </a:solidFill>
                <a:latin typeface="Arial"/>
                <a:ea typeface="Arial"/>
                <a:cs typeface="Arial"/>
              </a:rPr>
              <a:t>=</a:t>
            </a:r>
          </a:p>
        </p:txBody>
      </p:sp>
      <p:sp>
        <p:nvSpPr>
          <p:cNvPr id="30" name="Rectangle 29">
            <a:extLst xmlns:a="http://schemas.openxmlformats.org/drawingml/2006/main">
              <a:ext uri="{FF2B5EF4-FFF2-40B4-BE49-F238E27FC236}">
                <a16:creationId xmlns:a16="http://schemas.microsoft.com/office/drawing/2014/main" id="{1CA821A5-4939-4DDE-93D7-4A139C1F3B1E}"/>
              </a:ext>
            </a:extLst>
          </p:cNvPr>
          <p:cNvSpPr>
            <a:spLocks xmlns:a="http://schemas.openxmlformats.org/drawingml/2006/main" noGrp="1"/>
          </p:cNvSpPr>
          <p:nvPr/>
        </p:nvSpPr>
        <p:spPr>
          <a:xfrm xmlns:a="http://schemas.openxmlformats.org/drawingml/2006/main">
            <a:off x="2095500" y="49149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AFC0D0"/>
                </a:solidFill>
                <a:latin typeface="Arial"/>
                <a:ea typeface="Arial"/>
                <a:cs typeface="Arial"/>
              </a:defRPr>
            </a:pPr>
            <a:r>
              <a:rPr sz="1350" b="1">
                <a:solidFill>
                  <a:srgbClr val="AFC0D0"/>
                </a:solidFill>
                <a:latin typeface="Arial"/>
                <a:ea typeface="Arial"/>
                <a:cs typeface="Arial"/>
              </a:rPr>
              <a:t>Bright pixels show a large difference. Dark pixels show a close prediction.</a:t>
            </a:r>
          </a:p>
        </p:txBody>
      </p:sp>
      <p:sp>
        <p:nvSpPr>
          <p:cNvPr id="31" name="Rectangle: Rounded Corners 30">
            <a:extLst xmlns:a="http://schemas.openxmlformats.org/drawingml/2006/main">
              <a:ext uri="{FF2B5EF4-FFF2-40B4-BE49-F238E27FC236}">
                <a16:creationId xmlns:a16="http://schemas.microsoft.com/office/drawing/2014/main" id="{901D54A3-EC16-4289-94C8-A589512F0576}"/>
              </a:ext>
            </a:extLst>
          </p:cNvPr>
          <p:cNvSpPr>
            <a:spLocks xmlns:a="http://schemas.openxmlformats.org/drawingml/2006/main" noGrp="1"/>
          </p:cNvSpPr>
          <p:nvPr/>
        </p:nvSpPr>
        <p:spPr>
          <a:xfrm xmlns:a="http://schemas.openxmlformats.org/drawingml/2006/main">
            <a:off x="1143000" y="5638800"/>
            <a:ext cx="9906000" cy="647700"/>
          </a:xfrm>
          <a:prstGeom xmlns:a="http://schemas.openxmlformats.org/drawingml/2006/main" prst="roundRect">
            <a:avLst>
              <a:gd name="adj" fmla="val 17647"/>
            </a:avLst>
          </a:prstGeom>
          <a:solidFill xmlns:a="http://schemas.openxmlformats.org/drawingml/2006/main">
            <a:srgbClr val="132536"/>
          </a:solidFill>
          <a:ln xmlns:a="http://schemas.openxmlformats.org/drawingml/2006/main" w="19050">
            <a:solidFill>
              <a:srgbClr val="FFB84D"/>
            </a:solidFill>
            <a:prstDash val="solid"/>
          </a:ln>
        </p:spPr>
      </p:sp>
      <p:sp>
        <p:nvSpPr>
          <p:cNvPr id="32" name="Rectangle 31">
            <a:extLst xmlns:a="http://schemas.openxmlformats.org/drawingml/2006/main">
              <a:ext uri="{FF2B5EF4-FFF2-40B4-BE49-F238E27FC236}">
                <a16:creationId xmlns:a16="http://schemas.microsoft.com/office/drawing/2014/main" id="{FA4BF279-11F3-447B-BEF1-06ED0D1BED78}"/>
              </a:ext>
            </a:extLst>
          </p:cNvPr>
          <p:cNvSpPr>
            <a:spLocks xmlns:a="http://schemas.openxmlformats.org/drawingml/2006/main" noGrp="1"/>
          </p:cNvSpPr>
          <p:nvPr/>
        </p:nvSpPr>
        <p:spPr>
          <a:xfrm xmlns:a="http://schemas.openxmlformats.org/drawingml/2006/main">
            <a:off x="1257300" y="5734050"/>
            <a:ext cx="967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This creates Open Question 3: why does the residual need separate Transform Units instead of reusing the Prediction Unit boundaries?</a:t>
            </a:r>
          </a:p>
        </p:txBody>
      </p:sp>
    </p:spTree>
    <p:extLst>
      <p:ext uri="{BB962C8B-B14F-4D97-AF65-F5344CB8AC3E}">
        <p14:creationId xmlns:p14="http://schemas.microsoft.com/office/powerpoint/2010/main" val="1583274786"/>
      </p:ext>
    </p:extLst>
  </p:cSld>
</p:sld>
</file>

<file path=ppt/slides/slide6.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61" name="Oval 60">
            <a:extLst xmlns:a="http://schemas.openxmlformats.org/drawingml/2006/main">
              <a:ext uri="{FF2B5EF4-FFF2-40B4-BE49-F238E27FC236}">
                <a16:creationId xmlns:a16="http://schemas.microsoft.com/office/drawing/2014/main" id="{D0895CA1-19A3-4D8D-9A32-5F28EF90935A}"/>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F73A19B0-AB79-4DA5-94E8-2D38E79F1928}"/>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EE9B83D4-43F4-4DB1-BC5D-E99BEBFAC2B5}"/>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Block X hierarchy: picture, CTU, CU, PU, and TU</a:t>
            </a:r>
          </a:p>
        </p:txBody>
      </p:sp>
      <p:sp>
        <p:nvSpPr>
          <p:cNvPr id="4" name="Straight Connector 3">
            <a:extLst xmlns:a="http://schemas.openxmlformats.org/drawingml/2006/main">
              <a:ext uri="{FF2B5EF4-FFF2-40B4-BE49-F238E27FC236}">
                <a16:creationId xmlns:a16="http://schemas.microsoft.com/office/drawing/2014/main" id="{5D09015B-C282-4134-8F8A-D084032225EF}"/>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B426C7EA-02CD-49E2-89D3-3E59F75DB8AD}"/>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Each panel zooms further into the same example and introduces one coding level</a:t>
            </a:r>
          </a:p>
        </p:txBody>
      </p:sp>
      <p:sp>
        <p:nvSpPr>
          <p:cNvPr id="6" name="Rectangle 5">
            <a:extLst xmlns:a="http://schemas.openxmlformats.org/drawingml/2006/main">
              <a:ext uri="{FF2B5EF4-FFF2-40B4-BE49-F238E27FC236}">
                <a16:creationId xmlns:a16="http://schemas.microsoft.com/office/drawing/2014/main" id="{8D373438-6277-45E9-B042-77C1694D93FC}"/>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3FFAAE14-E03F-4A2A-914C-B9B2A17C4D2D}"/>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06 / 49</a:t>
            </a:r>
          </a:p>
        </p:txBody>
      </p:sp>
      <p:sp>
        <p:nvSpPr>
          <p:cNvPr id="8" name="Rectangle 7">
            <a:extLst xmlns:a="http://schemas.openxmlformats.org/drawingml/2006/main">
              <a:ext uri="{FF2B5EF4-FFF2-40B4-BE49-F238E27FC236}">
                <a16:creationId xmlns:a16="http://schemas.microsoft.com/office/drawing/2014/main" id="{75FE75CE-5109-489B-B77D-5EA3F52434CA}"/>
              </a:ext>
            </a:extLst>
          </p:cNvPr>
          <p:cNvSpPr>
            <a:spLocks xmlns:a="http://schemas.openxmlformats.org/drawingml/2006/main" noGrp="1"/>
          </p:cNvSpPr>
          <p:nvPr/>
        </p:nvSpPr>
        <p:spPr>
          <a:xfrm xmlns:a="http://schemas.openxmlformats.org/drawingml/2006/main">
            <a:off x="238125" y="13335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AFC0D0"/>
                </a:solidFill>
                <a:latin typeface="Arial"/>
                <a:ea typeface="Arial"/>
                <a:cs typeface="Arial"/>
              </a:defRPr>
            </a:pPr>
            <a:r>
              <a:rPr sz="1350" b="1">
                <a:solidFill>
                  <a:srgbClr val="AFC0D0"/>
                </a:solidFill>
                <a:latin typeface="Arial"/>
                <a:ea typeface="Arial"/>
                <a:cs typeface="Arial"/>
              </a:rPr>
              <a:t>1  WHOLE PICTURE</a:t>
            </a:r>
          </a:p>
        </p:txBody>
      </p:sp>
      <p:pic>
        <p:nvPicPr>
          <p:cNvPr id="127" name="Picture 68"/>
          <p:cNvPicPr>
            <a:picLocks xmlns:a="http://schemas.openxmlformats.org/drawingml/2006/main" noChangeAspect="1"/>
          </p:cNvPicPr>
          <p:nvPr/>
        </p:nvPicPr>
        <p:blipFill>
          <a:blip xmlns:r="http://schemas.openxmlformats.org/officeDocument/2006/relationships" xmlns:a="http://schemas.openxmlformats.org/drawingml/2006/main" r:embed="Rc7a72bb6c0344160"/>
          <a:srcRect xmlns:a="http://schemas.openxmlformats.org/drawingml/2006/main" l="4976" t="0" r="4976" b="0"/>
          <a:stretch xmlns:a="http://schemas.openxmlformats.org/drawingml/2006/main">
            <a:fillRect l="0" t="0" r="0" b="0"/>
          </a:stretch>
        </p:blipFill>
        <p:spPr>
          <a:xfrm xmlns:a="http://schemas.openxmlformats.org/drawingml/2006/main">
            <a:off x="238125" y="2000250"/>
            <a:ext cx="2286000" cy="1428750"/>
          </a:xfrm>
          <a:prstGeom xmlns:a="http://schemas.openxmlformats.org/drawingml/2006/main" prst="roundRect">
            <a:avLst>
              <a:gd name="adj" fmla="val 8000"/>
            </a:avLst>
          </a:prstGeom>
        </p:spPr>
      </p:pic>
      <p:sp>
        <p:nvSpPr>
          <p:cNvPr id="10" name="Rectangle 9">
            <a:extLst xmlns:a="http://schemas.openxmlformats.org/drawingml/2006/main">
              <a:ext uri="{FF2B5EF4-FFF2-40B4-BE49-F238E27FC236}">
                <a16:creationId xmlns:a16="http://schemas.microsoft.com/office/drawing/2014/main" id="{5374F021-92A8-4ED9-BC5E-23B21784E29F}"/>
              </a:ext>
            </a:extLst>
          </p:cNvPr>
          <p:cNvSpPr>
            <a:spLocks xmlns:a="http://schemas.openxmlformats.org/drawingml/2006/main" noGrp="1"/>
          </p:cNvSpPr>
          <p:nvPr/>
        </p:nvSpPr>
        <p:spPr>
          <a:xfrm xmlns:a="http://schemas.openxmlformats.org/drawingml/2006/main">
            <a:off x="238125" y="2000250"/>
            <a:ext cx="2286000" cy="1428750"/>
          </a:xfrm>
          <a:prstGeom xmlns:a="http://schemas.openxmlformats.org/drawingml/2006/main" prst="rect">
            <a:avLst/>
          </a:prstGeom>
          <a:noFill xmlns:a="http://schemas.openxmlformats.org/drawingml/2006/main"/>
          <a:ln xmlns:a="http://schemas.openxmlformats.org/drawingml/2006/main" w="28575">
            <a:solidFill>
              <a:srgbClr val="AFC0D0"/>
            </a:solidFill>
            <a:prstDash val="solid"/>
          </a:ln>
        </p:spPr>
      </p:sp>
      <p:sp>
        <p:nvSpPr>
          <p:cNvPr id="11" name="Rectangle 10">
            <a:extLst xmlns:a="http://schemas.openxmlformats.org/drawingml/2006/main">
              <a:ext uri="{FF2B5EF4-FFF2-40B4-BE49-F238E27FC236}">
                <a16:creationId xmlns:a16="http://schemas.microsoft.com/office/drawing/2014/main" id="{F9470590-A0AD-43E1-87C9-F955B16737AB}"/>
              </a:ext>
            </a:extLst>
          </p:cNvPr>
          <p:cNvSpPr>
            <a:spLocks xmlns:a="http://schemas.openxmlformats.org/drawingml/2006/main" noGrp="1"/>
          </p:cNvSpPr>
          <p:nvPr/>
        </p:nvSpPr>
        <p:spPr>
          <a:xfrm xmlns:a="http://schemas.openxmlformats.org/drawingml/2006/main">
            <a:off x="1790700" y="2190750"/>
            <a:ext cx="685800" cy="685800"/>
          </a:xfrm>
          <a:prstGeom xmlns:a="http://schemas.openxmlformats.org/drawingml/2006/main" prst="rect">
            <a:avLst/>
          </a:prstGeom>
          <a:noFill xmlns:a="http://schemas.openxmlformats.org/drawingml/2006/main"/>
          <a:ln xmlns:a="http://schemas.openxmlformats.org/drawingml/2006/main" w="38100">
            <a:solidFill>
              <a:srgbClr val="22D3EE"/>
            </a:solidFill>
            <a:prstDash val="solid"/>
          </a:ln>
        </p:spPr>
      </p:sp>
      <p:sp>
        <p:nvSpPr>
          <p:cNvPr id="12" name="Rectangle: Rounded Corners 11">
            <a:extLst xmlns:a="http://schemas.openxmlformats.org/drawingml/2006/main">
              <a:ext uri="{FF2B5EF4-FFF2-40B4-BE49-F238E27FC236}">
                <a16:creationId xmlns:a16="http://schemas.microsoft.com/office/drawing/2014/main" id="{97796827-26B1-45DD-986C-123A3B6D47BA}"/>
              </a:ext>
            </a:extLst>
          </p:cNvPr>
          <p:cNvSpPr>
            <a:spLocks xmlns:a="http://schemas.openxmlformats.org/drawingml/2006/main" noGrp="1"/>
          </p:cNvSpPr>
          <p:nvPr/>
        </p:nvSpPr>
        <p:spPr>
          <a:xfrm xmlns:a="http://schemas.openxmlformats.org/drawingml/2006/main">
            <a:off x="857250" y="2057400"/>
            <a:ext cx="819150"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2D3EE"/>
            </a:solidFill>
            <a:prstDash val="solid"/>
          </a:ln>
        </p:spPr>
      </p:sp>
      <p:sp>
        <p:nvSpPr>
          <p:cNvPr id="13" name="Rectangle 12">
            <a:extLst xmlns:a="http://schemas.openxmlformats.org/drawingml/2006/main">
              <a:ext uri="{FF2B5EF4-FFF2-40B4-BE49-F238E27FC236}">
                <a16:creationId xmlns:a16="http://schemas.microsoft.com/office/drawing/2014/main" id="{69BBB01B-ED64-4BDB-BE2C-453E5B29BF93}"/>
              </a:ext>
            </a:extLst>
          </p:cNvPr>
          <p:cNvSpPr>
            <a:spLocks xmlns:a="http://schemas.openxmlformats.org/drawingml/2006/main" noGrp="1"/>
          </p:cNvSpPr>
          <p:nvPr/>
        </p:nvSpPr>
        <p:spPr>
          <a:xfrm xmlns:a="http://schemas.openxmlformats.org/drawingml/2006/main">
            <a:off x="976313" y="20955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lnSpcReduction="10000"/>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BLOCK 1</a:t>
            </a:r>
          </a:p>
        </p:txBody>
      </p:sp>
      <p:sp>
        <p:nvSpPr>
          <p:cNvPr id="14" name="Rectangle 13">
            <a:extLst xmlns:a="http://schemas.openxmlformats.org/drawingml/2006/main">
              <a:ext uri="{FF2B5EF4-FFF2-40B4-BE49-F238E27FC236}">
                <a16:creationId xmlns:a16="http://schemas.microsoft.com/office/drawing/2014/main" id="{D22CF444-DB5A-4820-BACC-6980EB58DFA9}"/>
              </a:ext>
            </a:extLst>
          </p:cNvPr>
          <p:cNvSpPr>
            <a:spLocks xmlns:a="http://schemas.openxmlformats.org/drawingml/2006/main" noGrp="1"/>
          </p:cNvSpPr>
          <p:nvPr/>
        </p:nvSpPr>
        <p:spPr>
          <a:xfrm xmlns:a="http://schemas.openxmlformats.org/drawingml/2006/main">
            <a:off x="2857500" y="13335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22D3EE"/>
                </a:solidFill>
                <a:latin typeface="Arial"/>
                <a:ea typeface="Arial"/>
                <a:cs typeface="Arial"/>
              </a:defRPr>
            </a:pPr>
            <a:r>
              <a:rPr sz="1350" b="1">
                <a:solidFill>
                  <a:srgbClr val="22D3EE"/>
                </a:solidFill>
                <a:latin typeface="Arial"/>
                <a:ea typeface="Arial"/>
                <a:cs typeface="Arial"/>
              </a:rPr>
              <a:t>2  CTU</a:t>
            </a:r>
          </a:p>
        </p:txBody>
      </p:sp>
      <p:pic>
        <p:nvPicPr>
          <p:cNvPr id="133" name="Picture 74"/>
          <p:cNvPicPr>
            <a:picLocks xmlns:a="http://schemas.openxmlformats.org/drawingml/2006/main" noChangeAspect="1"/>
          </p:cNvPicPr>
          <p:nvPr/>
        </p:nvPicPr>
        <p:blipFill>
          <a:blip xmlns:r="http://schemas.openxmlformats.org/officeDocument/2006/relationships" xmlns:a="http://schemas.openxmlformats.org/drawingml/2006/main" r:embed="R72d21327ba8e4455"/>
          <a:srcRect xmlns:a="http://schemas.openxmlformats.org/drawingml/2006/main" l="0" t="0" r="0" b="0"/>
          <a:stretch xmlns:a="http://schemas.openxmlformats.org/drawingml/2006/main">
            <a:fillRect l="0" t="0" r="0" b="0"/>
          </a:stretch>
        </p:blipFill>
        <p:spPr>
          <a:xfrm xmlns:a="http://schemas.openxmlformats.org/drawingml/2006/main">
            <a:off x="2857500" y="1762125"/>
            <a:ext cx="1905000" cy="1905000"/>
          </a:xfrm>
          <a:prstGeom xmlns:a="http://schemas.openxmlformats.org/drawingml/2006/main" prst="roundRect">
            <a:avLst>
              <a:gd name="adj" fmla="val 6000"/>
            </a:avLst>
          </a:prstGeom>
        </p:spPr>
      </p:pic>
      <p:sp>
        <p:nvSpPr>
          <p:cNvPr id="16" name="Rectangle 15">
            <a:extLst xmlns:a="http://schemas.openxmlformats.org/drawingml/2006/main">
              <a:ext uri="{FF2B5EF4-FFF2-40B4-BE49-F238E27FC236}">
                <a16:creationId xmlns:a16="http://schemas.microsoft.com/office/drawing/2014/main" id="{F8971126-EEA2-471E-85B2-B0A2CAF89E6F}"/>
              </a:ext>
            </a:extLst>
          </p:cNvPr>
          <p:cNvSpPr>
            <a:spLocks xmlns:a="http://schemas.openxmlformats.org/drawingml/2006/main" noGrp="1"/>
          </p:cNvSpPr>
          <p:nvPr/>
        </p:nvSpPr>
        <p:spPr>
          <a:xfrm xmlns:a="http://schemas.openxmlformats.org/drawingml/2006/main">
            <a:off x="2857500" y="1762125"/>
            <a:ext cx="1905000" cy="1905000"/>
          </a:xfrm>
          <a:prstGeom xmlns:a="http://schemas.openxmlformats.org/drawingml/2006/main" prst="rect">
            <a:avLst/>
          </a:prstGeom>
          <a:noFill xmlns:a="http://schemas.openxmlformats.org/drawingml/2006/main"/>
          <a:ln xmlns:a="http://schemas.openxmlformats.org/drawingml/2006/main" w="38100">
            <a:solidFill>
              <a:srgbClr val="22D3EE"/>
            </a:solidFill>
            <a:prstDash val="solid"/>
          </a:ln>
        </p:spPr>
      </p:sp>
      <p:sp>
        <p:nvSpPr>
          <p:cNvPr id="17" name="Rectangle: Rounded Corners 16">
            <a:extLst xmlns:a="http://schemas.openxmlformats.org/drawingml/2006/main">
              <a:ext uri="{FF2B5EF4-FFF2-40B4-BE49-F238E27FC236}">
                <a16:creationId xmlns:a16="http://schemas.microsoft.com/office/drawing/2014/main" id="{6DD1BDA6-CCAF-43F4-957F-EF1E8ECBA0A5}"/>
              </a:ext>
            </a:extLst>
          </p:cNvPr>
          <p:cNvSpPr>
            <a:spLocks xmlns:a="http://schemas.openxmlformats.org/drawingml/2006/main" noGrp="1"/>
          </p:cNvSpPr>
          <p:nvPr/>
        </p:nvSpPr>
        <p:spPr>
          <a:xfrm xmlns:a="http://schemas.openxmlformats.org/drawingml/2006/main">
            <a:off x="3238500" y="1905000"/>
            <a:ext cx="1143000"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2D3EE"/>
            </a:solidFill>
            <a:prstDash val="solid"/>
          </a:ln>
        </p:spPr>
      </p:sp>
      <p:sp>
        <p:nvSpPr>
          <p:cNvPr id="18" name="Rectangle 17">
            <a:extLst xmlns:a="http://schemas.openxmlformats.org/drawingml/2006/main">
              <a:ext uri="{FF2B5EF4-FFF2-40B4-BE49-F238E27FC236}">
                <a16:creationId xmlns:a16="http://schemas.microsoft.com/office/drawing/2014/main" id="{B04121D2-D2C9-41D9-9B59-D8AC16C929E2}"/>
              </a:ext>
            </a:extLst>
          </p:cNvPr>
          <p:cNvSpPr>
            <a:spLocks xmlns:a="http://schemas.openxmlformats.org/drawingml/2006/main" noGrp="1"/>
          </p:cNvSpPr>
          <p:nvPr/>
        </p:nvSpPr>
        <p:spPr>
          <a:xfrm xmlns:a="http://schemas.openxmlformats.org/drawingml/2006/main">
            <a:off x="3286125" y="19431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ONE CTU</a:t>
            </a:r>
          </a:p>
        </p:txBody>
      </p:sp>
      <p:sp>
        <p:nvSpPr>
          <p:cNvPr id="19" name="Rectangle 18">
            <a:extLst xmlns:a="http://schemas.openxmlformats.org/drawingml/2006/main">
              <a:ext uri="{FF2B5EF4-FFF2-40B4-BE49-F238E27FC236}">
                <a16:creationId xmlns:a16="http://schemas.microsoft.com/office/drawing/2014/main" id="{DB229875-1A08-4DCC-815F-7D700816A485}"/>
              </a:ext>
            </a:extLst>
          </p:cNvPr>
          <p:cNvSpPr>
            <a:spLocks xmlns:a="http://schemas.openxmlformats.org/drawingml/2006/main" noGrp="1"/>
          </p:cNvSpPr>
          <p:nvPr/>
        </p:nvSpPr>
        <p:spPr>
          <a:xfrm xmlns:a="http://schemas.openxmlformats.org/drawingml/2006/main">
            <a:off x="5191125" y="13335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2E9BFF"/>
                </a:solidFill>
                <a:latin typeface="Arial"/>
                <a:ea typeface="Arial"/>
                <a:cs typeface="Arial"/>
              </a:defRPr>
            </a:pPr>
            <a:r>
              <a:rPr sz="1350" b="1">
                <a:solidFill>
                  <a:srgbClr val="2E9BFF"/>
                </a:solidFill>
                <a:latin typeface="Arial"/>
                <a:ea typeface="Arial"/>
                <a:cs typeface="Arial"/>
              </a:rPr>
              <a:t>3  CU</a:t>
            </a:r>
          </a:p>
        </p:txBody>
      </p:sp>
      <p:pic>
        <p:nvPicPr>
          <p:cNvPr id="138" name="Picture 79"/>
          <p:cNvPicPr>
            <a:picLocks xmlns:a="http://schemas.openxmlformats.org/drawingml/2006/main" noChangeAspect="1"/>
          </p:cNvPicPr>
          <p:nvPr/>
        </p:nvPicPr>
        <p:blipFill>
          <a:blip xmlns:r="http://schemas.openxmlformats.org/officeDocument/2006/relationships" xmlns:a="http://schemas.openxmlformats.org/drawingml/2006/main" r:embed="R72d21327ba8e4455"/>
          <a:srcRect xmlns:a="http://schemas.openxmlformats.org/drawingml/2006/main" l="0" t="0" r="0" b="0"/>
          <a:stretch xmlns:a="http://schemas.openxmlformats.org/drawingml/2006/main">
            <a:fillRect l="0" t="0" r="0" b="0"/>
          </a:stretch>
        </p:blipFill>
        <p:spPr>
          <a:xfrm xmlns:a="http://schemas.openxmlformats.org/drawingml/2006/main">
            <a:off x="5191125" y="1762125"/>
            <a:ext cx="1905000" cy="1905000"/>
          </a:xfrm>
          <a:prstGeom xmlns:a="http://schemas.openxmlformats.org/drawingml/2006/main" prst="roundRect">
            <a:avLst>
              <a:gd name="adj" fmla="val 6000"/>
            </a:avLst>
          </a:prstGeom>
        </p:spPr>
      </p:pic>
      <p:sp>
        <p:nvSpPr>
          <p:cNvPr id="21" name="Rectangle 20">
            <a:extLst xmlns:a="http://schemas.openxmlformats.org/drawingml/2006/main">
              <a:ext uri="{FF2B5EF4-FFF2-40B4-BE49-F238E27FC236}">
                <a16:creationId xmlns:a16="http://schemas.microsoft.com/office/drawing/2014/main" id="{B1DC5DA5-8C71-488D-AB42-7143E1C6CCF8}"/>
              </a:ext>
            </a:extLst>
          </p:cNvPr>
          <p:cNvSpPr>
            <a:spLocks xmlns:a="http://schemas.openxmlformats.org/drawingml/2006/main" noGrp="1"/>
          </p:cNvSpPr>
          <p:nvPr/>
        </p:nvSpPr>
        <p:spPr>
          <a:xfrm xmlns:a="http://schemas.openxmlformats.org/drawingml/2006/main">
            <a:off x="5191125" y="1762125"/>
            <a:ext cx="1905000" cy="1905000"/>
          </a:xfrm>
          <a:prstGeom xmlns:a="http://schemas.openxmlformats.org/drawingml/2006/main" prst="rect">
            <a:avLst/>
          </a:prstGeom>
          <a:noFill xmlns:a="http://schemas.openxmlformats.org/drawingml/2006/main"/>
          <a:ln xmlns:a="http://schemas.openxmlformats.org/drawingml/2006/main" w="38100">
            <a:solidFill>
              <a:srgbClr val="2E9BFF"/>
            </a:solidFill>
            <a:prstDash val="solid"/>
          </a:ln>
        </p:spPr>
      </p:sp>
      <p:sp>
        <p:nvSpPr>
          <p:cNvPr id="22" name="Straight Connector 21">
            <a:extLst xmlns:a="http://schemas.openxmlformats.org/drawingml/2006/main">
              <a:ext uri="{FF2B5EF4-FFF2-40B4-BE49-F238E27FC236}">
                <a16:creationId xmlns:a16="http://schemas.microsoft.com/office/drawing/2014/main" id="{29FB84AB-94C7-4DEF-B6D7-A598E5EF0D4E}"/>
              </a:ext>
            </a:extLst>
          </p:cNvPr>
          <p:cNvSpPr>
            <a:spLocks xmlns:a="http://schemas.openxmlformats.org/drawingml/2006/main" noGrp="1"/>
          </p:cNvSpPr>
          <p:nvPr/>
        </p:nvSpPr>
        <p:spPr>
          <a:xfrm xmlns:a="http://schemas.openxmlformats.org/drawingml/2006/main">
            <a:off x="6143625" y="1762125"/>
            <a:ext cx="9525" cy="1905000"/>
          </a:xfrm>
          <a:prstGeom xmlns:a="http://schemas.openxmlformats.org/drawingml/2006/main" prst="line">
            <a:avLst/>
          </a:prstGeom>
          <a:noFill xmlns:a="http://schemas.openxmlformats.org/drawingml/2006/main"/>
          <a:ln xmlns:a="http://schemas.openxmlformats.org/drawingml/2006/main" w="28575">
            <a:solidFill>
              <a:srgbClr val="2E9BFF"/>
            </a:solidFill>
            <a:prstDash val="solid"/>
          </a:ln>
        </p:spPr>
      </p:sp>
      <p:sp>
        <p:nvSpPr>
          <p:cNvPr id="23" name="Straight Connector 22">
            <a:extLst xmlns:a="http://schemas.openxmlformats.org/drawingml/2006/main">
              <a:ext uri="{FF2B5EF4-FFF2-40B4-BE49-F238E27FC236}">
                <a16:creationId xmlns:a16="http://schemas.microsoft.com/office/drawing/2014/main" id="{7EBB5C29-B616-4CBE-B797-8D2EFE7E89DF}"/>
              </a:ext>
            </a:extLst>
          </p:cNvPr>
          <p:cNvSpPr>
            <a:spLocks xmlns:a="http://schemas.openxmlformats.org/drawingml/2006/main" noGrp="1"/>
          </p:cNvSpPr>
          <p:nvPr/>
        </p:nvSpPr>
        <p:spPr>
          <a:xfrm xmlns:a="http://schemas.openxmlformats.org/drawingml/2006/main">
            <a:off x="5191125" y="2714625"/>
            <a:ext cx="1905000" cy="9525"/>
          </a:xfrm>
          <a:prstGeom xmlns:a="http://schemas.openxmlformats.org/drawingml/2006/main" prst="line">
            <a:avLst/>
          </a:prstGeom>
          <a:noFill xmlns:a="http://schemas.openxmlformats.org/drawingml/2006/main"/>
          <a:ln xmlns:a="http://schemas.openxmlformats.org/drawingml/2006/main" w="28575">
            <a:solidFill>
              <a:srgbClr val="2E9BFF"/>
            </a:solidFill>
            <a:prstDash val="solid"/>
          </a:ln>
        </p:spPr>
      </p:sp>
      <p:sp>
        <p:nvSpPr>
          <p:cNvPr id="24" name="Straight Connector 23">
            <a:extLst xmlns:a="http://schemas.openxmlformats.org/drawingml/2006/main">
              <a:ext uri="{FF2B5EF4-FFF2-40B4-BE49-F238E27FC236}">
                <a16:creationId xmlns:a16="http://schemas.microsoft.com/office/drawing/2014/main" id="{22DB2669-39E9-474E-A2CD-36EA221A612F}"/>
              </a:ext>
            </a:extLst>
          </p:cNvPr>
          <p:cNvSpPr>
            <a:spLocks xmlns:a="http://schemas.openxmlformats.org/drawingml/2006/main" noGrp="1"/>
          </p:cNvSpPr>
          <p:nvPr/>
        </p:nvSpPr>
        <p:spPr>
          <a:xfrm xmlns:a="http://schemas.openxmlformats.org/drawingml/2006/main">
            <a:off x="6619875" y="2714625"/>
            <a:ext cx="9525" cy="952500"/>
          </a:xfrm>
          <a:prstGeom xmlns:a="http://schemas.openxmlformats.org/drawingml/2006/main" prst="line">
            <a:avLst/>
          </a:prstGeom>
          <a:noFill xmlns:a="http://schemas.openxmlformats.org/drawingml/2006/main"/>
          <a:ln xmlns:a="http://schemas.openxmlformats.org/drawingml/2006/main" w="19050">
            <a:solidFill>
              <a:srgbClr val="FFB84D"/>
            </a:solidFill>
            <a:prstDash val="solid"/>
          </a:ln>
        </p:spPr>
      </p:sp>
      <p:sp>
        <p:nvSpPr>
          <p:cNvPr id="25" name="Straight Connector 24">
            <a:extLst xmlns:a="http://schemas.openxmlformats.org/drawingml/2006/main">
              <a:ext uri="{FF2B5EF4-FFF2-40B4-BE49-F238E27FC236}">
                <a16:creationId xmlns:a16="http://schemas.microsoft.com/office/drawing/2014/main" id="{100938F8-7DBF-452E-A051-5D836C4C237D}"/>
              </a:ext>
            </a:extLst>
          </p:cNvPr>
          <p:cNvSpPr>
            <a:spLocks xmlns:a="http://schemas.openxmlformats.org/drawingml/2006/main" noGrp="1"/>
          </p:cNvSpPr>
          <p:nvPr/>
        </p:nvSpPr>
        <p:spPr>
          <a:xfrm xmlns:a="http://schemas.openxmlformats.org/drawingml/2006/main">
            <a:off x="6143625" y="3190875"/>
            <a:ext cx="952500" cy="9525"/>
          </a:xfrm>
          <a:prstGeom xmlns:a="http://schemas.openxmlformats.org/drawingml/2006/main" prst="line">
            <a:avLst/>
          </a:prstGeom>
          <a:noFill xmlns:a="http://schemas.openxmlformats.org/drawingml/2006/main"/>
          <a:ln xmlns:a="http://schemas.openxmlformats.org/drawingml/2006/main" w="19050">
            <a:solidFill>
              <a:srgbClr val="FFB84D"/>
            </a:solidFill>
            <a:prstDash val="solid"/>
          </a:ln>
        </p:spPr>
      </p:sp>
      <p:sp>
        <p:nvSpPr>
          <p:cNvPr id="26" name="Rectangle 25">
            <a:extLst xmlns:a="http://schemas.openxmlformats.org/drawingml/2006/main">
              <a:ext uri="{FF2B5EF4-FFF2-40B4-BE49-F238E27FC236}">
                <a16:creationId xmlns:a16="http://schemas.microsoft.com/office/drawing/2014/main" id="{4DF52716-5CAF-4D0C-9A28-104C0EDB5EF6}"/>
              </a:ext>
            </a:extLst>
          </p:cNvPr>
          <p:cNvSpPr>
            <a:spLocks xmlns:a="http://schemas.openxmlformats.org/drawingml/2006/main" noGrp="1"/>
          </p:cNvSpPr>
          <p:nvPr/>
        </p:nvSpPr>
        <p:spPr>
          <a:xfrm xmlns:a="http://schemas.openxmlformats.org/drawingml/2006/main">
            <a:off x="6143625" y="1762125"/>
            <a:ext cx="952500" cy="952500"/>
          </a:xfrm>
          <a:prstGeom xmlns:a="http://schemas.openxmlformats.org/drawingml/2006/main" prst="rect">
            <a:avLst/>
          </a:prstGeom>
          <a:noFill xmlns:a="http://schemas.openxmlformats.org/drawingml/2006/main"/>
          <a:ln xmlns:a="http://schemas.openxmlformats.org/drawingml/2006/main" w="47625">
            <a:solidFill>
              <a:srgbClr val="47E6A4"/>
            </a:solidFill>
            <a:prstDash val="solid"/>
          </a:ln>
        </p:spPr>
      </p:sp>
      <p:sp>
        <p:nvSpPr>
          <p:cNvPr id="27" name="Rectangle: Rounded Corners 26">
            <a:extLst xmlns:a="http://schemas.openxmlformats.org/drawingml/2006/main">
              <a:ext uri="{FF2B5EF4-FFF2-40B4-BE49-F238E27FC236}">
                <a16:creationId xmlns:a16="http://schemas.microsoft.com/office/drawing/2014/main" id="{0339158C-FB0B-4E2A-8E03-81FD155F16BD}"/>
              </a:ext>
            </a:extLst>
          </p:cNvPr>
          <p:cNvSpPr>
            <a:spLocks xmlns:a="http://schemas.openxmlformats.org/drawingml/2006/main" noGrp="1"/>
          </p:cNvSpPr>
          <p:nvPr/>
        </p:nvSpPr>
        <p:spPr>
          <a:xfrm xmlns:a="http://schemas.openxmlformats.org/drawingml/2006/main">
            <a:off x="6019800" y="1905000"/>
            <a:ext cx="1190625"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47E6A4"/>
            </a:solidFill>
            <a:prstDash val="solid"/>
          </a:ln>
        </p:spPr>
      </p:sp>
      <p:sp>
        <p:nvSpPr>
          <p:cNvPr id="28" name="Rectangle 27">
            <a:extLst xmlns:a="http://schemas.openxmlformats.org/drawingml/2006/main">
              <a:ext uri="{FF2B5EF4-FFF2-40B4-BE49-F238E27FC236}">
                <a16:creationId xmlns:a16="http://schemas.microsoft.com/office/drawing/2014/main" id="{BBAF1274-9228-4027-8B05-C9A0C99C4C5B}"/>
              </a:ext>
            </a:extLst>
          </p:cNvPr>
          <p:cNvSpPr>
            <a:spLocks xmlns:a="http://schemas.openxmlformats.org/drawingml/2006/main" noGrp="1"/>
          </p:cNvSpPr>
          <p:nvPr/>
        </p:nvSpPr>
        <p:spPr>
          <a:xfrm xmlns:a="http://schemas.openxmlformats.org/drawingml/2006/main">
            <a:off x="6067425" y="1943100"/>
            <a:ext cx="109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47E6A4"/>
                </a:solidFill>
                <a:latin typeface="Arial"/>
                <a:ea typeface="Arial"/>
                <a:cs typeface="Arial"/>
              </a:defRPr>
            </a:pPr>
            <a:r>
              <a:rPr sz="975" b="1">
                <a:solidFill>
                  <a:srgbClr val="47E6A4"/>
                </a:solidFill>
                <a:latin typeface="Arial"/>
                <a:ea typeface="Arial"/>
                <a:cs typeface="Arial"/>
              </a:rPr>
              <a:t>SELECTED CU</a:t>
            </a:r>
          </a:p>
        </p:txBody>
      </p:sp>
      <p:sp>
        <p:nvSpPr>
          <p:cNvPr id="29" name="Rectangle 28">
            <a:extLst xmlns:a="http://schemas.openxmlformats.org/drawingml/2006/main">
              <a:ext uri="{FF2B5EF4-FFF2-40B4-BE49-F238E27FC236}">
                <a16:creationId xmlns:a16="http://schemas.microsoft.com/office/drawing/2014/main" id="{ACBCDAE1-5BF3-4F65-856B-5B8A95E0E0A2}"/>
              </a:ext>
            </a:extLst>
          </p:cNvPr>
          <p:cNvSpPr>
            <a:spLocks xmlns:a="http://schemas.openxmlformats.org/drawingml/2006/main" noGrp="1"/>
          </p:cNvSpPr>
          <p:nvPr/>
        </p:nvSpPr>
        <p:spPr>
          <a:xfrm xmlns:a="http://schemas.openxmlformats.org/drawingml/2006/main">
            <a:off x="7524750" y="13335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47E6A4"/>
                </a:solidFill>
                <a:latin typeface="Arial"/>
                <a:ea typeface="Arial"/>
                <a:cs typeface="Arial"/>
              </a:defRPr>
            </a:pPr>
            <a:r>
              <a:rPr sz="1350" b="1">
                <a:solidFill>
                  <a:srgbClr val="47E6A4"/>
                </a:solidFill>
                <a:latin typeface="Arial"/>
                <a:ea typeface="Arial"/>
                <a:cs typeface="Arial"/>
              </a:rPr>
              <a:t>4  PU</a:t>
            </a:r>
          </a:p>
        </p:txBody>
      </p:sp>
      <p:pic>
        <p:nvPicPr>
          <p:cNvPr id="148" name="Picture 89"/>
          <p:cNvPicPr>
            <a:picLocks xmlns:a="http://schemas.openxmlformats.org/drawingml/2006/main" noChangeAspect="1"/>
          </p:cNvPicPr>
          <p:nvPr/>
        </p:nvPicPr>
        <p:blipFill>
          <a:blip xmlns:r="http://schemas.openxmlformats.org/officeDocument/2006/relationships" xmlns:a="http://schemas.openxmlformats.org/drawingml/2006/main" r:embed="R82d565b871e449d4"/>
          <a:srcRect xmlns:a="http://schemas.openxmlformats.org/drawingml/2006/main" l="0" t="0" r="0" b="0"/>
          <a:stretch xmlns:a="http://schemas.openxmlformats.org/drawingml/2006/main">
            <a:fillRect l="0" t="0" r="0" b="0"/>
          </a:stretch>
        </p:blipFill>
        <p:spPr>
          <a:xfrm xmlns:a="http://schemas.openxmlformats.org/drawingml/2006/main">
            <a:off x="7524750" y="1762125"/>
            <a:ext cx="1905000" cy="1905000"/>
          </a:xfrm>
          <a:prstGeom xmlns:a="http://schemas.openxmlformats.org/drawingml/2006/main" prst="roundRect">
            <a:avLst>
              <a:gd name="adj" fmla="val 6000"/>
            </a:avLst>
          </a:prstGeom>
        </p:spPr>
      </p:pic>
      <p:sp>
        <p:nvSpPr>
          <p:cNvPr id="31" name="Rectangle 30">
            <a:extLst xmlns:a="http://schemas.openxmlformats.org/drawingml/2006/main">
              <a:ext uri="{FF2B5EF4-FFF2-40B4-BE49-F238E27FC236}">
                <a16:creationId xmlns:a16="http://schemas.microsoft.com/office/drawing/2014/main" id="{0B0248A3-8F49-40E0-B2E0-7B2D3A09F9E4}"/>
              </a:ext>
            </a:extLst>
          </p:cNvPr>
          <p:cNvSpPr>
            <a:spLocks xmlns:a="http://schemas.openxmlformats.org/drawingml/2006/main" noGrp="1"/>
          </p:cNvSpPr>
          <p:nvPr/>
        </p:nvSpPr>
        <p:spPr>
          <a:xfrm xmlns:a="http://schemas.openxmlformats.org/drawingml/2006/main">
            <a:off x="7524750" y="1762125"/>
            <a:ext cx="1905000" cy="1905000"/>
          </a:xfrm>
          <a:prstGeom xmlns:a="http://schemas.openxmlformats.org/drawingml/2006/main" prst="rect">
            <a:avLst/>
          </a:prstGeom>
          <a:noFill xmlns:a="http://schemas.openxmlformats.org/drawingml/2006/main"/>
          <a:ln xmlns:a="http://schemas.openxmlformats.org/drawingml/2006/main" w="38100">
            <a:solidFill>
              <a:srgbClr val="47E6A4"/>
            </a:solidFill>
            <a:prstDash val="solid"/>
          </a:ln>
        </p:spPr>
      </p:sp>
      <p:sp>
        <p:nvSpPr>
          <p:cNvPr id="32" name="Straight Connector 31">
            <a:extLst xmlns:a="http://schemas.openxmlformats.org/drawingml/2006/main">
              <a:ext uri="{FF2B5EF4-FFF2-40B4-BE49-F238E27FC236}">
                <a16:creationId xmlns:a16="http://schemas.microsoft.com/office/drawing/2014/main" id="{FDCFA78D-DD51-4F41-A626-D1F55B40A40A}"/>
              </a:ext>
            </a:extLst>
          </p:cNvPr>
          <p:cNvSpPr>
            <a:spLocks xmlns:a="http://schemas.openxmlformats.org/drawingml/2006/main" noGrp="1"/>
          </p:cNvSpPr>
          <p:nvPr/>
        </p:nvSpPr>
        <p:spPr>
          <a:xfrm xmlns:a="http://schemas.openxmlformats.org/drawingml/2006/main">
            <a:off x="8477250" y="1762125"/>
            <a:ext cx="9525" cy="1905000"/>
          </a:xfrm>
          <a:prstGeom xmlns:a="http://schemas.openxmlformats.org/drawingml/2006/main" prst="line">
            <a:avLst/>
          </a:prstGeom>
          <a:noFill xmlns:a="http://schemas.openxmlformats.org/drawingml/2006/main"/>
          <a:ln xmlns:a="http://schemas.openxmlformats.org/drawingml/2006/main" w="38100">
            <a:solidFill>
              <a:srgbClr val="47E6A4"/>
            </a:solidFill>
            <a:prstDash val="solid"/>
          </a:ln>
        </p:spPr>
      </p:sp>
      <p:sp>
        <p:nvSpPr>
          <p:cNvPr id="33" name="Rectangle: Rounded Corners 32">
            <a:extLst xmlns:a="http://schemas.openxmlformats.org/drawingml/2006/main">
              <a:ext uri="{FF2B5EF4-FFF2-40B4-BE49-F238E27FC236}">
                <a16:creationId xmlns:a16="http://schemas.microsoft.com/office/drawing/2014/main" id="{88CE3F2E-1412-4E11-B937-77E632CE9D4B}"/>
              </a:ext>
            </a:extLst>
          </p:cNvPr>
          <p:cNvSpPr>
            <a:spLocks xmlns:a="http://schemas.openxmlformats.org/drawingml/2006/main" noGrp="1"/>
          </p:cNvSpPr>
          <p:nvPr/>
        </p:nvSpPr>
        <p:spPr>
          <a:xfrm xmlns:a="http://schemas.openxmlformats.org/drawingml/2006/main">
            <a:off x="7639050" y="1905000"/>
            <a:ext cx="714375"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47E6A4"/>
            </a:solidFill>
            <a:prstDash val="solid"/>
          </a:ln>
        </p:spPr>
      </p:sp>
      <p:sp>
        <p:nvSpPr>
          <p:cNvPr id="34" name="Rectangle 33">
            <a:extLst xmlns:a="http://schemas.openxmlformats.org/drawingml/2006/main">
              <a:ext uri="{FF2B5EF4-FFF2-40B4-BE49-F238E27FC236}">
                <a16:creationId xmlns:a16="http://schemas.microsoft.com/office/drawing/2014/main" id="{1535E810-2AF1-48D8-AB68-D89391E7F7DC}"/>
              </a:ext>
            </a:extLst>
          </p:cNvPr>
          <p:cNvSpPr>
            <a:spLocks xmlns:a="http://schemas.openxmlformats.org/drawingml/2006/main" noGrp="1"/>
          </p:cNvSpPr>
          <p:nvPr/>
        </p:nvSpPr>
        <p:spPr>
          <a:xfrm xmlns:a="http://schemas.openxmlformats.org/drawingml/2006/main">
            <a:off x="7686675" y="1943100"/>
            <a:ext cx="61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47E6A4"/>
                </a:solidFill>
                <a:latin typeface="Arial"/>
                <a:ea typeface="Arial"/>
                <a:cs typeface="Arial"/>
              </a:defRPr>
            </a:pPr>
            <a:r>
              <a:rPr sz="975" b="1">
                <a:solidFill>
                  <a:srgbClr val="47E6A4"/>
                </a:solidFill>
                <a:latin typeface="Arial"/>
                <a:ea typeface="Arial"/>
                <a:cs typeface="Arial"/>
              </a:rPr>
              <a:t>PU 1</a:t>
            </a:r>
          </a:p>
        </p:txBody>
      </p:sp>
      <p:sp>
        <p:nvSpPr>
          <p:cNvPr id="35" name="Rectangle: Rounded Corners 34">
            <a:extLst xmlns:a="http://schemas.openxmlformats.org/drawingml/2006/main">
              <a:ext uri="{FF2B5EF4-FFF2-40B4-BE49-F238E27FC236}">
                <a16:creationId xmlns:a16="http://schemas.microsoft.com/office/drawing/2014/main" id="{9EFAC170-71AB-483D-8F23-2DA1CCA68EF5}"/>
              </a:ext>
            </a:extLst>
          </p:cNvPr>
          <p:cNvSpPr>
            <a:spLocks xmlns:a="http://schemas.openxmlformats.org/drawingml/2006/main" noGrp="1"/>
          </p:cNvSpPr>
          <p:nvPr/>
        </p:nvSpPr>
        <p:spPr>
          <a:xfrm xmlns:a="http://schemas.openxmlformats.org/drawingml/2006/main">
            <a:off x="8601075" y="1905000"/>
            <a:ext cx="714375"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47E6A4"/>
            </a:solidFill>
            <a:prstDash val="solid"/>
          </a:ln>
        </p:spPr>
      </p:sp>
      <p:sp>
        <p:nvSpPr>
          <p:cNvPr id="36" name="Rectangle 35">
            <a:extLst xmlns:a="http://schemas.openxmlformats.org/drawingml/2006/main">
              <a:ext uri="{FF2B5EF4-FFF2-40B4-BE49-F238E27FC236}">
                <a16:creationId xmlns:a16="http://schemas.microsoft.com/office/drawing/2014/main" id="{68B30FCE-A8DB-4147-B735-BEFC2438B623}"/>
              </a:ext>
            </a:extLst>
          </p:cNvPr>
          <p:cNvSpPr>
            <a:spLocks xmlns:a="http://schemas.openxmlformats.org/drawingml/2006/main" noGrp="1"/>
          </p:cNvSpPr>
          <p:nvPr/>
        </p:nvSpPr>
        <p:spPr>
          <a:xfrm xmlns:a="http://schemas.openxmlformats.org/drawingml/2006/main">
            <a:off x="8648700" y="1943100"/>
            <a:ext cx="61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47E6A4"/>
                </a:solidFill>
                <a:latin typeface="Arial"/>
                <a:ea typeface="Arial"/>
                <a:cs typeface="Arial"/>
              </a:defRPr>
            </a:pPr>
            <a:r>
              <a:rPr sz="975" b="1">
                <a:solidFill>
                  <a:srgbClr val="47E6A4"/>
                </a:solidFill>
                <a:latin typeface="Arial"/>
                <a:ea typeface="Arial"/>
                <a:cs typeface="Arial"/>
              </a:rPr>
              <a:t>PU 2</a:t>
            </a:r>
          </a:p>
        </p:txBody>
      </p:sp>
      <p:sp>
        <p:nvSpPr>
          <p:cNvPr id="37" name="Rectangle 36">
            <a:extLst xmlns:a="http://schemas.openxmlformats.org/drawingml/2006/main">
              <a:ext uri="{FF2B5EF4-FFF2-40B4-BE49-F238E27FC236}">
                <a16:creationId xmlns:a16="http://schemas.microsoft.com/office/drawing/2014/main" id="{E26A241F-1A42-474B-B09B-6B8173728BC1}"/>
              </a:ext>
            </a:extLst>
          </p:cNvPr>
          <p:cNvSpPr>
            <a:spLocks xmlns:a="http://schemas.openxmlformats.org/drawingml/2006/main" noGrp="1"/>
          </p:cNvSpPr>
          <p:nvPr/>
        </p:nvSpPr>
        <p:spPr>
          <a:xfrm xmlns:a="http://schemas.openxmlformats.org/drawingml/2006/main">
            <a:off x="9858375" y="13335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FFB84D"/>
                </a:solidFill>
                <a:latin typeface="Arial"/>
                <a:ea typeface="Arial"/>
                <a:cs typeface="Arial"/>
              </a:defRPr>
            </a:pPr>
            <a:r>
              <a:rPr sz="1350" b="1">
                <a:solidFill>
                  <a:srgbClr val="FFB84D"/>
                </a:solidFill>
                <a:latin typeface="Arial"/>
                <a:ea typeface="Arial"/>
                <a:cs typeface="Arial"/>
              </a:rPr>
              <a:t>5  TU</a:t>
            </a:r>
          </a:p>
        </p:txBody>
      </p:sp>
      <p:pic>
        <p:nvPicPr>
          <p:cNvPr id="156" name="Picture 97"/>
          <p:cNvPicPr>
            <a:picLocks xmlns:a="http://schemas.openxmlformats.org/drawingml/2006/main" noChangeAspect="1"/>
          </p:cNvPicPr>
          <p:nvPr/>
        </p:nvPicPr>
        <p:blipFill>
          <a:blip xmlns:r="http://schemas.openxmlformats.org/officeDocument/2006/relationships" xmlns:a="http://schemas.openxmlformats.org/drawingml/2006/main" r:embed="Rd8a72debcea0492d"/>
          <a:srcRect xmlns:a="http://schemas.openxmlformats.org/drawingml/2006/main" l="0" t="0" r="0" b="0"/>
          <a:stretch xmlns:a="http://schemas.openxmlformats.org/drawingml/2006/main">
            <a:fillRect l="0" t="0" r="0" b="0"/>
          </a:stretch>
        </p:blipFill>
        <p:spPr>
          <a:xfrm xmlns:a="http://schemas.openxmlformats.org/drawingml/2006/main">
            <a:off x="9858375" y="1762125"/>
            <a:ext cx="1905000" cy="1905000"/>
          </a:xfrm>
          <a:prstGeom xmlns:a="http://schemas.openxmlformats.org/drawingml/2006/main" prst="roundRect">
            <a:avLst>
              <a:gd name="adj" fmla="val 6000"/>
            </a:avLst>
          </a:prstGeom>
        </p:spPr>
      </p:pic>
      <p:sp>
        <p:nvSpPr>
          <p:cNvPr id="39" name="Rectangle 38">
            <a:extLst xmlns:a="http://schemas.openxmlformats.org/drawingml/2006/main">
              <a:ext uri="{FF2B5EF4-FFF2-40B4-BE49-F238E27FC236}">
                <a16:creationId xmlns:a16="http://schemas.microsoft.com/office/drawing/2014/main" id="{62C6441F-2556-41FD-90B3-96314B9A7342}"/>
              </a:ext>
            </a:extLst>
          </p:cNvPr>
          <p:cNvSpPr>
            <a:spLocks xmlns:a="http://schemas.openxmlformats.org/drawingml/2006/main" noGrp="1"/>
          </p:cNvSpPr>
          <p:nvPr/>
        </p:nvSpPr>
        <p:spPr>
          <a:xfrm xmlns:a="http://schemas.openxmlformats.org/drawingml/2006/main">
            <a:off x="9858375" y="1762125"/>
            <a:ext cx="1905000" cy="1905000"/>
          </a:xfrm>
          <a:prstGeom xmlns:a="http://schemas.openxmlformats.org/drawingml/2006/main" prst="rect">
            <a:avLst/>
          </a:prstGeom>
          <a:noFill xmlns:a="http://schemas.openxmlformats.org/drawingml/2006/main"/>
          <a:ln xmlns:a="http://schemas.openxmlformats.org/drawingml/2006/main" w="38100">
            <a:solidFill>
              <a:srgbClr val="FFB84D"/>
            </a:solidFill>
            <a:prstDash val="solid"/>
          </a:ln>
        </p:spPr>
      </p:sp>
      <p:sp>
        <p:nvSpPr>
          <p:cNvPr id="40" name="Straight Connector 39">
            <a:extLst xmlns:a="http://schemas.openxmlformats.org/drawingml/2006/main">
              <a:ext uri="{FF2B5EF4-FFF2-40B4-BE49-F238E27FC236}">
                <a16:creationId xmlns:a16="http://schemas.microsoft.com/office/drawing/2014/main" id="{ABF88B8C-BB86-4E6F-8A5C-54E3B6D4C988}"/>
              </a:ext>
            </a:extLst>
          </p:cNvPr>
          <p:cNvSpPr>
            <a:spLocks xmlns:a="http://schemas.openxmlformats.org/drawingml/2006/main" noGrp="1"/>
          </p:cNvSpPr>
          <p:nvPr/>
        </p:nvSpPr>
        <p:spPr>
          <a:xfrm xmlns:a="http://schemas.openxmlformats.org/drawingml/2006/main">
            <a:off x="10810875" y="1762125"/>
            <a:ext cx="9525" cy="1905000"/>
          </a:xfrm>
          <a:prstGeom xmlns:a="http://schemas.openxmlformats.org/drawingml/2006/main" prst="line">
            <a:avLst/>
          </a:prstGeom>
          <a:noFill xmlns:a="http://schemas.openxmlformats.org/drawingml/2006/main"/>
          <a:ln xmlns:a="http://schemas.openxmlformats.org/drawingml/2006/main" w="28575">
            <a:solidFill>
              <a:srgbClr val="FFB84D"/>
            </a:solidFill>
            <a:prstDash val="solid"/>
          </a:ln>
        </p:spPr>
      </p:sp>
      <p:sp>
        <p:nvSpPr>
          <p:cNvPr id="41" name="Straight Connector 40">
            <a:extLst xmlns:a="http://schemas.openxmlformats.org/drawingml/2006/main">
              <a:ext uri="{FF2B5EF4-FFF2-40B4-BE49-F238E27FC236}">
                <a16:creationId xmlns:a16="http://schemas.microsoft.com/office/drawing/2014/main" id="{FDAF998F-30D3-44B8-9FB2-F10A8F8D6D23}"/>
              </a:ext>
            </a:extLst>
          </p:cNvPr>
          <p:cNvSpPr>
            <a:spLocks xmlns:a="http://schemas.openxmlformats.org/drawingml/2006/main" noGrp="1"/>
          </p:cNvSpPr>
          <p:nvPr/>
        </p:nvSpPr>
        <p:spPr>
          <a:xfrm xmlns:a="http://schemas.openxmlformats.org/drawingml/2006/main">
            <a:off x="9858375" y="2714625"/>
            <a:ext cx="1905000" cy="9525"/>
          </a:xfrm>
          <a:prstGeom xmlns:a="http://schemas.openxmlformats.org/drawingml/2006/main" prst="line">
            <a:avLst/>
          </a:prstGeom>
          <a:noFill xmlns:a="http://schemas.openxmlformats.org/drawingml/2006/main"/>
          <a:ln xmlns:a="http://schemas.openxmlformats.org/drawingml/2006/main" w="28575">
            <a:solidFill>
              <a:srgbClr val="FFB84D"/>
            </a:solidFill>
            <a:prstDash val="solid"/>
          </a:ln>
        </p:spPr>
      </p:sp>
      <p:sp>
        <p:nvSpPr>
          <p:cNvPr id="42" name="Rectangle 41">
            <a:extLst xmlns:a="http://schemas.openxmlformats.org/drawingml/2006/main">
              <a:ext uri="{FF2B5EF4-FFF2-40B4-BE49-F238E27FC236}">
                <a16:creationId xmlns:a16="http://schemas.microsoft.com/office/drawing/2014/main" id="{E9A27FF6-6972-49D3-96EB-3B405D76F629}"/>
              </a:ext>
            </a:extLst>
          </p:cNvPr>
          <p:cNvSpPr>
            <a:spLocks xmlns:a="http://schemas.openxmlformats.org/drawingml/2006/main" noGrp="1"/>
          </p:cNvSpPr>
          <p:nvPr/>
        </p:nvSpPr>
        <p:spPr>
          <a:xfrm xmlns:a="http://schemas.openxmlformats.org/drawingml/2006/main">
            <a:off x="2800350"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3" name="Rectangle 42">
            <a:extLst xmlns:a="http://schemas.openxmlformats.org/drawingml/2006/main">
              <a:ext uri="{FF2B5EF4-FFF2-40B4-BE49-F238E27FC236}">
                <a16:creationId xmlns:a16="http://schemas.microsoft.com/office/drawing/2014/main" id="{8E5891B4-A6F8-4589-9D75-71FB69688E92}"/>
              </a:ext>
            </a:extLst>
          </p:cNvPr>
          <p:cNvSpPr>
            <a:spLocks xmlns:a="http://schemas.openxmlformats.org/drawingml/2006/main" noGrp="1"/>
          </p:cNvSpPr>
          <p:nvPr/>
        </p:nvSpPr>
        <p:spPr>
          <a:xfrm xmlns:a="http://schemas.openxmlformats.org/drawingml/2006/main">
            <a:off x="2571750"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62" name="Straight Arrow Connector 103"/>
          <p:cNvCxnSpPr>
            <a:stCxn xmlns:a="http://schemas.openxmlformats.org/drawingml/2006/main" id="42" idx="1"/>
            <a:endCxn xmlns:a="http://schemas.openxmlformats.org/drawingml/2006/main" id="43" idx="3"/>
          </p:cNvCxnSpPr>
          <p:nvPr/>
        </p:nvCxnSpPr>
        <p:spPr>
          <a:xfrm xmlns:a="http://schemas.openxmlformats.org/drawingml/2006/main" flipH="1">
            <a:off x="2590800" y="2676525"/>
            <a:ext cx="2095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45" name="Rectangle 44">
            <a:extLst xmlns:a="http://schemas.openxmlformats.org/drawingml/2006/main">
              <a:ext uri="{FF2B5EF4-FFF2-40B4-BE49-F238E27FC236}">
                <a16:creationId xmlns:a16="http://schemas.microsoft.com/office/drawing/2014/main" id="{BAC3B68B-E59C-43EC-A930-9EB8BBCE01C2}"/>
              </a:ext>
            </a:extLst>
          </p:cNvPr>
          <p:cNvSpPr>
            <a:spLocks xmlns:a="http://schemas.openxmlformats.org/drawingml/2006/main" noGrp="1"/>
          </p:cNvSpPr>
          <p:nvPr/>
        </p:nvSpPr>
        <p:spPr>
          <a:xfrm xmlns:a="http://schemas.openxmlformats.org/drawingml/2006/main">
            <a:off x="5133975"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6" name="Rectangle 45">
            <a:extLst xmlns:a="http://schemas.openxmlformats.org/drawingml/2006/main">
              <a:ext uri="{FF2B5EF4-FFF2-40B4-BE49-F238E27FC236}">
                <a16:creationId xmlns:a16="http://schemas.microsoft.com/office/drawing/2014/main" id="{41D4472E-119F-432A-BC0B-BCE66ABFD43D}"/>
              </a:ext>
            </a:extLst>
          </p:cNvPr>
          <p:cNvSpPr>
            <a:spLocks xmlns:a="http://schemas.openxmlformats.org/drawingml/2006/main" noGrp="1"/>
          </p:cNvSpPr>
          <p:nvPr/>
        </p:nvSpPr>
        <p:spPr>
          <a:xfrm xmlns:a="http://schemas.openxmlformats.org/drawingml/2006/main">
            <a:off x="4905375"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65" name="Straight Arrow Connector 106"/>
          <p:cNvCxnSpPr>
            <a:stCxn xmlns:a="http://schemas.openxmlformats.org/drawingml/2006/main" id="45" idx="1"/>
            <a:endCxn xmlns:a="http://schemas.openxmlformats.org/drawingml/2006/main" id="46" idx="3"/>
          </p:cNvCxnSpPr>
          <p:nvPr/>
        </p:nvCxnSpPr>
        <p:spPr>
          <a:xfrm xmlns:a="http://schemas.openxmlformats.org/drawingml/2006/main" flipH="1">
            <a:off x="4924425" y="2676525"/>
            <a:ext cx="2095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48" name="Rectangle 47">
            <a:extLst xmlns:a="http://schemas.openxmlformats.org/drawingml/2006/main">
              <a:ext uri="{FF2B5EF4-FFF2-40B4-BE49-F238E27FC236}">
                <a16:creationId xmlns:a16="http://schemas.microsoft.com/office/drawing/2014/main" id="{58EC2D5E-A91C-4A9D-815C-AA8DD765530E}"/>
              </a:ext>
            </a:extLst>
          </p:cNvPr>
          <p:cNvSpPr>
            <a:spLocks xmlns:a="http://schemas.openxmlformats.org/drawingml/2006/main" noGrp="1"/>
          </p:cNvSpPr>
          <p:nvPr/>
        </p:nvSpPr>
        <p:spPr>
          <a:xfrm xmlns:a="http://schemas.openxmlformats.org/drawingml/2006/main">
            <a:off x="7467600"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9" name="Rectangle 48">
            <a:extLst xmlns:a="http://schemas.openxmlformats.org/drawingml/2006/main">
              <a:ext uri="{FF2B5EF4-FFF2-40B4-BE49-F238E27FC236}">
                <a16:creationId xmlns:a16="http://schemas.microsoft.com/office/drawing/2014/main" id="{70DFEF35-5533-4647-8BAA-E2481DDE700D}"/>
              </a:ext>
            </a:extLst>
          </p:cNvPr>
          <p:cNvSpPr>
            <a:spLocks xmlns:a="http://schemas.openxmlformats.org/drawingml/2006/main" noGrp="1"/>
          </p:cNvSpPr>
          <p:nvPr/>
        </p:nvSpPr>
        <p:spPr>
          <a:xfrm xmlns:a="http://schemas.openxmlformats.org/drawingml/2006/main">
            <a:off x="7239000"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68" name="Straight Arrow Connector 109"/>
          <p:cNvCxnSpPr>
            <a:stCxn xmlns:a="http://schemas.openxmlformats.org/drawingml/2006/main" id="48" idx="1"/>
            <a:endCxn xmlns:a="http://schemas.openxmlformats.org/drawingml/2006/main" id="49" idx="3"/>
          </p:cNvCxnSpPr>
          <p:nvPr/>
        </p:nvCxnSpPr>
        <p:spPr>
          <a:xfrm xmlns:a="http://schemas.openxmlformats.org/drawingml/2006/main" flipH="1">
            <a:off x="7258050" y="2676525"/>
            <a:ext cx="2095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51" name="Rectangle 50">
            <a:extLst xmlns:a="http://schemas.openxmlformats.org/drawingml/2006/main">
              <a:ext uri="{FF2B5EF4-FFF2-40B4-BE49-F238E27FC236}">
                <a16:creationId xmlns:a16="http://schemas.microsoft.com/office/drawing/2014/main" id="{B8B33D0F-2B33-44F5-8DB1-4552A606235C}"/>
              </a:ext>
            </a:extLst>
          </p:cNvPr>
          <p:cNvSpPr>
            <a:spLocks xmlns:a="http://schemas.openxmlformats.org/drawingml/2006/main" noGrp="1"/>
          </p:cNvSpPr>
          <p:nvPr/>
        </p:nvSpPr>
        <p:spPr>
          <a:xfrm xmlns:a="http://schemas.openxmlformats.org/drawingml/2006/main">
            <a:off x="9801225"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52" name="Rectangle 51">
            <a:extLst xmlns:a="http://schemas.openxmlformats.org/drawingml/2006/main">
              <a:ext uri="{FF2B5EF4-FFF2-40B4-BE49-F238E27FC236}">
                <a16:creationId xmlns:a16="http://schemas.microsoft.com/office/drawing/2014/main" id="{2C06E479-88D3-4E1B-8002-C9BED26F68FD}"/>
              </a:ext>
            </a:extLst>
          </p:cNvPr>
          <p:cNvSpPr>
            <a:spLocks xmlns:a="http://schemas.openxmlformats.org/drawingml/2006/main" noGrp="1"/>
          </p:cNvSpPr>
          <p:nvPr/>
        </p:nvSpPr>
        <p:spPr>
          <a:xfrm xmlns:a="http://schemas.openxmlformats.org/drawingml/2006/main">
            <a:off x="9572625" y="2667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71" name="Straight Arrow Connector 112"/>
          <p:cNvCxnSpPr>
            <a:stCxn xmlns:a="http://schemas.openxmlformats.org/drawingml/2006/main" id="51" idx="1"/>
            <a:endCxn xmlns:a="http://schemas.openxmlformats.org/drawingml/2006/main" id="52" idx="3"/>
          </p:cNvCxnSpPr>
          <p:nvPr/>
        </p:nvCxnSpPr>
        <p:spPr>
          <a:xfrm xmlns:a="http://schemas.openxmlformats.org/drawingml/2006/main" flipH="1">
            <a:off x="9591675" y="2676525"/>
            <a:ext cx="2095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54" name="Rectangle 53">
            <a:extLst xmlns:a="http://schemas.openxmlformats.org/drawingml/2006/main">
              <a:ext uri="{FF2B5EF4-FFF2-40B4-BE49-F238E27FC236}">
                <a16:creationId xmlns:a16="http://schemas.microsoft.com/office/drawing/2014/main" id="{BB1DCFF8-9A5E-4C88-BD7A-DEFDB6202BD0}"/>
              </a:ext>
            </a:extLst>
          </p:cNvPr>
          <p:cNvSpPr>
            <a:spLocks xmlns:a="http://schemas.openxmlformats.org/drawingml/2006/main" noGrp="1"/>
          </p:cNvSpPr>
          <p:nvPr/>
        </p:nvSpPr>
        <p:spPr>
          <a:xfrm xmlns:a="http://schemas.openxmlformats.org/drawingml/2006/main">
            <a:off x="238125" y="400050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Start with the complete frame and mark Block 1.</a:t>
            </a:r>
          </a:p>
        </p:txBody>
      </p:sp>
      <p:sp>
        <p:nvSpPr>
          <p:cNvPr id="55" name="Rectangle 54">
            <a:extLst xmlns:a="http://schemas.openxmlformats.org/drawingml/2006/main">
              <a:ext uri="{FF2B5EF4-FFF2-40B4-BE49-F238E27FC236}">
                <a16:creationId xmlns:a16="http://schemas.microsoft.com/office/drawing/2014/main" id="{7B973599-5847-4D63-818E-48B167091F51}"/>
              </a:ext>
            </a:extLst>
          </p:cNvPr>
          <p:cNvSpPr>
            <a:spLocks xmlns:a="http://schemas.openxmlformats.org/drawingml/2006/main" noGrp="1"/>
          </p:cNvSpPr>
          <p:nvPr/>
        </p:nvSpPr>
        <p:spPr>
          <a:xfrm xmlns:a="http://schemas.openxmlformats.org/drawingml/2006/main">
            <a:off x="2857500" y="400050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Block 1 becomes one Coding Tree Unit.</a:t>
            </a:r>
          </a:p>
        </p:txBody>
      </p:sp>
      <p:sp>
        <p:nvSpPr>
          <p:cNvPr id="56" name="Rectangle 55">
            <a:extLst xmlns:a="http://schemas.openxmlformats.org/drawingml/2006/main">
              <a:ext uri="{FF2B5EF4-FFF2-40B4-BE49-F238E27FC236}">
                <a16:creationId xmlns:a16="http://schemas.microsoft.com/office/drawing/2014/main" id="{5DEA8955-AED2-43E7-A292-67145A9766B9}"/>
              </a:ext>
            </a:extLst>
          </p:cNvPr>
          <p:cNvSpPr>
            <a:spLocks xmlns:a="http://schemas.openxmlformats.org/drawingml/2006/main" noGrp="1"/>
          </p:cNvSpPr>
          <p:nvPr/>
        </p:nvSpPr>
        <p:spPr>
          <a:xfrm xmlns:a="http://schemas.openxmlformats.org/drawingml/2006/main">
            <a:off x="5191125" y="400050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The CTU quadtree creates square Coding Units.</a:t>
            </a:r>
          </a:p>
        </p:txBody>
      </p:sp>
      <p:sp>
        <p:nvSpPr>
          <p:cNvPr id="57" name="Rectangle 56">
            <a:extLst xmlns:a="http://schemas.openxmlformats.org/drawingml/2006/main">
              <a:ext uri="{FF2B5EF4-FFF2-40B4-BE49-F238E27FC236}">
                <a16:creationId xmlns:a16="http://schemas.microsoft.com/office/drawing/2014/main" id="{0416E88E-ED92-4B26-9922-ED64660AB1C6}"/>
              </a:ext>
            </a:extLst>
          </p:cNvPr>
          <p:cNvSpPr>
            <a:spLocks xmlns:a="http://schemas.openxmlformats.org/drawingml/2006/main" noGrp="1"/>
          </p:cNvSpPr>
          <p:nvPr/>
        </p:nvSpPr>
        <p:spPr>
          <a:xfrm xmlns:a="http://schemas.openxmlformats.org/drawingml/2006/main">
            <a:off x="7524750" y="400050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The selected CU uses two Prediction Units.</a:t>
            </a:r>
          </a:p>
        </p:txBody>
      </p:sp>
      <p:sp>
        <p:nvSpPr>
          <p:cNvPr id="58" name="Rectangle 57">
            <a:extLst xmlns:a="http://schemas.openxmlformats.org/drawingml/2006/main">
              <a:ext uri="{FF2B5EF4-FFF2-40B4-BE49-F238E27FC236}">
                <a16:creationId xmlns:a16="http://schemas.microsoft.com/office/drawing/2014/main" id="{9C96F46C-9CF0-4E9C-A2D6-F996E8A5A020}"/>
              </a:ext>
            </a:extLst>
          </p:cNvPr>
          <p:cNvSpPr>
            <a:spLocks xmlns:a="http://schemas.openxmlformats.org/drawingml/2006/main" noGrp="1"/>
          </p:cNvSpPr>
          <p:nvPr/>
        </p:nvSpPr>
        <p:spPr>
          <a:xfrm xmlns:a="http://schemas.openxmlformats.org/drawingml/2006/main">
            <a:off x="9858375" y="400050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Its residual uses four Transform Units.</a:t>
            </a:r>
          </a:p>
        </p:txBody>
      </p:sp>
      <p:sp>
        <p:nvSpPr>
          <p:cNvPr id="59" name="Rectangle: Rounded Corners 58">
            <a:extLst xmlns:a="http://schemas.openxmlformats.org/drawingml/2006/main">
              <a:ext uri="{FF2B5EF4-FFF2-40B4-BE49-F238E27FC236}">
                <a16:creationId xmlns:a16="http://schemas.microsoft.com/office/drawing/2014/main" id="{85E327A9-A86F-430B-A429-F073DC1D481A}"/>
              </a:ext>
            </a:extLst>
          </p:cNvPr>
          <p:cNvSpPr>
            <a:spLocks xmlns:a="http://schemas.openxmlformats.org/drawingml/2006/main" noGrp="1"/>
          </p:cNvSpPr>
          <p:nvPr/>
        </p:nvSpPr>
        <p:spPr>
          <a:xfrm xmlns:a="http://schemas.openxmlformats.org/drawingml/2006/main">
            <a:off x="1476375" y="5476875"/>
            <a:ext cx="9239250" cy="590550"/>
          </a:xfrm>
          <a:prstGeom xmlns:a="http://schemas.openxmlformats.org/drawingml/2006/main" prst="roundRect">
            <a:avLst>
              <a:gd name="adj" fmla="val 19355"/>
            </a:avLst>
          </a:prstGeom>
          <a:solidFill xmlns:a="http://schemas.openxmlformats.org/drawingml/2006/main">
            <a:srgbClr val="092034"/>
          </a:solidFill>
          <a:ln xmlns:a="http://schemas.openxmlformats.org/drawingml/2006/main" w="19050">
            <a:solidFill>
              <a:srgbClr val="22D3EE"/>
            </a:solidFill>
            <a:prstDash val="solid"/>
          </a:ln>
        </p:spPr>
      </p:sp>
      <p:sp>
        <p:nvSpPr>
          <p:cNvPr id="60" name="Rectangle 59">
            <a:extLst xmlns:a="http://schemas.openxmlformats.org/drawingml/2006/main">
              <a:ext uri="{FF2B5EF4-FFF2-40B4-BE49-F238E27FC236}">
                <a16:creationId xmlns:a16="http://schemas.microsoft.com/office/drawing/2014/main" id="{59B37252-7853-4963-8B22-91145947D7CE}"/>
              </a:ext>
            </a:extLst>
          </p:cNvPr>
          <p:cNvSpPr>
            <a:spLocks xmlns:a="http://schemas.openxmlformats.org/drawingml/2006/main" noGrp="1"/>
          </p:cNvSpPr>
          <p:nvPr/>
        </p:nvSpPr>
        <p:spPr>
          <a:xfrm xmlns:a="http://schemas.openxmlformats.org/drawingml/2006/main">
            <a:off x="1590675" y="5572125"/>
            <a:ext cx="901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One frame contains CTUs. Each CTU contains CUs. A leaf CU carries its own PU and TU structures.</a:t>
            </a:r>
          </a:p>
        </p:txBody>
      </p:sp>
    </p:spTree>
    <p:extLst>
      <p:ext uri="{BB962C8B-B14F-4D97-AF65-F5344CB8AC3E}">
        <p14:creationId xmlns:p14="http://schemas.microsoft.com/office/powerpoint/2010/main" val="1126538780"/>
      </p:ext>
    </p:extLst>
  </p:cSld>
</p:sld>
</file>

<file path=ppt/slides/slide7.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84" name="Oval 83">
            <a:extLst xmlns:a="http://schemas.openxmlformats.org/drawingml/2006/main">
              <a:ext uri="{FF2B5EF4-FFF2-40B4-BE49-F238E27FC236}">
                <a16:creationId xmlns:a16="http://schemas.microsoft.com/office/drawing/2014/main" id="{9B99B7FE-79ED-492B-8069-08A336E2C9F9}"/>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14DA9175-4BCC-4512-AA84-D41E5A0DEBEE}"/>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8BC66A2E-897C-4CB4-822D-20C9F3C48711}"/>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Step 1: collect one signed residual row</a:t>
            </a:r>
          </a:p>
        </p:txBody>
      </p:sp>
      <p:sp>
        <p:nvSpPr>
          <p:cNvPr id="4" name="Straight Connector 3">
            <a:extLst xmlns:a="http://schemas.openxmlformats.org/drawingml/2006/main">
              <a:ext uri="{FF2B5EF4-FFF2-40B4-BE49-F238E27FC236}">
                <a16:creationId xmlns:a16="http://schemas.microsoft.com/office/drawing/2014/main" id="{B91B5BED-779A-4D00-B229-398ABBB534BC}"/>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51F7C2D0-1A0A-436E-BE10-3843D7E88137}"/>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residual equals original luma samples minus predicted luma samples</a:t>
            </a:r>
          </a:p>
        </p:txBody>
      </p:sp>
      <p:sp>
        <p:nvSpPr>
          <p:cNvPr id="6" name="Rectangle 5">
            <a:extLst xmlns:a="http://schemas.openxmlformats.org/drawingml/2006/main">
              <a:ext uri="{FF2B5EF4-FFF2-40B4-BE49-F238E27FC236}">
                <a16:creationId xmlns:a16="http://schemas.microsoft.com/office/drawing/2014/main" id="{CC9DBAB6-23CC-4B58-9DA1-58665EA7976C}"/>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B6176834-82EC-4208-8ECD-D4307BAD3638}"/>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07 / 49</a:t>
            </a:r>
          </a:p>
        </p:txBody>
      </p:sp>
      <p:pic>
        <p:nvPicPr>
          <p:cNvPr id="93" name="Picture 90"/>
          <p:cNvPicPr>
            <a:picLocks xmlns:a="http://schemas.openxmlformats.org/drawingml/2006/main" noChangeAspect="1"/>
          </p:cNvPicPr>
          <p:nvPr/>
        </p:nvPicPr>
        <p:blipFill>
          <a:blip xmlns:r="http://schemas.openxmlformats.org/officeDocument/2006/relationships" xmlns:a="http://schemas.openxmlformats.org/drawingml/2006/main" r:embed="R102201df6701402c"/>
          <a:srcRect xmlns:a="http://schemas.openxmlformats.org/drawingml/2006/main" l="0" t="0" r="0" b="0"/>
          <a:stretch xmlns:a="http://schemas.openxmlformats.org/drawingml/2006/main">
            <a:fillRect l="0" t="0" r="0" b="0"/>
          </a:stretch>
        </p:blipFill>
        <p:spPr>
          <a:xfrm xmlns:a="http://schemas.openxmlformats.org/drawingml/2006/main">
            <a:off x="619125" y="1571625"/>
            <a:ext cx="3905250" cy="3905250"/>
          </a:xfrm>
          <a:prstGeom xmlns:a="http://schemas.openxmlformats.org/drawingml/2006/main" prst="roundRect">
            <a:avLst>
              <a:gd name="adj" fmla="val 2927"/>
            </a:avLst>
          </a:prstGeom>
        </p:spPr>
      </p:pic>
      <p:sp>
        <p:nvSpPr>
          <p:cNvPr id="9" name="Rectangle 8">
            <a:extLst xmlns:a="http://schemas.openxmlformats.org/drawingml/2006/main">
              <a:ext uri="{FF2B5EF4-FFF2-40B4-BE49-F238E27FC236}">
                <a16:creationId xmlns:a16="http://schemas.microsoft.com/office/drawing/2014/main" id="{EE8B6039-EEB5-4F2C-8D16-7F6160B169DD}"/>
              </a:ext>
            </a:extLst>
          </p:cNvPr>
          <p:cNvSpPr>
            <a:spLocks xmlns:a="http://schemas.openxmlformats.org/drawingml/2006/main" noGrp="1"/>
          </p:cNvSpPr>
          <p:nvPr/>
        </p:nvSpPr>
        <p:spPr>
          <a:xfrm xmlns:a="http://schemas.openxmlformats.org/drawingml/2006/main">
            <a:off x="619125" y="1571625"/>
            <a:ext cx="3905250" cy="3905250"/>
          </a:xfrm>
          <a:prstGeom xmlns:a="http://schemas.openxmlformats.org/drawingml/2006/main" prst="rect">
            <a:avLst/>
          </a:prstGeom>
          <a:noFill xmlns:a="http://schemas.openxmlformats.org/drawingml/2006/main"/>
          <a:ln xmlns:a="http://schemas.openxmlformats.org/drawingml/2006/main" w="28575">
            <a:solidFill>
              <a:srgbClr val="22D3EE"/>
            </a:solidFill>
            <a:prstDash val="solid"/>
          </a:ln>
        </p:spPr>
      </p:sp>
      <p:sp>
        <p:nvSpPr>
          <p:cNvPr id="10" name="Straight Connector 9">
            <a:extLst xmlns:a="http://schemas.openxmlformats.org/drawingml/2006/main">
              <a:ext uri="{FF2B5EF4-FFF2-40B4-BE49-F238E27FC236}">
                <a16:creationId xmlns:a16="http://schemas.microsoft.com/office/drawing/2014/main" id="{05076C85-4DAD-404E-8B31-17E2CEC3E020}"/>
              </a:ext>
            </a:extLst>
          </p:cNvPr>
          <p:cNvSpPr>
            <a:spLocks xmlns:a="http://schemas.openxmlformats.org/drawingml/2006/main" noGrp="1"/>
          </p:cNvSpPr>
          <p:nvPr/>
        </p:nvSpPr>
        <p:spPr>
          <a:xfrm xmlns:a="http://schemas.openxmlformats.org/drawingml/2006/main">
            <a:off x="1107281" y="1571625"/>
            <a:ext cx="9525" cy="3905250"/>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1" name="Straight Connector 10">
            <a:extLst xmlns:a="http://schemas.openxmlformats.org/drawingml/2006/main">
              <a:ext uri="{FF2B5EF4-FFF2-40B4-BE49-F238E27FC236}">
                <a16:creationId xmlns:a16="http://schemas.microsoft.com/office/drawing/2014/main" id="{774C3A72-741F-4589-9E82-D190EB507C88}"/>
              </a:ext>
            </a:extLst>
          </p:cNvPr>
          <p:cNvSpPr>
            <a:spLocks xmlns:a="http://schemas.openxmlformats.org/drawingml/2006/main" noGrp="1"/>
          </p:cNvSpPr>
          <p:nvPr/>
        </p:nvSpPr>
        <p:spPr>
          <a:xfrm xmlns:a="http://schemas.openxmlformats.org/drawingml/2006/main">
            <a:off x="619125" y="2059781"/>
            <a:ext cx="3905250" cy="9525"/>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2" name="Straight Connector 11">
            <a:extLst xmlns:a="http://schemas.openxmlformats.org/drawingml/2006/main">
              <a:ext uri="{FF2B5EF4-FFF2-40B4-BE49-F238E27FC236}">
                <a16:creationId xmlns:a16="http://schemas.microsoft.com/office/drawing/2014/main" id="{803E654E-1D80-4A54-BABB-BC17307F96FB}"/>
              </a:ext>
            </a:extLst>
          </p:cNvPr>
          <p:cNvSpPr>
            <a:spLocks xmlns:a="http://schemas.openxmlformats.org/drawingml/2006/main" noGrp="1"/>
          </p:cNvSpPr>
          <p:nvPr/>
        </p:nvSpPr>
        <p:spPr>
          <a:xfrm xmlns:a="http://schemas.openxmlformats.org/drawingml/2006/main">
            <a:off x="1595438" y="1571625"/>
            <a:ext cx="9525" cy="3905250"/>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3" name="Straight Connector 12">
            <a:extLst xmlns:a="http://schemas.openxmlformats.org/drawingml/2006/main">
              <a:ext uri="{FF2B5EF4-FFF2-40B4-BE49-F238E27FC236}">
                <a16:creationId xmlns:a16="http://schemas.microsoft.com/office/drawing/2014/main" id="{200481D8-B6BC-4AC7-8501-D1A1836AF6A4}"/>
              </a:ext>
            </a:extLst>
          </p:cNvPr>
          <p:cNvSpPr>
            <a:spLocks xmlns:a="http://schemas.openxmlformats.org/drawingml/2006/main" noGrp="1"/>
          </p:cNvSpPr>
          <p:nvPr/>
        </p:nvSpPr>
        <p:spPr>
          <a:xfrm xmlns:a="http://schemas.openxmlformats.org/drawingml/2006/main">
            <a:off x="619125" y="2547938"/>
            <a:ext cx="3905250" cy="9525"/>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4" name="Straight Connector 13">
            <a:extLst xmlns:a="http://schemas.openxmlformats.org/drawingml/2006/main">
              <a:ext uri="{FF2B5EF4-FFF2-40B4-BE49-F238E27FC236}">
                <a16:creationId xmlns:a16="http://schemas.microsoft.com/office/drawing/2014/main" id="{F0BE9978-8FB2-41DF-9C4E-5F9C6D084131}"/>
              </a:ext>
            </a:extLst>
          </p:cNvPr>
          <p:cNvSpPr>
            <a:spLocks xmlns:a="http://schemas.openxmlformats.org/drawingml/2006/main" noGrp="1"/>
          </p:cNvSpPr>
          <p:nvPr/>
        </p:nvSpPr>
        <p:spPr>
          <a:xfrm xmlns:a="http://schemas.openxmlformats.org/drawingml/2006/main">
            <a:off x="2083594" y="1571625"/>
            <a:ext cx="9525" cy="3905250"/>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5" name="Straight Connector 14">
            <a:extLst xmlns:a="http://schemas.openxmlformats.org/drawingml/2006/main">
              <a:ext uri="{FF2B5EF4-FFF2-40B4-BE49-F238E27FC236}">
                <a16:creationId xmlns:a16="http://schemas.microsoft.com/office/drawing/2014/main" id="{091E576B-6A3D-4544-B2C2-E61B5549BC09}"/>
              </a:ext>
            </a:extLst>
          </p:cNvPr>
          <p:cNvSpPr>
            <a:spLocks xmlns:a="http://schemas.openxmlformats.org/drawingml/2006/main" noGrp="1"/>
          </p:cNvSpPr>
          <p:nvPr/>
        </p:nvSpPr>
        <p:spPr>
          <a:xfrm xmlns:a="http://schemas.openxmlformats.org/drawingml/2006/main">
            <a:off x="619125" y="3036094"/>
            <a:ext cx="3905250" cy="9525"/>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6" name="Straight Connector 15">
            <a:extLst xmlns:a="http://schemas.openxmlformats.org/drawingml/2006/main">
              <a:ext uri="{FF2B5EF4-FFF2-40B4-BE49-F238E27FC236}">
                <a16:creationId xmlns:a16="http://schemas.microsoft.com/office/drawing/2014/main" id="{938CCFBB-48A4-4DED-BDC8-55AC166D497A}"/>
              </a:ext>
            </a:extLst>
          </p:cNvPr>
          <p:cNvSpPr>
            <a:spLocks xmlns:a="http://schemas.openxmlformats.org/drawingml/2006/main" noGrp="1"/>
          </p:cNvSpPr>
          <p:nvPr/>
        </p:nvSpPr>
        <p:spPr>
          <a:xfrm xmlns:a="http://schemas.openxmlformats.org/drawingml/2006/main">
            <a:off x="2571750" y="1571625"/>
            <a:ext cx="9525" cy="3905250"/>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7" name="Straight Connector 16">
            <a:extLst xmlns:a="http://schemas.openxmlformats.org/drawingml/2006/main">
              <a:ext uri="{FF2B5EF4-FFF2-40B4-BE49-F238E27FC236}">
                <a16:creationId xmlns:a16="http://schemas.microsoft.com/office/drawing/2014/main" id="{7E589024-EE42-4822-9F39-02442641A09B}"/>
              </a:ext>
            </a:extLst>
          </p:cNvPr>
          <p:cNvSpPr>
            <a:spLocks xmlns:a="http://schemas.openxmlformats.org/drawingml/2006/main" noGrp="1"/>
          </p:cNvSpPr>
          <p:nvPr/>
        </p:nvSpPr>
        <p:spPr>
          <a:xfrm xmlns:a="http://schemas.openxmlformats.org/drawingml/2006/main">
            <a:off x="619125" y="3524250"/>
            <a:ext cx="3905250" cy="9525"/>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8" name="Straight Connector 17">
            <a:extLst xmlns:a="http://schemas.openxmlformats.org/drawingml/2006/main">
              <a:ext uri="{FF2B5EF4-FFF2-40B4-BE49-F238E27FC236}">
                <a16:creationId xmlns:a16="http://schemas.microsoft.com/office/drawing/2014/main" id="{79EC20A7-F4C8-418E-83BD-2ADCB9429447}"/>
              </a:ext>
            </a:extLst>
          </p:cNvPr>
          <p:cNvSpPr>
            <a:spLocks xmlns:a="http://schemas.openxmlformats.org/drawingml/2006/main" noGrp="1"/>
          </p:cNvSpPr>
          <p:nvPr/>
        </p:nvSpPr>
        <p:spPr>
          <a:xfrm xmlns:a="http://schemas.openxmlformats.org/drawingml/2006/main">
            <a:off x="3059906" y="1571625"/>
            <a:ext cx="9525" cy="3905250"/>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19" name="Straight Connector 18">
            <a:extLst xmlns:a="http://schemas.openxmlformats.org/drawingml/2006/main">
              <a:ext uri="{FF2B5EF4-FFF2-40B4-BE49-F238E27FC236}">
                <a16:creationId xmlns:a16="http://schemas.microsoft.com/office/drawing/2014/main" id="{538792D4-5975-4B04-A613-C37819456029}"/>
              </a:ext>
            </a:extLst>
          </p:cNvPr>
          <p:cNvSpPr>
            <a:spLocks xmlns:a="http://schemas.openxmlformats.org/drawingml/2006/main" noGrp="1"/>
          </p:cNvSpPr>
          <p:nvPr/>
        </p:nvSpPr>
        <p:spPr>
          <a:xfrm xmlns:a="http://schemas.openxmlformats.org/drawingml/2006/main">
            <a:off x="619125" y="4012406"/>
            <a:ext cx="3905250" cy="9525"/>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20" name="Straight Connector 19">
            <a:extLst xmlns:a="http://schemas.openxmlformats.org/drawingml/2006/main">
              <a:ext uri="{FF2B5EF4-FFF2-40B4-BE49-F238E27FC236}">
                <a16:creationId xmlns:a16="http://schemas.microsoft.com/office/drawing/2014/main" id="{A7F8AC54-FCB7-4FA4-92E1-3D97024EF272}"/>
              </a:ext>
            </a:extLst>
          </p:cNvPr>
          <p:cNvSpPr>
            <a:spLocks xmlns:a="http://schemas.openxmlformats.org/drawingml/2006/main" noGrp="1"/>
          </p:cNvSpPr>
          <p:nvPr/>
        </p:nvSpPr>
        <p:spPr>
          <a:xfrm xmlns:a="http://schemas.openxmlformats.org/drawingml/2006/main">
            <a:off x="3548063" y="1571625"/>
            <a:ext cx="9525" cy="3905250"/>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21" name="Straight Connector 20">
            <a:extLst xmlns:a="http://schemas.openxmlformats.org/drawingml/2006/main">
              <a:ext uri="{FF2B5EF4-FFF2-40B4-BE49-F238E27FC236}">
                <a16:creationId xmlns:a16="http://schemas.microsoft.com/office/drawing/2014/main" id="{08D88BED-AE27-4102-B37D-FB517814F8A3}"/>
              </a:ext>
            </a:extLst>
          </p:cNvPr>
          <p:cNvSpPr>
            <a:spLocks xmlns:a="http://schemas.openxmlformats.org/drawingml/2006/main" noGrp="1"/>
          </p:cNvSpPr>
          <p:nvPr/>
        </p:nvSpPr>
        <p:spPr>
          <a:xfrm xmlns:a="http://schemas.openxmlformats.org/drawingml/2006/main">
            <a:off x="619125" y="4500563"/>
            <a:ext cx="3905250" cy="9525"/>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22" name="Straight Connector 21">
            <a:extLst xmlns:a="http://schemas.openxmlformats.org/drawingml/2006/main">
              <a:ext uri="{FF2B5EF4-FFF2-40B4-BE49-F238E27FC236}">
                <a16:creationId xmlns:a16="http://schemas.microsoft.com/office/drawing/2014/main" id="{27D64077-7B9B-42A1-A440-23C89471A4CF}"/>
              </a:ext>
            </a:extLst>
          </p:cNvPr>
          <p:cNvSpPr>
            <a:spLocks xmlns:a="http://schemas.openxmlformats.org/drawingml/2006/main" noGrp="1"/>
          </p:cNvSpPr>
          <p:nvPr/>
        </p:nvSpPr>
        <p:spPr>
          <a:xfrm xmlns:a="http://schemas.openxmlformats.org/drawingml/2006/main">
            <a:off x="4036219" y="1571625"/>
            <a:ext cx="9525" cy="3905250"/>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23" name="Straight Connector 22">
            <a:extLst xmlns:a="http://schemas.openxmlformats.org/drawingml/2006/main">
              <a:ext uri="{FF2B5EF4-FFF2-40B4-BE49-F238E27FC236}">
                <a16:creationId xmlns:a16="http://schemas.microsoft.com/office/drawing/2014/main" id="{15C6C901-F838-432E-95B9-9D7E64B2B35A}"/>
              </a:ext>
            </a:extLst>
          </p:cNvPr>
          <p:cNvSpPr>
            <a:spLocks xmlns:a="http://schemas.openxmlformats.org/drawingml/2006/main" noGrp="1"/>
          </p:cNvSpPr>
          <p:nvPr/>
        </p:nvSpPr>
        <p:spPr>
          <a:xfrm xmlns:a="http://schemas.openxmlformats.org/drawingml/2006/main">
            <a:off x="619125" y="4988719"/>
            <a:ext cx="3905250" cy="9525"/>
          </a:xfrm>
          <a:prstGeom xmlns:a="http://schemas.openxmlformats.org/drawingml/2006/main" prst="line">
            <a:avLst/>
          </a:prstGeom>
          <a:noFill xmlns:a="http://schemas.openxmlformats.org/drawingml/2006/main"/>
          <a:ln xmlns:a="http://schemas.openxmlformats.org/drawingml/2006/main" w="9525">
            <a:solidFill>
              <a:srgbClr val="FFFFFF">
                <a:alpha val="16471"/>
              </a:srgbClr>
            </a:solidFill>
            <a:prstDash val="solid"/>
          </a:ln>
        </p:spPr>
      </p:sp>
      <p:sp>
        <p:nvSpPr>
          <p:cNvPr id="24" name="Rectangle 23">
            <a:extLst xmlns:a="http://schemas.openxmlformats.org/drawingml/2006/main">
              <a:ext uri="{FF2B5EF4-FFF2-40B4-BE49-F238E27FC236}">
                <a16:creationId xmlns:a16="http://schemas.microsoft.com/office/drawing/2014/main" id="{26D45AFF-4D75-460C-A03E-FDCD1A5E9ED5}"/>
              </a:ext>
            </a:extLst>
          </p:cNvPr>
          <p:cNvSpPr>
            <a:spLocks xmlns:a="http://schemas.openxmlformats.org/drawingml/2006/main" noGrp="1"/>
          </p:cNvSpPr>
          <p:nvPr/>
        </p:nvSpPr>
        <p:spPr>
          <a:xfrm xmlns:a="http://schemas.openxmlformats.org/drawingml/2006/main">
            <a:off x="619125" y="4500563"/>
            <a:ext cx="3905250" cy="488156"/>
          </a:xfrm>
          <a:prstGeom xmlns:a="http://schemas.openxmlformats.org/drawingml/2006/main" prst="rect">
            <a:avLst/>
          </a:prstGeom>
          <a:solidFill xmlns:a="http://schemas.openxmlformats.org/drawingml/2006/main">
            <a:srgbClr val="22D3EE">
              <a:alpha val="13333"/>
            </a:srgbClr>
          </a:solidFill>
          <a:ln xmlns:a="http://schemas.openxmlformats.org/drawingml/2006/main" w="38100">
            <a:solidFill>
              <a:srgbClr val="22D3EE"/>
            </a:solidFill>
            <a:prstDash val="solid"/>
          </a:ln>
        </p:spPr>
      </p:sp>
      <p:sp>
        <p:nvSpPr>
          <p:cNvPr id="25" name="Rectangle: Rounded Corners 24">
            <a:extLst xmlns:a="http://schemas.openxmlformats.org/drawingml/2006/main">
              <a:ext uri="{FF2B5EF4-FFF2-40B4-BE49-F238E27FC236}">
                <a16:creationId xmlns:a16="http://schemas.microsoft.com/office/drawing/2014/main" id="{8B9935F0-C2FD-4A33-A8D5-7C38F07B30D5}"/>
              </a:ext>
            </a:extLst>
          </p:cNvPr>
          <p:cNvSpPr>
            <a:spLocks xmlns:a="http://schemas.openxmlformats.org/drawingml/2006/main" noGrp="1"/>
          </p:cNvSpPr>
          <p:nvPr/>
        </p:nvSpPr>
        <p:spPr>
          <a:xfrm xmlns:a="http://schemas.openxmlformats.org/drawingml/2006/main">
            <a:off x="1762125" y="4619625"/>
            <a:ext cx="1619250"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2D3EE"/>
            </a:solidFill>
            <a:prstDash val="solid"/>
          </a:ln>
        </p:spPr>
      </p:sp>
      <p:sp>
        <p:nvSpPr>
          <p:cNvPr id="26" name="Rectangle 25">
            <a:extLst xmlns:a="http://schemas.openxmlformats.org/drawingml/2006/main">
              <a:ext uri="{FF2B5EF4-FFF2-40B4-BE49-F238E27FC236}">
                <a16:creationId xmlns:a16="http://schemas.microsoft.com/office/drawing/2014/main" id="{941F69E1-7775-45C7-8744-4F4931CEA9E7}"/>
              </a:ext>
            </a:extLst>
          </p:cNvPr>
          <p:cNvSpPr>
            <a:spLocks xmlns:a="http://schemas.openxmlformats.org/drawingml/2006/main" noGrp="1"/>
          </p:cNvSpPr>
          <p:nvPr/>
        </p:nvSpPr>
        <p:spPr>
          <a:xfrm xmlns:a="http://schemas.openxmlformats.org/drawingml/2006/main">
            <a:off x="1809750" y="4657725"/>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8-SAMPLE EXCERPT</a:t>
            </a:r>
          </a:p>
        </p:txBody>
      </p:sp>
      <p:sp>
        <p:nvSpPr>
          <p:cNvPr id="27" name="Rectangle 26">
            <a:extLst xmlns:a="http://schemas.openxmlformats.org/drawingml/2006/main">
              <a:ext uri="{FF2B5EF4-FFF2-40B4-BE49-F238E27FC236}">
                <a16:creationId xmlns:a16="http://schemas.microsoft.com/office/drawing/2014/main" id="{3BF9F827-7A11-430C-98FE-D8502AC3CE7A}"/>
              </a:ext>
            </a:extLst>
          </p:cNvPr>
          <p:cNvSpPr>
            <a:spLocks xmlns:a="http://schemas.openxmlformats.org/drawingml/2006/main" noGrp="1"/>
          </p:cNvSpPr>
          <p:nvPr/>
        </p:nvSpPr>
        <p:spPr>
          <a:xfrm xmlns:a="http://schemas.openxmlformats.org/drawingml/2006/main">
            <a:off x="5286375" y="1476375"/>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Worked luma example from the highlighted row</a:t>
            </a:r>
          </a:p>
        </p:txBody>
      </p:sp>
      <p:sp>
        <p:nvSpPr>
          <p:cNvPr id="28" name="Rectangle 27">
            <a:extLst xmlns:a="http://schemas.openxmlformats.org/drawingml/2006/main">
              <a:ext uri="{FF2B5EF4-FFF2-40B4-BE49-F238E27FC236}">
                <a16:creationId xmlns:a16="http://schemas.microsoft.com/office/drawing/2014/main" id="{25559C9F-E329-4C4B-9CF0-E02AA239419C}"/>
              </a:ext>
            </a:extLst>
          </p:cNvPr>
          <p:cNvSpPr>
            <a:spLocks xmlns:a="http://schemas.openxmlformats.org/drawingml/2006/main" noGrp="1"/>
          </p:cNvSpPr>
          <p:nvPr/>
        </p:nvSpPr>
        <p:spPr>
          <a:xfrm xmlns:a="http://schemas.openxmlformats.org/drawingml/2006/main">
            <a:off x="5286375" y="17811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buNone/>
              <a:defRPr sz="1200" b="1">
                <a:solidFill>
                  <a:srgbClr val="22D3EE"/>
                </a:solidFill>
                <a:latin typeface="Arial"/>
                <a:ea typeface="Arial"/>
                <a:cs typeface="Arial"/>
              </a:defRPr>
            </a:pPr>
            <a:r>
              <a:rPr sz="1200" b="1">
                <a:solidFill>
                  <a:srgbClr val="22D3EE"/>
                </a:solidFill>
                <a:latin typeface="Arial"/>
                <a:ea typeface="Arial"/>
                <a:cs typeface="Arial"/>
              </a:rPr>
              <a:t>ORIGINAL SAMPLES</a:t>
            </a:r>
          </a:p>
        </p:txBody>
      </p:sp>
      <p:sp>
        <p:nvSpPr>
          <p:cNvPr id="29" name="Rectangle: Rounded Corners 28">
            <a:extLst xmlns:a="http://schemas.openxmlformats.org/drawingml/2006/main">
              <a:ext uri="{FF2B5EF4-FFF2-40B4-BE49-F238E27FC236}">
                <a16:creationId xmlns:a16="http://schemas.microsoft.com/office/drawing/2014/main" id="{388AFD6A-B3D0-4F0A-AD25-8C95F758BEFF}"/>
              </a:ext>
            </a:extLst>
          </p:cNvPr>
          <p:cNvSpPr>
            <a:spLocks xmlns:a="http://schemas.openxmlformats.org/drawingml/2006/main" noGrp="1"/>
          </p:cNvSpPr>
          <p:nvPr/>
        </p:nvSpPr>
        <p:spPr>
          <a:xfrm xmlns:a="http://schemas.openxmlformats.org/drawingml/2006/main">
            <a:off x="5238750"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30" name="Rectangle 29">
            <a:extLst xmlns:a="http://schemas.openxmlformats.org/drawingml/2006/main">
              <a:ext uri="{FF2B5EF4-FFF2-40B4-BE49-F238E27FC236}">
                <a16:creationId xmlns:a16="http://schemas.microsoft.com/office/drawing/2014/main" id="{53450395-F49C-47D8-A4FE-0BD38CED23F9}"/>
              </a:ext>
            </a:extLst>
          </p:cNvPr>
          <p:cNvSpPr>
            <a:spLocks xmlns:a="http://schemas.openxmlformats.org/drawingml/2006/main" noGrp="1"/>
          </p:cNvSpPr>
          <p:nvPr/>
        </p:nvSpPr>
        <p:spPr>
          <a:xfrm xmlns:a="http://schemas.openxmlformats.org/drawingml/2006/main">
            <a:off x="5238750"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28</a:t>
            </a:r>
          </a:p>
        </p:txBody>
      </p:sp>
      <p:sp>
        <p:nvSpPr>
          <p:cNvPr id="31" name="Rectangle: Rounded Corners 30">
            <a:extLst xmlns:a="http://schemas.openxmlformats.org/drawingml/2006/main">
              <a:ext uri="{FF2B5EF4-FFF2-40B4-BE49-F238E27FC236}">
                <a16:creationId xmlns:a16="http://schemas.microsoft.com/office/drawing/2014/main" id="{FD45BCA8-6237-49A3-9179-5733B4D43BD3}"/>
              </a:ext>
            </a:extLst>
          </p:cNvPr>
          <p:cNvSpPr>
            <a:spLocks xmlns:a="http://schemas.openxmlformats.org/drawingml/2006/main" noGrp="1"/>
          </p:cNvSpPr>
          <p:nvPr/>
        </p:nvSpPr>
        <p:spPr>
          <a:xfrm xmlns:a="http://schemas.openxmlformats.org/drawingml/2006/main">
            <a:off x="5972175"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32" name="Rectangle 31">
            <a:extLst xmlns:a="http://schemas.openxmlformats.org/drawingml/2006/main">
              <a:ext uri="{FF2B5EF4-FFF2-40B4-BE49-F238E27FC236}">
                <a16:creationId xmlns:a16="http://schemas.microsoft.com/office/drawing/2014/main" id="{94825594-035D-434F-8564-D0468CC8AB69}"/>
              </a:ext>
            </a:extLst>
          </p:cNvPr>
          <p:cNvSpPr>
            <a:spLocks xmlns:a="http://schemas.openxmlformats.org/drawingml/2006/main" noGrp="1"/>
          </p:cNvSpPr>
          <p:nvPr/>
        </p:nvSpPr>
        <p:spPr>
          <a:xfrm xmlns:a="http://schemas.openxmlformats.org/drawingml/2006/main">
            <a:off x="5972175"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27</a:t>
            </a:r>
          </a:p>
        </p:txBody>
      </p:sp>
      <p:sp>
        <p:nvSpPr>
          <p:cNvPr id="33" name="Rectangle: Rounded Corners 32">
            <a:extLst xmlns:a="http://schemas.openxmlformats.org/drawingml/2006/main">
              <a:ext uri="{FF2B5EF4-FFF2-40B4-BE49-F238E27FC236}">
                <a16:creationId xmlns:a16="http://schemas.microsoft.com/office/drawing/2014/main" id="{A4A9C4E6-BA13-46AF-9B6D-55976D095F13}"/>
              </a:ext>
            </a:extLst>
          </p:cNvPr>
          <p:cNvSpPr>
            <a:spLocks xmlns:a="http://schemas.openxmlformats.org/drawingml/2006/main" noGrp="1"/>
          </p:cNvSpPr>
          <p:nvPr/>
        </p:nvSpPr>
        <p:spPr>
          <a:xfrm xmlns:a="http://schemas.openxmlformats.org/drawingml/2006/main">
            <a:off x="6705600"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34" name="Rectangle 33">
            <a:extLst xmlns:a="http://schemas.openxmlformats.org/drawingml/2006/main">
              <a:ext uri="{FF2B5EF4-FFF2-40B4-BE49-F238E27FC236}">
                <a16:creationId xmlns:a16="http://schemas.microsoft.com/office/drawing/2014/main" id="{16E536BD-F69B-4748-ACC1-476AEB7C7BBF}"/>
              </a:ext>
            </a:extLst>
          </p:cNvPr>
          <p:cNvSpPr>
            <a:spLocks xmlns:a="http://schemas.openxmlformats.org/drawingml/2006/main" noGrp="1"/>
          </p:cNvSpPr>
          <p:nvPr/>
        </p:nvSpPr>
        <p:spPr>
          <a:xfrm xmlns:a="http://schemas.openxmlformats.org/drawingml/2006/main">
            <a:off x="6705600"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25</a:t>
            </a:r>
          </a:p>
        </p:txBody>
      </p:sp>
      <p:sp>
        <p:nvSpPr>
          <p:cNvPr id="35" name="Rectangle: Rounded Corners 34">
            <a:extLst xmlns:a="http://schemas.openxmlformats.org/drawingml/2006/main">
              <a:ext uri="{FF2B5EF4-FFF2-40B4-BE49-F238E27FC236}">
                <a16:creationId xmlns:a16="http://schemas.microsoft.com/office/drawing/2014/main" id="{946978CA-C4BA-4845-9FAB-90431C71D65A}"/>
              </a:ext>
            </a:extLst>
          </p:cNvPr>
          <p:cNvSpPr>
            <a:spLocks xmlns:a="http://schemas.openxmlformats.org/drawingml/2006/main" noGrp="1"/>
          </p:cNvSpPr>
          <p:nvPr/>
        </p:nvSpPr>
        <p:spPr>
          <a:xfrm xmlns:a="http://schemas.openxmlformats.org/drawingml/2006/main">
            <a:off x="7439025"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36" name="Rectangle 35">
            <a:extLst xmlns:a="http://schemas.openxmlformats.org/drawingml/2006/main">
              <a:ext uri="{FF2B5EF4-FFF2-40B4-BE49-F238E27FC236}">
                <a16:creationId xmlns:a16="http://schemas.microsoft.com/office/drawing/2014/main" id="{2107D1FF-23C5-4841-8101-CC010C33FCA1}"/>
              </a:ext>
            </a:extLst>
          </p:cNvPr>
          <p:cNvSpPr>
            <a:spLocks xmlns:a="http://schemas.openxmlformats.org/drawingml/2006/main" noGrp="1"/>
          </p:cNvSpPr>
          <p:nvPr/>
        </p:nvSpPr>
        <p:spPr>
          <a:xfrm xmlns:a="http://schemas.openxmlformats.org/drawingml/2006/main">
            <a:off x="7439025"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24</a:t>
            </a:r>
          </a:p>
        </p:txBody>
      </p:sp>
      <p:sp>
        <p:nvSpPr>
          <p:cNvPr id="37" name="Rectangle: Rounded Corners 36">
            <a:extLst xmlns:a="http://schemas.openxmlformats.org/drawingml/2006/main">
              <a:ext uri="{FF2B5EF4-FFF2-40B4-BE49-F238E27FC236}">
                <a16:creationId xmlns:a16="http://schemas.microsoft.com/office/drawing/2014/main" id="{AB96FA62-FD6B-491F-A1EC-E6327EAFA1BC}"/>
              </a:ext>
            </a:extLst>
          </p:cNvPr>
          <p:cNvSpPr>
            <a:spLocks xmlns:a="http://schemas.openxmlformats.org/drawingml/2006/main" noGrp="1"/>
          </p:cNvSpPr>
          <p:nvPr/>
        </p:nvSpPr>
        <p:spPr>
          <a:xfrm xmlns:a="http://schemas.openxmlformats.org/drawingml/2006/main">
            <a:off x="8172450"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38" name="Rectangle 37">
            <a:extLst xmlns:a="http://schemas.openxmlformats.org/drawingml/2006/main">
              <a:ext uri="{FF2B5EF4-FFF2-40B4-BE49-F238E27FC236}">
                <a16:creationId xmlns:a16="http://schemas.microsoft.com/office/drawing/2014/main" id="{85776818-F1D5-41D8-8F91-5C028DB7306D}"/>
              </a:ext>
            </a:extLst>
          </p:cNvPr>
          <p:cNvSpPr>
            <a:spLocks xmlns:a="http://schemas.openxmlformats.org/drawingml/2006/main" noGrp="1"/>
          </p:cNvSpPr>
          <p:nvPr/>
        </p:nvSpPr>
        <p:spPr>
          <a:xfrm xmlns:a="http://schemas.openxmlformats.org/drawingml/2006/main">
            <a:off x="8172450"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23</a:t>
            </a:r>
          </a:p>
        </p:txBody>
      </p:sp>
      <p:sp>
        <p:nvSpPr>
          <p:cNvPr id="39" name="Rectangle: Rounded Corners 38">
            <a:extLst xmlns:a="http://schemas.openxmlformats.org/drawingml/2006/main">
              <a:ext uri="{FF2B5EF4-FFF2-40B4-BE49-F238E27FC236}">
                <a16:creationId xmlns:a16="http://schemas.microsoft.com/office/drawing/2014/main" id="{56C0C78E-289A-4C9E-9179-05B37E0C1E54}"/>
              </a:ext>
            </a:extLst>
          </p:cNvPr>
          <p:cNvSpPr>
            <a:spLocks xmlns:a="http://schemas.openxmlformats.org/drawingml/2006/main" noGrp="1"/>
          </p:cNvSpPr>
          <p:nvPr/>
        </p:nvSpPr>
        <p:spPr>
          <a:xfrm xmlns:a="http://schemas.openxmlformats.org/drawingml/2006/main">
            <a:off x="8905875"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40" name="Rectangle 39">
            <a:extLst xmlns:a="http://schemas.openxmlformats.org/drawingml/2006/main">
              <a:ext uri="{FF2B5EF4-FFF2-40B4-BE49-F238E27FC236}">
                <a16:creationId xmlns:a16="http://schemas.microsoft.com/office/drawing/2014/main" id="{67074401-6651-49C2-B130-39F834BF80DE}"/>
              </a:ext>
            </a:extLst>
          </p:cNvPr>
          <p:cNvSpPr>
            <a:spLocks xmlns:a="http://schemas.openxmlformats.org/drawingml/2006/main" noGrp="1"/>
          </p:cNvSpPr>
          <p:nvPr/>
        </p:nvSpPr>
        <p:spPr>
          <a:xfrm xmlns:a="http://schemas.openxmlformats.org/drawingml/2006/main">
            <a:off x="8905875"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22</a:t>
            </a:r>
          </a:p>
        </p:txBody>
      </p:sp>
      <p:sp>
        <p:nvSpPr>
          <p:cNvPr id="41" name="Rectangle: Rounded Corners 40">
            <a:extLst xmlns:a="http://schemas.openxmlformats.org/drawingml/2006/main">
              <a:ext uri="{FF2B5EF4-FFF2-40B4-BE49-F238E27FC236}">
                <a16:creationId xmlns:a16="http://schemas.microsoft.com/office/drawing/2014/main" id="{001DCDA6-AA10-4E9C-8A8F-804ED418AE9D}"/>
              </a:ext>
            </a:extLst>
          </p:cNvPr>
          <p:cNvSpPr>
            <a:spLocks xmlns:a="http://schemas.openxmlformats.org/drawingml/2006/main" noGrp="1"/>
          </p:cNvSpPr>
          <p:nvPr/>
        </p:nvSpPr>
        <p:spPr>
          <a:xfrm xmlns:a="http://schemas.openxmlformats.org/drawingml/2006/main">
            <a:off x="9639300"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42" name="Rectangle 41">
            <a:extLst xmlns:a="http://schemas.openxmlformats.org/drawingml/2006/main">
              <a:ext uri="{FF2B5EF4-FFF2-40B4-BE49-F238E27FC236}">
                <a16:creationId xmlns:a16="http://schemas.microsoft.com/office/drawing/2014/main" id="{4CE9BE8F-56E5-4A4A-AA36-7C99A773DA9B}"/>
              </a:ext>
            </a:extLst>
          </p:cNvPr>
          <p:cNvSpPr>
            <a:spLocks xmlns:a="http://schemas.openxmlformats.org/drawingml/2006/main" noGrp="1"/>
          </p:cNvSpPr>
          <p:nvPr/>
        </p:nvSpPr>
        <p:spPr>
          <a:xfrm xmlns:a="http://schemas.openxmlformats.org/drawingml/2006/main">
            <a:off x="9639300"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20</a:t>
            </a:r>
          </a:p>
        </p:txBody>
      </p:sp>
      <p:sp>
        <p:nvSpPr>
          <p:cNvPr id="43" name="Rectangle: Rounded Corners 42">
            <a:extLst xmlns:a="http://schemas.openxmlformats.org/drawingml/2006/main">
              <a:ext uri="{FF2B5EF4-FFF2-40B4-BE49-F238E27FC236}">
                <a16:creationId xmlns:a16="http://schemas.microsoft.com/office/drawing/2014/main" id="{4AA3AF3D-E5F4-42EF-8877-440304B9580D}"/>
              </a:ext>
            </a:extLst>
          </p:cNvPr>
          <p:cNvSpPr>
            <a:spLocks xmlns:a="http://schemas.openxmlformats.org/drawingml/2006/main" noGrp="1"/>
          </p:cNvSpPr>
          <p:nvPr/>
        </p:nvSpPr>
        <p:spPr>
          <a:xfrm xmlns:a="http://schemas.openxmlformats.org/drawingml/2006/main">
            <a:off x="10372725" y="204787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2D3EE"/>
            </a:solidFill>
            <a:prstDash val="solid"/>
          </a:ln>
        </p:spPr>
      </p:sp>
      <p:sp>
        <p:nvSpPr>
          <p:cNvPr id="44" name="Rectangle 43">
            <a:extLst xmlns:a="http://schemas.openxmlformats.org/drawingml/2006/main">
              <a:ext uri="{FF2B5EF4-FFF2-40B4-BE49-F238E27FC236}">
                <a16:creationId xmlns:a16="http://schemas.microsoft.com/office/drawing/2014/main" id="{2F58F0BC-5793-4CD5-96CC-D0B8060E751F}"/>
              </a:ext>
            </a:extLst>
          </p:cNvPr>
          <p:cNvSpPr>
            <a:spLocks xmlns:a="http://schemas.openxmlformats.org/drawingml/2006/main" noGrp="1"/>
          </p:cNvSpPr>
          <p:nvPr/>
        </p:nvSpPr>
        <p:spPr>
          <a:xfrm xmlns:a="http://schemas.openxmlformats.org/drawingml/2006/main">
            <a:off x="10372725" y="2152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19</a:t>
            </a:r>
          </a:p>
        </p:txBody>
      </p:sp>
      <p:sp>
        <p:nvSpPr>
          <p:cNvPr id="45" name="Rectangle 44">
            <a:extLst xmlns:a="http://schemas.openxmlformats.org/drawingml/2006/main">
              <a:ext uri="{FF2B5EF4-FFF2-40B4-BE49-F238E27FC236}">
                <a16:creationId xmlns:a16="http://schemas.microsoft.com/office/drawing/2014/main" id="{41136A8C-709A-4F2D-BD30-942EB079D64E}"/>
              </a:ext>
            </a:extLst>
          </p:cNvPr>
          <p:cNvSpPr>
            <a:spLocks xmlns:a="http://schemas.openxmlformats.org/drawingml/2006/main" noGrp="1"/>
          </p:cNvSpPr>
          <p:nvPr/>
        </p:nvSpPr>
        <p:spPr>
          <a:xfrm xmlns:a="http://schemas.openxmlformats.org/drawingml/2006/main">
            <a:off x="11096625" y="21621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minus</a:t>
            </a:r>
          </a:p>
        </p:txBody>
      </p:sp>
      <p:sp>
        <p:nvSpPr>
          <p:cNvPr id="46" name="Rectangle 45">
            <a:extLst xmlns:a="http://schemas.openxmlformats.org/drawingml/2006/main">
              <a:ext uri="{FF2B5EF4-FFF2-40B4-BE49-F238E27FC236}">
                <a16:creationId xmlns:a16="http://schemas.microsoft.com/office/drawing/2014/main" id="{3C05AA89-1FD7-4919-BB99-AF9EE8A09309}"/>
              </a:ext>
            </a:extLst>
          </p:cNvPr>
          <p:cNvSpPr>
            <a:spLocks xmlns:a="http://schemas.openxmlformats.org/drawingml/2006/main" noGrp="1"/>
          </p:cNvSpPr>
          <p:nvPr/>
        </p:nvSpPr>
        <p:spPr>
          <a:xfrm xmlns:a="http://schemas.openxmlformats.org/drawingml/2006/main">
            <a:off x="5286375" y="2876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buNone/>
              <a:defRPr sz="1200" b="1">
                <a:solidFill>
                  <a:srgbClr val="2E9BFF"/>
                </a:solidFill>
                <a:latin typeface="Arial"/>
                <a:ea typeface="Arial"/>
                <a:cs typeface="Arial"/>
              </a:defRPr>
            </a:pPr>
            <a:r>
              <a:rPr sz="1200" b="1">
                <a:solidFill>
                  <a:srgbClr val="2E9BFF"/>
                </a:solidFill>
                <a:latin typeface="Arial"/>
                <a:ea typeface="Arial"/>
                <a:cs typeface="Arial"/>
              </a:rPr>
              <a:t>PREDICTED SAMPLES</a:t>
            </a:r>
          </a:p>
        </p:txBody>
      </p:sp>
      <p:sp>
        <p:nvSpPr>
          <p:cNvPr id="47" name="Rectangle: Rounded Corners 46">
            <a:extLst xmlns:a="http://schemas.openxmlformats.org/drawingml/2006/main">
              <a:ext uri="{FF2B5EF4-FFF2-40B4-BE49-F238E27FC236}">
                <a16:creationId xmlns:a16="http://schemas.microsoft.com/office/drawing/2014/main" id="{F1BED90D-7F16-45FE-8D38-D5058A89C8B5}"/>
              </a:ext>
            </a:extLst>
          </p:cNvPr>
          <p:cNvSpPr>
            <a:spLocks xmlns:a="http://schemas.openxmlformats.org/drawingml/2006/main" noGrp="1"/>
          </p:cNvSpPr>
          <p:nvPr/>
        </p:nvSpPr>
        <p:spPr>
          <a:xfrm xmlns:a="http://schemas.openxmlformats.org/drawingml/2006/main">
            <a:off x="5238750"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48" name="Rectangle 47">
            <a:extLst xmlns:a="http://schemas.openxmlformats.org/drawingml/2006/main">
              <a:ext uri="{FF2B5EF4-FFF2-40B4-BE49-F238E27FC236}">
                <a16:creationId xmlns:a16="http://schemas.microsoft.com/office/drawing/2014/main" id="{6FF86957-5186-4736-92E3-B996899B19A4}"/>
              </a:ext>
            </a:extLst>
          </p:cNvPr>
          <p:cNvSpPr>
            <a:spLocks xmlns:a="http://schemas.openxmlformats.org/drawingml/2006/main" noGrp="1"/>
          </p:cNvSpPr>
          <p:nvPr/>
        </p:nvSpPr>
        <p:spPr>
          <a:xfrm xmlns:a="http://schemas.openxmlformats.org/drawingml/2006/main">
            <a:off x="5238750"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35</a:t>
            </a:r>
          </a:p>
        </p:txBody>
      </p:sp>
      <p:sp>
        <p:nvSpPr>
          <p:cNvPr id="49" name="Rectangle: Rounded Corners 48">
            <a:extLst xmlns:a="http://schemas.openxmlformats.org/drawingml/2006/main">
              <a:ext uri="{FF2B5EF4-FFF2-40B4-BE49-F238E27FC236}">
                <a16:creationId xmlns:a16="http://schemas.microsoft.com/office/drawing/2014/main" id="{3F0EBCF3-06E3-4719-A6BE-EE3A1BA0B2CC}"/>
              </a:ext>
            </a:extLst>
          </p:cNvPr>
          <p:cNvSpPr>
            <a:spLocks xmlns:a="http://schemas.openxmlformats.org/drawingml/2006/main" noGrp="1"/>
          </p:cNvSpPr>
          <p:nvPr/>
        </p:nvSpPr>
        <p:spPr>
          <a:xfrm xmlns:a="http://schemas.openxmlformats.org/drawingml/2006/main">
            <a:off x="5972175"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50" name="Rectangle 49">
            <a:extLst xmlns:a="http://schemas.openxmlformats.org/drawingml/2006/main">
              <a:ext uri="{FF2B5EF4-FFF2-40B4-BE49-F238E27FC236}">
                <a16:creationId xmlns:a16="http://schemas.microsoft.com/office/drawing/2014/main" id="{687DC88A-9317-467E-A606-8239750C3053}"/>
              </a:ext>
            </a:extLst>
          </p:cNvPr>
          <p:cNvSpPr>
            <a:spLocks xmlns:a="http://schemas.openxmlformats.org/drawingml/2006/main" noGrp="1"/>
          </p:cNvSpPr>
          <p:nvPr/>
        </p:nvSpPr>
        <p:spPr>
          <a:xfrm xmlns:a="http://schemas.openxmlformats.org/drawingml/2006/main">
            <a:off x="5972175"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32</a:t>
            </a:r>
          </a:p>
        </p:txBody>
      </p:sp>
      <p:sp>
        <p:nvSpPr>
          <p:cNvPr id="51" name="Rectangle: Rounded Corners 50">
            <a:extLst xmlns:a="http://schemas.openxmlformats.org/drawingml/2006/main">
              <a:ext uri="{FF2B5EF4-FFF2-40B4-BE49-F238E27FC236}">
                <a16:creationId xmlns:a16="http://schemas.microsoft.com/office/drawing/2014/main" id="{57980585-E351-407A-9314-C6903FA73294}"/>
              </a:ext>
            </a:extLst>
          </p:cNvPr>
          <p:cNvSpPr>
            <a:spLocks xmlns:a="http://schemas.openxmlformats.org/drawingml/2006/main" noGrp="1"/>
          </p:cNvSpPr>
          <p:nvPr/>
        </p:nvSpPr>
        <p:spPr>
          <a:xfrm xmlns:a="http://schemas.openxmlformats.org/drawingml/2006/main">
            <a:off x="6705600"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52" name="Rectangle 51">
            <a:extLst xmlns:a="http://schemas.openxmlformats.org/drawingml/2006/main">
              <a:ext uri="{FF2B5EF4-FFF2-40B4-BE49-F238E27FC236}">
                <a16:creationId xmlns:a16="http://schemas.microsoft.com/office/drawing/2014/main" id="{218F9ADE-9731-419C-8019-BEBE50B3ACDC}"/>
              </a:ext>
            </a:extLst>
          </p:cNvPr>
          <p:cNvSpPr>
            <a:spLocks xmlns:a="http://schemas.openxmlformats.org/drawingml/2006/main" noGrp="1"/>
          </p:cNvSpPr>
          <p:nvPr/>
        </p:nvSpPr>
        <p:spPr>
          <a:xfrm xmlns:a="http://schemas.openxmlformats.org/drawingml/2006/main">
            <a:off x="6705600"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30</a:t>
            </a:r>
          </a:p>
        </p:txBody>
      </p:sp>
      <p:sp>
        <p:nvSpPr>
          <p:cNvPr id="53" name="Rectangle: Rounded Corners 52">
            <a:extLst xmlns:a="http://schemas.openxmlformats.org/drawingml/2006/main">
              <a:ext uri="{FF2B5EF4-FFF2-40B4-BE49-F238E27FC236}">
                <a16:creationId xmlns:a16="http://schemas.microsoft.com/office/drawing/2014/main" id="{F575A4D4-5D24-4854-B3B2-8EE2FAD020F9}"/>
              </a:ext>
            </a:extLst>
          </p:cNvPr>
          <p:cNvSpPr>
            <a:spLocks xmlns:a="http://schemas.openxmlformats.org/drawingml/2006/main" noGrp="1"/>
          </p:cNvSpPr>
          <p:nvPr/>
        </p:nvSpPr>
        <p:spPr>
          <a:xfrm xmlns:a="http://schemas.openxmlformats.org/drawingml/2006/main">
            <a:off x="7439025"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54" name="Rectangle 53">
            <a:extLst xmlns:a="http://schemas.openxmlformats.org/drawingml/2006/main">
              <a:ext uri="{FF2B5EF4-FFF2-40B4-BE49-F238E27FC236}">
                <a16:creationId xmlns:a16="http://schemas.microsoft.com/office/drawing/2014/main" id="{9BD4B9F5-751F-4F43-9853-26685E3ED451}"/>
              </a:ext>
            </a:extLst>
          </p:cNvPr>
          <p:cNvSpPr>
            <a:spLocks xmlns:a="http://schemas.openxmlformats.org/drawingml/2006/main" noGrp="1"/>
          </p:cNvSpPr>
          <p:nvPr/>
        </p:nvSpPr>
        <p:spPr>
          <a:xfrm xmlns:a="http://schemas.openxmlformats.org/drawingml/2006/main">
            <a:off x="7439025"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29</a:t>
            </a:r>
          </a:p>
        </p:txBody>
      </p:sp>
      <p:sp>
        <p:nvSpPr>
          <p:cNvPr id="55" name="Rectangle: Rounded Corners 54">
            <a:extLst xmlns:a="http://schemas.openxmlformats.org/drawingml/2006/main">
              <a:ext uri="{FF2B5EF4-FFF2-40B4-BE49-F238E27FC236}">
                <a16:creationId xmlns:a16="http://schemas.microsoft.com/office/drawing/2014/main" id="{460A3175-B2F0-4CF9-AF6A-54E6ACF3BDC5}"/>
              </a:ext>
            </a:extLst>
          </p:cNvPr>
          <p:cNvSpPr>
            <a:spLocks xmlns:a="http://schemas.openxmlformats.org/drawingml/2006/main" noGrp="1"/>
          </p:cNvSpPr>
          <p:nvPr/>
        </p:nvSpPr>
        <p:spPr>
          <a:xfrm xmlns:a="http://schemas.openxmlformats.org/drawingml/2006/main">
            <a:off x="8172450"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56" name="Rectangle 55">
            <a:extLst xmlns:a="http://schemas.openxmlformats.org/drawingml/2006/main">
              <a:ext uri="{FF2B5EF4-FFF2-40B4-BE49-F238E27FC236}">
                <a16:creationId xmlns:a16="http://schemas.microsoft.com/office/drawing/2014/main" id="{E0B54989-7719-4CF5-8501-57F6A2A3C426}"/>
              </a:ext>
            </a:extLst>
          </p:cNvPr>
          <p:cNvSpPr>
            <a:spLocks xmlns:a="http://schemas.openxmlformats.org/drawingml/2006/main" noGrp="1"/>
          </p:cNvSpPr>
          <p:nvPr/>
        </p:nvSpPr>
        <p:spPr>
          <a:xfrm xmlns:a="http://schemas.openxmlformats.org/drawingml/2006/main">
            <a:off x="8172450"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28</a:t>
            </a:r>
          </a:p>
        </p:txBody>
      </p:sp>
      <p:sp>
        <p:nvSpPr>
          <p:cNvPr id="57" name="Rectangle: Rounded Corners 56">
            <a:extLst xmlns:a="http://schemas.openxmlformats.org/drawingml/2006/main">
              <a:ext uri="{FF2B5EF4-FFF2-40B4-BE49-F238E27FC236}">
                <a16:creationId xmlns:a16="http://schemas.microsoft.com/office/drawing/2014/main" id="{D88A93BF-9E34-4DB0-9893-2BE9490800FC}"/>
              </a:ext>
            </a:extLst>
          </p:cNvPr>
          <p:cNvSpPr>
            <a:spLocks xmlns:a="http://schemas.openxmlformats.org/drawingml/2006/main" noGrp="1"/>
          </p:cNvSpPr>
          <p:nvPr/>
        </p:nvSpPr>
        <p:spPr>
          <a:xfrm xmlns:a="http://schemas.openxmlformats.org/drawingml/2006/main">
            <a:off x="8905875"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58" name="Rectangle 57">
            <a:extLst xmlns:a="http://schemas.openxmlformats.org/drawingml/2006/main">
              <a:ext uri="{FF2B5EF4-FFF2-40B4-BE49-F238E27FC236}">
                <a16:creationId xmlns:a16="http://schemas.microsoft.com/office/drawing/2014/main" id="{5945B99C-5EB7-4AFC-8E23-B1EACFA3DA4C}"/>
              </a:ext>
            </a:extLst>
          </p:cNvPr>
          <p:cNvSpPr>
            <a:spLocks xmlns:a="http://schemas.openxmlformats.org/drawingml/2006/main" noGrp="1"/>
          </p:cNvSpPr>
          <p:nvPr/>
        </p:nvSpPr>
        <p:spPr>
          <a:xfrm xmlns:a="http://schemas.openxmlformats.org/drawingml/2006/main">
            <a:off x="8905875"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27</a:t>
            </a:r>
          </a:p>
        </p:txBody>
      </p:sp>
      <p:sp>
        <p:nvSpPr>
          <p:cNvPr id="59" name="Rectangle: Rounded Corners 58">
            <a:extLst xmlns:a="http://schemas.openxmlformats.org/drawingml/2006/main">
              <a:ext uri="{FF2B5EF4-FFF2-40B4-BE49-F238E27FC236}">
                <a16:creationId xmlns:a16="http://schemas.microsoft.com/office/drawing/2014/main" id="{DE14D564-A994-422F-ACFB-45041BA3635F}"/>
              </a:ext>
            </a:extLst>
          </p:cNvPr>
          <p:cNvSpPr>
            <a:spLocks xmlns:a="http://schemas.openxmlformats.org/drawingml/2006/main" noGrp="1"/>
          </p:cNvSpPr>
          <p:nvPr/>
        </p:nvSpPr>
        <p:spPr>
          <a:xfrm xmlns:a="http://schemas.openxmlformats.org/drawingml/2006/main">
            <a:off x="9639300"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60" name="Rectangle 59">
            <a:extLst xmlns:a="http://schemas.openxmlformats.org/drawingml/2006/main">
              <a:ext uri="{FF2B5EF4-FFF2-40B4-BE49-F238E27FC236}">
                <a16:creationId xmlns:a16="http://schemas.microsoft.com/office/drawing/2014/main" id="{48FC333B-983B-411B-930E-ECA19ED52BD7}"/>
              </a:ext>
            </a:extLst>
          </p:cNvPr>
          <p:cNvSpPr>
            <a:spLocks xmlns:a="http://schemas.openxmlformats.org/drawingml/2006/main" noGrp="1"/>
          </p:cNvSpPr>
          <p:nvPr/>
        </p:nvSpPr>
        <p:spPr>
          <a:xfrm xmlns:a="http://schemas.openxmlformats.org/drawingml/2006/main">
            <a:off x="9639300"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25</a:t>
            </a:r>
          </a:p>
        </p:txBody>
      </p:sp>
      <p:sp>
        <p:nvSpPr>
          <p:cNvPr id="61" name="Rectangle: Rounded Corners 60">
            <a:extLst xmlns:a="http://schemas.openxmlformats.org/drawingml/2006/main">
              <a:ext uri="{FF2B5EF4-FFF2-40B4-BE49-F238E27FC236}">
                <a16:creationId xmlns:a16="http://schemas.microsoft.com/office/drawing/2014/main" id="{30A2B644-98FF-4191-BFF1-F899024E9006}"/>
              </a:ext>
            </a:extLst>
          </p:cNvPr>
          <p:cNvSpPr>
            <a:spLocks xmlns:a="http://schemas.openxmlformats.org/drawingml/2006/main" noGrp="1"/>
          </p:cNvSpPr>
          <p:nvPr/>
        </p:nvSpPr>
        <p:spPr>
          <a:xfrm xmlns:a="http://schemas.openxmlformats.org/drawingml/2006/main">
            <a:off x="10372725" y="3143250"/>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2E9BFF"/>
            </a:solidFill>
            <a:prstDash val="solid"/>
          </a:ln>
        </p:spPr>
      </p:sp>
      <p:sp>
        <p:nvSpPr>
          <p:cNvPr id="62" name="Rectangle 61">
            <a:extLst xmlns:a="http://schemas.openxmlformats.org/drawingml/2006/main">
              <a:ext uri="{FF2B5EF4-FFF2-40B4-BE49-F238E27FC236}">
                <a16:creationId xmlns:a16="http://schemas.microsoft.com/office/drawing/2014/main" id="{A3B2A96E-36D5-4C82-A6D9-1FA0435076CF}"/>
              </a:ext>
            </a:extLst>
          </p:cNvPr>
          <p:cNvSpPr>
            <a:spLocks xmlns:a="http://schemas.openxmlformats.org/drawingml/2006/main" noGrp="1"/>
          </p:cNvSpPr>
          <p:nvPr/>
        </p:nvSpPr>
        <p:spPr>
          <a:xfrm xmlns:a="http://schemas.openxmlformats.org/drawingml/2006/main">
            <a:off x="10372725" y="32480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24</a:t>
            </a:r>
          </a:p>
        </p:txBody>
      </p:sp>
      <p:sp>
        <p:nvSpPr>
          <p:cNvPr id="63" name="Rectangle 62">
            <a:extLst xmlns:a="http://schemas.openxmlformats.org/drawingml/2006/main">
              <a:ext uri="{FF2B5EF4-FFF2-40B4-BE49-F238E27FC236}">
                <a16:creationId xmlns:a16="http://schemas.microsoft.com/office/drawing/2014/main" id="{F88ABA88-ECB7-4367-97D7-252E7B5A4610}"/>
              </a:ext>
            </a:extLst>
          </p:cNvPr>
          <p:cNvSpPr>
            <a:spLocks xmlns:a="http://schemas.openxmlformats.org/drawingml/2006/main" noGrp="1"/>
          </p:cNvSpPr>
          <p:nvPr/>
        </p:nvSpPr>
        <p:spPr>
          <a:xfrm xmlns:a="http://schemas.openxmlformats.org/drawingml/2006/main">
            <a:off x="11096625" y="32575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equals</a:t>
            </a:r>
          </a:p>
        </p:txBody>
      </p:sp>
      <p:sp>
        <p:nvSpPr>
          <p:cNvPr id="64" name="Rectangle 63">
            <a:extLst xmlns:a="http://schemas.openxmlformats.org/drawingml/2006/main">
              <a:ext uri="{FF2B5EF4-FFF2-40B4-BE49-F238E27FC236}">
                <a16:creationId xmlns:a16="http://schemas.microsoft.com/office/drawing/2014/main" id="{BA424364-C568-466A-ADD0-C0F7E3D3FC06}"/>
              </a:ext>
            </a:extLst>
          </p:cNvPr>
          <p:cNvSpPr>
            <a:spLocks xmlns:a="http://schemas.openxmlformats.org/drawingml/2006/main" noGrp="1"/>
          </p:cNvSpPr>
          <p:nvPr/>
        </p:nvSpPr>
        <p:spPr>
          <a:xfrm xmlns:a="http://schemas.openxmlformats.org/drawingml/2006/main">
            <a:off x="5286375" y="39719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SIGNED RESIDUAL</a:t>
            </a:r>
          </a:p>
        </p:txBody>
      </p:sp>
      <p:sp>
        <p:nvSpPr>
          <p:cNvPr id="65" name="Rectangle: Rounded Corners 64">
            <a:extLst xmlns:a="http://schemas.openxmlformats.org/drawingml/2006/main">
              <a:ext uri="{FF2B5EF4-FFF2-40B4-BE49-F238E27FC236}">
                <a16:creationId xmlns:a16="http://schemas.microsoft.com/office/drawing/2014/main" id="{95E7D795-1C83-4DB0-A2C3-626AE60245DA}"/>
              </a:ext>
            </a:extLst>
          </p:cNvPr>
          <p:cNvSpPr>
            <a:spLocks xmlns:a="http://schemas.openxmlformats.org/drawingml/2006/main" noGrp="1"/>
          </p:cNvSpPr>
          <p:nvPr/>
        </p:nvSpPr>
        <p:spPr>
          <a:xfrm xmlns:a="http://schemas.openxmlformats.org/drawingml/2006/main">
            <a:off x="5238750"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66" name="Rectangle 65">
            <a:extLst xmlns:a="http://schemas.openxmlformats.org/drawingml/2006/main">
              <a:ext uri="{FF2B5EF4-FFF2-40B4-BE49-F238E27FC236}">
                <a16:creationId xmlns:a16="http://schemas.microsoft.com/office/drawing/2014/main" id="{84531462-1FF4-4B1B-BA36-17FCE17BD958}"/>
              </a:ext>
            </a:extLst>
          </p:cNvPr>
          <p:cNvSpPr>
            <a:spLocks xmlns:a="http://schemas.openxmlformats.org/drawingml/2006/main" noGrp="1"/>
          </p:cNvSpPr>
          <p:nvPr/>
        </p:nvSpPr>
        <p:spPr>
          <a:xfrm xmlns:a="http://schemas.openxmlformats.org/drawingml/2006/main">
            <a:off x="5238750"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-7</a:t>
            </a:r>
          </a:p>
        </p:txBody>
      </p:sp>
      <p:sp>
        <p:nvSpPr>
          <p:cNvPr id="67" name="Rectangle: Rounded Corners 66">
            <a:extLst xmlns:a="http://schemas.openxmlformats.org/drawingml/2006/main">
              <a:ext uri="{FF2B5EF4-FFF2-40B4-BE49-F238E27FC236}">
                <a16:creationId xmlns:a16="http://schemas.microsoft.com/office/drawing/2014/main" id="{AC1204B7-4D6A-450B-ACCE-04430D0DE9DC}"/>
              </a:ext>
            </a:extLst>
          </p:cNvPr>
          <p:cNvSpPr>
            <a:spLocks xmlns:a="http://schemas.openxmlformats.org/drawingml/2006/main" noGrp="1"/>
          </p:cNvSpPr>
          <p:nvPr/>
        </p:nvSpPr>
        <p:spPr>
          <a:xfrm xmlns:a="http://schemas.openxmlformats.org/drawingml/2006/main">
            <a:off x="5972175"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68" name="Rectangle 67">
            <a:extLst xmlns:a="http://schemas.openxmlformats.org/drawingml/2006/main">
              <a:ext uri="{FF2B5EF4-FFF2-40B4-BE49-F238E27FC236}">
                <a16:creationId xmlns:a16="http://schemas.microsoft.com/office/drawing/2014/main" id="{39FB54E6-1EED-475F-A83D-24872853E609}"/>
              </a:ext>
            </a:extLst>
          </p:cNvPr>
          <p:cNvSpPr>
            <a:spLocks xmlns:a="http://schemas.openxmlformats.org/drawingml/2006/main" noGrp="1"/>
          </p:cNvSpPr>
          <p:nvPr/>
        </p:nvSpPr>
        <p:spPr>
          <a:xfrm xmlns:a="http://schemas.openxmlformats.org/drawingml/2006/main">
            <a:off x="5972175"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69" name="Rectangle: Rounded Corners 68">
            <a:extLst xmlns:a="http://schemas.openxmlformats.org/drawingml/2006/main">
              <a:ext uri="{FF2B5EF4-FFF2-40B4-BE49-F238E27FC236}">
                <a16:creationId xmlns:a16="http://schemas.microsoft.com/office/drawing/2014/main" id="{C6C86E7B-9103-46F7-A33F-A6F112A81320}"/>
              </a:ext>
            </a:extLst>
          </p:cNvPr>
          <p:cNvSpPr>
            <a:spLocks xmlns:a="http://schemas.openxmlformats.org/drawingml/2006/main" noGrp="1"/>
          </p:cNvSpPr>
          <p:nvPr/>
        </p:nvSpPr>
        <p:spPr>
          <a:xfrm xmlns:a="http://schemas.openxmlformats.org/drawingml/2006/main">
            <a:off x="6705600"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70" name="Rectangle 69">
            <a:extLst xmlns:a="http://schemas.openxmlformats.org/drawingml/2006/main">
              <a:ext uri="{FF2B5EF4-FFF2-40B4-BE49-F238E27FC236}">
                <a16:creationId xmlns:a16="http://schemas.microsoft.com/office/drawing/2014/main" id="{4C7183C5-8EF3-464C-A8E8-C2859F2B4FCB}"/>
              </a:ext>
            </a:extLst>
          </p:cNvPr>
          <p:cNvSpPr>
            <a:spLocks xmlns:a="http://schemas.openxmlformats.org/drawingml/2006/main" noGrp="1"/>
          </p:cNvSpPr>
          <p:nvPr/>
        </p:nvSpPr>
        <p:spPr>
          <a:xfrm xmlns:a="http://schemas.openxmlformats.org/drawingml/2006/main">
            <a:off x="6705600"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71" name="Rectangle: Rounded Corners 70">
            <a:extLst xmlns:a="http://schemas.openxmlformats.org/drawingml/2006/main">
              <a:ext uri="{FF2B5EF4-FFF2-40B4-BE49-F238E27FC236}">
                <a16:creationId xmlns:a16="http://schemas.microsoft.com/office/drawing/2014/main" id="{A6B96983-B0B6-4335-9863-C85CA5E2AD45}"/>
              </a:ext>
            </a:extLst>
          </p:cNvPr>
          <p:cNvSpPr>
            <a:spLocks xmlns:a="http://schemas.openxmlformats.org/drawingml/2006/main" noGrp="1"/>
          </p:cNvSpPr>
          <p:nvPr/>
        </p:nvSpPr>
        <p:spPr>
          <a:xfrm xmlns:a="http://schemas.openxmlformats.org/drawingml/2006/main">
            <a:off x="7439025"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72" name="Rectangle 71">
            <a:extLst xmlns:a="http://schemas.openxmlformats.org/drawingml/2006/main">
              <a:ext uri="{FF2B5EF4-FFF2-40B4-BE49-F238E27FC236}">
                <a16:creationId xmlns:a16="http://schemas.microsoft.com/office/drawing/2014/main" id="{2D7200D5-D562-4B02-B385-70084A22E4B5}"/>
              </a:ext>
            </a:extLst>
          </p:cNvPr>
          <p:cNvSpPr>
            <a:spLocks xmlns:a="http://schemas.openxmlformats.org/drawingml/2006/main" noGrp="1"/>
          </p:cNvSpPr>
          <p:nvPr/>
        </p:nvSpPr>
        <p:spPr>
          <a:xfrm xmlns:a="http://schemas.openxmlformats.org/drawingml/2006/main">
            <a:off x="7439025"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73" name="Rectangle: Rounded Corners 72">
            <a:extLst xmlns:a="http://schemas.openxmlformats.org/drawingml/2006/main">
              <a:ext uri="{FF2B5EF4-FFF2-40B4-BE49-F238E27FC236}">
                <a16:creationId xmlns:a16="http://schemas.microsoft.com/office/drawing/2014/main" id="{EC143051-61F3-4327-8D91-04D89F798420}"/>
              </a:ext>
            </a:extLst>
          </p:cNvPr>
          <p:cNvSpPr>
            <a:spLocks xmlns:a="http://schemas.openxmlformats.org/drawingml/2006/main" noGrp="1"/>
          </p:cNvSpPr>
          <p:nvPr/>
        </p:nvSpPr>
        <p:spPr>
          <a:xfrm xmlns:a="http://schemas.openxmlformats.org/drawingml/2006/main">
            <a:off x="8172450"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74" name="Rectangle 73">
            <a:extLst xmlns:a="http://schemas.openxmlformats.org/drawingml/2006/main">
              <a:ext uri="{FF2B5EF4-FFF2-40B4-BE49-F238E27FC236}">
                <a16:creationId xmlns:a16="http://schemas.microsoft.com/office/drawing/2014/main" id="{3FB920F6-E177-40A4-BDFD-593C931AE6EF}"/>
              </a:ext>
            </a:extLst>
          </p:cNvPr>
          <p:cNvSpPr>
            <a:spLocks xmlns:a="http://schemas.openxmlformats.org/drawingml/2006/main" noGrp="1"/>
          </p:cNvSpPr>
          <p:nvPr/>
        </p:nvSpPr>
        <p:spPr>
          <a:xfrm xmlns:a="http://schemas.openxmlformats.org/drawingml/2006/main">
            <a:off x="8172450"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75" name="Rectangle: Rounded Corners 74">
            <a:extLst xmlns:a="http://schemas.openxmlformats.org/drawingml/2006/main">
              <a:ext uri="{FF2B5EF4-FFF2-40B4-BE49-F238E27FC236}">
                <a16:creationId xmlns:a16="http://schemas.microsoft.com/office/drawing/2014/main" id="{8DB2039E-0C64-4E49-904B-5EB5FDC0DD19}"/>
              </a:ext>
            </a:extLst>
          </p:cNvPr>
          <p:cNvSpPr>
            <a:spLocks xmlns:a="http://schemas.openxmlformats.org/drawingml/2006/main" noGrp="1"/>
          </p:cNvSpPr>
          <p:nvPr/>
        </p:nvSpPr>
        <p:spPr>
          <a:xfrm xmlns:a="http://schemas.openxmlformats.org/drawingml/2006/main">
            <a:off x="8905875"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76" name="Rectangle 75">
            <a:extLst xmlns:a="http://schemas.openxmlformats.org/drawingml/2006/main">
              <a:ext uri="{FF2B5EF4-FFF2-40B4-BE49-F238E27FC236}">
                <a16:creationId xmlns:a16="http://schemas.microsoft.com/office/drawing/2014/main" id="{2BB8C5D3-18AF-40BB-84E7-0B3B3D376F04}"/>
              </a:ext>
            </a:extLst>
          </p:cNvPr>
          <p:cNvSpPr>
            <a:spLocks xmlns:a="http://schemas.openxmlformats.org/drawingml/2006/main" noGrp="1"/>
          </p:cNvSpPr>
          <p:nvPr/>
        </p:nvSpPr>
        <p:spPr>
          <a:xfrm xmlns:a="http://schemas.openxmlformats.org/drawingml/2006/main">
            <a:off x="8905875"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77" name="Rectangle: Rounded Corners 76">
            <a:extLst xmlns:a="http://schemas.openxmlformats.org/drawingml/2006/main">
              <a:ext uri="{FF2B5EF4-FFF2-40B4-BE49-F238E27FC236}">
                <a16:creationId xmlns:a16="http://schemas.microsoft.com/office/drawing/2014/main" id="{2D80B91E-11D2-4E16-9385-51ECEF0BAF41}"/>
              </a:ext>
            </a:extLst>
          </p:cNvPr>
          <p:cNvSpPr>
            <a:spLocks xmlns:a="http://schemas.openxmlformats.org/drawingml/2006/main" noGrp="1"/>
          </p:cNvSpPr>
          <p:nvPr/>
        </p:nvSpPr>
        <p:spPr>
          <a:xfrm xmlns:a="http://schemas.openxmlformats.org/drawingml/2006/main">
            <a:off x="9639300"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78" name="Rectangle 77">
            <a:extLst xmlns:a="http://schemas.openxmlformats.org/drawingml/2006/main">
              <a:ext uri="{FF2B5EF4-FFF2-40B4-BE49-F238E27FC236}">
                <a16:creationId xmlns:a16="http://schemas.microsoft.com/office/drawing/2014/main" id="{CF5C1135-2FED-4AEE-84DF-E17F1665F048}"/>
              </a:ext>
            </a:extLst>
          </p:cNvPr>
          <p:cNvSpPr>
            <a:spLocks xmlns:a="http://schemas.openxmlformats.org/drawingml/2006/main" noGrp="1"/>
          </p:cNvSpPr>
          <p:nvPr/>
        </p:nvSpPr>
        <p:spPr>
          <a:xfrm xmlns:a="http://schemas.openxmlformats.org/drawingml/2006/main">
            <a:off x="9639300"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79" name="Rectangle: Rounded Corners 78">
            <a:extLst xmlns:a="http://schemas.openxmlformats.org/drawingml/2006/main">
              <a:ext uri="{FF2B5EF4-FFF2-40B4-BE49-F238E27FC236}">
                <a16:creationId xmlns:a16="http://schemas.microsoft.com/office/drawing/2014/main" id="{3354F18C-58F1-472D-9DB9-278968735BFE}"/>
              </a:ext>
            </a:extLst>
          </p:cNvPr>
          <p:cNvSpPr>
            <a:spLocks xmlns:a="http://schemas.openxmlformats.org/drawingml/2006/main" noGrp="1"/>
          </p:cNvSpPr>
          <p:nvPr/>
        </p:nvSpPr>
        <p:spPr>
          <a:xfrm xmlns:a="http://schemas.openxmlformats.org/drawingml/2006/main">
            <a:off x="10372725" y="4238625"/>
            <a:ext cx="666750" cy="514350"/>
          </a:xfrm>
          <a:prstGeom xmlns:a="http://schemas.openxmlformats.org/drawingml/2006/main" prst="roundRect">
            <a:avLst>
              <a:gd name="adj" fmla="val 18519"/>
            </a:avLst>
          </a:prstGeom>
          <a:solidFill xmlns:a="http://schemas.openxmlformats.org/drawingml/2006/main">
            <a:srgbClr val="0B2033"/>
          </a:solidFill>
          <a:ln xmlns:a="http://schemas.openxmlformats.org/drawingml/2006/main" w="19050">
            <a:solidFill>
              <a:srgbClr val="47E6A4"/>
            </a:solidFill>
            <a:prstDash val="solid"/>
          </a:ln>
        </p:spPr>
      </p:sp>
      <p:sp>
        <p:nvSpPr>
          <p:cNvPr id="80" name="Rectangle 79">
            <a:extLst xmlns:a="http://schemas.openxmlformats.org/drawingml/2006/main">
              <a:ext uri="{FF2B5EF4-FFF2-40B4-BE49-F238E27FC236}">
                <a16:creationId xmlns:a16="http://schemas.microsoft.com/office/drawing/2014/main" id="{6BDC4C13-A070-42D3-9155-58A82B51EE91}"/>
              </a:ext>
            </a:extLst>
          </p:cNvPr>
          <p:cNvSpPr>
            <a:spLocks xmlns:a="http://schemas.openxmlformats.org/drawingml/2006/main" noGrp="1"/>
          </p:cNvSpPr>
          <p:nvPr/>
        </p:nvSpPr>
        <p:spPr>
          <a:xfrm xmlns:a="http://schemas.openxmlformats.org/drawingml/2006/main">
            <a:off x="10372725" y="43434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81" name="Rectangle 80">
            <a:extLst xmlns:a="http://schemas.openxmlformats.org/drawingml/2006/main">
              <a:ext uri="{FF2B5EF4-FFF2-40B4-BE49-F238E27FC236}">
                <a16:creationId xmlns:a16="http://schemas.microsoft.com/office/drawing/2014/main" id="{F978A3EA-2005-4C16-8A2E-4DA6354093F6}"/>
              </a:ext>
            </a:extLst>
          </p:cNvPr>
          <p:cNvSpPr>
            <a:spLocks xmlns:a="http://schemas.openxmlformats.org/drawingml/2006/main" noGrp="1"/>
          </p:cNvSpPr>
          <p:nvPr/>
        </p:nvSpPr>
        <p:spPr>
          <a:xfrm xmlns:a="http://schemas.openxmlformats.org/drawingml/2006/main">
            <a:off x="5381625" y="538162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47E6A4"/>
                </a:solidFill>
                <a:latin typeface="Arial"/>
                <a:ea typeface="Arial"/>
                <a:cs typeface="Arial"/>
              </a:defRPr>
            </a:pPr>
            <a:r>
              <a:rPr sz="1350" b="1">
                <a:solidFill>
                  <a:srgbClr val="47E6A4"/>
                </a:solidFill>
                <a:latin typeface="Arial"/>
                <a:ea typeface="Arial"/>
                <a:cs typeface="Arial"/>
              </a:rPr>
              <a:t>−7 means the original sample is 7 levels darker than its prediction.</a:t>
            </a:r>
          </a:p>
        </p:txBody>
      </p:sp>
      <p:sp>
        <p:nvSpPr>
          <p:cNvPr id="82" name="Rectangle: Rounded Corners 81">
            <a:extLst xmlns:a="http://schemas.openxmlformats.org/drawingml/2006/main">
              <a:ext uri="{FF2B5EF4-FFF2-40B4-BE49-F238E27FC236}">
                <a16:creationId xmlns:a16="http://schemas.microsoft.com/office/drawing/2014/main" id="{C2097A56-F91F-42E2-84A1-393141809A1E}"/>
              </a:ext>
            </a:extLst>
          </p:cNvPr>
          <p:cNvSpPr>
            <a:spLocks xmlns:a="http://schemas.openxmlformats.org/drawingml/2006/main" noGrp="1"/>
          </p:cNvSpPr>
          <p:nvPr/>
        </p:nvSpPr>
        <p:spPr>
          <a:xfrm xmlns:a="http://schemas.openxmlformats.org/drawingml/2006/main">
            <a:off x="2095500" y="5905500"/>
            <a:ext cx="8001000" cy="457200"/>
          </a:xfrm>
          <a:prstGeom xmlns:a="http://schemas.openxmlformats.org/drawingml/2006/main" prst="roundRect">
            <a:avLst>
              <a:gd name="adj" fmla="val 25000"/>
            </a:avLst>
          </a:prstGeom>
          <a:solidFill xmlns:a="http://schemas.openxmlformats.org/drawingml/2006/main">
            <a:srgbClr val="132536"/>
          </a:solidFill>
          <a:ln xmlns:a="http://schemas.openxmlformats.org/drawingml/2006/main" w="19050">
            <a:solidFill>
              <a:srgbClr val="FFB84D"/>
            </a:solidFill>
            <a:prstDash val="solid"/>
          </a:ln>
        </p:spPr>
      </p:sp>
      <p:sp>
        <p:nvSpPr>
          <p:cNvPr id="83" name="Rectangle 82">
            <a:extLst xmlns:a="http://schemas.openxmlformats.org/drawingml/2006/main">
              <a:ext uri="{FF2B5EF4-FFF2-40B4-BE49-F238E27FC236}">
                <a16:creationId xmlns:a16="http://schemas.microsoft.com/office/drawing/2014/main" id="{2966DF55-F9E2-48AE-AC54-726D212E6F79}"/>
              </a:ext>
            </a:extLst>
          </p:cNvPr>
          <p:cNvSpPr>
            <a:spLocks xmlns:a="http://schemas.openxmlformats.org/drawingml/2006/main" noGrp="1"/>
          </p:cNvSpPr>
          <p:nvPr/>
        </p:nvSpPr>
        <p:spPr>
          <a:xfrm xmlns:a="http://schemas.openxmlformats.org/drawingml/2006/main">
            <a:off x="2209800" y="6000750"/>
            <a:ext cx="777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The Discrete Cosine Transform receives signed residual values, not the grayscale display.</a:t>
            </a:r>
          </a:p>
        </p:txBody>
      </p:sp>
    </p:spTree>
    <p:extLst>
      <p:ext uri="{BB962C8B-B14F-4D97-AF65-F5344CB8AC3E}">
        <p14:creationId xmlns:p14="http://schemas.microsoft.com/office/powerpoint/2010/main" val="2044310984"/>
      </p:ext>
    </p:extLst>
  </p:cSld>
</p:sld>
</file>

<file path=ppt/slides/slide8.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56" name="Oval 55">
            <a:extLst xmlns:a="http://schemas.openxmlformats.org/drawingml/2006/main">
              <a:ext uri="{FF2B5EF4-FFF2-40B4-BE49-F238E27FC236}">
                <a16:creationId xmlns:a16="http://schemas.microsoft.com/office/drawing/2014/main" id="{FCBBCD0E-B70E-4135-AB37-58ACDFAB9163}"/>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52E3D25F-A633-48C2-8066-9593609D068A}"/>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6553FC33-403F-436E-A169-4077C2BB0006}"/>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Step 2: calculate the Discrete Cosine Transform</a:t>
            </a:r>
          </a:p>
        </p:txBody>
      </p:sp>
      <p:sp>
        <p:nvSpPr>
          <p:cNvPr id="4" name="Straight Connector 3">
            <a:extLst xmlns:a="http://schemas.openxmlformats.org/drawingml/2006/main">
              <a:ext uri="{FF2B5EF4-FFF2-40B4-BE49-F238E27FC236}">
                <a16:creationId xmlns:a16="http://schemas.microsoft.com/office/drawing/2014/main" id="{3127E5EA-7510-4608-BFD5-A74F65454A38}"/>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AF99ADD0-7130-4A07-ADBF-1AD5D6AB17E3}"/>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Eight spatial residual samples become eight frequency coefficients</a:t>
            </a:r>
          </a:p>
        </p:txBody>
      </p:sp>
      <p:sp>
        <p:nvSpPr>
          <p:cNvPr id="6" name="Rectangle 5">
            <a:extLst xmlns:a="http://schemas.openxmlformats.org/drawingml/2006/main">
              <a:ext uri="{FF2B5EF4-FFF2-40B4-BE49-F238E27FC236}">
                <a16:creationId xmlns:a16="http://schemas.microsoft.com/office/drawing/2014/main" id="{ED82096F-C62A-433F-A94A-7E6C8CED4841}"/>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23514645-E598-4A8D-826D-78F650974A62}"/>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08 / 49</a:t>
            </a:r>
          </a:p>
        </p:txBody>
      </p:sp>
      <p:sp>
        <p:nvSpPr>
          <p:cNvPr id="8" name="Rectangle 7">
            <a:extLst xmlns:a="http://schemas.openxmlformats.org/drawingml/2006/main">
              <a:ext uri="{FF2B5EF4-FFF2-40B4-BE49-F238E27FC236}">
                <a16:creationId xmlns:a16="http://schemas.microsoft.com/office/drawing/2014/main" id="{C6668800-3958-4455-8E7E-0BE4413603A6}"/>
              </a:ext>
            </a:extLst>
          </p:cNvPr>
          <p:cNvSpPr>
            <a:spLocks xmlns:a="http://schemas.openxmlformats.org/drawingml/2006/main" noGrp="1"/>
          </p:cNvSpPr>
          <p:nvPr/>
        </p:nvSpPr>
        <p:spPr>
          <a:xfrm xmlns:a="http://schemas.openxmlformats.org/drawingml/2006/main">
            <a:off x="619125" y="14287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22D3EE"/>
                </a:solidFill>
                <a:latin typeface="Arial"/>
                <a:ea typeface="Arial"/>
                <a:cs typeface="Arial"/>
              </a:defRPr>
            </a:pPr>
            <a:r>
              <a:rPr sz="1425" b="1">
                <a:solidFill>
                  <a:srgbClr val="22D3EE"/>
                </a:solidFill>
                <a:latin typeface="Arial"/>
                <a:ea typeface="Arial"/>
                <a:cs typeface="Arial"/>
              </a:rPr>
              <a:t>INPUT RESIDUAL ROW</a:t>
            </a:r>
          </a:p>
        </p:txBody>
      </p:sp>
      <p:sp>
        <p:nvSpPr>
          <p:cNvPr id="9" name="Rectangle: Rounded Corners 8">
            <a:extLst xmlns:a="http://schemas.openxmlformats.org/drawingml/2006/main">
              <a:ext uri="{FF2B5EF4-FFF2-40B4-BE49-F238E27FC236}">
                <a16:creationId xmlns:a16="http://schemas.microsoft.com/office/drawing/2014/main" id="{3D39B2A5-AB40-4D16-A0DF-83E8B68B897A}"/>
              </a:ext>
            </a:extLst>
          </p:cNvPr>
          <p:cNvSpPr>
            <a:spLocks xmlns:a="http://schemas.openxmlformats.org/drawingml/2006/main" noGrp="1"/>
          </p:cNvSpPr>
          <p:nvPr/>
        </p:nvSpPr>
        <p:spPr>
          <a:xfrm xmlns:a="http://schemas.openxmlformats.org/drawingml/2006/main">
            <a:off x="571500"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10" name="Rectangle 9">
            <a:extLst xmlns:a="http://schemas.openxmlformats.org/drawingml/2006/main">
              <a:ext uri="{FF2B5EF4-FFF2-40B4-BE49-F238E27FC236}">
                <a16:creationId xmlns:a16="http://schemas.microsoft.com/office/drawing/2014/main" id="{EB59F2D1-892B-470E-BF6A-B89DD6DB1F06}"/>
              </a:ext>
            </a:extLst>
          </p:cNvPr>
          <p:cNvSpPr>
            <a:spLocks xmlns:a="http://schemas.openxmlformats.org/drawingml/2006/main" noGrp="1"/>
          </p:cNvSpPr>
          <p:nvPr/>
        </p:nvSpPr>
        <p:spPr>
          <a:xfrm xmlns:a="http://schemas.openxmlformats.org/drawingml/2006/main">
            <a:off x="571500"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-7</a:t>
            </a:r>
          </a:p>
        </p:txBody>
      </p:sp>
      <p:sp>
        <p:nvSpPr>
          <p:cNvPr id="11" name="Rectangle: Rounded Corners 10">
            <a:extLst xmlns:a="http://schemas.openxmlformats.org/drawingml/2006/main">
              <a:ext uri="{FF2B5EF4-FFF2-40B4-BE49-F238E27FC236}">
                <a16:creationId xmlns:a16="http://schemas.microsoft.com/office/drawing/2014/main" id="{26A98DBC-CE78-4ACA-AFBF-A2AE24A53412}"/>
              </a:ext>
            </a:extLst>
          </p:cNvPr>
          <p:cNvSpPr>
            <a:spLocks xmlns:a="http://schemas.openxmlformats.org/drawingml/2006/main" noGrp="1"/>
          </p:cNvSpPr>
          <p:nvPr/>
        </p:nvSpPr>
        <p:spPr>
          <a:xfrm xmlns:a="http://schemas.openxmlformats.org/drawingml/2006/main">
            <a:off x="1247775"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12" name="Rectangle 11">
            <a:extLst xmlns:a="http://schemas.openxmlformats.org/drawingml/2006/main">
              <a:ext uri="{FF2B5EF4-FFF2-40B4-BE49-F238E27FC236}">
                <a16:creationId xmlns:a16="http://schemas.microsoft.com/office/drawing/2014/main" id="{D1173D06-F8AB-4FF6-98B6-D770412923D2}"/>
              </a:ext>
            </a:extLst>
          </p:cNvPr>
          <p:cNvSpPr>
            <a:spLocks xmlns:a="http://schemas.openxmlformats.org/drawingml/2006/main" noGrp="1"/>
          </p:cNvSpPr>
          <p:nvPr/>
        </p:nvSpPr>
        <p:spPr>
          <a:xfrm xmlns:a="http://schemas.openxmlformats.org/drawingml/2006/main">
            <a:off x="1247775"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13" name="Rectangle: Rounded Corners 12">
            <a:extLst xmlns:a="http://schemas.openxmlformats.org/drawingml/2006/main">
              <a:ext uri="{FF2B5EF4-FFF2-40B4-BE49-F238E27FC236}">
                <a16:creationId xmlns:a16="http://schemas.microsoft.com/office/drawing/2014/main" id="{BC29D7C8-2A14-4D13-81C3-40F8796AFF11}"/>
              </a:ext>
            </a:extLst>
          </p:cNvPr>
          <p:cNvSpPr>
            <a:spLocks xmlns:a="http://schemas.openxmlformats.org/drawingml/2006/main" noGrp="1"/>
          </p:cNvSpPr>
          <p:nvPr/>
        </p:nvSpPr>
        <p:spPr>
          <a:xfrm xmlns:a="http://schemas.openxmlformats.org/drawingml/2006/main">
            <a:off x="1924050"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14" name="Rectangle 13">
            <a:extLst xmlns:a="http://schemas.openxmlformats.org/drawingml/2006/main">
              <a:ext uri="{FF2B5EF4-FFF2-40B4-BE49-F238E27FC236}">
                <a16:creationId xmlns:a16="http://schemas.microsoft.com/office/drawing/2014/main" id="{F72BEED1-B303-4991-976E-33D71CEB8BBD}"/>
              </a:ext>
            </a:extLst>
          </p:cNvPr>
          <p:cNvSpPr>
            <a:spLocks xmlns:a="http://schemas.openxmlformats.org/drawingml/2006/main" noGrp="1"/>
          </p:cNvSpPr>
          <p:nvPr/>
        </p:nvSpPr>
        <p:spPr>
          <a:xfrm xmlns:a="http://schemas.openxmlformats.org/drawingml/2006/main">
            <a:off x="1924050"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15" name="Rectangle: Rounded Corners 14">
            <a:extLst xmlns:a="http://schemas.openxmlformats.org/drawingml/2006/main">
              <a:ext uri="{FF2B5EF4-FFF2-40B4-BE49-F238E27FC236}">
                <a16:creationId xmlns:a16="http://schemas.microsoft.com/office/drawing/2014/main" id="{FBDE54EC-23BB-4A38-9FEE-C37C4583310A}"/>
              </a:ext>
            </a:extLst>
          </p:cNvPr>
          <p:cNvSpPr>
            <a:spLocks xmlns:a="http://schemas.openxmlformats.org/drawingml/2006/main" noGrp="1"/>
          </p:cNvSpPr>
          <p:nvPr/>
        </p:nvSpPr>
        <p:spPr>
          <a:xfrm xmlns:a="http://schemas.openxmlformats.org/drawingml/2006/main">
            <a:off x="2600325"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16" name="Rectangle 15">
            <a:extLst xmlns:a="http://schemas.openxmlformats.org/drawingml/2006/main">
              <a:ext uri="{FF2B5EF4-FFF2-40B4-BE49-F238E27FC236}">
                <a16:creationId xmlns:a16="http://schemas.microsoft.com/office/drawing/2014/main" id="{974E94EF-C98B-4807-8A38-C835D2C0B953}"/>
              </a:ext>
            </a:extLst>
          </p:cNvPr>
          <p:cNvSpPr>
            <a:spLocks xmlns:a="http://schemas.openxmlformats.org/drawingml/2006/main" noGrp="1"/>
          </p:cNvSpPr>
          <p:nvPr/>
        </p:nvSpPr>
        <p:spPr>
          <a:xfrm xmlns:a="http://schemas.openxmlformats.org/drawingml/2006/main">
            <a:off x="2600325"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17" name="Rectangle: Rounded Corners 16">
            <a:extLst xmlns:a="http://schemas.openxmlformats.org/drawingml/2006/main">
              <a:ext uri="{FF2B5EF4-FFF2-40B4-BE49-F238E27FC236}">
                <a16:creationId xmlns:a16="http://schemas.microsoft.com/office/drawing/2014/main" id="{EBB06AD2-BC10-433E-B962-63A207EEDEF3}"/>
              </a:ext>
            </a:extLst>
          </p:cNvPr>
          <p:cNvSpPr>
            <a:spLocks xmlns:a="http://schemas.openxmlformats.org/drawingml/2006/main" noGrp="1"/>
          </p:cNvSpPr>
          <p:nvPr/>
        </p:nvSpPr>
        <p:spPr>
          <a:xfrm xmlns:a="http://schemas.openxmlformats.org/drawingml/2006/main">
            <a:off x="3276600"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18" name="Rectangle 17">
            <a:extLst xmlns:a="http://schemas.openxmlformats.org/drawingml/2006/main">
              <a:ext uri="{FF2B5EF4-FFF2-40B4-BE49-F238E27FC236}">
                <a16:creationId xmlns:a16="http://schemas.microsoft.com/office/drawing/2014/main" id="{88A9AE8A-EBE8-4A62-96EF-270FF339C5F2}"/>
              </a:ext>
            </a:extLst>
          </p:cNvPr>
          <p:cNvSpPr>
            <a:spLocks xmlns:a="http://schemas.openxmlformats.org/drawingml/2006/main" noGrp="1"/>
          </p:cNvSpPr>
          <p:nvPr/>
        </p:nvSpPr>
        <p:spPr>
          <a:xfrm xmlns:a="http://schemas.openxmlformats.org/drawingml/2006/main">
            <a:off x="3276600"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19" name="Rectangle: Rounded Corners 18">
            <a:extLst xmlns:a="http://schemas.openxmlformats.org/drawingml/2006/main">
              <a:ext uri="{FF2B5EF4-FFF2-40B4-BE49-F238E27FC236}">
                <a16:creationId xmlns:a16="http://schemas.microsoft.com/office/drawing/2014/main" id="{5D559F13-C893-435D-AFB4-370AAA17E7C4}"/>
              </a:ext>
            </a:extLst>
          </p:cNvPr>
          <p:cNvSpPr>
            <a:spLocks xmlns:a="http://schemas.openxmlformats.org/drawingml/2006/main" noGrp="1"/>
          </p:cNvSpPr>
          <p:nvPr/>
        </p:nvSpPr>
        <p:spPr>
          <a:xfrm xmlns:a="http://schemas.openxmlformats.org/drawingml/2006/main">
            <a:off x="3952875"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20" name="Rectangle 19">
            <a:extLst xmlns:a="http://schemas.openxmlformats.org/drawingml/2006/main">
              <a:ext uri="{FF2B5EF4-FFF2-40B4-BE49-F238E27FC236}">
                <a16:creationId xmlns:a16="http://schemas.microsoft.com/office/drawing/2014/main" id="{86A4291C-B616-4570-92B5-02BDC2490338}"/>
              </a:ext>
            </a:extLst>
          </p:cNvPr>
          <p:cNvSpPr>
            <a:spLocks xmlns:a="http://schemas.openxmlformats.org/drawingml/2006/main" noGrp="1"/>
          </p:cNvSpPr>
          <p:nvPr/>
        </p:nvSpPr>
        <p:spPr>
          <a:xfrm xmlns:a="http://schemas.openxmlformats.org/drawingml/2006/main">
            <a:off x="3952875"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21" name="Rectangle: Rounded Corners 20">
            <a:extLst xmlns:a="http://schemas.openxmlformats.org/drawingml/2006/main">
              <a:ext uri="{FF2B5EF4-FFF2-40B4-BE49-F238E27FC236}">
                <a16:creationId xmlns:a16="http://schemas.microsoft.com/office/drawing/2014/main" id="{F10307E3-67C4-4391-9081-C4F0B49AF150}"/>
              </a:ext>
            </a:extLst>
          </p:cNvPr>
          <p:cNvSpPr>
            <a:spLocks xmlns:a="http://schemas.openxmlformats.org/drawingml/2006/main" noGrp="1"/>
          </p:cNvSpPr>
          <p:nvPr/>
        </p:nvSpPr>
        <p:spPr>
          <a:xfrm xmlns:a="http://schemas.openxmlformats.org/drawingml/2006/main">
            <a:off x="4629150"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22" name="Rectangle 21">
            <a:extLst xmlns:a="http://schemas.openxmlformats.org/drawingml/2006/main">
              <a:ext uri="{FF2B5EF4-FFF2-40B4-BE49-F238E27FC236}">
                <a16:creationId xmlns:a16="http://schemas.microsoft.com/office/drawing/2014/main" id="{CBBA2DED-B83B-4880-B61C-F9E6E757FA75}"/>
              </a:ext>
            </a:extLst>
          </p:cNvPr>
          <p:cNvSpPr>
            <a:spLocks xmlns:a="http://schemas.openxmlformats.org/drawingml/2006/main" noGrp="1"/>
          </p:cNvSpPr>
          <p:nvPr/>
        </p:nvSpPr>
        <p:spPr>
          <a:xfrm xmlns:a="http://schemas.openxmlformats.org/drawingml/2006/main">
            <a:off x="4629150"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23" name="Rectangle: Rounded Corners 22">
            <a:extLst xmlns:a="http://schemas.openxmlformats.org/drawingml/2006/main">
              <a:ext uri="{FF2B5EF4-FFF2-40B4-BE49-F238E27FC236}">
                <a16:creationId xmlns:a16="http://schemas.microsoft.com/office/drawing/2014/main" id="{87E3803B-590B-4337-9AEB-514F8E9CF78F}"/>
              </a:ext>
            </a:extLst>
          </p:cNvPr>
          <p:cNvSpPr>
            <a:spLocks xmlns:a="http://schemas.openxmlformats.org/drawingml/2006/main" noGrp="1"/>
          </p:cNvSpPr>
          <p:nvPr/>
        </p:nvSpPr>
        <p:spPr>
          <a:xfrm xmlns:a="http://schemas.openxmlformats.org/drawingml/2006/main">
            <a:off x="5305425" y="1857375"/>
            <a:ext cx="628650" cy="533400"/>
          </a:xfrm>
          <a:prstGeom xmlns:a="http://schemas.openxmlformats.org/drawingml/2006/main" prst="roundRect">
            <a:avLst>
              <a:gd name="adj" fmla="val 17857"/>
            </a:avLst>
          </a:prstGeom>
          <a:solidFill xmlns:a="http://schemas.openxmlformats.org/drawingml/2006/main">
            <a:srgbClr val="0B2033"/>
          </a:solidFill>
          <a:ln xmlns:a="http://schemas.openxmlformats.org/drawingml/2006/main" w="19050">
            <a:solidFill>
              <a:srgbClr val="22D3EE"/>
            </a:solidFill>
            <a:prstDash val="solid"/>
          </a:ln>
        </p:spPr>
      </p:sp>
      <p:sp>
        <p:nvSpPr>
          <p:cNvPr id="24" name="Rectangle 23">
            <a:extLst xmlns:a="http://schemas.openxmlformats.org/drawingml/2006/main">
              <a:ext uri="{FF2B5EF4-FFF2-40B4-BE49-F238E27FC236}">
                <a16:creationId xmlns:a16="http://schemas.microsoft.com/office/drawing/2014/main" id="{2BDA28BB-D747-48FB-9E92-007E6F3B24AB}"/>
              </a:ext>
            </a:extLst>
          </p:cNvPr>
          <p:cNvSpPr>
            <a:spLocks xmlns:a="http://schemas.openxmlformats.org/drawingml/2006/main" noGrp="1"/>
          </p:cNvSpPr>
          <p:nvPr/>
        </p:nvSpPr>
        <p:spPr>
          <a:xfrm xmlns:a="http://schemas.openxmlformats.org/drawingml/2006/main">
            <a:off x="5305425" y="1981200"/>
            <a:ext cx="62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-5</a:t>
            </a:r>
          </a:p>
        </p:txBody>
      </p:sp>
      <p:sp>
        <p:nvSpPr>
          <p:cNvPr id="25" name="Rectangle 24">
            <a:extLst xmlns:a="http://schemas.openxmlformats.org/drawingml/2006/main">
              <a:ext uri="{FF2B5EF4-FFF2-40B4-BE49-F238E27FC236}">
                <a16:creationId xmlns:a16="http://schemas.microsoft.com/office/drawing/2014/main" id="{956A8800-A06E-418C-BBC1-59801803A7BD}"/>
              </a:ext>
            </a:extLst>
          </p:cNvPr>
          <p:cNvSpPr>
            <a:spLocks xmlns:a="http://schemas.openxmlformats.org/drawingml/2006/main" noGrp="1"/>
          </p:cNvSpPr>
          <p:nvPr/>
        </p:nvSpPr>
        <p:spPr>
          <a:xfrm xmlns:a="http://schemas.openxmlformats.org/drawingml/2006/main">
            <a:off x="6191250" y="1428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47E6A4"/>
                </a:solidFill>
                <a:latin typeface="Arial"/>
                <a:ea typeface="Arial"/>
                <a:cs typeface="Arial"/>
              </a:defRPr>
            </a:pPr>
            <a:r>
              <a:rPr sz="1575" b="1">
                <a:solidFill>
                  <a:srgbClr val="47E6A4"/>
                </a:solidFill>
                <a:latin typeface="Arial"/>
                <a:ea typeface="Arial"/>
                <a:cs typeface="Arial"/>
              </a:rPr>
              <a:t>For each frequency index k = 0 to 7</a:t>
            </a:r>
          </a:p>
        </p:txBody>
      </p:sp>
      <p:sp>
        <p:nvSpPr>
          <p:cNvPr id="26" name="Rectangle: Rounded Corners 25">
            <a:extLst xmlns:a="http://schemas.openxmlformats.org/drawingml/2006/main">
              <a:ext uri="{FF2B5EF4-FFF2-40B4-BE49-F238E27FC236}">
                <a16:creationId xmlns:a16="http://schemas.microsoft.com/office/drawing/2014/main" id="{14366E2F-4991-4408-AA3D-35BA6A072738}"/>
              </a:ext>
            </a:extLst>
          </p:cNvPr>
          <p:cNvSpPr>
            <a:spLocks xmlns:a="http://schemas.openxmlformats.org/drawingml/2006/main" noGrp="1"/>
          </p:cNvSpPr>
          <p:nvPr/>
        </p:nvSpPr>
        <p:spPr>
          <a:xfrm xmlns:a="http://schemas.openxmlformats.org/drawingml/2006/main">
            <a:off x="6048375" y="1857375"/>
            <a:ext cx="5048250" cy="742950"/>
          </a:xfrm>
          <a:prstGeom xmlns:a="http://schemas.openxmlformats.org/drawingml/2006/main" prst="roundRect">
            <a:avLst>
              <a:gd name="adj" fmla="val 15385"/>
            </a:avLst>
          </a:prstGeom>
          <a:solidFill xmlns:a="http://schemas.openxmlformats.org/drawingml/2006/main">
            <a:srgbClr val="0A2830"/>
          </a:solidFill>
          <a:ln xmlns:a="http://schemas.openxmlformats.org/drawingml/2006/main" w="19050">
            <a:solidFill>
              <a:srgbClr val="47E6A4"/>
            </a:solidFill>
            <a:prstDash val="solid"/>
          </a:ln>
        </p:spPr>
      </p:sp>
      <p:sp>
        <p:nvSpPr>
          <p:cNvPr id="27" name="Rectangle 26">
            <a:extLst xmlns:a="http://schemas.openxmlformats.org/drawingml/2006/main">
              <a:ext uri="{FF2B5EF4-FFF2-40B4-BE49-F238E27FC236}">
                <a16:creationId xmlns:a16="http://schemas.microsoft.com/office/drawing/2014/main" id="{50C5309B-9FB7-415C-9E06-3DB5D542655E}"/>
              </a:ext>
            </a:extLst>
          </p:cNvPr>
          <p:cNvSpPr>
            <a:spLocks xmlns:a="http://schemas.openxmlformats.org/drawingml/2006/main" noGrp="1"/>
          </p:cNvSpPr>
          <p:nvPr/>
        </p:nvSpPr>
        <p:spPr>
          <a:xfrm xmlns:a="http://schemas.openxmlformats.org/drawingml/2006/main">
            <a:off x="6162675" y="19526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C[k] = α(k) Σ r[n] cos[π(2n + 1)k / 16]</a:t>
            </a:r>
          </a:p>
        </p:txBody>
      </p:sp>
      <p:sp>
        <p:nvSpPr>
          <p:cNvPr id="28" name="Rectangle 27">
            <a:extLst xmlns:a="http://schemas.openxmlformats.org/drawingml/2006/main">
              <a:ext uri="{FF2B5EF4-FFF2-40B4-BE49-F238E27FC236}">
                <a16:creationId xmlns:a16="http://schemas.microsoft.com/office/drawing/2014/main" id="{A0B2A7D8-7717-40A4-A8D1-D27E92CD3778}"/>
              </a:ext>
            </a:extLst>
          </p:cNvPr>
          <p:cNvSpPr>
            <a:spLocks xmlns:a="http://schemas.openxmlformats.org/drawingml/2006/main" noGrp="1"/>
          </p:cNvSpPr>
          <p:nvPr/>
        </p:nvSpPr>
        <p:spPr>
          <a:xfrm xmlns:a="http://schemas.openxmlformats.org/drawingml/2006/main">
            <a:off x="6334125" y="2781300"/>
            <a:ext cx="447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358"/>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r[n] is the residual at position n</a:t>
            </a:r>
          </a:p>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C[k] measures how strongly frequency pattern k appears</a:t>
            </a:r>
          </a:p>
        </p:txBody>
      </p:sp>
      <p:sp>
        <p:nvSpPr>
          <p:cNvPr id="29" name="Rectangle 28">
            <a:extLst xmlns:a="http://schemas.openxmlformats.org/drawingml/2006/main">
              <a:ext uri="{FF2B5EF4-FFF2-40B4-BE49-F238E27FC236}">
                <a16:creationId xmlns:a16="http://schemas.microsoft.com/office/drawing/2014/main" id="{89E9CC07-1BEB-42BC-A203-F39B5729826E}"/>
              </a:ext>
            </a:extLst>
          </p:cNvPr>
          <p:cNvSpPr>
            <a:spLocks xmlns:a="http://schemas.openxmlformats.org/drawingml/2006/main" noGrp="1"/>
          </p:cNvSpPr>
          <p:nvPr/>
        </p:nvSpPr>
        <p:spPr>
          <a:xfrm xmlns:a="http://schemas.openxmlformats.org/drawingml/2006/main">
            <a:off x="619125" y="3857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2E9BFF"/>
                </a:solidFill>
                <a:latin typeface="Arial"/>
                <a:ea typeface="Arial"/>
                <a:cs typeface="Arial"/>
              </a:defRPr>
            </a:pPr>
            <a:r>
              <a:rPr sz="1425" b="1">
                <a:solidFill>
                  <a:srgbClr val="2E9BFF"/>
                </a:solidFill>
                <a:latin typeface="Arial"/>
                <a:ea typeface="Arial"/>
                <a:cs typeface="Arial"/>
              </a:rPr>
              <a:t>DCT OUTPUT</a:t>
            </a:r>
          </a:p>
        </p:txBody>
      </p:sp>
      <p:sp>
        <p:nvSpPr>
          <p:cNvPr id="30" name="Rectangle: Rounded Corners 29">
            <a:extLst xmlns:a="http://schemas.openxmlformats.org/drawingml/2006/main">
              <a:ext uri="{FF2B5EF4-FFF2-40B4-BE49-F238E27FC236}">
                <a16:creationId xmlns:a16="http://schemas.microsoft.com/office/drawing/2014/main" id="{85DBD9BF-A438-444A-824A-95BE4D5AC05D}"/>
              </a:ext>
            </a:extLst>
          </p:cNvPr>
          <p:cNvSpPr>
            <a:spLocks xmlns:a="http://schemas.openxmlformats.org/drawingml/2006/main" noGrp="1"/>
          </p:cNvSpPr>
          <p:nvPr/>
        </p:nvSpPr>
        <p:spPr>
          <a:xfrm xmlns:a="http://schemas.openxmlformats.org/drawingml/2006/main">
            <a:off x="571500"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47E6A4"/>
            </a:solidFill>
            <a:prstDash val="solid"/>
          </a:ln>
        </p:spPr>
      </p:sp>
      <p:sp>
        <p:nvSpPr>
          <p:cNvPr id="31" name="Rectangle 30">
            <a:extLst xmlns:a="http://schemas.openxmlformats.org/drawingml/2006/main">
              <a:ext uri="{FF2B5EF4-FFF2-40B4-BE49-F238E27FC236}">
                <a16:creationId xmlns:a16="http://schemas.microsoft.com/office/drawing/2014/main" id="{1705395A-E52A-4207-A020-4D3B76D7C827}"/>
              </a:ext>
            </a:extLst>
          </p:cNvPr>
          <p:cNvSpPr>
            <a:spLocks xmlns:a="http://schemas.openxmlformats.org/drawingml/2006/main" noGrp="1"/>
          </p:cNvSpPr>
          <p:nvPr/>
        </p:nvSpPr>
        <p:spPr>
          <a:xfrm xmlns:a="http://schemas.openxmlformats.org/drawingml/2006/main">
            <a:off x="685800"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-14.85</a:t>
            </a:r>
          </a:p>
        </p:txBody>
      </p:sp>
      <p:sp>
        <p:nvSpPr>
          <p:cNvPr id="32" name="Rectangle: Rounded Corners 31">
            <a:extLst xmlns:a="http://schemas.openxmlformats.org/drawingml/2006/main">
              <a:ext uri="{FF2B5EF4-FFF2-40B4-BE49-F238E27FC236}">
                <a16:creationId xmlns:a16="http://schemas.microsoft.com/office/drawing/2014/main" id="{12715D6E-C34E-49F8-96A5-30A2AE430664}"/>
              </a:ext>
            </a:extLst>
          </p:cNvPr>
          <p:cNvSpPr>
            <a:spLocks xmlns:a="http://schemas.openxmlformats.org/drawingml/2006/main" noGrp="1"/>
          </p:cNvSpPr>
          <p:nvPr/>
        </p:nvSpPr>
        <p:spPr>
          <a:xfrm xmlns:a="http://schemas.openxmlformats.org/drawingml/2006/main">
            <a:off x="1952625"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33" name="Rectangle 32">
            <a:extLst xmlns:a="http://schemas.openxmlformats.org/drawingml/2006/main">
              <a:ext uri="{FF2B5EF4-FFF2-40B4-BE49-F238E27FC236}">
                <a16:creationId xmlns:a16="http://schemas.microsoft.com/office/drawing/2014/main" id="{92C748DE-B60A-421B-AB13-E0595DE6F5B0}"/>
              </a:ext>
            </a:extLst>
          </p:cNvPr>
          <p:cNvSpPr>
            <a:spLocks xmlns:a="http://schemas.openxmlformats.org/drawingml/2006/main" noGrp="1"/>
          </p:cNvSpPr>
          <p:nvPr/>
        </p:nvSpPr>
        <p:spPr>
          <a:xfrm xmlns:a="http://schemas.openxmlformats.org/drawingml/2006/main">
            <a:off x="2066925"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-0.98</a:t>
            </a:r>
          </a:p>
        </p:txBody>
      </p:sp>
      <p:sp>
        <p:nvSpPr>
          <p:cNvPr id="34" name="Rectangle: Rounded Corners 33">
            <a:extLst xmlns:a="http://schemas.openxmlformats.org/drawingml/2006/main">
              <a:ext uri="{FF2B5EF4-FFF2-40B4-BE49-F238E27FC236}">
                <a16:creationId xmlns:a16="http://schemas.microsoft.com/office/drawing/2014/main" id="{6AD785C9-7064-466E-81B1-385697F8C9FE}"/>
              </a:ext>
            </a:extLst>
          </p:cNvPr>
          <p:cNvSpPr>
            <a:spLocks xmlns:a="http://schemas.openxmlformats.org/drawingml/2006/main" noGrp="1"/>
          </p:cNvSpPr>
          <p:nvPr/>
        </p:nvSpPr>
        <p:spPr>
          <a:xfrm xmlns:a="http://schemas.openxmlformats.org/drawingml/2006/main">
            <a:off x="3333750"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35" name="Rectangle 34">
            <a:extLst xmlns:a="http://schemas.openxmlformats.org/drawingml/2006/main">
              <a:ext uri="{FF2B5EF4-FFF2-40B4-BE49-F238E27FC236}">
                <a16:creationId xmlns:a16="http://schemas.microsoft.com/office/drawing/2014/main" id="{FC62219E-4E10-4700-8274-547A82DFAF90}"/>
              </a:ext>
            </a:extLst>
          </p:cNvPr>
          <p:cNvSpPr>
            <a:spLocks xmlns:a="http://schemas.openxmlformats.org/drawingml/2006/main" noGrp="1"/>
          </p:cNvSpPr>
          <p:nvPr/>
        </p:nvSpPr>
        <p:spPr>
          <a:xfrm xmlns:a="http://schemas.openxmlformats.org/drawingml/2006/main">
            <a:off x="3448050"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-0.92</a:t>
            </a:r>
          </a:p>
        </p:txBody>
      </p:sp>
      <p:sp>
        <p:nvSpPr>
          <p:cNvPr id="36" name="Rectangle: Rounded Corners 35">
            <a:extLst xmlns:a="http://schemas.openxmlformats.org/drawingml/2006/main">
              <a:ext uri="{FF2B5EF4-FFF2-40B4-BE49-F238E27FC236}">
                <a16:creationId xmlns:a16="http://schemas.microsoft.com/office/drawing/2014/main" id="{23C83A10-DC3B-4BBF-B56D-D8BFA68754D2}"/>
              </a:ext>
            </a:extLst>
          </p:cNvPr>
          <p:cNvSpPr>
            <a:spLocks xmlns:a="http://schemas.openxmlformats.org/drawingml/2006/main" noGrp="1"/>
          </p:cNvSpPr>
          <p:nvPr/>
        </p:nvSpPr>
        <p:spPr>
          <a:xfrm xmlns:a="http://schemas.openxmlformats.org/drawingml/2006/main">
            <a:off x="4714875"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37" name="Rectangle 36">
            <a:extLst xmlns:a="http://schemas.openxmlformats.org/drawingml/2006/main">
              <a:ext uri="{FF2B5EF4-FFF2-40B4-BE49-F238E27FC236}">
                <a16:creationId xmlns:a16="http://schemas.microsoft.com/office/drawing/2014/main" id="{A33BB31B-BFF1-457B-A1C0-98EB8240CDE2}"/>
              </a:ext>
            </a:extLst>
          </p:cNvPr>
          <p:cNvSpPr>
            <a:spLocks xmlns:a="http://schemas.openxmlformats.org/drawingml/2006/main" noGrp="1"/>
          </p:cNvSpPr>
          <p:nvPr/>
        </p:nvSpPr>
        <p:spPr>
          <a:xfrm xmlns:a="http://schemas.openxmlformats.org/drawingml/2006/main">
            <a:off x="4829175"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-0.83</a:t>
            </a:r>
          </a:p>
        </p:txBody>
      </p:sp>
      <p:sp>
        <p:nvSpPr>
          <p:cNvPr id="38" name="Rectangle: Rounded Corners 37">
            <a:extLst xmlns:a="http://schemas.openxmlformats.org/drawingml/2006/main">
              <a:ext uri="{FF2B5EF4-FFF2-40B4-BE49-F238E27FC236}">
                <a16:creationId xmlns:a16="http://schemas.microsoft.com/office/drawing/2014/main" id="{136E78C4-56C0-43F2-BD9B-4258EC13BDCE}"/>
              </a:ext>
            </a:extLst>
          </p:cNvPr>
          <p:cNvSpPr>
            <a:spLocks xmlns:a="http://schemas.openxmlformats.org/drawingml/2006/main" noGrp="1"/>
          </p:cNvSpPr>
          <p:nvPr/>
        </p:nvSpPr>
        <p:spPr>
          <a:xfrm xmlns:a="http://schemas.openxmlformats.org/drawingml/2006/main">
            <a:off x="6096000"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39" name="Rectangle 38">
            <a:extLst xmlns:a="http://schemas.openxmlformats.org/drawingml/2006/main">
              <a:ext uri="{FF2B5EF4-FFF2-40B4-BE49-F238E27FC236}">
                <a16:creationId xmlns:a16="http://schemas.microsoft.com/office/drawing/2014/main" id="{AF39E76D-12A9-40C0-8D68-606DDA92AB9D}"/>
              </a:ext>
            </a:extLst>
          </p:cNvPr>
          <p:cNvSpPr>
            <a:spLocks xmlns:a="http://schemas.openxmlformats.org/drawingml/2006/main" noGrp="1"/>
          </p:cNvSpPr>
          <p:nvPr/>
        </p:nvSpPr>
        <p:spPr>
          <a:xfrm xmlns:a="http://schemas.openxmlformats.org/drawingml/2006/main">
            <a:off x="6210300"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-0.71</a:t>
            </a:r>
          </a:p>
        </p:txBody>
      </p:sp>
      <p:sp>
        <p:nvSpPr>
          <p:cNvPr id="40" name="Rectangle: Rounded Corners 39">
            <a:extLst xmlns:a="http://schemas.openxmlformats.org/drawingml/2006/main">
              <a:ext uri="{FF2B5EF4-FFF2-40B4-BE49-F238E27FC236}">
                <a16:creationId xmlns:a16="http://schemas.microsoft.com/office/drawing/2014/main" id="{0989CF12-8587-4BE3-B9B9-0E70B0466378}"/>
              </a:ext>
            </a:extLst>
          </p:cNvPr>
          <p:cNvSpPr>
            <a:spLocks xmlns:a="http://schemas.openxmlformats.org/drawingml/2006/main" noGrp="1"/>
          </p:cNvSpPr>
          <p:nvPr/>
        </p:nvSpPr>
        <p:spPr>
          <a:xfrm xmlns:a="http://schemas.openxmlformats.org/drawingml/2006/main">
            <a:off x="7477125"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41" name="Rectangle 40">
            <a:extLst xmlns:a="http://schemas.openxmlformats.org/drawingml/2006/main">
              <a:ext uri="{FF2B5EF4-FFF2-40B4-BE49-F238E27FC236}">
                <a16:creationId xmlns:a16="http://schemas.microsoft.com/office/drawing/2014/main" id="{359B537E-3EE8-46DA-892B-39668571B430}"/>
              </a:ext>
            </a:extLst>
          </p:cNvPr>
          <p:cNvSpPr>
            <a:spLocks xmlns:a="http://schemas.openxmlformats.org/drawingml/2006/main" noGrp="1"/>
          </p:cNvSpPr>
          <p:nvPr/>
        </p:nvSpPr>
        <p:spPr>
          <a:xfrm xmlns:a="http://schemas.openxmlformats.org/drawingml/2006/main">
            <a:off x="7591425"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-0.56</a:t>
            </a:r>
          </a:p>
        </p:txBody>
      </p:sp>
      <p:sp>
        <p:nvSpPr>
          <p:cNvPr id="42" name="Rectangle: Rounded Corners 41">
            <a:extLst xmlns:a="http://schemas.openxmlformats.org/drawingml/2006/main">
              <a:ext uri="{FF2B5EF4-FFF2-40B4-BE49-F238E27FC236}">
                <a16:creationId xmlns:a16="http://schemas.microsoft.com/office/drawing/2014/main" id="{D338B2EB-0686-4F9D-891C-A67316A6F3C0}"/>
              </a:ext>
            </a:extLst>
          </p:cNvPr>
          <p:cNvSpPr>
            <a:spLocks xmlns:a="http://schemas.openxmlformats.org/drawingml/2006/main" noGrp="1"/>
          </p:cNvSpPr>
          <p:nvPr/>
        </p:nvSpPr>
        <p:spPr>
          <a:xfrm xmlns:a="http://schemas.openxmlformats.org/drawingml/2006/main">
            <a:off x="8858250"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43" name="Rectangle 42">
            <a:extLst xmlns:a="http://schemas.openxmlformats.org/drawingml/2006/main">
              <a:ext uri="{FF2B5EF4-FFF2-40B4-BE49-F238E27FC236}">
                <a16:creationId xmlns:a16="http://schemas.microsoft.com/office/drawing/2014/main" id="{84C99C90-0649-4E8B-B724-E1B77CB8B8C2}"/>
              </a:ext>
            </a:extLst>
          </p:cNvPr>
          <p:cNvSpPr>
            <a:spLocks xmlns:a="http://schemas.openxmlformats.org/drawingml/2006/main" noGrp="1"/>
          </p:cNvSpPr>
          <p:nvPr/>
        </p:nvSpPr>
        <p:spPr>
          <a:xfrm xmlns:a="http://schemas.openxmlformats.org/drawingml/2006/main">
            <a:off x="8972550"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-0.38</a:t>
            </a:r>
          </a:p>
        </p:txBody>
      </p:sp>
      <p:sp>
        <p:nvSpPr>
          <p:cNvPr id="44" name="Rectangle: Rounded Corners 43">
            <a:extLst xmlns:a="http://schemas.openxmlformats.org/drawingml/2006/main">
              <a:ext uri="{FF2B5EF4-FFF2-40B4-BE49-F238E27FC236}">
                <a16:creationId xmlns:a16="http://schemas.microsoft.com/office/drawing/2014/main" id="{F61E9189-B12D-42E5-848D-4AD2C8C98E23}"/>
              </a:ext>
            </a:extLst>
          </p:cNvPr>
          <p:cNvSpPr>
            <a:spLocks xmlns:a="http://schemas.openxmlformats.org/drawingml/2006/main" noGrp="1"/>
          </p:cNvSpPr>
          <p:nvPr/>
        </p:nvSpPr>
        <p:spPr>
          <a:xfrm xmlns:a="http://schemas.openxmlformats.org/drawingml/2006/main">
            <a:off x="10239375" y="4333875"/>
            <a:ext cx="119062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45" name="Rectangle 44">
            <a:extLst xmlns:a="http://schemas.openxmlformats.org/drawingml/2006/main">
              <a:ext uri="{FF2B5EF4-FFF2-40B4-BE49-F238E27FC236}">
                <a16:creationId xmlns:a16="http://schemas.microsoft.com/office/drawing/2014/main" id="{77BB8459-2C67-4787-97E2-0FB3D235A664}"/>
              </a:ext>
            </a:extLst>
          </p:cNvPr>
          <p:cNvSpPr>
            <a:spLocks xmlns:a="http://schemas.openxmlformats.org/drawingml/2006/main" noGrp="1"/>
          </p:cNvSpPr>
          <p:nvPr/>
        </p:nvSpPr>
        <p:spPr>
          <a:xfrm xmlns:a="http://schemas.openxmlformats.org/drawingml/2006/main">
            <a:off x="10353675" y="4429125"/>
            <a:ext cx="9620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-0.20</a:t>
            </a:r>
          </a:p>
        </p:txBody>
      </p:sp>
      <p:sp>
        <p:nvSpPr>
          <p:cNvPr id="46" name="Rectangle 45">
            <a:extLst xmlns:a="http://schemas.openxmlformats.org/drawingml/2006/main">
              <a:ext uri="{FF2B5EF4-FFF2-40B4-BE49-F238E27FC236}">
                <a16:creationId xmlns:a16="http://schemas.microsoft.com/office/drawing/2014/main" id="{9C61FE16-F464-4D35-94E7-7874B3119EAD}"/>
              </a:ext>
            </a:extLst>
          </p:cNvPr>
          <p:cNvSpPr>
            <a:spLocks xmlns:a="http://schemas.openxmlformats.org/drawingml/2006/main" noGrp="1"/>
          </p:cNvSpPr>
          <p:nvPr/>
        </p:nvSpPr>
        <p:spPr>
          <a:xfrm xmlns:a="http://schemas.openxmlformats.org/drawingml/2006/main">
            <a:off x="857250" y="50482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47E6A4"/>
                </a:solidFill>
                <a:latin typeface="Arial"/>
                <a:ea typeface="Arial"/>
                <a:cs typeface="Arial"/>
              </a:defRPr>
            </a:pPr>
            <a:r>
              <a:rPr sz="1050" b="1">
                <a:solidFill>
                  <a:srgbClr val="47E6A4"/>
                </a:solidFill>
                <a:latin typeface="Arial"/>
                <a:ea typeface="Arial"/>
                <a:cs typeface="Arial"/>
              </a:rPr>
              <a:t>k = 0</a:t>
            </a:r>
          </a:p>
        </p:txBody>
      </p:sp>
      <p:sp>
        <p:nvSpPr>
          <p:cNvPr id="47" name="Rectangle 46">
            <a:extLst xmlns:a="http://schemas.openxmlformats.org/drawingml/2006/main">
              <a:ext uri="{FF2B5EF4-FFF2-40B4-BE49-F238E27FC236}">
                <a16:creationId xmlns:a16="http://schemas.microsoft.com/office/drawing/2014/main" id="{F5CFC970-A4B5-4754-A0C2-0F6DAEA6F178}"/>
              </a:ext>
            </a:extLst>
          </p:cNvPr>
          <p:cNvSpPr>
            <a:spLocks xmlns:a="http://schemas.openxmlformats.org/drawingml/2006/main" noGrp="1"/>
          </p:cNvSpPr>
          <p:nvPr/>
        </p:nvSpPr>
        <p:spPr>
          <a:xfrm xmlns:a="http://schemas.openxmlformats.org/drawingml/2006/main">
            <a:off x="1952625" y="50482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k = 1</a:t>
            </a:r>
          </a:p>
        </p:txBody>
      </p:sp>
      <p:sp>
        <p:nvSpPr>
          <p:cNvPr id="48" name="Rectangle 47">
            <a:extLst xmlns:a="http://schemas.openxmlformats.org/drawingml/2006/main">
              <a:ext uri="{FF2B5EF4-FFF2-40B4-BE49-F238E27FC236}">
                <a16:creationId xmlns:a16="http://schemas.microsoft.com/office/drawing/2014/main" id="{B8F9227A-F3D8-4328-8AEE-13D27D248EC2}"/>
              </a:ext>
            </a:extLst>
          </p:cNvPr>
          <p:cNvSpPr>
            <a:spLocks xmlns:a="http://schemas.openxmlformats.org/drawingml/2006/main" noGrp="1"/>
          </p:cNvSpPr>
          <p:nvPr/>
        </p:nvSpPr>
        <p:spPr>
          <a:xfrm xmlns:a="http://schemas.openxmlformats.org/drawingml/2006/main">
            <a:off x="3333750" y="50482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k = 2</a:t>
            </a:r>
          </a:p>
        </p:txBody>
      </p:sp>
      <p:sp>
        <p:nvSpPr>
          <p:cNvPr id="49" name="Rectangle 48">
            <a:extLst xmlns:a="http://schemas.openxmlformats.org/drawingml/2006/main">
              <a:ext uri="{FF2B5EF4-FFF2-40B4-BE49-F238E27FC236}">
                <a16:creationId xmlns:a16="http://schemas.microsoft.com/office/drawing/2014/main" id="{3DEB5380-6C97-48EE-A5DB-EE37DA546803}"/>
              </a:ext>
            </a:extLst>
          </p:cNvPr>
          <p:cNvSpPr>
            <a:spLocks xmlns:a="http://schemas.openxmlformats.org/drawingml/2006/main" noGrp="1"/>
          </p:cNvSpPr>
          <p:nvPr/>
        </p:nvSpPr>
        <p:spPr>
          <a:xfrm xmlns:a="http://schemas.openxmlformats.org/drawingml/2006/main">
            <a:off x="4714875" y="50482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k = 3</a:t>
            </a:r>
          </a:p>
        </p:txBody>
      </p:sp>
      <p:sp>
        <p:nvSpPr>
          <p:cNvPr id="50" name="Rectangle 49">
            <a:extLst xmlns:a="http://schemas.openxmlformats.org/drawingml/2006/main">
              <a:ext uri="{FF2B5EF4-FFF2-40B4-BE49-F238E27FC236}">
                <a16:creationId xmlns:a16="http://schemas.microsoft.com/office/drawing/2014/main" id="{5C700DD6-0931-4932-8549-3866C7991F77}"/>
              </a:ext>
            </a:extLst>
          </p:cNvPr>
          <p:cNvSpPr>
            <a:spLocks xmlns:a="http://schemas.openxmlformats.org/drawingml/2006/main" noGrp="1"/>
          </p:cNvSpPr>
          <p:nvPr/>
        </p:nvSpPr>
        <p:spPr>
          <a:xfrm xmlns:a="http://schemas.openxmlformats.org/drawingml/2006/main">
            <a:off x="6096000" y="50482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k = 4</a:t>
            </a:r>
          </a:p>
        </p:txBody>
      </p:sp>
      <p:sp>
        <p:nvSpPr>
          <p:cNvPr id="51" name="Rectangle 50">
            <a:extLst xmlns:a="http://schemas.openxmlformats.org/drawingml/2006/main">
              <a:ext uri="{FF2B5EF4-FFF2-40B4-BE49-F238E27FC236}">
                <a16:creationId xmlns:a16="http://schemas.microsoft.com/office/drawing/2014/main" id="{6F910F1D-B4FA-4CBD-B899-1FF7A730E344}"/>
              </a:ext>
            </a:extLst>
          </p:cNvPr>
          <p:cNvSpPr>
            <a:spLocks xmlns:a="http://schemas.openxmlformats.org/drawingml/2006/main" noGrp="1"/>
          </p:cNvSpPr>
          <p:nvPr/>
        </p:nvSpPr>
        <p:spPr>
          <a:xfrm xmlns:a="http://schemas.openxmlformats.org/drawingml/2006/main">
            <a:off x="7477125" y="50482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k = 5</a:t>
            </a:r>
          </a:p>
        </p:txBody>
      </p:sp>
      <p:sp>
        <p:nvSpPr>
          <p:cNvPr id="52" name="Rectangle 51">
            <a:extLst xmlns:a="http://schemas.openxmlformats.org/drawingml/2006/main">
              <a:ext uri="{FF2B5EF4-FFF2-40B4-BE49-F238E27FC236}">
                <a16:creationId xmlns:a16="http://schemas.microsoft.com/office/drawing/2014/main" id="{5EDEC917-637A-4F86-983D-F4F2620BF019}"/>
              </a:ext>
            </a:extLst>
          </p:cNvPr>
          <p:cNvSpPr>
            <a:spLocks xmlns:a="http://schemas.openxmlformats.org/drawingml/2006/main" noGrp="1"/>
          </p:cNvSpPr>
          <p:nvPr/>
        </p:nvSpPr>
        <p:spPr>
          <a:xfrm xmlns:a="http://schemas.openxmlformats.org/drawingml/2006/main">
            <a:off x="8858250" y="50482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k = 6</a:t>
            </a:r>
          </a:p>
        </p:txBody>
      </p:sp>
      <p:sp>
        <p:nvSpPr>
          <p:cNvPr id="53" name="Rectangle 52">
            <a:extLst xmlns:a="http://schemas.openxmlformats.org/drawingml/2006/main">
              <a:ext uri="{FF2B5EF4-FFF2-40B4-BE49-F238E27FC236}">
                <a16:creationId xmlns:a16="http://schemas.microsoft.com/office/drawing/2014/main" id="{0638114D-8ACC-4DD8-BE3C-2F3992B30063}"/>
              </a:ext>
            </a:extLst>
          </p:cNvPr>
          <p:cNvSpPr>
            <a:spLocks xmlns:a="http://schemas.openxmlformats.org/drawingml/2006/main" noGrp="1"/>
          </p:cNvSpPr>
          <p:nvPr/>
        </p:nvSpPr>
        <p:spPr>
          <a:xfrm xmlns:a="http://schemas.openxmlformats.org/drawingml/2006/main">
            <a:off x="10239375" y="50482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k = 7</a:t>
            </a:r>
          </a:p>
        </p:txBody>
      </p:sp>
      <p:sp>
        <p:nvSpPr>
          <p:cNvPr id="54" name="Rectangle: Rounded Corners 53">
            <a:extLst xmlns:a="http://schemas.openxmlformats.org/drawingml/2006/main">
              <a:ext uri="{FF2B5EF4-FFF2-40B4-BE49-F238E27FC236}">
                <a16:creationId xmlns:a16="http://schemas.microsoft.com/office/drawing/2014/main" id="{8E968E67-B5C0-4B15-BD07-D724AAB1FAF7}"/>
              </a:ext>
            </a:extLst>
          </p:cNvPr>
          <p:cNvSpPr>
            <a:spLocks xmlns:a="http://schemas.openxmlformats.org/drawingml/2006/main" noGrp="1"/>
          </p:cNvSpPr>
          <p:nvPr/>
        </p:nvSpPr>
        <p:spPr>
          <a:xfrm xmlns:a="http://schemas.openxmlformats.org/drawingml/2006/main">
            <a:off x="1952625" y="5810250"/>
            <a:ext cx="8286750" cy="495300"/>
          </a:xfrm>
          <a:prstGeom xmlns:a="http://schemas.openxmlformats.org/drawingml/2006/main" prst="roundRect">
            <a:avLst>
              <a:gd name="adj" fmla="val 23077"/>
            </a:avLst>
          </a:prstGeom>
          <a:solidFill xmlns:a="http://schemas.openxmlformats.org/drawingml/2006/main">
            <a:srgbClr val="092034"/>
          </a:solidFill>
          <a:ln xmlns:a="http://schemas.openxmlformats.org/drawingml/2006/main" w="19050">
            <a:solidFill>
              <a:srgbClr val="22D3EE"/>
            </a:solidFill>
            <a:prstDash val="solid"/>
          </a:ln>
        </p:spPr>
      </p:sp>
      <p:sp>
        <p:nvSpPr>
          <p:cNvPr id="55" name="Rectangle 54">
            <a:extLst xmlns:a="http://schemas.openxmlformats.org/drawingml/2006/main">
              <a:ext uri="{FF2B5EF4-FFF2-40B4-BE49-F238E27FC236}">
                <a16:creationId xmlns:a16="http://schemas.microsoft.com/office/drawing/2014/main" id="{F1D78F20-5974-4431-A700-BFE521572BB2}"/>
              </a:ext>
            </a:extLst>
          </p:cNvPr>
          <p:cNvSpPr>
            <a:spLocks xmlns:a="http://schemas.openxmlformats.org/drawingml/2006/main" noGrp="1"/>
          </p:cNvSpPr>
          <p:nvPr/>
        </p:nvSpPr>
        <p:spPr>
          <a:xfrm xmlns:a="http://schemas.openxmlformats.org/drawingml/2006/main">
            <a:off x="2066925" y="5905500"/>
            <a:ext cx="805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333"/>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The transform changes the representation. The number of values remains 8.</a:t>
            </a:r>
          </a:p>
        </p:txBody>
      </p:sp>
    </p:spTree>
    <p:extLst>
      <p:ext uri="{BB962C8B-B14F-4D97-AF65-F5344CB8AC3E}">
        <p14:creationId xmlns:p14="http://schemas.microsoft.com/office/powerpoint/2010/main" val="102365049"/>
      </p:ext>
    </p:extLst>
  </p:cSld>
</p:sld>
</file>

<file path=ppt/slides/slide9.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0" name="Oval 39">
            <a:extLst xmlns:a="http://schemas.openxmlformats.org/drawingml/2006/main">
              <a:ext uri="{FF2B5EF4-FFF2-40B4-BE49-F238E27FC236}">
                <a16:creationId xmlns:a16="http://schemas.microsoft.com/office/drawing/2014/main" id="{64A81944-D9EB-42EA-BC25-8DC42DDF29A8}"/>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561787B1-1267-4982-8B89-F7B7F177CF25}"/>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F221B02A-DE5D-4038-9BFA-0B95AA82BD4B}"/>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Step 3: interpret the transform coefficients</a:t>
            </a:r>
          </a:p>
        </p:txBody>
      </p:sp>
      <p:sp>
        <p:nvSpPr>
          <p:cNvPr id="4" name="Straight Connector 3">
            <a:extLst xmlns:a="http://schemas.openxmlformats.org/drawingml/2006/main">
              <a:ext uri="{FF2B5EF4-FFF2-40B4-BE49-F238E27FC236}">
                <a16:creationId xmlns:a16="http://schemas.microsoft.com/office/drawing/2014/main" id="{D17B2365-E4E1-4CAC-AAE4-282987B585D5}"/>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2C12A318-E753-4636-846D-2BFE0241E57D}"/>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A nearly constant residual row concentrates energy at low frequency</a:t>
            </a:r>
          </a:p>
        </p:txBody>
      </p:sp>
      <p:sp>
        <p:nvSpPr>
          <p:cNvPr id="6" name="Rectangle 5">
            <a:extLst xmlns:a="http://schemas.openxmlformats.org/drawingml/2006/main">
              <a:ext uri="{FF2B5EF4-FFF2-40B4-BE49-F238E27FC236}">
                <a16:creationId xmlns:a16="http://schemas.microsoft.com/office/drawing/2014/main" id="{911302DD-C0B5-40EA-8C4E-619AA2A3AD60}"/>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439B81DE-498E-44BB-ABE5-B5B7C0C0AD21}"/>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09 / 49</a:t>
            </a:r>
          </a:p>
        </p:txBody>
      </p:sp>
      <p:sp>
        <p:nvSpPr>
          <p:cNvPr id="8" name="Straight Connector 7">
            <a:extLst xmlns:a="http://schemas.openxmlformats.org/drawingml/2006/main">
              <a:ext uri="{FF2B5EF4-FFF2-40B4-BE49-F238E27FC236}">
                <a16:creationId xmlns:a16="http://schemas.microsoft.com/office/drawing/2014/main" id="{0D1F94D7-5DF0-422A-844F-F0CB59E9BE70}"/>
              </a:ext>
            </a:extLst>
          </p:cNvPr>
          <p:cNvSpPr>
            <a:spLocks xmlns:a="http://schemas.openxmlformats.org/drawingml/2006/main" noGrp="1"/>
          </p:cNvSpPr>
          <p:nvPr/>
        </p:nvSpPr>
        <p:spPr>
          <a:xfrm xmlns:a="http://schemas.openxmlformats.org/drawingml/2006/main">
            <a:off x="762000" y="4762500"/>
            <a:ext cx="10572750" cy="9525"/>
          </a:xfrm>
          <a:prstGeom xmlns:a="http://schemas.openxmlformats.org/drawingml/2006/main" prst="line">
            <a:avLst/>
          </a:prstGeom>
          <a:noFill xmlns:a="http://schemas.openxmlformats.org/drawingml/2006/main"/>
          <a:ln xmlns:a="http://schemas.openxmlformats.org/drawingml/2006/main" w="19050">
            <a:solidFill>
              <a:srgbClr val="2A5876"/>
            </a:solidFill>
            <a:prstDash val="solid"/>
          </a:ln>
        </p:spPr>
      </p:sp>
      <p:sp>
        <p:nvSpPr>
          <p:cNvPr id="9" name="Rectangle 8">
            <a:extLst xmlns:a="http://schemas.openxmlformats.org/drawingml/2006/main">
              <a:ext uri="{FF2B5EF4-FFF2-40B4-BE49-F238E27FC236}">
                <a16:creationId xmlns:a16="http://schemas.microsoft.com/office/drawing/2014/main" id="{44745C8C-86DA-41A1-992E-8912C260847E}"/>
              </a:ext>
            </a:extLst>
          </p:cNvPr>
          <p:cNvSpPr>
            <a:spLocks xmlns:a="http://schemas.openxmlformats.org/drawingml/2006/main" noGrp="1"/>
          </p:cNvSpPr>
          <p:nvPr/>
        </p:nvSpPr>
        <p:spPr>
          <a:xfrm xmlns:a="http://schemas.openxmlformats.org/drawingml/2006/main">
            <a:off x="1000125" y="2190750"/>
            <a:ext cx="1000125" cy="2571750"/>
          </a:xfrm>
          <a:prstGeom xmlns:a="http://schemas.openxmlformats.org/drawingml/2006/main" prst="rect">
            <a:avLst/>
          </a:prstGeom>
          <a:solidFill xmlns:a="http://schemas.openxmlformats.org/drawingml/2006/main">
            <a:srgbClr val="47E6A4"/>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FC3A4A72-6A99-4A80-9FA4-55FED6326D14}"/>
              </a:ext>
            </a:extLst>
          </p:cNvPr>
          <p:cNvSpPr>
            <a:spLocks xmlns:a="http://schemas.openxmlformats.org/drawingml/2006/main" noGrp="1"/>
          </p:cNvSpPr>
          <p:nvPr/>
        </p:nvSpPr>
        <p:spPr>
          <a:xfrm xmlns:a="http://schemas.openxmlformats.org/drawingml/2006/main">
            <a:off x="1000125" y="1905000"/>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47E6A4"/>
                </a:solidFill>
                <a:latin typeface="Arial"/>
                <a:ea typeface="Arial"/>
                <a:cs typeface="Arial"/>
              </a:defRPr>
            </a:pPr>
            <a:r>
              <a:rPr sz="1125" b="1">
                <a:solidFill>
                  <a:srgbClr val="47E6A4"/>
                </a:solidFill>
                <a:latin typeface="Arial"/>
                <a:ea typeface="Arial"/>
                <a:cs typeface="Arial"/>
              </a:rPr>
              <a:t>|-14.85|</a:t>
            </a:r>
          </a:p>
        </p:txBody>
      </p:sp>
      <p:sp>
        <p:nvSpPr>
          <p:cNvPr id="11" name="Rectangle 10">
            <a:extLst xmlns:a="http://schemas.openxmlformats.org/drawingml/2006/main">
              <a:ext uri="{FF2B5EF4-FFF2-40B4-BE49-F238E27FC236}">
                <a16:creationId xmlns:a16="http://schemas.microsoft.com/office/drawing/2014/main" id="{2A55AC5C-4B7C-4CEA-8DFE-334A095BC479}"/>
              </a:ext>
            </a:extLst>
          </p:cNvPr>
          <p:cNvSpPr>
            <a:spLocks xmlns:a="http://schemas.openxmlformats.org/drawingml/2006/main" noGrp="1"/>
          </p:cNvSpPr>
          <p:nvPr/>
        </p:nvSpPr>
        <p:spPr>
          <a:xfrm xmlns:a="http://schemas.openxmlformats.org/drawingml/2006/main">
            <a:off x="1000125"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0</a:t>
            </a:r>
          </a:p>
        </p:txBody>
      </p:sp>
      <p:sp>
        <p:nvSpPr>
          <p:cNvPr id="12" name="Rectangle 11">
            <a:extLst xmlns:a="http://schemas.openxmlformats.org/drawingml/2006/main">
              <a:ext uri="{FF2B5EF4-FFF2-40B4-BE49-F238E27FC236}">
                <a16:creationId xmlns:a16="http://schemas.microsoft.com/office/drawing/2014/main" id="{2C318410-71AC-4D09-8D8E-76FA3CA9CEDE}"/>
              </a:ext>
            </a:extLst>
          </p:cNvPr>
          <p:cNvSpPr>
            <a:spLocks xmlns:a="http://schemas.openxmlformats.org/drawingml/2006/main" noGrp="1"/>
          </p:cNvSpPr>
          <p:nvPr/>
        </p:nvSpPr>
        <p:spPr>
          <a:xfrm xmlns:a="http://schemas.openxmlformats.org/drawingml/2006/main">
            <a:off x="2362200" y="4414854"/>
            <a:ext cx="1000125" cy="347646"/>
          </a:xfrm>
          <a:prstGeom xmlns:a="http://schemas.openxmlformats.org/drawingml/2006/main" prst="rect">
            <a:avLst/>
          </a:prstGeom>
          <a:solidFill xmlns:a="http://schemas.openxmlformats.org/drawingml/2006/main">
            <a:srgbClr val="2E9BFF"/>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04CF504F-9DD4-48E7-8B8B-8CFF2B17F806}"/>
              </a:ext>
            </a:extLst>
          </p:cNvPr>
          <p:cNvSpPr>
            <a:spLocks xmlns:a="http://schemas.openxmlformats.org/drawingml/2006/main" noGrp="1"/>
          </p:cNvSpPr>
          <p:nvPr/>
        </p:nvSpPr>
        <p:spPr>
          <a:xfrm xmlns:a="http://schemas.openxmlformats.org/drawingml/2006/main">
            <a:off x="2362200" y="4129104"/>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|-0.98|</a:t>
            </a:r>
          </a:p>
        </p:txBody>
      </p:sp>
      <p:sp>
        <p:nvSpPr>
          <p:cNvPr id="14" name="Rectangle 13">
            <a:extLst xmlns:a="http://schemas.openxmlformats.org/drawingml/2006/main">
              <a:ext uri="{FF2B5EF4-FFF2-40B4-BE49-F238E27FC236}">
                <a16:creationId xmlns:a16="http://schemas.microsoft.com/office/drawing/2014/main" id="{7A2E92A4-2AFF-45F0-B1BF-12BB761C3689}"/>
              </a:ext>
            </a:extLst>
          </p:cNvPr>
          <p:cNvSpPr>
            <a:spLocks xmlns:a="http://schemas.openxmlformats.org/drawingml/2006/main" noGrp="1"/>
          </p:cNvSpPr>
          <p:nvPr/>
        </p:nvSpPr>
        <p:spPr>
          <a:xfrm xmlns:a="http://schemas.openxmlformats.org/drawingml/2006/main">
            <a:off x="2362200"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1</a:t>
            </a:r>
          </a:p>
        </p:txBody>
      </p:sp>
      <p:sp>
        <p:nvSpPr>
          <p:cNvPr id="15" name="Rectangle 14">
            <a:extLst xmlns:a="http://schemas.openxmlformats.org/drawingml/2006/main">
              <a:ext uri="{FF2B5EF4-FFF2-40B4-BE49-F238E27FC236}">
                <a16:creationId xmlns:a16="http://schemas.microsoft.com/office/drawing/2014/main" id="{5D0F1C22-17C8-4ECF-B702-47412DF07F9D}"/>
              </a:ext>
            </a:extLst>
          </p:cNvPr>
          <p:cNvSpPr>
            <a:spLocks xmlns:a="http://schemas.openxmlformats.org/drawingml/2006/main" noGrp="1"/>
          </p:cNvSpPr>
          <p:nvPr/>
        </p:nvSpPr>
        <p:spPr>
          <a:xfrm xmlns:a="http://schemas.openxmlformats.org/drawingml/2006/main">
            <a:off x="3724275" y="4424475"/>
            <a:ext cx="1000125" cy="338025"/>
          </a:xfrm>
          <a:prstGeom xmlns:a="http://schemas.openxmlformats.org/drawingml/2006/main" prst="rect">
            <a:avLst/>
          </a:prstGeom>
          <a:solidFill xmlns:a="http://schemas.openxmlformats.org/drawingml/2006/main">
            <a:srgbClr val="2E9BFF"/>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A0A349B-1FCA-4261-959A-761E3150426B}"/>
              </a:ext>
            </a:extLst>
          </p:cNvPr>
          <p:cNvSpPr>
            <a:spLocks xmlns:a="http://schemas.openxmlformats.org/drawingml/2006/main" noGrp="1"/>
          </p:cNvSpPr>
          <p:nvPr/>
        </p:nvSpPr>
        <p:spPr>
          <a:xfrm xmlns:a="http://schemas.openxmlformats.org/drawingml/2006/main">
            <a:off x="3724275" y="413872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|-0.92|</a:t>
            </a:r>
          </a:p>
        </p:txBody>
      </p:sp>
      <p:sp>
        <p:nvSpPr>
          <p:cNvPr id="17" name="Rectangle 16">
            <a:extLst xmlns:a="http://schemas.openxmlformats.org/drawingml/2006/main">
              <a:ext uri="{FF2B5EF4-FFF2-40B4-BE49-F238E27FC236}">
                <a16:creationId xmlns:a16="http://schemas.microsoft.com/office/drawing/2014/main" id="{CF89215E-B89A-4B70-8A04-AB4455CBEA8A}"/>
              </a:ext>
            </a:extLst>
          </p:cNvPr>
          <p:cNvSpPr>
            <a:spLocks xmlns:a="http://schemas.openxmlformats.org/drawingml/2006/main" noGrp="1"/>
          </p:cNvSpPr>
          <p:nvPr/>
        </p:nvSpPr>
        <p:spPr>
          <a:xfrm xmlns:a="http://schemas.openxmlformats.org/drawingml/2006/main">
            <a:off x="3724275"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2</a:t>
            </a:r>
          </a:p>
        </p:txBody>
      </p:sp>
      <p:sp>
        <p:nvSpPr>
          <p:cNvPr id="18" name="Rectangle 17">
            <a:extLst xmlns:a="http://schemas.openxmlformats.org/drawingml/2006/main">
              <a:ext uri="{FF2B5EF4-FFF2-40B4-BE49-F238E27FC236}">
                <a16:creationId xmlns:a16="http://schemas.microsoft.com/office/drawing/2014/main" id="{2407E9A9-3098-4A73-85C1-2366586CFA43}"/>
              </a:ext>
            </a:extLst>
          </p:cNvPr>
          <p:cNvSpPr>
            <a:spLocks xmlns:a="http://schemas.openxmlformats.org/drawingml/2006/main" noGrp="1"/>
          </p:cNvSpPr>
          <p:nvPr/>
        </p:nvSpPr>
        <p:spPr>
          <a:xfrm xmlns:a="http://schemas.openxmlformats.org/drawingml/2006/main">
            <a:off x="5086350" y="4438907"/>
            <a:ext cx="1000125" cy="323593"/>
          </a:xfrm>
          <a:prstGeom xmlns:a="http://schemas.openxmlformats.org/drawingml/2006/main" prst="rect">
            <a:avLst/>
          </a:prstGeom>
          <a:solidFill xmlns:a="http://schemas.openxmlformats.org/drawingml/2006/main">
            <a:srgbClr val="2E9BFF"/>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560F0A35-11B4-4FB7-A614-DCA1CF337427}"/>
              </a:ext>
            </a:extLst>
          </p:cNvPr>
          <p:cNvSpPr>
            <a:spLocks xmlns:a="http://schemas.openxmlformats.org/drawingml/2006/main" noGrp="1"/>
          </p:cNvSpPr>
          <p:nvPr/>
        </p:nvSpPr>
        <p:spPr>
          <a:xfrm xmlns:a="http://schemas.openxmlformats.org/drawingml/2006/main">
            <a:off x="5086350" y="4153157"/>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|-0.83|</a:t>
            </a:r>
          </a:p>
        </p:txBody>
      </p:sp>
      <p:sp>
        <p:nvSpPr>
          <p:cNvPr id="20" name="Rectangle 19">
            <a:extLst xmlns:a="http://schemas.openxmlformats.org/drawingml/2006/main">
              <a:ext uri="{FF2B5EF4-FFF2-40B4-BE49-F238E27FC236}">
                <a16:creationId xmlns:a16="http://schemas.microsoft.com/office/drawing/2014/main" id="{49137208-643F-48CD-B7CA-07C009D9C1FA}"/>
              </a:ext>
            </a:extLst>
          </p:cNvPr>
          <p:cNvSpPr>
            <a:spLocks xmlns:a="http://schemas.openxmlformats.org/drawingml/2006/main" noGrp="1"/>
          </p:cNvSpPr>
          <p:nvPr/>
        </p:nvSpPr>
        <p:spPr>
          <a:xfrm xmlns:a="http://schemas.openxmlformats.org/drawingml/2006/main">
            <a:off x="5086350"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3</a:t>
            </a:r>
          </a:p>
        </p:txBody>
      </p:sp>
      <p:sp>
        <p:nvSpPr>
          <p:cNvPr id="21" name="Rectangle 20">
            <a:extLst xmlns:a="http://schemas.openxmlformats.org/drawingml/2006/main">
              <a:ext uri="{FF2B5EF4-FFF2-40B4-BE49-F238E27FC236}">
                <a16:creationId xmlns:a16="http://schemas.microsoft.com/office/drawing/2014/main" id="{1B405659-79B6-4F33-BDC8-D9AF20BF6F40}"/>
              </a:ext>
            </a:extLst>
          </p:cNvPr>
          <p:cNvSpPr>
            <a:spLocks xmlns:a="http://schemas.openxmlformats.org/drawingml/2006/main" noGrp="1"/>
          </p:cNvSpPr>
          <p:nvPr/>
        </p:nvSpPr>
        <p:spPr>
          <a:xfrm xmlns:a="http://schemas.openxmlformats.org/drawingml/2006/main">
            <a:off x="6448425" y="4458149"/>
            <a:ext cx="1000125" cy="304351"/>
          </a:xfrm>
          <a:prstGeom xmlns:a="http://schemas.openxmlformats.org/drawingml/2006/main" prst="rect">
            <a:avLst/>
          </a:prstGeom>
          <a:solidFill xmlns:a="http://schemas.openxmlformats.org/drawingml/2006/main">
            <a:srgbClr val="2E9BFF"/>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E76C1EB4-3EA0-43A3-B3C7-0F6FA9DF8230}"/>
              </a:ext>
            </a:extLst>
          </p:cNvPr>
          <p:cNvSpPr>
            <a:spLocks xmlns:a="http://schemas.openxmlformats.org/drawingml/2006/main" noGrp="1"/>
          </p:cNvSpPr>
          <p:nvPr/>
        </p:nvSpPr>
        <p:spPr>
          <a:xfrm xmlns:a="http://schemas.openxmlformats.org/drawingml/2006/main">
            <a:off x="6448425" y="4172399"/>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|-0.71|</a:t>
            </a:r>
          </a:p>
        </p:txBody>
      </p:sp>
      <p:sp>
        <p:nvSpPr>
          <p:cNvPr id="23" name="Rectangle 22">
            <a:extLst xmlns:a="http://schemas.openxmlformats.org/drawingml/2006/main">
              <a:ext uri="{FF2B5EF4-FFF2-40B4-BE49-F238E27FC236}">
                <a16:creationId xmlns:a16="http://schemas.microsoft.com/office/drawing/2014/main" id="{5D855450-7121-4490-8AEA-E89772552ACB}"/>
              </a:ext>
            </a:extLst>
          </p:cNvPr>
          <p:cNvSpPr>
            <a:spLocks xmlns:a="http://schemas.openxmlformats.org/drawingml/2006/main" noGrp="1"/>
          </p:cNvSpPr>
          <p:nvPr/>
        </p:nvSpPr>
        <p:spPr>
          <a:xfrm xmlns:a="http://schemas.openxmlformats.org/drawingml/2006/main">
            <a:off x="6448425"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4</a:t>
            </a:r>
          </a:p>
        </p:txBody>
      </p:sp>
      <p:sp>
        <p:nvSpPr>
          <p:cNvPr id="24" name="Rectangle 23">
            <a:extLst xmlns:a="http://schemas.openxmlformats.org/drawingml/2006/main">
              <a:ext uri="{FF2B5EF4-FFF2-40B4-BE49-F238E27FC236}">
                <a16:creationId xmlns:a16="http://schemas.microsoft.com/office/drawing/2014/main" id="{6A910399-752B-49E1-8DC6-F21E27AEA5CB}"/>
              </a:ext>
            </a:extLst>
          </p:cNvPr>
          <p:cNvSpPr>
            <a:spLocks xmlns:a="http://schemas.openxmlformats.org/drawingml/2006/main" noGrp="1"/>
          </p:cNvSpPr>
          <p:nvPr/>
        </p:nvSpPr>
        <p:spPr>
          <a:xfrm xmlns:a="http://schemas.openxmlformats.org/drawingml/2006/main">
            <a:off x="7810500" y="4482202"/>
            <a:ext cx="1000125" cy="280298"/>
          </a:xfrm>
          <a:prstGeom xmlns:a="http://schemas.openxmlformats.org/drawingml/2006/main" prst="rect">
            <a:avLst/>
          </a:prstGeom>
          <a:solidFill xmlns:a="http://schemas.openxmlformats.org/drawingml/2006/main">
            <a:srgbClr val="2E9BFF"/>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F856F67F-AACB-4893-9A57-56338C910107}"/>
              </a:ext>
            </a:extLst>
          </p:cNvPr>
          <p:cNvSpPr>
            <a:spLocks xmlns:a="http://schemas.openxmlformats.org/drawingml/2006/main" noGrp="1"/>
          </p:cNvSpPr>
          <p:nvPr/>
        </p:nvSpPr>
        <p:spPr>
          <a:xfrm xmlns:a="http://schemas.openxmlformats.org/drawingml/2006/main">
            <a:off x="7810500" y="4196452"/>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|-0.56|</a:t>
            </a:r>
          </a:p>
        </p:txBody>
      </p:sp>
      <p:sp>
        <p:nvSpPr>
          <p:cNvPr id="26" name="Rectangle 25">
            <a:extLst xmlns:a="http://schemas.openxmlformats.org/drawingml/2006/main">
              <a:ext uri="{FF2B5EF4-FFF2-40B4-BE49-F238E27FC236}">
                <a16:creationId xmlns:a16="http://schemas.microsoft.com/office/drawing/2014/main" id="{AC418D56-7700-4B0D-A793-459176813E8B}"/>
              </a:ext>
            </a:extLst>
          </p:cNvPr>
          <p:cNvSpPr>
            <a:spLocks xmlns:a="http://schemas.openxmlformats.org/drawingml/2006/main" noGrp="1"/>
          </p:cNvSpPr>
          <p:nvPr/>
        </p:nvSpPr>
        <p:spPr>
          <a:xfrm xmlns:a="http://schemas.openxmlformats.org/drawingml/2006/main">
            <a:off x="7810500"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5</a:t>
            </a:r>
          </a:p>
        </p:txBody>
      </p:sp>
      <p:sp>
        <p:nvSpPr>
          <p:cNvPr id="27" name="Rectangle 26">
            <a:extLst xmlns:a="http://schemas.openxmlformats.org/drawingml/2006/main">
              <a:ext uri="{FF2B5EF4-FFF2-40B4-BE49-F238E27FC236}">
                <a16:creationId xmlns:a16="http://schemas.microsoft.com/office/drawing/2014/main" id="{01A32F71-8CF8-4DF6-B60C-044E7EE5CFDE}"/>
              </a:ext>
            </a:extLst>
          </p:cNvPr>
          <p:cNvSpPr>
            <a:spLocks xmlns:a="http://schemas.openxmlformats.org/drawingml/2006/main" noGrp="1"/>
          </p:cNvSpPr>
          <p:nvPr/>
        </p:nvSpPr>
        <p:spPr>
          <a:xfrm xmlns:a="http://schemas.openxmlformats.org/drawingml/2006/main">
            <a:off x="9172575" y="4511066"/>
            <a:ext cx="1000125" cy="251434"/>
          </a:xfrm>
          <a:prstGeom xmlns:a="http://schemas.openxmlformats.org/drawingml/2006/main" prst="rect">
            <a:avLst/>
          </a:prstGeom>
          <a:solidFill xmlns:a="http://schemas.openxmlformats.org/drawingml/2006/main">
            <a:srgbClr val="2E9BFF"/>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30A55E38-A745-4006-8AB0-0C83FFD50295}"/>
              </a:ext>
            </a:extLst>
          </p:cNvPr>
          <p:cNvSpPr>
            <a:spLocks xmlns:a="http://schemas.openxmlformats.org/drawingml/2006/main" noGrp="1"/>
          </p:cNvSpPr>
          <p:nvPr/>
        </p:nvSpPr>
        <p:spPr>
          <a:xfrm xmlns:a="http://schemas.openxmlformats.org/drawingml/2006/main">
            <a:off x="9172575" y="4225316"/>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|-0.38|</a:t>
            </a:r>
          </a:p>
        </p:txBody>
      </p:sp>
      <p:sp>
        <p:nvSpPr>
          <p:cNvPr id="29" name="Rectangle 28">
            <a:extLst xmlns:a="http://schemas.openxmlformats.org/drawingml/2006/main">
              <a:ext uri="{FF2B5EF4-FFF2-40B4-BE49-F238E27FC236}">
                <a16:creationId xmlns:a16="http://schemas.microsoft.com/office/drawing/2014/main" id="{17DF140C-5A24-4A4D-B50B-FC093F94D75E}"/>
              </a:ext>
            </a:extLst>
          </p:cNvPr>
          <p:cNvSpPr>
            <a:spLocks xmlns:a="http://schemas.openxmlformats.org/drawingml/2006/main" noGrp="1"/>
          </p:cNvSpPr>
          <p:nvPr/>
        </p:nvSpPr>
        <p:spPr>
          <a:xfrm xmlns:a="http://schemas.openxmlformats.org/drawingml/2006/main">
            <a:off x="9172575"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6</a:t>
            </a:r>
          </a:p>
        </p:txBody>
      </p:sp>
      <p:sp>
        <p:nvSpPr>
          <p:cNvPr id="30" name="Rectangle 29">
            <a:extLst xmlns:a="http://schemas.openxmlformats.org/drawingml/2006/main">
              <a:ext uri="{FF2B5EF4-FFF2-40B4-BE49-F238E27FC236}">
                <a16:creationId xmlns:a16="http://schemas.microsoft.com/office/drawing/2014/main" id="{8DB1516D-AB11-48C3-A7FA-74885D774408}"/>
              </a:ext>
            </a:extLst>
          </p:cNvPr>
          <p:cNvSpPr>
            <a:spLocks xmlns:a="http://schemas.openxmlformats.org/drawingml/2006/main" noGrp="1"/>
          </p:cNvSpPr>
          <p:nvPr/>
        </p:nvSpPr>
        <p:spPr>
          <a:xfrm xmlns:a="http://schemas.openxmlformats.org/drawingml/2006/main">
            <a:off x="10534650" y="4539929"/>
            <a:ext cx="1000125" cy="222571"/>
          </a:xfrm>
          <a:prstGeom xmlns:a="http://schemas.openxmlformats.org/drawingml/2006/main" prst="rect">
            <a:avLst/>
          </a:prstGeom>
          <a:solidFill xmlns:a="http://schemas.openxmlformats.org/drawingml/2006/main">
            <a:srgbClr val="2E9BFF"/>
          </a:solidFill>
          <a:ln xmlns:a="http://schemas.openxmlformats.org/drawingml/2006/main" w="0">
            <a:noFill/>
            <a:prstDash val="solid"/>
          </a:ln>
        </p:spPr>
      </p:sp>
      <p:sp>
        <p:nvSpPr>
          <p:cNvPr id="31" name="Rectangle 30">
            <a:extLst xmlns:a="http://schemas.openxmlformats.org/drawingml/2006/main">
              <a:ext uri="{FF2B5EF4-FFF2-40B4-BE49-F238E27FC236}">
                <a16:creationId xmlns:a16="http://schemas.microsoft.com/office/drawing/2014/main" id="{D9ABB81E-331B-4F78-A9CC-9AB374E49B0D}"/>
              </a:ext>
            </a:extLst>
          </p:cNvPr>
          <p:cNvSpPr>
            <a:spLocks xmlns:a="http://schemas.openxmlformats.org/drawingml/2006/main" noGrp="1"/>
          </p:cNvSpPr>
          <p:nvPr/>
        </p:nvSpPr>
        <p:spPr>
          <a:xfrm xmlns:a="http://schemas.openxmlformats.org/drawingml/2006/main">
            <a:off x="10534650" y="4254179"/>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|-0.20|</a:t>
            </a:r>
          </a:p>
        </p:txBody>
      </p:sp>
      <p:sp>
        <p:nvSpPr>
          <p:cNvPr id="32" name="Rectangle 31">
            <a:extLst xmlns:a="http://schemas.openxmlformats.org/drawingml/2006/main">
              <a:ext uri="{FF2B5EF4-FFF2-40B4-BE49-F238E27FC236}">
                <a16:creationId xmlns:a16="http://schemas.microsoft.com/office/drawing/2014/main" id="{746FEA13-2279-4C45-9CD1-BC7002AEF74E}"/>
              </a:ext>
            </a:extLst>
          </p:cNvPr>
          <p:cNvSpPr>
            <a:spLocks xmlns:a="http://schemas.openxmlformats.org/drawingml/2006/main" noGrp="1"/>
          </p:cNvSpPr>
          <p:nvPr/>
        </p:nvSpPr>
        <p:spPr>
          <a:xfrm xmlns:a="http://schemas.openxmlformats.org/drawingml/2006/main">
            <a:off x="10534650" y="4905375"/>
            <a:ext cx="1000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k = 7</a:t>
            </a:r>
          </a:p>
        </p:txBody>
      </p:sp>
      <p:sp>
        <p:nvSpPr>
          <p:cNvPr id="33" name="Rectangle: Rounded Corners 32">
            <a:extLst xmlns:a="http://schemas.openxmlformats.org/drawingml/2006/main">
              <a:ext uri="{FF2B5EF4-FFF2-40B4-BE49-F238E27FC236}">
                <a16:creationId xmlns:a16="http://schemas.microsoft.com/office/drawing/2014/main" id="{14A623C3-CC24-4CC2-AAEE-3603DB5EF648}"/>
              </a:ext>
            </a:extLst>
          </p:cNvPr>
          <p:cNvSpPr>
            <a:spLocks xmlns:a="http://schemas.openxmlformats.org/drawingml/2006/main" noGrp="1"/>
          </p:cNvSpPr>
          <p:nvPr/>
        </p:nvSpPr>
        <p:spPr>
          <a:xfrm xmlns:a="http://schemas.openxmlformats.org/drawingml/2006/main">
            <a:off x="809625" y="5476875"/>
            <a:ext cx="3238500" cy="685800"/>
          </a:xfrm>
          <a:prstGeom xmlns:a="http://schemas.openxmlformats.org/drawingml/2006/main" prst="roundRect">
            <a:avLst>
              <a:gd name="adj" fmla="val 16667"/>
            </a:avLst>
          </a:prstGeom>
          <a:solidFill xmlns:a="http://schemas.openxmlformats.org/drawingml/2006/main">
            <a:srgbClr val="0A2830"/>
          </a:solidFill>
          <a:ln xmlns:a="http://schemas.openxmlformats.org/drawingml/2006/main" w="19050">
            <a:solidFill>
              <a:srgbClr val="47E6A4"/>
            </a:solidFill>
            <a:prstDash val="solid"/>
          </a:ln>
        </p:spPr>
      </p:sp>
      <p:sp>
        <p:nvSpPr>
          <p:cNvPr id="34" name="Rectangle 33">
            <a:extLst xmlns:a="http://schemas.openxmlformats.org/drawingml/2006/main">
              <a:ext uri="{FF2B5EF4-FFF2-40B4-BE49-F238E27FC236}">
                <a16:creationId xmlns:a16="http://schemas.microsoft.com/office/drawing/2014/main" id="{0685FC71-3F00-4A59-ACE7-44131029C1AF}"/>
              </a:ext>
            </a:extLst>
          </p:cNvPr>
          <p:cNvSpPr>
            <a:spLocks xmlns:a="http://schemas.openxmlformats.org/drawingml/2006/main" noGrp="1"/>
          </p:cNvSpPr>
          <p:nvPr/>
        </p:nvSpPr>
        <p:spPr>
          <a:xfrm xmlns:a="http://schemas.openxmlformats.org/drawingml/2006/main">
            <a:off x="923925" y="5572125"/>
            <a:ext cx="3009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521"/>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k = 0: Direct Current (DC) coefficient</a:t>
            </a:r>
          </a:p>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Represents the average level of the row</a:t>
            </a:r>
          </a:p>
        </p:txBody>
      </p:sp>
      <p:sp>
        <p:nvSpPr>
          <p:cNvPr id="35" name="Rectangle: Rounded Corners 34">
            <a:extLst xmlns:a="http://schemas.openxmlformats.org/drawingml/2006/main">
              <a:ext uri="{FF2B5EF4-FFF2-40B4-BE49-F238E27FC236}">
                <a16:creationId xmlns:a16="http://schemas.microsoft.com/office/drawing/2014/main" id="{27687333-7FCA-4097-B568-38021EFB0915}"/>
              </a:ext>
            </a:extLst>
          </p:cNvPr>
          <p:cNvSpPr>
            <a:spLocks xmlns:a="http://schemas.openxmlformats.org/drawingml/2006/main" noGrp="1"/>
          </p:cNvSpPr>
          <p:nvPr/>
        </p:nvSpPr>
        <p:spPr>
          <a:xfrm xmlns:a="http://schemas.openxmlformats.org/drawingml/2006/main">
            <a:off x="4429125" y="5476875"/>
            <a:ext cx="3143250" cy="685800"/>
          </a:xfrm>
          <a:prstGeom xmlns:a="http://schemas.openxmlformats.org/drawingml/2006/main" prst="roundRect">
            <a:avLst>
              <a:gd name="adj" fmla="val 16667"/>
            </a:avLst>
          </a:prstGeom>
          <a:solidFill xmlns:a="http://schemas.openxmlformats.org/drawingml/2006/main">
            <a:srgbClr val="0B2033"/>
          </a:solidFill>
          <a:ln xmlns:a="http://schemas.openxmlformats.org/drawingml/2006/main" w="19050">
            <a:solidFill>
              <a:srgbClr val="2E9BFF"/>
            </a:solidFill>
            <a:prstDash val="solid"/>
          </a:ln>
        </p:spPr>
      </p:sp>
      <p:sp>
        <p:nvSpPr>
          <p:cNvPr id="36" name="Rectangle 35">
            <a:extLst xmlns:a="http://schemas.openxmlformats.org/drawingml/2006/main">
              <a:ext uri="{FF2B5EF4-FFF2-40B4-BE49-F238E27FC236}">
                <a16:creationId xmlns:a16="http://schemas.microsoft.com/office/drawing/2014/main" id="{9BA736EB-CD81-443D-817A-2D85EF36236F}"/>
              </a:ext>
            </a:extLst>
          </p:cNvPr>
          <p:cNvSpPr>
            <a:spLocks xmlns:a="http://schemas.openxmlformats.org/drawingml/2006/main" noGrp="1"/>
          </p:cNvSpPr>
          <p:nvPr/>
        </p:nvSpPr>
        <p:spPr>
          <a:xfrm xmlns:a="http://schemas.openxmlformats.org/drawingml/2006/main">
            <a:off x="4543425" y="5572125"/>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148"/>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Small k: slow changes across the row</a:t>
            </a:r>
          </a:p>
        </p:txBody>
      </p:sp>
      <p:sp>
        <p:nvSpPr>
          <p:cNvPr id="37" name="Rectangle: Rounded Corners 36">
            <a:extLst xmlns:a="http://schemas.openxmlformats.org/drawingml/2006/main">
              <a:ext uri="{FF2B5EF4-FFF2-40B4-BE49-F238E27FC236}">
                <a16:creationId xmlns:a16="http://schemas.microsoft.com/office/drawing/2014/main" id="{2AF29BAB-4054-4B34-BAED-62099B1105F3}"/>
              </a:ext>
            </a:extLst>
          </p:cNvPr>
          <p:cNvSpPr>
            <a:spLocks xmlns:a="http://schemas.openxmlformats.org/drawingml/2006/main" noGrp="1"/>
          </p:cNvSpPr>
          <p:nvPr/>
        </p:nvSpPr>
        <p:spPr>
          <a:xfrm xmlns:a="http://schemas.openxmlformats.org/drawingml/2006/main">
            <a:off x="7953375" y="5476875"/>
            <a:ext cx="3238500" cy="685800"/>
          </a:xfrm>
          <a:prstGeom xmlns:a="http://schemas.openxmlformats.org/drawingml/2006/main" prst="roundRect">
            <a:avLst>
              <a:gd name="adj" fmla="val 16667"/>
            </a:avLst>
          </a:prstGeom>
          <a:solidFill xmlns:a="http://schemas.openxmlformats.org/drawingml/2006/main">
            <a:srgbClr val="0B2033"/>
          </a:solidFill>
          <a:ln xmlns:a="http://schemas.openxmlformats.org/drawingml/2006/main" w="19050">
            <a:solidFill>
              <a:srgbClr val="FFB84D"/>
            </a:solidFill>
            <a:prstDash val="solid"/>
          </a:ln>
        </p:spPr>
      </p:sp>
      <p:sp>
        <p:nvSpPr>
          <p:cNvPr id="38" name="Rectangle 37">
            <a:extLst xmlns:a="http://schemas.openxmlformats.org/drawingml/2006/main">
              <a:ext uri="{FF2B5EF4-FFF2-40B4-BE49-F238E27FC236}">
                <a16:creationId xmlns:a16="http://schemas.microsoft.com/office/drawing/2014/main" id="{D047174D-CB2D-46A7-84FF-D9246DF679D3}"/>
              </a:ext>
            </a:extLst>
          </p:cNvPr>
          <p:cNvSpPr>
            <a:spLocks xmlns:a="http://schemas.openxmlformats.org/drawingml/2006/main" noGrp="1"/>
          </p:cNvSpPr>
          <p:nvPr/>
        </p:nvSpPr>
        <p:spPr>
          <a:xfrm xmlns:a="http://schemas.openxmlformats.org/drawingml/2006/main">
            <a:off x="8067675" y="5572125"/>
            <a:ext cx="3009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148"/>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Large k: rapid changes and fine detail</a:t>
            </a:r>
          </a:p>
        </p:txBody>
      </p:sp>
      <p:sp>
        <p:nvSpPr>
          <p:cNvPr id="39" name="Rectangle 38">
            <a:extLst xmlns:a="http://schemas.openxmlformats.org/drawingml/2006/main">
              <a:ext uri="{FF2B5EF4-FFF2-40B4-BE49-F238E27FC236}">
                <a16:creationId xmlns:a16="http://schemas.microsoft.com/office/drawing/2014/main" id="{08F823CA-0BF9-476B-9D5E-799288AE8406}"/>
              </a:ext>
            </a:extLst>
          </p:cNvPr>
          <p:cNvSpPr>
            <a:spLocks xmlns:a="http://schemas.openxmlformats.org/drawingml/2006/main" noGrp="1"/>
          </p:cNvSpPr>
          <p:nvPr/>
        </p:nvSpPr>
        <p:spPr>
          <a:xfrm xmlns:a="http://schemas.openxmlformats.org/drawingml/2006/main">
            <a:off x="2476500" y="11430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523"/>
          </a:bodyPr>
          <a:lstStyle xmlns:a="http://schemas.openxmlformats.org/drawingml/2006/main"/>
          <a:p xmlns:a="http://schemas.openxmlformats.org/drawingml/2006/main">
            <a:pPr>
              <a:buNone/>
              <a:defRPr sz="1800" b="1">
                <a:solidFill>
                  <a:srgbClr val="F4F8FC"/>
                </a:solidFill>
                <a:latin typeface="Arial"/>
                <a:ea typeface="Arial"/>
                <a:cs typeface="Arial"/>
              </a:defRPr>
            </a:pPr>
            <a:r>
              <a:rPr sz="1800" b="1">
                <a:solidFill>
                  <a:srgbClr val="F4F8FC"/>
                </a:solidFill>
                <a:latin typeface="Arial"/>
                <a:ea typeface="Arial"/>
                <a:cs typeface="Arial"/>
              </a:rPr>
              <a:t>One coefficient contains most of the energy. The remaining seven are small.</a:t>
            </a:r>
          </a:p>
        </p:txBody>
      </p:sp>
    </p:spTree>
    <p:extLst>
      <p:ext uri="{BB962C8B-B14F-4D97-AF65-F5344CB8AC3E}">
        <p14:creationId xmlns:p14="http://schemas.microsoft.com/office/powerpoint/2010/main" val="1305061475"/>
      </p:ext>
    </p:extLst>
  </p:cSld>
</p:sld>
</file>

<file path=ppt/slides/slide10.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4" name="Oval 43">
            <a:extLst xmlns:a="http://schemas.openxmlformats.org/drawingml/2006/main">
              <a:ext uri="{FF2B5EF4-FFF2-40B4-BE49-F238E27FC236}">
                <a16:creationId xmlns:a16="http://schemas.microsoft.com/office/drawing/2014/main" id="{5A2E2EB2-27CB-4F70-861B-7D6320946601}"/>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D306C9E7-3EEC-4BBB-8A83-F764C069255A}"/>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A85C2D5B-3621-4B0A-9474-F7A3E488C707}"/>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Step 4: QP selects the step, then quantization rounds</a:t>
            </a:r>
          </a:p>
        </p:txBody>
      </p:sp>
      <p:sp>
        <p:nvSpPr>
          <p:cNvPr id="4" name="Straight Connector 3">
            <a:extLst xmlns:a="http://schemas.openxmlformats.org/drawingml/2006/main">
              <a:ext uri="{FF2B5EF4-FFF2-40B4-BE49-F238E27FC236}">
                <a16:creationId xmlns:a16="http://schemas.microsoft.com/office/drawing/2014/main" id="{5245A6E8-AA19-43A6-87CD-3DF5DF993C7F}"/>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2076EAC6-FADD-4091-BF7C-2C2F29AD04F4}"/>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Quantization Parameter (QP) controls the divisor used for every transform coefficient</a:t>
            </a:r>
          </a:p>
        </p:txBody>
      </p:sp>
      <p:sp>
        <p:nvSpPr>
          <p:cNvPr id="6" name="Rectangle 5">
            <a:extLst xmlns:a="http://schemas.openxmlformats.org/drawingml/2006/main">
              <a:ext uri="{FF2B5EF4-FFF2-40B4-BE49-F238E27FC236}">
                <a16:creationId xmlns:a16="http://schemas.microsoft.com/office/drawing/2014/main" id="{7117168A-45C2-4DAF-9265-85D77A5A3912}"/>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2241D2E-D720-4BBE-92FF-59FC89F2E162}"/>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10 / 49</a:t>
            </a:r>
          </a:p>
        </p:txBody>
      </p:sp>
      <p:sp>
        <p:nvSpPr>
          <p:cNvPr id="8" name="Rectangle: Rounded Corners 7">
            <a:extLst xmlns:a="http://schemas.openxmlformats.org/drawingml/2006/main">
              <a:ext uri="{FF2B5EF4-FFF2-40B4-BE49-F238E27FC236}">
                <a16:creationId xmlns:a16="http://schemas.microsoft.com/office/drawing/2014/main" id="{BD2D9488-A73A-43C1-82DE-256AA09EE377}"/>
              </a:ext>
            </a:extLst>
          </p:cNvPr>
          <p:cNvSpPr>
            <a:spLocks xmlns:a="http://schemas.openxmlformats.org/drawingml/2006/main" noGrp="1"/>
          </p:cNvSpPr>
          <p:nvPr/>
        </p:nvSpPr>
        <p:spPr>
          <a:xfrm xmlns:a="http://schemas.openxmlformats.org/drawingml/2006/main">
            <a:off x="619125" y="1381125"/>
            <a:ext cx="3286125"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22D3EE"/>
            </a:solidFill>
            <a:prstDash val="solid"/>
          </a:ln>
        </p:spPr>
      </p:sp>
      <p:sp>
        <p:nvSpPr>
          <p:cNvPr id="9" name="Rectangle 8">
            <a:extLst xmlns:a="http://schemas.openxmlformats.org/drawingml/2006/main">
              <a:ext uri="{FF2B5EF4-FFF2-40B4-BE49-F238E27FC236}">
                <a16:creationId xmlns:a16="http://schemas.microsoft.com/office/drawing/2014/main" id="{E83BAE8B-8ED9-48B5-8855-6DEB4C41DA4D}"/>
              </a:ext>
            </a:extLst>
          </p:cNvPr>
          <p:cNvSpPr>
            <a:spLocks xmlns:a="http://schemas.openxmlformats.org/drawingml/2006/main" noGrp="1"/>
          </p:cNvSpPr>
          <p:nvPr/>
        </p:nvSpPr>
        <p:spPr>
          <a:xfrm xmlns:a="http://schemas.openxmlformats.org/drawingml/2006/main">
            <a:off x="733425" y="1476375"/>
            <a:ext cx="30575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  CHOOSE QP</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Encoder policy supplies a QP</a:t>
            </a:r>
          </a:p>
        </p:txBody>
      </p:sp>
      <p:sp>
        <p:nvSpPr>
          <p:cNvPr id="10" name="Rectangle 9">
            <a:extLst xmlns:a="http://schemas.openxmlformats.org/drawingml/2006/main">
              <a:ext uri="{FF2B5EF4-FFF2-40B4-BE49-F238E27FC236}">
                <a16:creationId xmlns:a16="http://schemas.microsoft.com/office/drawing/2014/main" id="{467A463F-E7E0-4392-8471-9B03DE757A19}"/>
              </a:ext>
            </a:extLst>
          </p:cNvPr>
          <p:cNvSpPr>
            <a:spLocks xmlns:a="http://schemas.openxmlformats.org/drawingml/2006/main" noGrp="1"/>
          </p:cNvSpPr>
          <p:nvPr/>
        </p:nvSpPr>
        <p:spPr>
          <a:xfrm xmlns:a="http://schemas.openxmlformats.org/drawingml/2006/main">
            <a:off x="4381500" y="1809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6EB89F2B-D3C0-4F9F-BE0C-8C1B04AE87B8}"/>
              </a:ext>
            </a:extLst>
          </p:cNvPr>
          <p:cNvSpPr>
            <a:spLocks xmlns:a="http://schemas.openxmlformats.org/drawingml/2006/main" noGrp="1"/>
          </p:cNvSpPr>
          <p:nvPr/>
        </p:nvSpPr>
        <p:spPr>
          <a:xfrm xmlns:a="http://schemas.openxmlformats.org/drawingml/2006/main">
            <a:off x="4000500" y="1809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0" name="Straight Arrow Connector 54"/>
          <p:cNvCxnSpPr>
            <a:stCxn xmlns:a="http://schemas.openxmlformats.org/drawingml/2006/main" id="10" idx="1"/>
            <a:endCxn xmlns:a="http://schemas.openxmlformats.org/drawingml/2006/main" id="11" idx="3"/>
          </p:cNvCxnSpPr>
          <p:nvPr/>
        </p:nvCxnSpPr>
        <p:spPr>
          <a:xfrm xmlns:a="http://schemas.openxmlformats.org/drawingml/2006/main" flipH="1">
            <a:off x="4019550" y="1819275"/>
            <a:ext cx="3619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3" name="Rectangle: Rounded Corners 12">
            <a:extLst xmlns:a="http://schemas.openxmlformats.org/drawingml/2006/main">
              <a:ext uri="{FF2B5EF4-FFF2-40B4-BE49-F238E27FC236}">
                <a16:creationId xmlns:a16="http://schemas.microsoft.com/office/drawing/2014/main" id="{EA6A0CF4-DD3D-4B3B-AC36-16167C682BAD}"/>
              </a:ext>
            </a:extLst>
          </p:cNvPr>
          <p:cNvSpPr>
            <a:spLocks xmlns:a="http://schemas.openxmlformats.org/drawingml/2006/main" noGrp="1"/>
          </p:cNvSpPr>
          <p:nvPr/>
        </p:nvSpPr>
        <p:spPr>
          <a:xfrm xmlns:a="http://schemas.openxmlformats.org/drawingml/2006/main">
            <a:off x="4476750" y="1381125"/>
            <a:ext cx="3286125"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FFB84D"/>
            </a:solidFill>
            <a:prstDash val="solid"/>
          </a:ln>
        </p:spPr>
      </p:sp>
      <p:sp>
        <p:nvSpPr>
          <p:cNvPr id="14" name="Rectangle 13">
            <a:extLst xmlns:a="http://schemas.openxmlformats.org/drawingml/2006/main">
              <a:ext uri="{FF2B5EF4-FFF2-40B4-BE49-F238E27FC236}">
                <a16:creationId xmlns:a16="http://schemas.microsoft.com/office/drawing/2014/main" id="{990718F3-3AC3-4E51-BBE2-9CE9B8C0DF0D}"/>
              </a:ext>
            </a:extLst>
          </p:cNvPr>
          <p:cNvSpPr>
            <a:spLocks xmlns:a="http://schemas.openxmlformats.org/drawingml/2006/main" noGrp="1"/>
          </p:cNvSpPr>
          <p:nvPr/>
        </p:nvSpPr>
        <p:spPr>
          <a:xfrm xmlns:a="http://schemas.openxmlformats.org/drawingml/2006/main">
            <a:off x="4591050" y="1476375"/>
            <a:ext cx="30575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2  DERIVE STEP Δ</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QP + 6 gives about 2 × Δ</a:t>
            </a:r>
          </a:p>
        </p:txBody>
      </p:sp>
      <p:sp>
        <p:nvSpPr>
          <p:cNvPr id="15" name="Rectangle 14">
            <a:extLst xmlns:a="http://schemas.openxmlformats.org/drawingml/2006/main">
              <a:ext uri="{FF2B5EF4-FFF2-40B4-BE49-F238E27FC236}">
                <a16:creationId xmlns:a16="http://schemas.microsoft.com/office/drawing/2014/main" id="{FC3BBE7D-835C-479E-8EB1-A2832035B7FA}"/>
              </a:ext>
            </a:extLst>
          </p:cNvPr>
          <p:cNvSpPr>
            <a:spLocks xmlns:a="http://schemas.openxmlformats.org/drawingml/2006/main" noGrp="1"/>
          </p:cNvSpPr>
          <p:nvPr/>
        </p:nvSpPr>
        <p:spPr>
          <a:xfrm xmlns:a="http://schemas.openxmlformats.org/drawingml/2006/main">
            <a:off x="8239125" y="1809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B99AD983-F7F9-4858-BB78-75CDDC0062FD}"/>
              </a:ext>
            </a:extLst>
          </p:cNvPr>
          <p:cNvSpPr>
            <a:spLocks xmlns:a="http://schemas.openxmlformats.org/drawingml/2006/main" noGrp="1"/>
          </p:cNvSpPr>
          <p:nvPr/>
        </p:nvSpPr>
        <p:spPr>
          <a:xfrm xmlns:a="http://schemas.openxmlformats.org/drawingml/2006/main">
            <a:off x="7858125" y="1809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5" name="Straight Arrow Connector 59"/>
          <p:cNvCxnSpPr>
            <a:stCxn xmlns:a="http://schemas.openxmlformats.org/drawingml/2006/main" id="15" idx="1"/>
            <a:endCxn xmlns:a="http://schemas.openxmlformats.org/drawingml/2006/main" id="16" idx="3"/>
          </p:cNvCxnSpPr>
          <p:nvPr/>
        </p:nvCxnSpPr>
        <p:spPr>
          <a:xfrm xmlns:a="http://schemas.openxmlformats.org/drawingml/2006/main" flipH="1">
            <a:off x="7877175" y="1819275"/>
            <a:ext cx="3619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8" name="Rectangle: Rounded Corners 17">
            <a:extLst xmlns:a="http://schemas.openxmlformats.org/drawingml/2006/main">
              <a:ext uri="{FF2B5EF4-FFF2-40B4-BE49-F238E27FC236}">
                <a16:creationId xmlns:a16="http://schemas.microsoft.com/office/drawing/2014/main" id="{16C3A406-A864-41AD-85DF-1B6AEADED8A2}"/>
              </a:ext>
            </a:extLst>
          </p:cNvPr>
          <p:cNvSpPr>
            <a:spLocks xmlns:a="http://schemas.openxmlformats.org/drawingml/2006/main" noGrp="1"/>
          </p:cNvSpPr>
          <p:nvPr/>
        </p:nvSpPr>
        <p:spPr>
          <a:xfrm xmlns:a="http://schemas.openxmlformats.org/drawingml/2006/main">
            <a:off x="8334375" y="1381125"/>
            <a:ext cx="3286125"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47E6A4"/>
            </a:solidFill>
            <a:prstDash val="solid"/>
          </a:ln>
        </p:spPr>
      </p:sp>
      <p:sp>
        <p:nvSpPr>
          <p:cNvPr id="19" name="Rectangle 18">
            <a:extLst xmlns:a="http://schemas.openxmlformats.org/drawingml/2006/main">
              <a:ext uri="{FF2B5EF4-FFF2-40B4-BE49-F238E27FC236}">
                <a16:creationId xmlns:a16="http://schemas.microsoft.com/office/drawing/2014/main" id="{0CD23F74-CD78-4C50-A801-B3F09CE65186}"/>
              </a:ext>
            </a:extLst>
          </p:cNvPr>
          <p:cNvSpPr>
            <a:spLocks xmlns:a="http://schemas.openxmlformats.org/drawingml/2006/main" noGrp="1"/>
          </p:cNvSpPr>
          <p:nvPr/>
        </p:nvSpPr>
        <p:spPr>
          <a:xfrm xmlns:a="http://schemas.openxmlformats.org/drawingml/2006/main">
            <a:off x="8448675" y="1476375"/>
            <a:ext cx="30575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3  QUANTIZE</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q = round(C ÷ Δ)</a:t>
            </a:r>
          </a:p>
        </p:txBody>
      </p:sp>
      <p:sp>
        <p:nvSpPr>
          <p:cNvPr id="20" name="Rectangle: Rounded Corners 19">
            <a:extLst xmlns:a="http://schemas.openxmlformats.org/drawingml/2006/main">
              <a:ext uri="{FF2B5EF4-FFF2-40B4-BE49-F238E27FC236}">
                <a16:creationId xmlns:a16="http://schemas.microsoft.com/office/drawing/2014/main" id="{3592846B-D1D0-4AD2-BEAB-AE6A024CA131}"/>
              </a:ext>
            </a:extLst>
          </p:cNvPr>
          <p:cNvSpPr>
            <a:spLocks xmlns:a="http://schemas.openxmlformats.org/drawingml/2006/main" noGrp="1"/>
          </p:cNvSpPr>
          <p:nvPr/>
        </p:nvSpPr>
        <p:spPr>
          <a:xfrm xmlns:a="http://schemas.openxmlformats.org/drawingml/2006/main">
            <a:off x="1381125" y="2381250"/>
            <a:ext cx="9429750" cy="514350"/>
          </a:xfrm>
          <a:prstGeom xmlns:a="http://schemas.openxmlformats.org/drawingml/2006/main" prst="roundRect">
            <a:avLst>
              <a:gd name="adj" fmla="val 22222"/>
            </a:avLst>
          </a:prstGeom>
          <a:solidFill xmlns:a="http://schemas.openxmlformats.org/drawingml/2006/main">
            <a:srgbClr val="132536"/>
          </a:solidFill>
          <a:ln xmlns:a="http://schemas.openxmlformats.org/drawingml/2006/main" w="19050">
            <a:solidFill>
              <a:srgbClr val="FFB84D"/>
            </a:solidFill>
            <a:prstDash val="solid"/>
          </a:ln>
        </p:spPr>
      </p:sp>
      <p:sp>
        <p:nvSpPr>
          <p:cNvPr id="21" name="Rectangle 20">
            <a:extLst xmlns:a="http://schemas.openxmlformats.org/drawingml/2006/main">
              <a:ext uri="{FF2B5EF4-FFF2-40B4-BE49-F238E27FC236}">
                <a16:creationId xmlns:a16="http://schemas.microsoft.com/office/drawing/2014/main" id="{05F592CC-EF89-49B3-B437-09EA537B3002}"/>
              </a:ext>
            </a:extLst>
          </p:cNvPr>
          <p:cNvSpPr>
            <a:spLocks xmlns:a="http://schemas.openxmlformats.org/drawingml/2006/main" noGrp="1"/>
          </p:cNvSpPr>
          <p:nvPr/>
        </p:nvSpPr>
        <p:spPr>
          <a:xfrm xmlns:a="http://schemas.openxmlformats.org/drawingml/2006/main">
            <a:off x="1495425" y="2476500"/>
            <a:ext cx="920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Worked example: use Δ = 2 so the arithmetic stays visible. A real HEVC encoder derives Δ from its chosen QP.</a:t>
            </a:r>
          </a:p>
        </p:txBody>
      </p:sp>
      <p:sp>
        <p:nvSpPr>
          <p:cNvPr id="22" name="Rectangle 21">
            <a:extLst xmlns:a="http://schemas.openxmlformats.org/drawingml/2006/main">
              <a:ext uri="{FF2B5EF4-FFF2-40B4-BE49-F238E27FC236}">
                <a16:creationId xmlns:a16="http://schemas.microsoft.com/office/drawing/2014/main" id="{18F0DA07-63A7-41DA-A7B2-7FDEBB2E85D7}"/>
              </a:ext>
            </a:extLst>
          </p:cNvPr>
          <p:cNvSpPr>
            <a:spLocks xmlns:a="http://schemas.openxmlformats.org/drawingml/2006/main" noGrp="1"/>
          </p:cNvSpPr>
          <p:nvPr/>
        </p:nvSpPr>
        <p:spPr>
          <a:xfrm xmlns:a="http://schemas.openxmlformats.org/drawingml/2006/main">
            <a:off x="714375"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ONE LARGE COEFFICIENT SURVIVES</a:t>
            </a:r>
          </a:p>
        </p:txBody>
      </p:sp>
      <p:sp>
        <p:nvSpPr>
          <p:cNvPr id="23" name="Rectangle: Rounded Corners 22">
            <a:extLst xmlns:a="http://schemas.openxmlformats.org/drawingml/2006/main">
              <a:ext uri="{FF2B5EF4-FFF2-40B4-BE49-F238E27FC236}">
                <a16:creationId xmlns:a16="http://schemas.microsoft.com/office/drawing/2014/main" id="{541140F9-2EC2-4F1A-A405-911AFB10CFED}"/>
              </a:ext>
            </a:extLst>
          </p:cNvPr>
          <p:cNvSpPr>
            <a:spLocks xmlns:a="http://schemas.openxmlformats.org/drawingml/2006/main" noGrp="1"/>
          </p:cNvSpPr>
          <p:nvPr/>
        </p:nvSpPr>
        <p:spPr>
          <a:xfrm xmlns:a="http://schemas.openxmlformats.org/drawingml/2006/main">
            <a:off x="762000" y="3524250"/>
            <a:ext cx="223837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24" name="Rectangle 23">
            <a:extLst xmlns:a="http://schemas.openxmlformats.org/drawingml/2006/main">
              <a:ext uri="{FF2B5EF4-FFF2-40B4-BE49-F238E27FC236}">
                <a16:creationId xmlns:a16="http://schemas.microsoft.com/office/drawing/2014/main" id="{7CC9D3E5-4A3C-466E-9375-F319D877DDE4}"/>
              </a:ext>
            </a:extLst>
          </p:cNvPr>
          <p:cNvSpPr>
            <a:spLocks xmlns:a="http://schemas.openxmlformats.org/drawingml/2006/main" noGrp="1"/>
          </p:cNvSpPr>
          <p:nvPr/>
        </p:nvSpPr>
        <p:spPr>
          <a:xfrm xmlns:a="http://schemas.openxmlformats.org/drawingml/2006/main">
            <a:off x="876300" y="3619500"/>
            <a:ext cx="2009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−14.85 ÷ 2 = −7.425</a:t>
            </a:r>
          </a:p>
        </p:txBody>
      </p:sp>
      <p:sp>
        <p:nvSpPr>
          <p:cNvPr id="25" name="Rectangle 24">
            <a:extLst xmlns:a="http://schemas.openxmlformats.org/drawingml/2006/main">
              <a:ext uri="{FF2B5EF4-FFF2-40B4-BE49-F238E27FC236}">
                <a16:creationId xmlns:a16="http://schemas.microsoft.com/office/drawing/2014/main" id="{5B02AC74-54AF-406F-A9CB-8433B5C2C5A8}"/>
              </a:ext>
            </a:extLst>
          </p:cNvPr>
          <p:cNvSpPr>
            <a:spLocks xmlns:a="http://schemas.openxmlformats.org/drawingml/2006/main" noGrp="1"/>
          </p:cNvSpPr>
          <p:nvPr/>
        </p:nvSpPr>
        <p:spPr>
          <a:xfrm xmlns:a="http://schemas.openxmlformats.org/drawingml/2006/main">
            <a:off x="3619500" y="3810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6" name="Rectangle 25">
            <a:extLst xmlns:a="http://schemas.openxmlformats.org/drawingml/2006/main">
              <a:ext uri="{FF2B5EF4-FFF2-40B4-BE49-F238E27FC236}">
                <a16:creationId xmlns:a16="http://schemas.microsoft.com/office/drawing/2014/main" id="{6A918EC3-AD71-431B-9731-A68B4D212524}"/>
              </a:ext>
            </a:extLst>
          </p:cNvPr>
          <p:cNvSpPr>
            <a:spLocks xmlns:a="http://schemas.openxmlformats.org/drawingml/2006/main" noGrp="1"/>
          </p:cNvSpPr>
          <p:nvPr/>
        </p:nvSpPr>
        <p:spPr>
          <a:xfrm xmlns:a="http://schemas.openxmlformats.org/drawingml/2006/main">
            <a:off x="3095625" y="3810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 name="Straight Arrow Connector 69"/>
          <p:cNvCxnSpPr>
            <a:stCxn xmlns:a="http://schemas.openxmlformats.org/drawingml/2006/main" id="25" idx="1"/>
            <a:endCxn xmlns:a="http://schemas.openxmlformats.org/drawingml/2006/main" id="26" idx="3"/>
          </p:cNvCxnSpPr>
          <p:nvPr/>
        </p:nvCxnSpPr>
        <p:spPr>
          <a:xfrm xmlns:a="http://schemas.openxmlformats.org/drawingml/2006/main" flipH="1">
            <a:off x="3114675" y="3819525"/>
            <a:ext cx="504825" cy="0"/>
          </a:xfrm>
          <a:prstGeom xmlns:a="http://schemas.openxmlformats.org/drawingml/2006/main" prst="straightConnector1">
            <a:avLst/>
          </a:prstGeom>
          <a:ln xmlns:a="http://schemas.openxmlformats.org/drawingml/2006/main" w="19050" cap="rnd">
            <a:solidFill>
              <a:srgbClr val="FFB84D"/>
            </a:solidFill>
            <a:prstDash val="solid"/>
            <a:headEnd type="triangle" w="sm" len="sm"/>
          </a:ln>
        </p:spPr>
      </p:cxnSp>
      <p:sp>
        <p:nvSpPr>
          <p:cNvPr id="28" name="Rectangle: Rounded Corners 27">
            <a:extLst xmlns:a="http://schemas.openxmlformats.org/drawingml/2006/main">
              <a:ext uri="{FF2B5EF4-FFF2-40B4-BE49-F238E27FC236}">
                <a16:creationId xmlns:a16="http://schemas.microsoft.com/office/drawing/2014/main" id="{1ED9342D-9712-41C5-B88E-555A4CA93476}"/>
              </a:ext>
            </a:extLst>
          </p:cNvPr>
          <p:cNvSpPr>
            <a:spLocks xmlns:a="http://schemas.openxmlformats.org/drawingml/2006/main" noGrp="1"/>
          </p:cNvSpPr>
          <p:nvPr/>
        </p:nvSpPr>
        <p:spPr>
          <a:xfrm xmlns:a="http://schemas.openxmlformats.org/drawingml/2006/main">
            <a:off x="3714750" y="3524250"/>
            <a:ext cx="1714500" cy="590550"/>
          </a:xfrm>
          <a:prstGeom xmlns:a="http://schemas.openxmlformats.org/drawingml/2006/main" prst="roundRect">
            <a:avLst>
              <a:gd name="adj" fmla="val 19355"/>
            </a:avLst>
          </a:prstGeom>
          <a:solidFill xmlns:a="http://schemas.openxmlformats.org/drawingml/2006/main">
            <a:srgbClr val="0A2830"/>
          </a:solidFill>
          <a:ln xmlns:a="http://schemas.openxmlformats.org/drawingml/2006/main" w="19050">
            <a:solidFill>
              <a:srgbClr val="47E6A4"/>
            </a:solidFill>
            <a:prstDash val="solid"/>
          </a:ln>
        </p:spPr>
      </p:sp>
      <p:sp>
        <p:nvSpPr>
          <p:cNvPr id="29" name="Rectangle 28">
            <a:extLst xmlns:a="http://schemas.openxmlformats.org/drawingml/2006/main">
              <a:ext uri="{FF2B5EF4-FFF2-40B4-BE49-F238E27FC236}">
                <a16:creationId xmlns:a16="http://schemas.microsoft.com/office/drawing/2014/main" id="{88E65B2F-17EF-4954-879C-65B11DEB81B9}"/>
              </a:ext>
            </a:extLst>
          </p:cNvPr>
          <p:cNvSpPr>
            <a:spLocks xmlns:a="http://schemas.openxmlformats.org/drawingml/2006/main" noGrp="1"/>
          </p:cNvSpPr>
          <p:nvPr/>
        </p:nvSpPr>
        <p:spPr>
          <a:xfrm xmlns:a="http://schemas.openxmlformats.org/drawingml/2006/main">
            <a:off x="3829050" y="36195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round to −7</a:t>
            </a:r>
          </a:p>
        </p:txBody>
      </p:sp>
      <p:sp>
        <p:nvSpPr>
          <p:cNvPr id="30" name="Rectangle 29">
            <a:extLst xmlns:a="http://schemas.openxmlformats.org/drawingml/2006/main">
              <a:ext uri="{FF2B5EF4-FFF2-40B4-BE49-F238E27FC236}">
                <a16:creationId xmlns:a16="http://schemas.microsoft.com/office/drawing/2014/main" id="{67C34FA0-4688-4778-87D1-2B01E201BA45}"/>
              </a:ext>
            </a:extLst>
          </p:cNvPr>
          <p:cNvSpPr>
            <a:spLocks xmlns:a="http://schemas.openxmlformats.org/drawingml/2006/main" noGrp="1"/>
          </p:cNvSpPr>
          <p:nvPr/>
        </p:nvSpPr>
        <p:spPr>
          <a:xfrm xmlns:a="http://schemas.openxmlformats.org/drawingml/2006/main">
            <a:off x="66675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FF6577"/>
                </a:solidFill>
                <a:latin typeface="Arial"/>
                <a:ea typeface="Arial"/>
                <a:cs typeface="Arial"/>
              </a:defRPr>
            </a:pPr>
            <a:r>
              <a:rPr sz="1275" b="1">
                <a:solidFill>
                  <a:srgbClr val="FF6577"/>
                </a:solidFill>
                <a:latin typeface="Arial"/>
                <a:ea typeface="Arial"/>
                <a:cs typeface="Arial"/>
              </a:rPr>
              <a:t>A SMALL COEFFICIENT BECOMES ZERO</a:t>
            </a:r>
          </a:p>
        </p:txBody>
      </p:sp>
      <p:sp>
        <p:nvSpPr>
          <p:cNvPr id="31" name="Rectangle: Rounded Corners 30">
            <a:extLst xmlns:a="http://schemas.openxmlformats.org/drawingml/2006/main">
              <a:ext uri="{FF2B5EF4-FFF2-40B4-BE49-F238E27FC236}">
                <a16:creationId xmlns:a16="http://schemas.microsoft.com/office/drawing/2014/main" id="{15E35DC7-E50B-4069-AC2C-48F91A0CE9AC}"/>
              </a:ext>
            </a:extLst>
          </p:cNvPr>
          <p:cNvSpPr>
            <a:spLocks xmlns:a="http://schemas.openxmlformats.org/drawingml/2006/main" noGrp="1"/>
          </p:cNvSpPr>
          <p:nvPr/>
        </p:nvSpPr>
        <p:spPr>
          <a:xfrm xmlns:a="http://schemas.openxmlformats.org/drawingml/2006/main">
            <a:off x="6715125" y="3524250"/>
            <a:ext cx="2238375"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E9BFF"/>
            </a:solidFill>
            <a:prstDash val="solid"/>
          </a:ln>
        </p:spPr>
      </p:sp>
      <p:sp>
        <p:nvSpPr>
          <p:cNvPr id="32" name="Rectangle 31">
            <a:extLst xmlns:a="http://schemas.openxmlformats.org/drawingml/2006/main">
              <a:ext uri="{FF2B5EF4-FFF2-40B4-BE49-F238E27FC236}">
                <a16:creationId xmlns:a16="http://schemas.microsoft.com/office/drawing/2014/main" id="{F7FEBE45-C5BB-42F2-B9D0-E7A00324C560}"/>
              </a:ext>
            </a:extLst>
          </p:cNvPr>
          <p:cNvSpPr>
            <a:spLocks xmlns:a="http://schemas.openxmlformats.org/drawingml/2006/main" noGrp="1"/>
          </p:cNvSpPr>
          <p:nvPr/>
        </p:nvSpPr>
        <p:spPr>
          <a:xfrm xmlns:a="http://schemas.openxmlformats.org/drawingml/2006/main">
            <a:off x="6829425" y="3619500"/>
            <a:ext cx="2009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−0.98 ÷ 2 = −0.49</a:t>
            </a:r>
          </a:p>
        </p:txBody>
      </p:sp>
      <p:sp>
        <p:nvSpPr>
          <p:cNvPr id="33" name="Rectangle 32">
            <a:extLst xmlns:a="http://schemas.openxmlformats.org/drawingml/2006/main">
              <a:ext uri="{FF2B5EF4-FFF2-40B4-BE49-F238E27FC236}">
                <a16:creationId xmlns:a16="http://schemas.microsoft.com/office/drawing/2014/main" id="{DEDF19E2-4831-40F3-BA31-73D760A66DFD}"/>
              </a:ext>
            </a:extLst>
          </p:cNvPr>
          <p:cNvSpPr>
            <a:spLocks xmlns:a="http://schemas.openxmlformats.org/drawingml/2006/main" noGrp="1"/>
          </p:cNvSpPr>
          <p:nvPr/>
        </p:nvSpPr>
        <p:spPr>
          <a:xfrm xmlns:a="http://schemas.openxmlformats.org/drawingml/2006/main">
            <a:off x="9572625" y="3810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94F537AD-1BFC-451D-86A2-3EA8D195A5F6}"/>
              </a:ext>
            </a:extLst>
          </p:cNvPr>
          <p:cNvSpPr>
            <a:spLocks xmlns:a="http://schemas.openxmlformats.org/drawingml/2006/main" noGrp="1"/>
          </p:cNvSpPr>
          <p:nvPr/>
        </p:nvSpPr>
        <p:spPr>
          <a:xfrm xmlns:a="http://schemas.openxmlformats.org/drawingml/2006/main">
            <a:off x="9048750" y="3810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13" name="Straight Arrow Connector 77"/>
          <p:cNvCxnSpPr>
            <a:stCxn xmlns:a="http://schemas.openxmlformats.org/drawingml/2006/main" id="33" idx="1"/>
            <a:endCxn xmlns:a="http://schemas.openxmlformats.org/drawingml/2006/main" id="34" idx="3"/>
          </p:cNvCxnSpPr>
          <p:nvPr/>
        </p:nvCxnSpPr>
        <p:spPr>
          <a:xfrm xmlns:a="http://schemas.openxmlformats.org/drawingml/2006/main" flipH="1">
            <a:off x="9067800" y="3819525"/>
            <a:ext cx="504825" cy="0"/>
          </a:xfrm>
          <a:prstGeom xmlns:a="http://schemas.openxmlformats.org/drawingml/2006/main" prst="straightConnector1">
            <a:avLst/>
          </a:prstGeom>
          <a:ln xmlns:a="http://schemas.openxmlformats.org/drawingml/2006/main" w="19050" cap="rnd">
            <a:solidFill>
              <a:srgbClr val="FFB84D"/>
            </a:solidFill>
            <a:prstDash val="solid"/>
            <a:headEnd type="triangle" w="sm" len="sm"/>
          </a:ln>
        </p:spPr>
      </p:cxnSp>
      <p:sp>
        <p:nvSpPr>
          <p:cNvPr id="36" name="Rectangle: Rounded Corners 35">
            <a:extLst xmlns:a="http://schemas.openxmlformats.org/drawingml/2006/main">
              <a:ext uri="{FF2B5EF4-FFF2-40B4-BE49-F238E27FC236}">
                <a16:creationId xmlns:a16="http://schemas.microsoft.com/office/drawing/2014/main" id="{B021120F-D507-4828-B186-F403DFE868E5}"/>
              </a:ext>
            </a:extLst>
          </p:cNvPr>
          <p:cNvSpPr>
            <a:spLocks xmlns:a="http://schemas.openxmlformats.org/drawingml/2006/main" noGrp="1"/>
          </p:cNvSpPr>
          <p:nvPr/>
        </p:nvSpPr>
        <p:spPr>
          <a:xfrm xmlns:a="http://schemas.openxmlformats.org/drawingml/2006/main">
            <a:off x="9667875" y="3524250"/>
            <a:ext cx="1714500" cy="590550"/>
          </a:xfrm>
          <a:prstGeom xmlns:a="http://schemas.openxmlformats.org/drawingml/2006/main" prst="roundRect">
            <a:avLst>
              <a:gd name="adj" fmla="val 19355"/>
            </a:avLst>
          </a:prstGeom>
          <a:solidFill xmlns:a="http://schemas.openxmlformats.org/drawingml/2006/main">
            <a:srgbClr val="2A1720"/>
          </a:solidFill>
          <a:ln xmlns:a="http://schemas.openxmlformats.org/drawingml/2006/main" w="19050">
            <a:solidFill>
              <a:srgbClr val="FF6577"/>
            </a:solidFill>
            <a:prstDash val="solid"/>
          </a:ln>
        </p:spPr>
      </p:sp>
      <p:sp>
        <p:nvSpPr>
          <p:cNvPr id="37" name="Rectangle 36">
            <a:extLst xmlns:a="http://schemas.openxmlformats.org/drawingml/2006/main">
              <a:ext uri="{FF2B5EF4-FFF2-40B4-BE49-F238E27FC236}">
                <a16:creationId xmlns:a16="http://schemas.microsoft.com/office/drawing/2014/main" id="{19F369EA-78AF-4FF9-848E-AFC91FA018B7}"/>
              </a:ext>
            </a:extLst>
          </p:cNvPr>
          <p:cNvSpPr>
            <a:spLocks xmlns:a="http://schemas.openxmlformats.org/drawingml/2006/main" noGrp="1"/>
          </p:cNvSpPr>
          <p:nvPr/>
        </p:nvSpPr>
        <p:spPr>
          <a:xfrm xmlns:a="http://schemas.openxmlformats.org/drawingml/2006/main">
            <a:off x="9782175" y="36195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round to 0</a:t>
            </a:r>
          </a:p>
        </p:txBody>
      </p:sp>
      <p:sp>
        <p:nvSpPr>
          <p:cNvPr id="38" name="Rectangle 37">
            <a:extLst xmlns:a="http://schemas.openxmlformats.org/drawingml/2006/main">
              <a:ext uri="{FF2B5EF4-FFF2-40B4-BE49-F238E27FC236}">
                <a16:creationId xmlns:a16="http://schemas.microsoft.com/office/drawing/2014/main" id="{8C665066-F4C6-4CE2-A4FD-8CED5DE9DCA2}"/>
              </a:ext>
            </a:extLst>
          </p:cNvPr>
          <p:cNvSpPr>
            <a:spLocks xmlns:a="http://schemas.openxmlformats.org/drawingml/2006/main" noGrp="1"/>
          </p:cNvSpPr>
          <p:nvPr/>
        </p:nvSpPr>
        <p:spPr>
          <a:xfrm xmlns:a="http://schemas.openxmlformats.org/drawingml/2006/main">
            <a:off x="619125" y="461962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556"/>
          </a:bodyPr>
          <a:lstStyle xmlns:a="http://schemas.openxmlformats.org/drawingml/2006/main"/>
          <a:p xmlns:a="http://schemas.openxmlformats.org/drawingml/2006/main">
            <a:pPr>
              <a:buNone/>
              <a:defRPr sz="1125" b="1">
                <a:solidFill>
                  <a:srgbClr val="2E9BFF"/>
                </a:solidFill>
                <a:latin typeface="Arial"/>
                <a:ea typeface="Arial"/>
                <a:cs typeface="Arial"/>
              </a:defRPr>
            </a:pPr>
            <a:r>
              <a:rPr sz="1125" b="1">
                <a:solidFill>
                  <a:srgbClr val="2E9BFF"/>
                </a:solidFill>
                <a:latin typeface="Arial"/>
                <a:ea typeface="Arial"/>
                <a:cs typeface="Arial"/>
              </a:rPr>
              <a:t>BEFORE</a:t>
            </a:r>
          </a:p>
        </p:txBody>
      </p:sp>
      <p:sp>
        <p:nvSpPr>
          <p:cNvPr id="39" name="Rectangle 38">
            <a:extLst xmlns:a="http://schemas.openxmlformats.org/drawingml/2006/main">
              <a:ext uri="{FF2B5EF4-FFF2-40B4-BE49-F238E27FC236}">
                <a16:creationId xmlns:a16="http://schemas.microsoft.com/office/drawing/2014/main" id="{57F3F496-054B-4132-B245-2D798F71BDDC}"/>
              </a:ext>
            </a:extLst>
          </p:cNvPr>
          <p:cNvSpPr>
            <a:spLocks xmlns:a="http://schemas.openxmlformats.org/drawingml/2006/main" noGrp="1"/>
          </p:cNvSpPr>
          <p:nvPr/>
        </p:nvSpPr>
        <p:spPr>
          <a:xfrm xmlns:a="http://schemas.openxmlformats.org/drawingml/2006/main">
            <a:off x="1619250" y="457200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-14.85   -0.98   -0.92   -0.83   -0.71   -0.56   -0.38   -0.20</a:t>
            </a:r>
          </a:p>
        </p:txBody>
      </p:sp>
      <p:sp>
        <p:nvSpPr>
          <p:cNvPr id="40" name="Rectangle 39">
            <a:extLst xmlns:a="http://schemas.openxmlformats.org/drawingml/2006/main">
              <a:ext uri="{FF2B5EF4-FFF2-40B4-BE49-F238E27FC236}">
                <a16:creationId xmlns:a16="http://schemas.microsoft.com/office/drawing/2014/main" id="{4CA710F2-493D-4738-8F5B-080544955301}"/>
              </a:ext>
            </a:extLst>
          </p:cNvPr>
          <p:cNvSpPr>
            <a:spLocks xmlns:a="http://schemas.openxmlformats.org/drawingml/2006/main" noGrp="1"/>
          </p:cNvSpPr>
          <p:nvPr/>
        </p:nvSpPr>
        <p:spPr>
          <a:xfrm xmlns:a="http://schemas.openxmlformats.org/drawingml/2006/main">
            <a:off x="619125" y="509587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556"/>
          </a:bodyPr>
          <a:lstStyle xmlns:a="http://schemas.openxmlformats.org/drawingml/2006/main"/>
          <a:p xmlns:a="http://schemas.openxmlformats.org/drawingml/2006/main">
            <a:pPr>
              <a:buNone/>
              <a:defRPr sz="1125" b="1">
                <a:solidFill>
                  <a:srgbClr val="47E6A4"/>
                </a:solidFill>
                <a:latin typeface="Arial"/>
                <a:ea typeface="Arial"/>
                <a:cs typeface="Arial"/>
              </a:defRPr>
            </a:pPr>
            <a:r>
              <a:rPr sz="1125" b="1">
                <a:solidFill>
                  <a:srgbClr val="47E6A4"/>
                </a:solidFill>
                <a:latin typeface="Arial"/>
                <a:ea typeface="Arial"/>
                <a:cs typeface="Arial"/>
              </a:rPr>
              <a:t>AFTER</a:t>
            </a:r>
          </a:p>
        </p:txBody>
      </p:sp>
      <p:sp>
        <p:nvSpPr>
          <p:cNvPr id="41" name="Rectangle 40">
            <a:extLst xmlns:a="http://schemas.openxmlformats.org/drawingml/2006/main">
              <a:ext uri="{FF2B5EF4-FFF2-40B4-BE49-F238E27FC236}">
                <a16:creationId xmlns:a16="http://schemas.microsoft.com/office/drawing/2014/main" id="{13A6667C-4192-497F-A6DB-15204FBEAFCA}"/>
              </a:ext>
            </a:extLst>
          </p:cNvPr>
          <p:cNvSpPr>
            <a:spLocks xmlns:a="http://schemas.openxmlformats.org/drawingml/2006/main" noGrp="1"/>
          </p:cNvSpPr>
          <p:nvPr/>
        </p:nvSpPr>
        <p:spPr>
          <a:xfrm xmlns:a="http://schemas.openxmlformats.org/drawingml/2006/main">
            <a:off x="1619250" y="504825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-7      0      0      0      0      0      0      0</a:t>
            </a:r>
          </a:p>
        </p:txBody>
      </p:sp>
      <p:sp>
        <p:nvSpPr>
          <p:cNvPr id="42" name="Rectangle: Rounded Corners 41">
            <a:extLst xmlns:a="http://schemas.openxmlformats.org/drawingml/2006/main">
              <a:ext uri="{FF2B5EF4-FFF2-40B4-BE49-F238E27FC236}">
                <a16:creationId xmlns:a16="http://schemas.microsoft.com/office/drawing/2014/main" id="{BB2B6B1E-3405-44E2-94C3-1CF3359504CB}"/>
              </a:ext>
            </a:extLst>
          </p:cNvPr>
          <p:cNvSpPr>
            <a:spLocks xmlns:a="http://schemas.openxmlformats.org/drawingml/2006/main" noGrp="1"/>
          </p:cNvSpPr>
          <p:nvPr/>
        </p:nvSpPr>
        <p:spPr>
          <a:xfrm xmlns:a="http://schemas.openxmlformats.org/drawingml/2006/main">
            <a:off x="1381125" y="5695950"/>
            <a:ext cx="9429750" cy="590550"/>
          </a:xfrm>
          <a:prstGeom xmlns:a="http://schemas.openxmlformats.org/drawingml/2006/main" prst="roundRect">
            <a:avLst>
              <a:gd name="adj" fmla="val 19355"/>
            </a:avLst>
          </a:prstGeom>
          <a:solidFill xmlns:a="http://schemas.openxmlformats.org/drawingml/2006/main">
            <a:srgbClr val="132536"/>
          </a:solidFill>
          <a:ln xmlns:a="http://schemas.openxmlformats.org/drawingml/2006/main" w="19050">
            <a:solidFill>
              <a:srgbClr val="FFB84D"/>
            </a:solidFill>
            <a:prstDash val="solid"/>
          </a:ln>
        </p:spPr>
      </p:sp>
      <p:sp>
        <p:nvSpPr>
          <p:cNvPr id="43" name="Rectangle 42">
            <a:extLst xmlns:a="http://schemas.openxmlformats.org/drawingml/2006/main">
              <a:ext uri="{FF2B5EF4-FFF2-40B4-BE49-F238E27FC236}">
                <a16:creationId xmlns:a16="http://schemas.microsoft.com/office/drawing/2014/main" id="{251A4358-1B19-4BC8-BA51-0EA676B279B1}"/>
              </a:ext>
            </a:extLst>
          </p:cNvPr>
          <p:cNvSpPr>
            <a:spLocks xmlns:a="http://schemas.openxmlformats.org/drawingml/2006/main" noGrp="1"/>
          </p:cNvSpPr>
          <p:nvPr/>
        </p:nvSpPr>
        <p:spPr>
          <a:xfrm xmlns:a="http://schemas.openxmlformats.org/drawingml/2006/main">
            <a:off x="1495425" y="5791200"/>
            <a:ext cx="920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This creates Open Question 4: how does the encoder choose the Quantization Parameter (QP) for a frame or region?</a:t>
            </a:r>
          </a:p>
        </p:txBody>
      </p:sp>
    </p:spTree>
    <p:extLst>
      <p:ext uri="{BB962C8B-B14F-4D97-AF65-F5344CB8AC3E}">
        <p14:creationId xmlns:p14="http://schemas.microsoft.com/office/powerpoint/2010/main" val="276316855"/>
      </p:ext>
    </p:extLst>
  </p:cSld>
</p:sld>
</file>

<file path=ppt/slides/slide11.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2" name="Oval 41">
            <a:extLst xmlns:a="http://schemas.openxmlformats.org/drawingml/2006/main">
              <a:ext uri="{FF2B5EF4-FFF2-40B4-BE49-F238E27FC236}">
                <a16:creationId xmlns:a16="http://schemas.microsoft.com/office/drawing/2014/main" id="{20EB87B6-4F6F-43FD-B50E-6DADE6397295}"/>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2CA2B691-2261-4A49-9960-D7C45BCFDA9C}"/>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F080010C-7426-4EC5-A46A-4B20367D7070}"/>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Step 5: the sparse coefficients follow two connected paths</a:t>
            </a:r>
          </a:p>
        </p:txBody>
      </p:sp>
      <p:sp>
        <p:nvSpPr>
          <p:cNvPr id="4" name="Straight Connector 3">
            <a:extLst xmlns:a="http://schemas.openxmlformats.org/drawingml/2006/main">
              <a:ext uri="{FF2B5EF4-FFF2-40B4-BE49-F238E27FC236}">
                <a16:creationId xmlns:a16="http://schemas.microsoft.com/office/drawing/2014/main" id="{9555689D-6CFE-423D-A64D-21F46AD79985}"/>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8A70700E-D5F4-4A0A-B53F-70A8A09E6C23}"/>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One path writes bits. The other reconstructs the residual that the decoder will use.</a:t>
            </a:r>
          </a:p>
        </p:txBody>
      </p:sp>
      <p:sp>
        <p:nvSpPr>
          <p:cNvPr id="6" name="Rectangle 5">
            <a:extLst xmlns:a="http://schemas.openxmlformats.org/drawingml/2006/main">
              <a:ext uri="{FF2B5EF4-FFF2-40B4-BE49-F238E27FC236}">
                <a16:creationId xmlns:a16="http://schemas.microsoft.com/office/drawing/2014/main" id="{CABDFE6D-2C2D-4CE3-92E1-7E38F5AC6276}"/>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BB918740-E8C3-4661-9633-9534F5C38FB3}"/>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11 / 49</a:t>
            </a:r>
          </a:p>
        </p:txBody>
      </p:sp>
      <p:sp>
        <p:nvSpPr>
          <p:cNvPr id="8" name="Rectangle 7">
            <a:extLst xmlns:a="http://schemas.openxmlformats.org/drawingml/2006/main">
              <a:ext uri="{FF2B5EF4-FFF2-40B4-BE49-F238E27FC236}">
                <a16:creationId xmlns:a16="http://schemas.microsoft.com/office/drawing/2014/main" id="{B17729EC-6128-45C8-874F-DB3D58A824AA}"/>
              </a:ext>
            </a:extLst>
          </p:cNvPr>
          <p:cNvSpPr>
            <a:spLocks xmlns:a="http://schemas.openxmlformats.org/drawingml/2006/main" noGrp="1"/>
          </p:cNvSpPr>
          <p:nvPr/>
        </p:nvSpPr>
        <p:spPr>
          <a:xfrm xmlns:a="http://schemas.openxmlformats.org/drawingml/2006/main">
            <a:off x="523875" y="1381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QUANTIZED COEFFICIENTS</a:t>
            </a:r>
          </a:p>
        </p:txBody>
      </p:sp>
      <p:sp>
        <p:nvSpPr>
          <p:cNvPr id="9" name="Rectangle: Rounded Corners 8">
            <a:extLst xmlns:a="http://schemas.openxmlformats.org/drawingml/2006/main">
              <a:ext uri="{FF2B5EF4-FFF2-40B4-BE49-F238E27FC236}">
                <a16:creationId xmlns:a16="http://schemas.microsoft.com/office/drawing/2014/main" id="{947581ED-2564-4C3E-8F97-E1E42A653FB4}"/>
              </a:ext>
            </a:extLst>
          </p:cNvPr>
          <p:cNvSpPr>
            <a:spLocks xmlns:a="http://schemas.openxmlformats.org/drawingml/2006/main" noGrp="1"/>
          </p:cNvSpPr>
          <p:nvPr/>
        </p:nvSpPr>
        <p:spPr>
          <a:xfrm xmlns:a="http://schemas.openxmlformats.org/drawingml/2006/main">
            <a:off x="523875" y="1762125"/>
            <a:ext cx="2667000"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47E6A4"/>
            </a:solidFill>
            <a:prstDash val="solid"/>
          </a:ln>
        </p:spPr>
      </p:sp>
      <p:sp>
        <p:nvSpPr>
          <p:cNvPr id="10" name="Rectangle 9">
            <a:extLst xmlns:a="http://schemas.openxmlformats.org/drawingml/2006/main">
              <a:ext uri="{FF2B5EF4-FFF2-40B4-BE49-F238E27FC236}">
                <a16:creationId xmlns:a16="http://schemas.microsoft.com/office/drawing/2014/main" id="{247686EF-2B22-457E-B6E8-A4F878060EE1}"/>
              </a:ext>
            </a:extLst>
          </p:cNvPr>
          <p:cNvSpPr>
            <a:spLocks xmlns:a="http://schemas.openxmlformats.org/drawingml/2006/main" noGrp="1"/>
          </p:cNvSpPr>
          <p:nvPr/>
        </p:nvSpPr>
        <p:spPr>
          <a:xfrm xmlns:a="http://schemas.openxmlformats.org/drawingml/2006/main">
            <a:off x="638175" y="1857375"/>
            <a:ext cx="243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−7   0   0   0</a:t>
            </a:r>
          </a:p>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0   0   0   0</a:t>
            </a:r>
          </a:p>
        </p:txBody>
      </p:sp>
      <p:sp>
        <p:nvSpPr>
          <p:cNvPr id="11" name="Rectangle 10">
            <a:extLst xmlns:a="http://schemas.openxmlformats.org/drawingml/2006/main">
              <a:ext uri="{FF2B5EF4-FFF2-40B4-BE49-F238E27FC236}">
                <a16:creationId xmlns:a16="http://schemas.microsoft.com/office/drawing/2014/main" id="{74E9401D-74F1-4876-A50E-E5E550D75926}"/>
              </a:ext>
            </a:extLst>
          </p:cNvPr>
          <p:cNvSpPr>
            <a:spLocks xmlns:a="http://schemas.openxmlformats.org/drawingml/2006/main" noGrp="1"/>
          </p:cNvSpPr>
          <p:nvPr/>
        </p:nvSpPr>
        <p:spPr>
          <a:xfrm xmlns:a="http://schemas.openxmlformats.org/drawingml/2006/main">
            <a:off x="3952875" y="12858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FF6577"/>
                </a:solidFill>
                <a:latin typeface="Arial"/>
                <a:ea typeface="Arial"/>
                <a:cs typeface="Arial"/>
              </a:defRPr>
            </a:pPr>
            <a:r>
              <a:rPr sz="1200" b="1">
                <a:solidFill>
                  <a:srgbClr val="FF6577"/>
                </a:solidFill>
                <a:latin typeface="Arial"/>
                <a:ea typeface="Arial"/>
                <a:cs typeface="Arial"/>
              </a:rPr>
              <a:t>BITSTREAM PATH</a:t>
            </a:r>
          </a:p>
        </p:txBody>
      </p:sp>
      <p:sp>
        <p:nvSpPr>
          <p:cNvPr id="12" name="Rectangle 11">
            <a:extLst xmlns:a="http://schemas.openxmlformats.org/drawingml/2006/main">
              <a:ext uri="{FF2B5EF4-FFF2-40B4-BE49-F238E27FC236}">
                <a16:creationId xmlns:a16="http://schemas.microsoft.com/office/drawing/2014/main" id="{D5478FA9-ED11-44F8-94E4-E424A8703625}"/>
              </a:ext>
            </a:extLst>
          </p:cNvPr>
          <p:cNvSpPr>
            <a:spLocks xmlns:a="http://schemas.openxmlformats.org/drawingml/2006/main" noGrp="1"/>
          </p:cNvSpPr>
          <p:nvPr/>
        </p:nvSpPr>
        <p:spPr>
          <a:xfrm xmlns:a="http://schemas.openxmlformats.org/drawingml/2006/main">
            <a:off x="40481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03EAA735-D38D-4941-8F07-5E76ABBD1197}"/>
              </a:ext>
            </a:extLst>
          </p:cNvPr>
          <p:cNvSpPr>
            <a:spLocks xmlns:a="http://schemas.openxmlformats.org/drawingml/2006/main" noGrp="1"/>
          </p:cNvSpPr>
          <p:nvPr/>
        </p:nvSpPr>
        <p:spPr>
          <a:xfrm xmlns:a="http://schemas.openxmlformats.org/drawingml/2006/main">
            <a:off x="3238500"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5" name="Straight Arrow Connector 54"/>
          <p:cNvCxnSpPr>
            <a:stCxn xmlns:a="http://schemas.openxmlformats.org/drawingml/2006/main" id="12" idx="1"/>
            <a:endCxn xmlns:a="http://schemas.openxmlformats.org/drawingml/2006/main" id="13" idx="3"/>
          </p:cNvCxnSpPr>
          <p:nvPr/>
        </p:nvCxnSpPr>
        <p:spPr>
          <a:xfrm xmlns:a="http://schemas.openxmlformats.org/drawingml/2006/main" flipH="1">
            <a:off x="3257550" y="1914525"/>
            <a:ext cx="790575" cy="0"/>
          </a:xfrm>
          <a:prstGeom xmlns:a="http://schemas.openxmlformats.org/drawingml/2006/main" prst="straightConnector1">
            <a:avLst/>
          </a:prstGeom>
          <a:ln xmlns:a="http://schemas.openxmlformats.org/drawingml/2006/main" w="19050" cap="rnd">
            <a:solidFill>
              <a:srgbClr val="FF6577"/>
            </a:solidFill>
            <a:prstDash val="solid"/>
            <a:headEnd type="triangle" w="sm" len="sm"/>
          </a:ln>
        </p:spPr>
      </p:cxnSp>
      <p:sp>
        <p:nvSpPr>
          <p:cNvPr id="15" name="Rectangle: Rounded Corners 14">
            <a:extLst xmlns:a="http://schemas.openxmlformats.org/drawingml/2006/main">
              <a:ext uri="{FF2B5EF4-FFF2-40B4-BE49-F238E27FC236}">
                <a16:creationId xmlns:a16="http://schemas.microsoft.com/office/drawing/2014/main" id="{11022BD1-3115-4FC9-A81E-7DE04E75269F}"/>
              </a:ext>
            </a:extLst>
          </p:cNvPr>
          <p:cNvSpPr>
            <a:spLocks xmlns:a="http://schemas.openxmlformats.org/drawingml/2006/main" noGrp="1"/>
          </p:cNvSpPr>
          <p:nvPr/>
        </p:nvSpPr>
        <p:spPr>
          <a:xfrm xmlns:a="http://schemas.openxmlformats.org/drawingml/2006/main">
            <a:off x="4048125" y="1666875"/>
            <a:ext cx="2952750" cy="971550"/>
          </a:xfrm>
          <a:prstGeom xmlns:a="http://schemas.openxmlformats.org/drawingml/2006/main" prst="roundRect">
            <a:avLst>
              <a:gd name="adj" fmla="val 11765"/>
            </a:avLst>
          </a:prstGeom>
          <a:solidFill xmlns:a="http://schemas.openxmlformats.org/drawingml/2006/main">
            <a:srgbClr val="2A1720"/>
          </a:solidFill>
          <a:ln xmlns:a="http://schemas.openxmlformats.org/drawingml/2006/main" w="19050">
            <a:solidFill>
              <a:srgbClr val="FF6577"/>
            </a:solidFill>
            <a:prstDash val="solid"/>
          </a:ln>
        </p:spPr>
      </p:sp>
      <p:sp>
        <p:nvSpPr>
          <p:cNvPr id="16" name="Rectangle 15">
            <a:extLst xmlns:a="http://schemas.openxmlformats.org/drawingml/2006/main">
              <a:ext uri="{FF2B5EF4-FFF2-40B4-BE49-F238E27FC236}">
                <a16:creationId xmlns:a16="http://schemas.microsoft.com/office/drawing/2014/main" id="{A6D71F5F-801C-49AB-9809-EE5125194225}"/>
              </a:ext>
            </a:extLst>
          </p:cNvPr>
          <p:cNvSpPr>
            <a:spLocks xmlns:a="http://schemas.openxmlformats.org/drawingml/2006/main" noGrp="1"/>
          </p:cNvSpPr>
          <p:nvPr/>
        </p:nvSpPr>
        <p:spPr>
          <a:xfrm xmlns:a="http://schemas.openxmlformats.org/drawingml/2006/main">
            <a:off x="4162425" y="1762125"/>
            <a:ext cx="2724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Context-Adaptive Binary Arithmetic Coding (CABAC)</a:t>
            </a:r>
          </a:p>
          <a:p xmlns:a="http://schemas.openxmlformats.org/drawingml/2006/main">
            <a:pPr>
              <a:buNone/>
              <a:defRPr sz="1125" b="1">
                <a:solidFill>
                  <a:srgbClr val="F4F8FC"/>
                </a:solidFill>
                <a:latin typeface="Arial"/>
                <a:ea typeface="Arial"/>
                <a:cs typeface="Arial"/>
              </a:defRPr>
            </a:pPr>
            <a:r>
              <a:rPr sz="1125" b="1">
                <a:solidFill>
                  <a:srgbClr val="F4F8FC"/>
                </a:solidFill>
                <a:latin typeface="Arial"/>
                <a:ea typeface="Arial"/>
                <a:cs typeface="Arial"/>
              </a:rPr>
              <a:t>Next: a fuller five-coefficient example, explained bin by bin</a:t>
            </a:r>
          </a:p>
        </p:txBody>
      </p:sp>
      <p:sp>
        <p:nvSpPr>
          <p:cNvPr id="17" name="Rectangle 16">
            <a:extLst xmlns:a="http://schemas.openxmlformats.org/drawingml/2006/main">
              <a:ext uri="{FF2B5EF4-FFF2-40B4-BE49-F238E27FC236}">
                <a16:creationId xmlns:a16="http://schemas.microsoft.com/office/drawing/2014/main" id="{61DBB2E6-CC3A-4B44-A332-AADAFF66A56B}"/>
              </a:ext>
            </a:extLst>
          </p:cNvPr>
          <p:cNvSpPr>
            <a:spLocks xmlns:a="http://schemas.openxmlformats.org/drawingml/2006/main" noGrp="1"/>
          </p:cNvSpPr>
          <p:nvPr/>
        </p:nvSpPr>
        <p:spPr>
          <a:xfrm xmlns:a="http://schemas.openxmlformats.org/drawingml/2006/main">
            <a:off x="3762375" y="2952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2E9BFF"/>
                </a:solidFill>
                <a:latin typeface="Arial"/>
                <a:ea typeface="Arial"/>
                <a:cs typeface="Arial"/>
              </a:defRPr>
            </a:pPr>
            <a:r>
              <a:rPr sz="1200" b="1">
                <a:solidFill>
                  <a:srgbClr val="2E9BFF"/>
                </a:solidFill>
                <a:latin typeface="Arial"/>
                <a:ea typeface="Arial"/>
                <a:cs typeface="Arial"/>
              </a:rPr>
              <a:t>RECONSTRUCTION PATH</a:t>
            </a:r>
          </a:p>
        </p:txBody>
      </p:sp>
      <p:sp>
        <p:nvSpPr>
          <p:cNvPr id="18" name="Rectangle 17">
            <a:extLst xmlns:a="http://schemas.openxmlformats.org/drawingml/2006/main">
              <a:ext uri="{FF2B5EF4-FFF2-40B4-BE49-F238E27FC236}">
                <a16:creationId xmlns:a16="http://schemas.microsoft.com/office/drawing/2014/main" id="{84E8A967-944C-44ED-9022-9739960CB35B}"/>
              </a:ext>
            </a:extLst>
          </p:cNvPr>
          <p:cNvSpPr>
            <a:spLocks xmlns:a="http://schemas.openxmlformats.org/drawingml/2006/main" noGrp="1"/>
          </p:cNvSpPr>
          <p:nvPr/>
        </p:nvSpPr>
        <p:spPr>
          <a:xfrm xmlns:a="http://schemas.openxmlformats.org/drawingml/2006/main">
            <a:off x="1857375" y="30956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87194C92-5B4A-48D8-A959-14A1AFB5D620}"/>
              </a:ext>
            </a:extLst>
          </p:cNvPr>
          <p:cNvSpPr>
            <a:spLocks xmlns:a="http://schemas.openxmlformats.org/drawingml/2006/main" noGrp="1"/>
          </p:cNvSpPr>
          <p:nvPr/>
        </p:nvSpPr>
        <p:spPr>
          <a:xfrm xmlns:a="http://schemas.openxmlformats.org/drawingml/2006/main">
            <a:off x="1857375" y="2571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1" name="Straight Arrow Connector 60"/>
          <p:cNvCxnSpPr>
            <a:stCxn xmlns:a="http://schemas.openxmlformats.org/drawingml/2006/main" id="18" idx="0"/>
            <a:endCxn xmlns:a="http://schemas.openxmlformats.org/drawingml/2006/main" id="19" idx="2"/>
          </p:cNvCxnSpPr>
          <p:nvPr/>
        </p:nvCxnSpPr>
        <p:spPr>
          <a:xfrm xmlns:a="http://schemas.openxmlformats.org/drawingml/2006/main" flipV="1">
            <a:off x="1866900" y="2590800"/>
            <a:ext cx="0" cy="504825"/>
          </a:xfrm>
          <a:prstGeom xmlns:a="http://schemas.openxmlformats.org/drawingml/2006/main" prst="straightConnector1">
            <a:avLst/>
          </a:prstGeom>
          <a:ln xmlns:a="http://schemas.openxmlformats.org/drawingml/2006/main" w="19050" cap="rnd">
            <a:solidFill>
              <a:srgbClr val="FFB84D"/>
            </a:solidFill>
            <a:prstDash val="solid"/>
            <a:headEnd type="triangle" w="sm" len="sm"/>
          </a:ln>
        </p:spPr>
      </p:cxnSp>
      <p:sp>
        <p:nvSpPr>
          <p:cNvPr id="21" name="Rectangle: Rounded Corners 20">
            <a:extLst xmlns:a="http://schemas.openxmlformats.org/drawingml/2006/main">
              <a:ext uri="{FF2B5EF4-FFF2-40B4-BE49-F238E27FC236}">
                <a16:creationId xmlns:a16="http://schemas.microsoft.com/office/drawing/2014/main" id="{1324E364-D4E4-464F-8037-75B37BDE9CB2}"/>
              </a:ext>
            </a:extLst>
          </p:cNvPr>
          <p:cNvSpPr>
            <a:spLocks xmlns:a="http://schemas.openxmlformats.org/drawingml/2006/main" noGrp="1"/>
          </p:cNvSpPr>
          <p:nvPr/>
        </p:nvSpPr>
        <p:spPr>
          <a:xfrm xmlns:a="http://schemas.openxmlformats.org/drawingml/2006/main">
            <a:off x="523875" y="3286125"/>
            <a:ext cx="2667000"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FFB84D"/>
            </a:solidFill>
            <a:prstDash val="solid"/>
          </a:ln>
        </p:spPr>
      </p:sp>
      <p:sp>
        <p:nvSpPr>
          <p:cNvPr id="22" name="Rectangle 21">
            <a:extLst xmlns:a="http://schemas.openxmlformats.org/drawingml/2006/main">
              <a:ext uri="{FF2B5EF4-FFF2-40B4-BE49-F238E27FC236}">
                <a16:creationId xmlns:a16="http://schemas.microsoft.com/office/drawing/2014/main" id="{4636AD71-921C-43AB-B5FF-6801C7B522CB}"/>
              </a:ext>
            </a:extLst>
          </p:cNvPr>
          <p:cNvSpPr>
            <a:spLocks xmlns:a="http://schemas.openxmlformats.org/drawingml/2006/main" noGrp="1"/>
          </p:cNvSpPr>
          <p:nvPr/>
        </p:nvSpPr>
        <p:spPr>
          <a:xfrm xmlns:a="http://schemas.openxmlformats.org/drawingml/2006/main">
            <a:off x="638175" y="3381375"/>
            <a:ext cx="243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DEQUANTIZE</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−7 × Δ(2) = −14</a:t>
            </a:r>
          </a:p>
        </p:txBody>
      </p:sp>
      <p:sp>
        <p:nvSpPr>
          <p:cNvPr id="23" name="Rectangle 22">
            <a:extLst xmlns:a="http://schemas.openxmlformats.org/drawingml/2006/main">
              <a:ext uri="{FF2B5EF4-FFF2-40B4-BE49-F238E27FC236}">
                <a16:creationId xmlns:a16="http://schemas.microsoft.com/office/drawing/2014/main" id="{CB53A6F3-5B4F-451C-B648-9B70F3C9278B}"/>
              </a:ext>
            </a:extLst>
          </p:cNvPr>
          <p:cNvSpPr>
            <a:spLocks xmlns:a="http://schemas.openxmlformats.org/drawingml/2006/main" noGrp="1"/>
          </p:cNvSpPr>
          <p:nvPr/>
        </p:nvSpPr>
        <p:spPr>
          <a:xfrm xmlns:a="http://schemas.openxmlformats.org/drawingml/2006/main">
            <a:off x="3905250" y="3619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2CB937D4-70EE-4951-8982-1EB68248CC65}"/>
              </a:ext>
            </a:extLst>
          </p:cNvPr>
          <p:cNvSpPr>
            <a:spLocks xmlns:a="http://schemas.openxmlformats.org/drawingml/2006/main" noGrp="1"/>
          </p:cNvSpPr>
          <p:nvPr/>
        </p:nvSpPr>
        <p:spPr>
          <a:xfrm xmlns:a="http://schemas.openxmlformats.org/drawingml/2006/main">
            <a:off x="3286125" y="3619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6" name="Straight Arrow Connector 65"/>
          <p:cNvCxnSpPr>
            <a:stCxn xmlns:a="http://schemas.openxmlformats.org/drawingml/2006/main" id="23" idx="1"/>
            <a:endCxn xmlns:a="http://schemas.openxmlformats.org/drawingml/2006/main" id="24" idx="3"/>
          </p:cNvCxnSpPr>
          <p:nvPr/>
        </p:nvCxnSpPr>
        <p:spPr>
          <a:xfrm xmlns:a="http://schemas.openxmlformats.org/drawingml/2006/main" flipH="1">
            <a:off x="3305175" y="3629025"/>
            <a:ext cx="600075" cy="0"/>
          </a:xfrm>
          <a:prstGeom xmlns:a="http://schemas.openxmlformats.org/drawingml/2006/main" prst="straightConnector1">
            <a:avLst/>
          </a:prstGeom>
          <a:ln xmlns:a="http://schemas.openxmlformats.org/drawingml/2006/main" w="19050" cap="rnd">
            <a:solidFill>
              <a:srgbClr val="2E9BFF"/>
            </a:solidFill>
            <a:prstDash val="solid"/>
            <a:headEnd type="triangle" w="sm" len="sm"/>
          </a:ln>
        </p:spPr>
      </p:cxnSp>
      <p:sp>
        <p:nvSpPr>
          <p:cNvPr id="26" name="Rectangle: Rounded Corners 25">
            <a:extLst xmlns:a="http://schemas.openxmlformats.org/drawingml/2006/main">
              <a:ext uri="{FF2B5EF4-FFF2-40B4-BE49-F238E27FC236}">
                <a16:creationId xmlns:a16="http://schemas.microsoft.com/office/drawing/2014/main" id="{B968DF3B-AE48-462A-A435-6084796595D5}"/>
              </a:ext>
            </a:extLst>
          </p:cNvPr>
          <p:cNvSpPr>
            <a:spLocks xmlns:a="http://schemas.openxmlformats.org/drawingml/2006/main" noGrp="1"/>
          </p:cNvSpPr>
          <p:nvPr/>
        </p:nvSpPr>
        <p:spPr>
          <a:xfrm xmlns:a="http://schemas.openxmlformats.org/drawingml/2006/main">
            <a:off x="4000500" y="3286125"/>
            <a:ext cx="2952750"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2E9BFF"/>
            </a:solidFill>
            <a:prstDash val="solid"/>
          </a:ln>
        </p:spPr>
      </p:sp>
      <p:sp>
        <p:nvSpPr>
          <p:cNvPr id="27" name="Rectangle 26">
            <a:extLst xmlns:a="http://schemas.openxmlformats.org/drawingml/2006/main">
              <a:ext uri="{FF2B5EF4-FFF2-40B4-BE49-F238E27FC236}">
                <a16:creationId xmlns:a16="http://schemas.microsoft.com/office/drawing/2014/main" id="{D1A22878-B7E1-4C32-9ACC-774235790CAE}"/>
              </a:ext>
            </a:extLst>
          </p:cNvPr>
          <p:cNvSpPr>
            <a:spLocks xmlns:a="http://schemas.openxmlformats.org/drawingml/2006/main" noGrp="1"/>
          </p:cNvSpPr>
          <p:nvPr/>
        </p:nvSpPr>
        <p:spPr>
          <a:xfrm xmlns:a="http://schemas.openxmlformats.org/drawingml/2006/main">
            <a:off x="4114800" y="3381375"/>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621"/>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INVERSE DISCRETE COSINE TRANSFORM</a:t>
            </a:r>
          </a:p>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(IDCT)</a:t>
            </a:r>
          </a:p>
        </p:txBody>
      </p:sp>
      <p:sp>
        <p:nvSpPr>
          <p:cNvPr id="28" name="Rectangle 27">
            <a:extLst xmlns:a="http://schemas.openxmlformats.org/drawingml/2006/main">
              <a:ext uri="{FF2B5EF4-FFF2-40B4-BE49-F238E27FC236}">
                <a16:creationId xmlns:a16="http://schemas.microsoft.com/office/drawing/2014/main" id="{CEEA7251-9784-4853-B786-1F9C1E907FC9}"/>
              </a:ext>
            </a:extLst>
          </p:cNvPr>
          <p:cNvSpPr>
            <a:spLocks xmlns:a="http://schemas.openxmlformats.org/drawingml/2006/main" noGrp="1"/>
          </p:cNvSpPr>
          <p:nvPr/>
        </p:nvSpPr>
        <p:spPr>
          <a:xfrm xmlns:a="http://schemas.openxmlformats.org/drawingml/2006/main">
            <a:off x="7667625" y="3619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9" name="Rectangle 28">
            <a:extLst xmlns:a="http://schemas.openxmlformats.org/drawingml/2006/main">
              <a:ext uri="{FF2B5EF4-FFF2-40B4-BE49-F238E27FC236}">
                <a16:creationId xmlns:a16="http://schemas.microsoft.com/office/drawing/2014/main" id="{8BCAFD96-A888-46A8-B112-7151CC0EA900}"/>
              </a:ext>
            </a:extLst>
          </p:cNvPr>
          <p:cNvSpPr>
            <a:spLocks xmlns:a="http://schemas.openxmlformats.org/drawingml/2006/main" noGrp="1"/>
          </p:cNvSpPr>
          <p:nvPr/>
        </p:nvSpPr>
        <p:spPr>
          <a:xfrm xmlns:a="http://schemas.openxmlformats.org/drawingml/2006/main">
            <a:off x="7048500" y="3619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1" name="Straight Arrow Connector 70"/>
          <p:cNvCxnSpPr>
            <a:stCxn xmlns:a="http://schemas.openxmlformats.org/drawingml/2006/main" id="28" idx="1"/>
            <a:endCxn xmlns:a="http://schemas.openxmlformats.org/drawingml/2006/main" id="29" idx="3"/>
          </p:cNvCxnSpPr>
          <p:nvPr/>
        </p:nvCxnSpPr>
        <p:spPr>
          <a:xfrm xmlns:a="http://schemas.openxmlformats.org/drawingml/2006/main" flipH="1">
            <a:off x="7067550" y="3629025"/>
            <a:ext cx="600075" cy="0"/>
          </a:xfrm>
          <a:prstGeom xmlns:a="http://schemas.openxmlformats.org/drawingml/2006/main" prst="straightConnector1">
            <a:avLst/>
          </a:prstGeom>
          <a:ln xmlns:a="http://schemas.openxmlformats.org/drawingml/2006/main" w="19050" cap="rnd">
            <a:solidFill>
              <a:srgbClr val="47E6A4"/>
            </a:solidFill>
            <a:prstDash val="solid"/>
            <a:headEnd type="triangle" w="sm" len="sm"/>
          </a:ln>
        </p:spPr>
      </p:cxnSp>
      <p:sp>
        <p:nvSpPr>
          <p:cNvPr id="31" name="Rectangle: Rounded Corners 30">
            <a:extLst xmlns:a="http://schemas.openxmlformats.org/drawingml/2006/main">
              <a:ext uri="{FF2B5EF4-FFF2-40B4-BE49-F238E27FC236}">
                <a16:creationId xmlns:a16="http://schemas.microsoft.com/office/drawing/2014/main" id="{5C8EABDB-9D71-454F-A0AA-EC27E6C47429}"/>
              </a:ext>
            </a:extLst>
          </p:cNvPr>
          <p:cNvSpPr>
            <a:spLocks xmlns:a="http://schemas.openxmlformats.org/drawingml/2006/main" noGrp="1"/>
          </p:cNvSpPr>
          <p:nvPr/>
        </p:nvSpPr>
        <p:spPr>
          <a:xfrm xmlns:a="http://schemas.openxmlformats.org/drawingml/2006/main">
            <a:off x="7762875" y="3143250"/>
            <a:ext cx="3619500" cy="1066800"/>
          </a:xfrm>
          <a:prstGeom xmlns:a="http://schemas.openxmlformats.org/drawingml/2006/main" prst="roundRect">
            <a:avLst>
              <a:gd name="adj" fmla="val 10714"/>
            </a:avLst>
          </a:prstGeom>
          <a:solidFill xmlns:a="http://schemas.openxmlformats.org/drawingml/2006/main">
            <a:srgbClr val="0A2830"/>
          </a:solidFill>
          <a:ln xmlns:a="http://schemas.openxmlformats.org/drawingml/2006/main" w="19050">
            <a:solidFill>
              <a:srgbClr val="47E6A4"/>
            </a:solidFill>
            <a:prstDash val="solid"/>
          </a:ln>
        </p:spPr>
      </p:sp>
      <p:sp>
        <p:nvSpPr>
          <p:cNvPr id="32" name="Rectangle 31">
            <a:extLst xmlns:a="http://schemas.openxmlformats.org/drawingml/2006/main">
              <a:ext uri="{FF2B5EF4-FFF2-40B4-BE49-F238E27FC236}">
                <a16:creationId xmlns:a16="http://schemas.microsoft.com/office/drawing/2014/main" id="{68474EA5-C02B-4B84-851F-52A8CD4449AA}"/>
              </a:ext>
            </a:extLst>
          </p:cNvPr>
          <p:cNvSpPr>
            <a:spLocks xmlns:a="http://schemas.openxmlformats.org/drawingml/2006/main" noGrp="1"/>
          </p:cNvSpPr>
          <p:nvPr/>
        </p:nvSpPr>
        <p:spPr>
          <a:xfrm xmlns:a="http://schemas.openxmlformats.org/drawingml/2006/main">
            <a:off x="7877175" y="3238500"/>
            <a:ext cx="3390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RECONSTRUCTED RESIDUAL</a:t>
            </a:r>
          </a:p>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−4.95   −4.95   −4.95   −4.95</a:t>
            </a:r>
          </a:p>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−4.95   −4.95   −4.95   −4.95</a:t>
            </a:r>
          </a:p>
        </p:txBody>
      </p:sp>
      <p:sp>
        <p:nvSpPr>
          <p:cNvPr id="33" name="Rectangle 32">
            <a:extLst xmlns:a="http://schemas.openxmlformats.org/drawingml/2006/main">
              <a:ext uri="{FF2B5EF4-FFF2-40B4-BE49-F238E27FC236}">
                <a16:creationId xmlns:a16="http://schemas.microsoft.com/office/drawing/2014/main" id="{9B19B73A-2CF2-4B0A-BBA7-29C667E3C584}"/>
              </a:ext>
            </a:extLst>
          </p:cNvPr>
          <p:cNvSpPr>
            <a:spLocks xmlns:a="http://schemas.openxmlformats.org/drawingml/2006/main" noGrp="1"/>
          </p:cNvSpPr>
          <p:nvPr/>
        </p:nvSpPr>
        <p:spPr>
          <a:xfrm xmlns:a="http://schemas.openxmlformats.org/drawingml/2006/main">
            <a:off x="904875" y="461962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22D3EE"/>
                </a:solidFill>
                <a:latin typeface="Arial"/>
                <a:ea typeface="Arial"/>
                <a:cs typeface="Arial"/>
              </a:defRPr>
            </a:pPr>
            <a:r>
              <a:rPr sz="1275" b="1">
                <a:solidFill>
                  <a:srgbClr val="22D3EE"/>
                </a:solidFill>
                <a:latin typeface="Arial"/>
                <a:ea typeface="Arial"/>
                <a:cs typeface="Arial"/>
              </a:rPr>
              <a:t>ORIGINAL RESIDUAL</a:t>
            </a:r>
          </a:p>
        </p:txBody>
      </p:sp>
      <p:sp>
        <p:nvSpPr>
          <p:cNvPr id="34" name="Rectangle: Rounded Corners 33">
            <a:extLst xmlns:a="http://schemas.openxmlformats.org/drawingml/2006/main">
              <a:ext uri="{FF2B5EF4-FFF2-40B4-BE49-F238E27FC236}">
                <a16:creationId xmlns:a16="http://schemas.microsoft.com/office/drawing/2014/main" id="{05F2547A-E304-42EC-AA98-107041D94E5C}"/>
              </a:ext>
            </a:extLst>
          </p:cNvPr>
          <p:cNvSpPr>
            <a:spLocks xmlns:a="http://schemas.openxmlformats.org/drawingml/2006/main" noGrp="1"/>
          </p:cNvSpPr>
          <p:nvPr/>
        </p:nvSpPr>
        <p:spPr>
          <a:xfrm xmlns:a="http://schemas.openxmlformats.org/drawingml/2006/main">
            <a:off x="714375" y="5000625"/>
            <a:ext cx="4476750"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22D3EE"/>
            </a:solidFill>
            <a:prstDash val="solid"/>
          </a:ln>
        </p:spPr>
      </p:sp>
      <p:sp>
        <p:nvSpPr>
          <p:cNvPr id="35" name="Rectangle 34">
            <a:extLst xmlns:a="http://schemas.openxmlformats.org/drawingml/2006/main">
              <a:ext uri="{FF2B5EF4-FFF2-40B4-BE49-F238E27FC236}">
                <a16:creationId xmlns:a16="http://schemas.microsoft.com/office/drawing/2014/main" id="{1137C182-A74D-480B-BDCB-C112880FE7A1}"/>
              </a:ext>
            </a:extLst>
          </p:cNvPr>
          <p:cNvSpPr>
            <a:spLocks xmlns:a="http://schemas.openxmlformats.org/drawingml/2006/main" noGrp="1"/>
          </p:cNvSpPr>
          <p:nvPr/>
        </p:nvSpPr>
        <p:spPr>
          <a:xfrm xmlns:a="http://schemas.openxmlformats.org/drawingml/2006/main">
            <a:off x="828675" y="5095875"/>
            <a:ext cx="424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−7   −5   −5   −5   −5   −5   −5   −5</a:t>
            </a:r>
          </a:p>
        </p:txBody>
      </p:sp>
      <p:sp>
        <p:nvSpPr>
          <p:cNvPr id="36" name="Rectangle 35">
            <a:extLst xmlns:a="http://schemas.openxmlformats.org/drawingml/2006/main">
              <a:ext uri="{FF2B5EF4-FFF2-40B4-BE49-F238E27FC236}">
                <a16:creationId xmlns:a16="http://schemas.microsoft.com/office/drawing/2014/main" id="{25A8E634-5274-4863-8311-02C5AA6048BB}"/>
              </a:ext>
            </a:extLst>
          </p:cNvPr>
          <p:cNvSpPr>
            <a:spLocks xmlns:a="http://schemas.openxmlformats.org/drawingml/2006/main" noGrp="1"/>
          </p:cNvSpPr>
          <p:nvPr/>
        </p:nvSpPr>
        <p:spPr>
          <a:xfrm xmlns:a="http://schemas.openxmlformats.org/drawingml/2006/main">
            <a:off x="5572125" y="50673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75"/>
          </a:bodyPr>
          <a:lstStyle xmlns:a="http://schemas.openxmlformats.org/drawingml/2006/main"/>
          <a:p xmlns:a="http://schemas.openxmlformats.org/drawingml/2006/main">
            <a:pPr>
              <a:buNone/>
              <a:defRPr sz="2400" b="1">
                <a:solidFill>
                  <a:srgbClr val="F4F8FC"/>
                </a:solidFill>
                <a:latin typeface="Arial"/>
                <a:ea typeface="Arial"/>
                <a:cs typeface="Arial"/>
              </a:defRPr>
            </a:pPr>
            <a:r>
              <a:rPr sz="2400" b="1">
                <a:solidFill>
                  <a:srgbClr val="F4F8FC"/>
                </a:solidFill>
                <a:latin typeface="Arial"/>
                <a:ea typeface="Arial"/>
                <a:cs typeface="Arial"/>
              </a:rPr>
              <a:t>≈</a:t>
            </a:r>
          </a:p>
        </p:txBody>
      </p:sp>
      <p:sp>
        <p:nvSpPr>
          <p:cNvPr id="37" name="Rectangle 36">
            <a:extLst xmlns:a="http://schemas.openxmlformats.org/drawingml/2006/main">
              <a:ext uri="{FF2B5EF4-FFF2-40B4-BE49-F238E27FC236}">
                <a16:creationId xmlns:a16="http://schemas.microsoft.com/office/drawing/2014/main" id="{D4895D7E-A697-470A-A85F-117B810F5CF7}"/>
              </a:ext>
            </a:extLst>
          </p:cNvPr>
          <p:cNvSpPr>
            <a:spLocks xmlns:a="http://schemas.openxmlformats.org/drawingml/2006/main" noGrp="1"/>
          </p:cNvSpPr>
          <p:nvPr/>
        </p:nvSpPr>
        <p:spPr>
          <a:xfrm xmlns:a="http://schemas.openxmlformats.org/drawingml/2006/main">
            <a:off x="6667500" y="461962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RECONSTRUCTED RESIDUAL</a:t>
            </a:r>
          </a:p>
        </p:txBody>
      </p:sp>
      <p:sp>
        <p:nvSpPr>
          <p:cNvPr id="38" name="Rectangle: Rounded Corners 37">
            <a:extLst xmlns:a="http://schemas.openxmlformats.org/drawingml/2006/main">
              <a:ext uri="{FF2B5EF4-FFF2-40B4-BE49-F238E27FC236}">
                <a16:creationId xmlns:a16="http://schemas.microsoft.com/office/drawing/2014/main" id="{D0107DCD-9F49-4AB3-AC5C-0E4FE8BE6F4C}"/>
              </a:ext>
            </a:extLst>
          </p:cNvPr>
          <p:cNvSpPr>
            <a:spLocks xmlns:a="http://schemas.openxmlformats.org/drawingml/2006/main" noGrp="1"/>
          </p:cNvSpPr>
          <p:nvPr/>
        </p:nvSpPr>
        <p:spPr>
          <a:xfrm xmlns:a="http://schemas.openxmlformats.org/drawingml/2006/main">
            <a:off x="6477000" y="5000625"/>
            <a:ext cx="4476750" cy="590550"/>
          </a:xfrm>
          <a:prstGeom xmlns:a="http://schemas.openxmlformats.org/drawingml/2006/main" prst="roundRect">
            <a:avLst>
              <a:gd name="adj" fmla="val 19355"/>
            </a:avLst>
          </a:prstGeom>
          <a:solidFill xmlns:a="http://schemas.openxmlformats.org/drawingml/2006/main">
            <a:srgbClr val="0B2033"/>
          </a:solidFill>
          <a:ln xmlns:a="http://schemas.openxmlformats.org/drawingml/2006/main" w="19050">
            <a:solidFill>
              <a:srgbClr val="47E6A4"/>
            </a:solidFill>
            <a:prstDash val="solid"/>
          </a:ln>
        </p:spPr>
      </p:sp>
      <p:sp>
        <p:nvSpPr>
          <p:cNvPr id="39" name="Rectangle 38">
            <a:extLst xmlns:a="http://schemas.openxmlformats.org/drawingml/2006/main">
              <a:ext uri="{FF2B5EF4-FFF2-40B4-BE49-F238E27FC236}">
                <a16:creationId xmlns:a16="http://schemas.microsoft.com/office/drawing/2014/main" id="{8BC854ED-6162-4EB0-8B19-2E701A5050DA}"/>
              </a:ext>
            </a:extLst>
          </p:cNvPr>
          <p:cNvSpPr>
            <a:spLocks xmlns:a="http://schemas.openxmlformats.org/drawingml/2006/main" noGrp="1"/>
          </p:cNvSpPr>
          <p:nvPr/>
        </p:nvSpPr>
        <p:spPr>
          <a:xfrm xmlns:a="http://schemas.openxmlformats.org/drawingml/2006/main">
            <a:off x="6591300" y="5095875"/>
            <a:ext cx="424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−4.95 at all eight positions</a:t>
            </a:r>
          </a:p>
        </p:txBody>
      </p:sp>
      <p:sp>
        <p:nvSpPr>
          <p:cNvPr id="40" name="Rectangle: Rounded Corners 39">
            <a:extLst xmlns:a="http://schemas.openxmlformats.org/drawingml/2006/main">
              <a:ext uri="{FF2B5EF4-FFF2-40B4-BE49-F238E27FC236}">
                <a16:creationId xmlns:a16="http://schemas.microsoft.com/office/drawing/2014/main" id="{D7BF6B8A-B157-451B-B6F6-AF7FEC8D0167}"/>
              </a:ext>
            </a:extLst>
          </p:cNvPr>
          <p:cNvSpPr>
            <a:spLocks xmlns:a="http://schemas.openxmlformats.org/drawingml/2006/main" noGrp="1"/>
          </p:cNvSpPr>
          <p:nvPr/>
        </p:nvSpPr>
        <p:spPr>
          <a:xfrm xmlns:a="http://schemas.openxmlformats.org/drawingml/2006/main">
            <a:off x="1333500" y="5905500"/>
            <a:ext cx="9525000" cy="495300"/>
          </a:xfrm>
          <a:prstGeom xmlns:a="http://schemas.openxmlformats.org/drawingml/2006/main" prst="roundRect">
            <a:avLst>
              <a:gd name="adj" fmla="val 23077"/>
            </a:avLst>
          </a:prstGeom>
          <a:solidFill xmlns:a="http://schemas.openxmlformats.org/drawingml/2006/main">
            <a:srgbClr val="132536"/>
          </a:solidFill>
          <a:ln xmlns:a="http://schemas.openxmlformats.org/drawingml/2006/main" w="19050">
            <a:solidFill>
              <a:srgbClr val="FFB84D"/>
            </a:solidFill>
            <a:prstDash val="solid"/>
          </a:ln>
        </p:spPr>
      </p:sp>
      <p:sp>
        <p:nvSpPr>
          <p:cNvPr id="41" name="Rectangle 40">
            <a:extLst xmlns:a="http://schemas.openxmlformats.org/drawingml/2006/main">
              <a:ext uri="{FF2B5EF4-FFF2-40B4-BE49-F238E27FC236}">
                <a16:creationId xmlns:a16="http://schemas.microsoft.com/office/drawing/2014/main" id="{2A9B8EF6-2620-49C2-BB0A-D36E0F03B2E8}"/>
              </a:ext>
            </a:extLst>
          </p:cNvPr>
          <p:cNvSpPr>
            <a:spLocks xmlns:a="http://schemas.openxmlformats.org/drawingml/2006/main" noGrp="1"/>
          </p:cNvSpPr>
          <p:nvPr/>
        </p:nvSpPr>
        <p:spPr>
          <a:xfrm xmlns:a="http://schemas.openxmlformats.org/drawingml/2006/main">
            <a:off x="1447800" y="6000750"/>
            <a:ext cx="929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647"/>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The inverse transform now points directly to its output. The mismatch remains because quantization discarded seven coefficients.</a:t>
            </a:r>
          </a:p>
        </p:txBody>
      </p:sp>
    </p:spTree>
    <p:extLst>
      <p:ext uri="{BB962C8B-B14F-4D97-AF65-F5344CB8AC3E}">
        <p14:creationId xmlns:p14="http://schemas.microsoft.com/office/powerpoint/2010/main" val="882090705"/>
      </p:ext>
    </p:extLst>
  </p:cSld>
</p:sld>
</file>

<file path=ppt/slides/slide12.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51" name="Oval 50">
            <a:extLst xmlns:a="http://schemas.openxmlformats.org/drawingml/2006/main">
              <a:ext uri="{FF2B5EF4-FFF2-40B4-BE49-F238E27FC236}">
                <a16:creationId xmlns:a16="http://schemas.microsoft.com/office/drawing/2014/main" id="{965B48CB-9A41-4D81-A384-247C01D4C08F}"/>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328F673C-B031-4E6E-B501-82AF6E5E06C0}"/>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061B694D-E0A0-4598-8271-1B310BA43249}"/>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Step 1: does this transform block contain residual data?</a:t>
            </a:r>
          </a:p>
        </p:txBody>
      </p:sp>
      <p:sp>
        <p:nvSpPr>
          <p:cNvPr id="4" name="Straight Connector 3">
            <a:extLst xmlns:a="http://schemas.openxmlformats.org/drawingml/2006/main">
              <a:ext uri="{FF2B5EF4-FFF2-40B4-BE49-F238E27FC236}">
                <a16:creationId xmlns:a16="http://schemas.microsoft.com/office/drawing/2014/main" id="{F11451C1-C927-4C3D-B660-853119197462}"/>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7F534DC9-B950-4640-B70F-419F33B47150}"/>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A coded-block flag controls whether the decoder enters residual_coding for this component</a:t>
            </a:r>
          </a:p>
        </p:txBody>
      </p:sp>
      <p:sp>
        <p:nvSpPr>
          <p:cNvPr id="6" name="Rectangle 5">
            <a:extLst xmlns:a="http://schemas.openxmlformats.org/drawingml/2006/main">
              <a:ext uri="{FF2B5EF4-FFF2-40B4-BE49-F238E27FC236}">
                <a16:creationId xmlns:a16="http://schemas.microsoft.com/office/drawing/2014/main" id="{19A0EA3F-1722-4970-8451-1CD562C0888D}"/>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83A3B44F-FEE8-438B-971D-2ED660085CBD}"/>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12 / 49</a:t>
            </a:r>
          </a:p>
        </p:txBody>
      </p:sp>
      <p:sp>
        <p:nvSpPr>
          <p:cNvPr id="8" name="Rectangle 7">
            <a:extLst xmlns:a="http://schemas.openxmlformats.org/drawingml/2006/main">
              <a:ext uri="{FF2B5EF4-FFF2-40B4-BE49-F238E27FC236}">
                <a16:creationId xmlns:a16="http://schemas.microsoft.com/office/drawing/2014/main" id="{760DDB2D-55FC-4829-8168-23160F10C643}"/>
              </a:ext>
            </a:extLst>
          </p:cNvPr>
          <p:cNvSpPr>
            <a:spLocks xmlns:a="http://schemas.openxmlformats.org/drawingml/2006/main" noGrp="1"/>
          </p:cNvSpPr>
          <p:nvPr/>
        </p:nvSpPr>
        <p:spPr>
          <a:xfrm xmlns:a="http://schemas.openxmlformats.org/drawingml/2006/main">
            <a:off x="1381125" y="1666875"/>
            <a:ext cx="704850" cy="7048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9" name="Rectangle 8">
            <a:extLst xmlns:a="http://schemas.openxmlformats.org/drawingml/2006/main">
              <a:ext uri="{FF2B5EF4-FFF2-40B4-BE49-F238E27FC236}">
                <a16:creationId xmlns:a16="http://schemas.microsoft.com/office/drawing/2014/main" id="{86F27063-4B1F-4C53-8265-8C64729818EF}"/>
              </a:ext>
            </a:extLst>
          </p:cNvPr>
          <p:cNvSpPr>
            <a:spLocks xmlns:a="http://schemas.openxmlformats.org/drawingml/2006/main" noGrp="1"/>
          </p:cNvSpPr>
          <p:nvPr/>
        </p:nvSpPr>
        <p:spPr>
          <a:xfrm xmlns:a="http://schemas.openxmlformats.org/drawingml/2006/main">
            <a:off x="1381125" y="17145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5</a:t>
            </a:r>
          </a:p>
        </p:txBody>
      </p:sp>
      <p:sp>
        <p:nvSpPr>
          <p:cNvPr id="10" name="Rectangle 9">
            <a:extLst xmlns:a="http://schemas.openxmlformats.org/drawingml/2006/main">
              <a:ext uri="{FF2B5EF4-FFF2-40B4-BE49-F238E27FC236}">
                <a16:creationId xmlns:a16="http://schemas.microsoft.com/office/drawing/2014/main" id="{3F343ACB-E984-46B0-8486-7D9692F64CDC}"/>
              </a:ext>
            </a:extLst>
          </p:cNvPr>
          <p:cNvSpPr>
            <a:spLocks xmlns:a="http://schemas.openxmlformats.org/drawingml/2006/main" noGrp="1"/>
          </p:cNvSpPr>
          <p:nvPr/>
        </p:nvSpPr>
        <p:spPr>
          <a:xfrm xmlns:a="http://schemas.openxmlformats.org/drawingml/2006/main">
            <a:off x="2085975" y="1666875"/>
            <a:ext cx="704850" cy="7048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1" name="Rectangle 10">
            <a:extLst xmlns:a="http://schemas.openxmlformats.org/drawingml/2006/main">
              <a:ext uri="{FF2B5EF4-FFF2-40B4-BE49-F238E27FC236}">
                <a16:creationId xmlns:a16="http://schemas.microsoft.com/office/drawing/2014/main" id="{BC94C7DC-5EAA-4FA5-A387-570693FFFBFA}"/>
              </a:ext>
            </a:extLst>
          </p:cNvPr>
          <p:cNvSpPr>
            <a:spLocks xmlns:a="http://schemas.openxmlformats.org/drawingml/2006/main" noGrp="1"/>
          </p:cNvSpPr>
          <p:nvPr/>
        </p:nvSpPr>
        <p:spPr>
          <a:xfrm xmlns:a="http://schemas.openxmlformats.org/drawingml/2006/main">
            <a:off x="2085975" y="17145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-2</a:t>
            </a:r>
          </a:p>
        </p:txBody>
      </p:sp>
      <p:sp>
        <p:nvSpPr>
          <p:cNvPr id="12" name="Rectangle 11">
            <a:extLst xmlns:a="http://schemas.openxmlformats.org/drawingml/2006/main">
              <a:ext uri="{FF2B5EF4-FFF2-40B4-BE49-F238E27FC236}">
                <a16:creationId xmlns:a16="http://schemas.microsoft.com/office/drawing/2014/main" id="{EA7844B9-9CA5-4A21-9AE9-6E0949235DD2}"/>
              </a:ext>
            </a:extLst>
          </p:cNvPr>
          <p:cNvSpPr>
            <a:spLocks xmlns:a="http://schemas.openxmlformats.org/drawingml/2006/main" noGrp="1"/>
          </p:cNvSpPr>
          <p:nvPr/>
        </p:nvSpPr>
        <p:spPr>
          <a:xfrm xmlns:a="http://schemas.openxmlformats.org/drawingml/2006/main">
            <a:off x="2790825" y="1666875"/>
            <a:ext cx="704850" cy="7048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3" name="Rectangle 12">
            <a:extLst xmlns:a="http://schemas.openxmlformats.org/drawingml/2006/main">
              <a:ext uri="{FF2B5EF4-FFF2-40B4-BE49-F238E27FC236}">
                <a16:creationId xmlns:a16="http://schemas.microsoft.com/office/drawing/2014/main" id="{6DCE09EB-4D1D-4B45-B95B-1F7A093F29E6}"/>
              </a:ext>
            </a:extLst>
          </p:cNvPr>
          <p:cNvSpPr>
            <a:spLocks xmlns:a="http://schemas.openxmlformats.org/drawingml/2006/main" noGrp="1"/>
          </p:cNvSpPr>
          <p:nvPr/>
        </p:nvSpPr>
        <p:spPr>
          <a:xfrm xmlns:a="http://schemas.openxmlformats.org/drawingml/2006/main">
            <a:off x="2790825" y="17145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14" name="Rectangle 13">
            <a:extLst xmlns:a="http://schemas.openxmlformats.org/drawingml/2006/main">
              <a:ext uri="{FF2B5EF4-FFF2-40B4-BE49-F238E27FC236}">
                <a16:creationId xmlns:a16="http://schemas.microsoft.com/office/drawing/2014/main" id="{F83C1D84-BE88-486D-B32C-32BD9FBB79FB}"/>
              </a:ext>
            </a:extLst>
          </p:cNvPr>
          <p:cNvSpPr>
            <a:spLocks xmlns:a="http://schemas.openxmlformats.org/drawingml/2006/main" noGrp="1"/>
          </p:cNvSpPr>
          <p:nvPr/>
        </p:nvSpPr>
        <p:spPr>
          <a:xfrm xmlns:a="http://schemas.openxmlformats.org/drawingml/2006/main">
            <a:off x="3495675" y="166687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5" name="Rectangle 14">
            <a:extLst xmlns:a="http://schemas.openxmlformats.org/drawingml/2006/main">
              <a:ext uri="{FF2B5EF4-FFF2-40B4-BE49-F238E27FC236}">
                <a16:creationId xmlns:a16="http://schemas.microsoft.com/office/drawing/2014/main" id="{57EDF49C-C20B-4D53-A330-B2022256C319}"/>
              </a:ext>
            </a:extLst>
          </p:cNvPr>
          <p:cNvSpPr>
            <a:spLocks xmlns:a="http://schemas.openxmlformats.org/drawingml/2006/main" noGrp="1"/>
          </p:cNvSpPr>
          <p:nvPr/>
        </p:nvSpPr>
        <p:spPr>
          <a:xfrm xmlns:a="http://schemas.openxmlformats.org/drawingml/2006/main">
            <a:off x="3495675" y="17145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6" name="Rectangle 15">
            <a:extLst xmlns:a="http://schemas.openxmlformats.org/drawingml/2006/main">
              <a:ext uri="{FF2B5EF4-FFF2-40B4-BE49-F238E27FC236}">
                <a16:creationId xmlns:a16="http://schemas.microsoft.com/office/drawing/2014/main" id="{B7B6CACB-6179-4B1F-B71B-4F792E3B034C}"/>
              </a:ext>
            </a:extLst>
          </p:cNvPr>
          <p:cNvSpPr>
            <a:spLocks xmlns:a="http://schemas.openxmlformats.org/drawingml/2006/main" noGrp="1"/>
          </p:cNvSpPr>
          <p:nvPr/>
        </p:nvSpPr>
        <p:spPr>
          <a:xfrm xmlns:a="http://schemas.openxmlformats.org/drawingml/2006/main">
            <a:off x="1381125" y="2371725"/>
            <a:ext cx="704850" cy="7048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7" name="Rectangle 16">
            <a:extLst xmlns:a="http://schemas.openxmlformats.org/drawingml/2006/main">
              <a:ext uri="{FF2B5EF4-FFF2-40B4-BE49-F238E27FC236}">
                <a16:creationId xmlns:a16="http://schemas.microsoft.com/office/drawing/2014/main" id="{DB6AF094-2524-480B-8BBC-6CA4F1AB5292}"/>
              </a:ext>
            </a:extLst>
          </p:cNvPr>
          <p:cNvSpPr>
            <a:spLocks xmlns:a="http://schemas.openxmlformats.org/drawingml/2006/main" noGrp="1"/>
          </p:cNvSpPr>
          <p:nvPr/>
        </p:nvSpPr>
        <p:spPr>
          <a:xfrm xmlns:a="http://schemas.openxmlformats.org/drawingml/2006/main">
            <a:off x="1381125" y="24193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18" name="Rectangle 17">
            <a:extLst xmlns:a="http://schemas.openxmlformats.org/drawingml/2006/main">
              <a:ext uri="{FF2B5EF4-FFF2-40B4-BE49-F238E27FC236}">
                <a16:creationId xmlns:a16="http://schemas.microsoft.com/office/drawing/2014/main" id="{D8576CB1-A9C2-4CA9-9603-0DAF2CC1572D}"/>
              </a:ext>
            </a:extLst>
          </p:cNvPr>
          <p:cNvSpPr>
            <a:spLocks xmlns:a="http://schemas.openxmlformats.org/drawingml/2006/main" noGrp="1"/>
          </p:cNvSpPr>
          <p:nvPr/>
        </p:nvSpPr>
        <p:spPr>
          <a:xfrm xmlns:a="http://schemas.openxmlformats.org/drawingml/2006/main">
            <a:off x="2085975" y="2371725"/>
            <a:ext cx="704850" cy="7048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9" name="Rectangle 18">
            <a:extLst xmlns:a="http://schemas.openxmlformats.org/drawingml/2006/main">
              <a:ext uri="{FF2B5EF4-FFF2-40B4-BE49-F238E27FC236}">
                <a16:creationId xmlns:a16="http://schemas.microsoft.com/office/drawing/2014/main" id="{AE14758A-B627-485F-AEF8-8B8231F78118}"/>
              </a:ext>
            </a:extLst>
          </p:cNvPr>
          <p:cNvSpPr>
            <a:spLocks xmlns:a="http://schemas.openxmlformats.org/drawingml/2006/main" noGrp="1"/>
          </p:cNvSpPr>
          <p:nvPr/>
        </p:nvSpPr>
        <p:spPr>
          <a:xfrm xmlns:a="http://schemas.openxmlformats.org/drawingml/2006/main">
            <a:off x="2085975" y="24193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20" name="Rectangle 19">
            <a:extLst xmlns:a="http://schemas.openxmlformats.org/drawingml/2006/main">
              <a:ext uri="{FF2B5EF4-FFF2-40B4-BE49-F238E27FC236}">
                <a16:creationId xmlns:a16="http://schemas.microsoft.com/office/drawing/2014/main" id="{97D3CCE2-C418-46B3-90F7-43F2A8ACC207}"/>
              </a:ext>
            </a:extLst>
          </p:cNvPr>
          <p:cNvSpPr>
            <a:spLocks xmlns:a="http://schemas.openxmlformats.org/drawingml/2006/main" noGrp="1"/>
          </p:cNvSpPr>
          <p:nvPr/>
        </p:nvSpPr>
        <p:spPr>
          <a:xfrm xmlns:a="http://schemas.openxmlformats.org/drawingml/2006/main">
            <a:off x="2790825" y="237172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1" name="Rectangle 20">
            <a:extLst xmlns:a="http://schemas.openxmlformats.org/drawingml/2006/main">
              <a:ext uri="{FF2B5EF4-FFF2-40B4-BE49-F238E27FC236}">
                <a16:creationId xmlns:a16="http://schemas.microsoft.com/office/drawing/2014/main" id="{C6888B8E-C44B-4D4A-8C5C-66ECB6B1B2E3}"/>
              </a:ext>
            </a:extLst>
          </p:cNvPr>
          <p:cNvSpPr>
            <a:spLocks xmlns:a="http://schemas.openxmlformats.org/drawingml/2006/main" noGrp="1"/>
          </p:cNvSpPr>
          <p:nvPr/>
        </p:nvSpPr>
        <p:spPr>
          <a:xfrm xmlns:a="http://schemas.openxmlformats.org/drawingml/2006/main">
            <a:off x="2790825" y="24193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2" name="Rectangle 21">
            <a:extLst xmlns:a="http://schemas.openxmlformats.org/drawingml/2006/main">
              <a:ext uri="{FF2B5EF4-FFF2-40B4-BE49-F238E27FC236}">
                <a16:creationId xmlns:a16="http://schemas.microsoft.com/office/drawing/2014/main" id="{1108DD8A-D024-46FA-AC68-52D46E04D2A6}"/>
              </a:ext>
            </a:extLst>
          </p:cNvPr>
          <p:cNvSpPr>
            <a:spLocks xmlns:a="http://schemas.openxmlformats.org/drawingml/2006/main" noGrp="1"/>
          </p:cNvSpPr>
          <p:nvPr/>
        </p:nvSpPr>
        <p:spPr>
          <a:xfrm xmlns:a="http://schemas.openxmlformats.org/drawingml/2006/main">
            <a:off x="3495675" y="237172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3" name="Rectangle 22">
            <a:extLst xmlns:a="http://schemas.openxmlformats.org/drawingml/2006/main">
              <a:ext uri="{FF2B5EF4-FFF2-40B4-BE49-F238E27FC236}">
                <a16:creationId xmlns:a16="http://schemas.microsoft.com/office/drawing/2014/main" id="{7551C49F-56C1-4F46-8F47-0777424664CE}"/>
              </a:ext>
            </a:extLst>
          </p:cNvPr>
          <p:cNvSpPr>
            <a:spLocks xmlns:a="http://schemas.openxmlformats.org/drawingml/2006/main" noGrp="1"/>
          </p:cNvSpPr>
          <p:nvPr/>
        </p:nvSpPr>
        <p:spPr>
          <a:xfrm xmlns:a="http://schemas.openxmlformats.org/drawingml/2006/main">
            <a:off x="3495675" y="24193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4" name="Rectangle 23">
            <a:extLst xmlns:a="http://schemas.openxmlformats.org/drawingml/2006/main">
              <a:ext uri="{FF2B5EF4-FFF2-40B4-BE49-F238E27FC236}">
                <a16:creationId xmlns:a16="http://schemas.microsoft.com/office/drawing/2014/main" id="{0BFAB189-B008-4B36-9104-DBEB963C5DB4}"/>
              </a:ext>
            </a:extLst>
          </p:cNvPr>
          <p:cNvSpPr>
            <a:spLocks xmlns:a="http://schemas.openxmlformats.org/drawingml/2006/main" noGrp="1"/>
          </p:cNvSpPr>
          <p:nvPr/>
        </p:nvSpPr>
        <p:spPr>
          <a:xfrm xmlns:a="http://schemas.openxmlformats.org/drawingml/2006/main">
            <a:off x="1381125" y="307657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5" name="Rectangle 24">
            <a:extLst xmlns:a="http://schemas.openxmlformats.org/drawingml/2006/main">
              <a:ext uri="{FF2B5EF4-FFF2-40B4-BE49-F238E27FC236}">
                <a16:creationId xmlns:a16="http://schemas.microsoft.com/office/drawing/2014/main" id="{02408B49-2AD6-444D-B886-CAB11C0E9A23}"/>
              </a:ext>
            </a:extLst>
          </p:cNvPr>
          <p:cNvSpPr>
            <a:spLocks xmlns:a="http://schemas.openxmlformats.org/drawingml/2006/main" noGrp="1"/>
          </p:cNvSpPr>
          <p:nvPr/>
        </p:nvSpPr>
        <p:spPr>
          <a:xfrm xmlns:a="http://schemas.openxmlformats.org/drawingml/2006/main">
            <a:off x="1381125" y="31242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6" name="Rectangle 25">
            <a:extLst xmlns:a="http://schemas.openxmlformats.org/drawingml/2006/main">
              <a:ext uri="{FF2B5EF4-FFF2-40B4-BE49-F238E27FC236}">
                <a16:creationId xmlns:a16="http://schemas.microsoft.com/office/drawing/2014/main" id="{8FCC5524-E060-4742-97B5-938A224E0086}"/>
              </a:ext>
            </a:extLst>
          </p:cNvPr>
          <p:cNvSpPr>
            <a:spLocks xmlns:a="http://schemas.openxmlformats.org/drawingml/2006/main" noGrp="1"/>
          </p:cNvSpPr>
          <p:nvPr/>
        </p:nvSpPr>
        <p:spPr>
          <a:xfrm xmlns:a="http://schemas.openxmlformats.org/drawingml/2006/main">
            <a:off x="2085975" y="307657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7" name="Rectangle 26">
            <a:extLst xmlns:a="http://schemas.openxmlformats.org/drawingml/2006/main">
              <a:ext uri="{FF2B5EF4-FFF2-40B4-BE49-F238E27FC236}">
                <a16:creationId xmlns:a16="http://schemas.microsoft.com/office/drawing/2014/main" id="{DFF1F65B-175F-4072-82BB-AA8588C57410}"/>
              </a:ext>
            </a:extLst>
          </p:cNvPr>
          <p:cNvSpPr>
            <a:spLocks xmlns:a="http://schemas.openxmlformats.org/drawingml/2006/main" noGrp="1"/>
          </p:cNvSpPr>
          <p:nvPr/>
        </p:nvSpPr>
        <p:spPr>
          <a:xfrm xmlns:a="http://schemas.openxmlformats.org/drawingml/2006/main">
            <a:off x="2085975" y="31242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8" name="Rectangle 27">
            <a:extLst xmlns:a="http://schemas.openxmlformats.org/drawingml/2006/main">
              <a:ext uri="{FF2B5EF4-FFF2-40B4-BE49-F238E27FC236}">
                <a16:creationId xmlns:a16="http://schemas.microsoft.com/office/drawing/2014/main" id="{F0F22965-F8A9-409A-8E95-B10E60D3F2D5}"/>
              </a:ext>
            </a:extLst>
          </p:cNvPr>
          <p:cNvSpPr>
            <a:spLocks xmlns:a="http://schemas.openxmlformats.org/drawingml/2006/main" noGrp="1"/>
          </p:cNvSpPr>
          <p:nvPr/>
        </p:nvSpPr>
        <p:spPr>
          <a:xfrm xmlns:a="http://schemas.openxmlformats.org/drawingml/2006/main">
            <a:off x="2790825" y="307657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9" name="Rectangle 28">
            <a:extLst xmlns:a="http://schemas.openxmlformats.org/drawingml/2006/main">
              <a:ext uri="{FF2B5EF4-FFF2-40B4-BE49-F238E27FC236}">
                <a16:creationId xmlns:a16="http://schemas.microsoft.com/office/drawing/2014/main" id="{65919215-3A0C-4145-9C2B-76B7564E6EEC}"/>
              </a:ext>
            </a:extLst>
          </p:cNvPr>
          <p:cNvSpPr>
            <a:spLocks xmlns:a="http://schemas.openxmlformats.org/drawingml/2006/main" noGrp="1"/>
          </p:cNvSpPr>
          <p:nvPr/>
        </p:nvSpPr>
        <p:spPr>
          <a:xfrm xmlns:a="http://schemas.openxmlformats.org/drawingml/2006/main">
            <a:off x="2790825" y="31242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0" name="Rectangle 29">
            <a:extLst xmlns:a="http://schemas.openxmlformats.org/drawingml/2006/main">
              <a:ext uri="{FF2B5EF4-FFF2-40B4-BE49-F238E27FC236}">
                <a16:creationId xmlns:a16="http://schemas.microsoft.com/office/drawing/2014/main" id="{F61FFF85-4116-4AD7-957F-FA3067A004C0}"/>
              </a:ext>
            </a:extLst>
          </p:cNvPr>
          <p:cNvSpPr>
            <a:spLocks xmlns:a="http://schemas.openxmlformats.org/drawingml/2006/main" noGrp="1"/>
          </p:cNvSpPr>
          <p:nvPr/>
        </p:nvSpPr>
        <p:spPr>
          <a:xfrm xmlns:a="http://schemas.openxmlformats.org/drawingml/2006/main">
            <a:off x="3495675" y="307657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1" name="Rectangle 30">
            <a:extLst xmlns:a="http://schemas.openxmlformats.org/drawingml/2006/main">
              <a:ext uri="{FF2B5EF4-FFF2-40B4-BE49-F238E27FC236}">
                <a16:creationId xmlns:a16="http://schemas.microsoft.com/office/drawing/2014/main" id="{6205BBB1-B84E-4F05-A1A4-BC13527A2B94}"/>
              </a:ext>
            </a:extLst>
          </p:cNvPr>
          <p:cNvSpPr>
            <a:spLocks xmlns:a="http://schemas.openxmlformats.org/drawingml/2006/main" noGrp="1"/>
          </p:cNvSpPr>
          <p:nvPr/>
        </p:nvSpPr>
        <p:spPr>
          <a:xfrm xmlns:a="http://schemas.openxmlformats.org/drawingml/2006/main">
            <a:off x="3495675" y="312420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2" name="Rectangle 31">
            <a:extLst xmlns:a="http://schemas.openxmlformats.org/drawingml/2006/main">
              <a:ext uri="{FF2B5EF4-FFF2-40B4-BE49-F238E27FC236}">
                <a16:creationId xmlns:a16="http://schemas.microsoft.com/office/drawing/2014/main" id="{1D419891-B042-49A4-95D1-157BF48454B1}"/>
              </a:ext>
            </a:extLst>
          </p:cNvPr>
          <p:cNvSpPr>
            <a:spLocks xmlns:a="http://schemas.openxmlformats.org/drawingml/2006/main" noGrp="1"/>
          </p:cNvSpPr>
          <p:nvPr/>
        </p:nvSpPr>
        <p:spPr>
          <a:xfrm xmlns:a="http://schemas.openxmlformats.org/drawingml/2006/main">
            <a:off x="1381125" y="378142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3" name="Rectangle 32">
            <a:extLst xmlns:a="http://schemas.openxmlformats.org/drawingml/2006/main">
              <a:ext uri="{FF2B5EF4-FFF2-40B4-BE49-F238E27FC236}">
                <a16:creationId xmlns:a16="http://schemas.microsoft.com/office/drawing/2014/main" id="{75B6DBF9-C7C9-4B08-A69E-462642A333A5}"/>
              </a:ext>
            </a:extLst>
          </p:cNvPr>
          <p:cNvSpPr>
            <a:spLocks xmlns:a="http://schemas.openxmlformats.org/drawingml/2006/main" noGrp="1"/>
          </p:cNvSpPr>
          <p:nvPr/>
        </p:nvSpPr>
        <p:spPr>
          <a:xfrm xmlns:a="http://schemas.openxmlformats.org/drawingml/2006/main">
            <a:off x="1381125" y="38290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4" name="Rectangle 33">
            <a:extLst xmlns:a="http://schemas.openxmlformats.org/drawingml/2006/main">
              <a:ext uri="{FF2B5EF4-FFF2-40B4-BE49-F238E27FC236}">
                <a16:creationId xmlns:a16="http://schemas.microsoft.com/office/drawing/2014/main" id="{502B9A09-8CBD-4AFE-A965-A08756036D8C}"/>
              </a:ext>
            </a:extLst>
          </p:cNvPr>
          <p:cNvSpPr>
            <a:spLocks xmlns:a="http://schemas.openxmlformats.org/drawingml/2006/main" noGrp="1"/>
          </p:cNvSpPr>
          <p:nvPr/>
        </p:nvSpPr>
        <p:spPr>
          <a:xfrm xmlns:a="http://schemas.openxmlformats.org/drawingml/2006/main">
            <a:off x="2085975" y="378142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5" name="Rectangle 34">
            <a:extLst xmlns:a="http://schemas.openxmlformats.org/drawingml/2006/main">
              <a:ext uri="{FF2B5EF4-FFF2-40B4-BE49-F238E27FC236}">
                <a16:creationId xmlns:a16="http://schemas.microsoft.com/office/drawing/2014/main" id="{535E651A-C7C4-49A4-B536-D0246DD7919B}"/>
              </a:ext>
            </a:extLst>
          </p:cNvPr>
          <p:cNvSpPr>
            <a:spLocks xmlns:a="http://schemas.openxmlformats.org/drawingml/2006/main" noGrp="1"/>
          </p:cNvSpPr>
          <p:nvPr/>
        </p:nvSpPr>
        <p:spPr>
          <a:xfrm xmlns:a="http://schemas.openxmlformats.org/drawingml/2006/main">
            <a:off x="2085975" y="38290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6" name="Rectangle 35">
            <a:extLst xmlns:a="http://schemas.openxmlformats.org/drawingml/2006/main">
              <a:ext uri="{FF2B5EF4-FFF2-40B4-BE49-F238E27FC236}">
                <a16:creationId xmlns:a16="http://schemas.microsoft.com/office/drawing/2014/main" id="{6EBA0894-4C32-4EE0-A0A9-DFC790B479C2}"/>
              </a:ext>
            </a:extLst>
          </p:cNvPr>
          <p:cNvSpPr>
            <a:spLocks xmlns:a="http://schemas.openxmlformats.org/drawingml/2006/main" noGrp="1"/>
          </p:cNvSpPr>
          <p:nvPr/>
        </p:nvSpPr>
        <p:spPr>
          <a:xfrm xmlns:a="http://schemas.openxmlformats.org/drawingml/2006/main">
            <a:off x="2790825" y="378142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7" name="Rectangle 36">
            <a:extLst xmlns:a="http://schemas.openxmlformats.org/drawingml/2006/main">
              <a:ext uri="{FF2B5EF4-FFF2-40B4-BE49-F238E27FC236}">
                <a16:creationId xmlns:a16="http://schemas.microsoft.com/office/drawing/2014/main" id="{C66E6732-513B-4CEE-8C49-2B3F192D8104}"/>
              </a:ext>
            </a:extLst>
          </p:cNvPr>
          <p:cNvSpPr>
            <a:spLocks xmlns:a="http://schemas.openxmlformats.org/drawingml/2006/main" noGrp="1"/>
          </p:cNvSpPr>
          <p:nvPr/>
        </p:nvSpPr>
        <p:spPr>
          <a:xfrm xmlns:a="http://schemas.openxmlformats.org/drawingml/2006/main">
            <a:off x="2790825" y="38290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8" name="Rectangle 37">
            <a:extLst xmlns:a="http://schemas.openxmlformats.org/drawingml/2006/main">
              <a:ext uri="{FF2B5EF4-FFF2-40B4-BE49-F238E27FC236}">
                <a16:creationId xmlns:a16="http://schemas.microsoft.com/office/drawing/2014/main" id="{EA128FB4-9986-4024-A274-C17B58A5D1BA}"/>
              </a:ext>
            </a:extLst>
          </p:cNvPr>
          <p:cNvSpPr>
            <a:spLocks xmlns:a="http://schemas.openxmlformats.org/drawingml/2006/main" noGrp="1"/>
          </p:cNvSpPr>
          <p:nvPr/>
        </p:nvSpPr>
        <p:spPr>
          <a:xfrm xmlns:a="http://schemas.openxmlformats.org/drawingml/2006/main">
            <a:off x="3495675" y="3781425"/>
            <a:ext cx="704850" cy="7048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9" name="Rectangle 38">
            <a:extLst xmlns:a="http://schemas.openxmlformats.org/drawingml/2006/main">
              <a:ext uri="{FF2B5EF4-FFF2-40B4-BE49-F238E27FC236}">
                <a16:creationId xmlns:a16="http://schemas.microsoft.com/office/drawing/2014/main" id="{8A8662D6-0D56-4C51-ADF9-75DAAA431FE6}"/>
              </a:ext>
            </a:extLst>
          </p:cNvPr>
          <p:cNvSpPr>
            <a:spLocks xmlns:a="http://schemas.openxmlformats.org/drawingml/2006/main" noGrp="1"/>
          </p:cNvSpPr>
          <p:nvPr/>
        </p:nvSpPr>
        <p:spPr>
          <a:xfrm xmlns:a="http://schemas.openxmlformats.org/drawingml/2006/main">
            <a:off x="3495675" y="3829050"/>
            <a:ext cx="704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40" name="Rectangle 39">
            <a:extLst xmlns:a="http://schemas.openxmlformats.org/drawingml/2006/main">
              <a:ext uri="{FF2B5EF4-FFF2-40B4-BE49-F238E27FC236}">
                <a16:creationId xmlns:a16="http://schemas.microsoft.com/office/drawing/2014/main" id="{4C33F9B7-044C-48EC-8DD5-610F7A873FA4}"/>
              </a:ext>
            </a:extLst>
          </p:cNvPr>
          <p:cNvSpPr>
            <a:spLocks xmlns:a="http://schemas.openxmlformats.org/drawingml/2006/main" noGrp="1"/>
          </p:cNvSpPr>
          <p:nvPr/>
        </p:nvSpPr>
        <p:spPr>
          <a:xfrm xmlns:a="http://schemas.openxmlformats.org/drawingml/2006/main">
            <a:off x="904875" y="1190625"/>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22D3EE"/>
                </a:solidFill>
                <a:latin typeface="Arial"/>
                <a:ea typeface="Arial"/>
                <a:cs typeface="Arial"/>
              </a:defRPr>
            </a:pPr>
            <a:r>
              <a:rPr sz="1425" b="1">
                <a:solidFill>
                  <a:srgbClr val="22D3EE"/>
                </a:solidFill>
                <a:latin typeface="Arial"/>
                <a:ea typeface="Arial"/>
                <a:cs typeface="Arial"/>
              </a:rPr>
              <a:t>LUMA TRANSFORM BLOCK</a:t>
            </a:r>
          </a:p>
        </p:txBody>
      </p:sp>
      <p:sp>
        <p:nvSpPr>
          <p:cNvPr id="41" name="Rectangle 40">
            <a:extLst xmlns:a="http://schemas.openxmlformats.org/drawingml/2006/main">
              <a:ext uri="{FF2B5EF4-FFF2-40B4-BE49-F238E27FC236}">
                <a16:creationId xmlns:a16="http://schemas.microsoft.com/office/drawing/2014/main" id="{0C8BFC8B-FBD6-4363-98BF-566A660ED317}"/>
              </a:ext>
            </a:extLst>
          </p:cNvPr>
          <p:cNvSpPr>
            <a:spLocks xmlns:a="http://schemas.openxmlformats.org/drawingml/2006/main" noGrp="1"/>
          </p:cNvSpPr>
          <p:nvPr/>
        </p:nvSpPr>
        <p:spPr>
          <a:xfrm xmlns:a="http://schemas.openxmlformats.org/drawingml/2006/main">
            <a:off x="5286375" y="180975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138"/>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Does this block contain any nonzero luma coefficient?</a:t>
            </a:r>
          </a:p>
        </p:txBody>
      </p:sp>
      <p:sp>
        <p:nvSpPr>
          <p:cNvPr id="42" name="Rectangle: Rounded Corners 41">
            <a:extLst xmlns:a="http://schemas.openxmlformats.org/drawingml/2006/main">
              <a:ext uri="{FF2B5EF4-FFF2-40B4-BE49-F238E27FC236}">
                <a16:creationId xmlns:a16="http://schemas.microsoft.com/office/drawing/2014/main" id="{3EAD2FB1-87A7-4A91-A748-5CEF80DB5A91}"/>
              </a:ext>
            </a:extLst>
          </p:cNvPr>
          <p:cNvSpPr>
            <a:spLocks xmlns:a="http://schemas.openxmlformats.org/drawingml/2006/main" noGrp="1"/>
          </p:cNvSpPr>
          <p:nvPr/>
        </p:nvSpPr>
        <p:spPr>
          <a:xfrm xmlns:a="http://schemas.openxmlformats.org/drawingml/2006/main">
            <a:off x="6191250" y="2857500"/>
            <a:ext cx="1714500" cy="742950"/>
          </a:xfrm>
          <a:prstGeom xmlns:a="http://schemas.openxmlformats.org/drawingml/2006/main" prst="roundRect">
            <a:avLst>
              <a:gd name="adj" fmla="val 15385"/>
            </a:avLst>
          </a:prstGeom>
          <a:solidFill xmlns:a="http://schemas.openxmlformats.org/drawingml/2006/main">
            <a:srgbClr val="0A2830"/>
          </a:solidFill>
          <a:ln xmlns:a="http://schemas.openxmlformats.org/drawingml/2006/main" w="19050">
            <a:solidFill>
              <a:srgbClr val="47E6A4"/>
            </a:solidFill>
            <a:prstDash val="solid"/>
          </a:ln>
        </p:spPr>
      </p:sp>
      <p:sp>
        <p:nvSpPr>
          <p:cNvPr id="43" name="Rectangle 42">
            <a:extLst xmlns:a="http://schemas.openxmlformats.org/drawingml/2006/main">
              <a:ext uri="{FF2B5EF4-FFF2-40B4-BE49-F238E27FC236}">
                <a16:creationId xmlns:a16="http://schemas.microsoft.com/office/drawing/2014/main" id="{C9DF5ADC-AF2E-41EA-857E-59091E756C42}"/>
              </a:ext>
            </a:extLst>
          </p:cNvPr>
          <p:cNvSpPr>
            <a:spLocks xmlns:a="http://schemas.openxmlformats.org/drawingml/2006/main" noGrp="1"/>
          </p:cNvSpPr>
          <p:nvPr/>
        </p:nvSpPr>
        <p:spPr>
          <a:xfrm xmlns:a="http://schemas.openxmlformats.org/drawingml/2006/main">
            <a:off x="6305550" y="2952750"/>
            <a:ext cx="148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00" b="1">
                <a:solidFill>
                  <a:srgbClr val="F4F8FC"/>
                </a:solidFill>
                <a:latin typeface="Arial"/>
                <a:ea typeface="Arial"/>
                <a:cs typeface="Arial"/>
              </a:defRPr>
            </a:pPr>
            <a:r>
              <a:rPr sz="2100" b="1">
                <a:solidFill>
                  <a:srgbClr val="F4F8FC"/>
                </a:solidFill>
                <a:latin typeface="Arial"/>
                <a:ea typeface="Arial"/>
                <a:cs typeface="Arial"/>
              </a:rPr>
              <a:t>YES</a:t>
            </a:r>
          </a:p>
        </p:txBody>
      </p:sp>
      <p:sp>
        <p:nvSpPr>
          <p:cNvPr id="44" name="Rectangle 43">
            <a:extLst xmlns:a="http://schemas.openxmlformats.org/drawingml/2006/main">
              <a:ext uri="{FF2B5EF4-FFF2-40B4-BE49-F238E27FC236}">
                <a16:creationId xmlns:a16="http://schemas.microsoft.com/office/drawing/2014/main" id="{DD3FBC71-E6A1-4A8E-A46E-9B3E92D9805E}"/>
              </a:ext>
            </a:extLst>
          </p:cNvPr>
          <p:cNvSpPr>
            <a:spLocks xmlns:a="http://schemas.openxmlformats.org/drawingml/2006/main" noGrp="1"/>
          </p:cNvSpPr>
          <p:nvPr/>
        </p:nvSpPr>
        <p:spPr>
          <a:xfrm xmlns:a="http://schemas.openxmlformats.org/drawingml/2006/main">
            <a:off x="8334375" y="30480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611"/>
          </a:bodyPr>
          <a:lstStyle xmlns:a="http://schemas.openxmlformats.org/drawingml/2006/main"/>
          <a:p xmlns:a="http://schemas.openxmlformats.org/drawingml/2006/main">
            <a:pPr>
              <a:buNone/>
              <a:defRPr sz="1800" b="1">
                <a:solidFill>
                  <a:srgbClr val="47E6A4"/>
                </a:solidFill>
                <a:latin typeface="Arial"/>
                <a:ea typeface="Arial"/>
                <a:cs typeface="Arial"/>
              </a:defRPr>
            </a:pPr>
            <a:r>
              <a:rPr sz="1800" b="1">
                <a:solidFill>
                  <a:srgbClr val="47E6A4"/>
                </a:solidFill>
                <a:latin typeface="Arial"/>
                <a:ea typeface="Arial"/>
                <a:cs typeface="Arial"/>
              </a:rPr>
              <a:t>cbf_luma = 1</a:t>
            </a:r>
          </a:p>
        </p:txBody>
      </p:sp>
      <p:sp>
        <p:nvSpPr>
          <p:cNvPr id="45" name="Rectangle 44">
            <a:extLst xmlns:a="http://schemas.openxmlformats.org/drawingml/2006/main">
              <a:ext uri="{FF2B5EF4-FFF2-40B4-BE49-F238E27FC236}">
                <a16:creationId xmlns:a16="http://schemas.microsoft.com/office/drawing/2014/main" id="{994D99DE-B126-4AD7-AAF7-D023288841C7}"/>
              </a:ext>
            </a:extLst>
          </p:cNvPr>
          <p:cNvSpPr>
            <a:spLocks xmlns:a="http://schemas.openxmlformats.org/drawingml/2006/main" noGrp="1"/>
          </p:cNvSpPr>
          <p:nvPr/>
        </p:nvSpPr>
        <p:spPr>
          <a:xfrm xmlns:a="http://schemas.openxmlformats.org/drawingml/2006/main">
            <a:off x="7048500" y="43338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6" name="Rectangle 45">
            <a:extLst xmlns:a="http://schemas.openxmlformats.org/drawingml/2006/main">
              <a:ext uri="{FF2B5EF4-FFF2-40B4-BE49-F238E27FC236}">
                <a16:creationId xmlns:a16="http://schemas.microsoft.com/office/drawing/2014/main" id="{B84A81BC-56D6-4714-94BD-9CA0D6DC30EF}"/>
              </a:ext>
            </a:extLst>
          </p:cNvPr>
          <p:cNvSpPr>
            <a:spLocks xmlns:a="http://schemas.openxmlformats.org/drawingml/2006/main" noGrp="1"/>
          </p:cNvSpPr>
          <p:nvPr/>
        </p:nvSpPr>
        <p:spPr>
          <a:xfrm xmlns:a="http://schemas.openxmlformats.org/drawingml/2006/main">
            <a:off x="7048500" y="3762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44" name="Straight Arrow Connector 96"/>
          <p:cNvCxnSpPr>
            <a:stCxn xmlns:a="http://schemas.openxmlformats.org/drawingml/2006/main" id="45" idx="0"/>
            <a:endCxn xmlns:a="http://schemas.openxmlformats.org/drawingml/2006/main" id="46" idx="2"/>
          </p:cNvCxnSpPr>
          <p:nvPr/>
        </p:nvCxnSpPr>
        <p:spPr>
          <a:xfrm xmlns:a="http://schemas.openxmlformats.org/drawingml/2006/main" flipV="1">
            <a:off x="7058025" y="3781425"/>
            <a:ext cx="0" cy="55245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48" name="Rectangle: Rounded Corners 47">
            <a:extLst xmlns:a="http://schemas.openxmlformats.org/drawingml/2006/main">
              <a:ext uri="{FF2B5EF4-FFF2-40B4-BE49-F238E27FC236}">
                <a16:creationId xmlns:a16="http://schemas.microsoft.com/office/drawing/2014/main" id="{33A5C936-AA56-4CDA-911F-3E5A87D8F0F4}"/>
              </a:ext>
            </a:extLst>
          </p:cNvPr>
          <p:cNvSpPr>
            <a:spLocks xmlns:a="http://schemas.openxmlformats.org/drawingml/2006/main" noGrp="1"/>
          </p:cNvSpPr>
          <p:nvPr/>
        </p:nvSpPr>
        <p:spPr>
          <a:xfrm xmlns:a="http://schemas.openxmlformats.org/drawingml/2006/main">
            <a:off x="4930902" y="4564761"/>
            <a:ext cx="4762500" cy="685800"/>
          </a:xfrm>
          <a:prstGeom xmlns:a="http://schemas.openxmlformats.org/drawingml/2006/main" prst="roundRect">
            <a:avLst>
              <a:gd name="adj" fmla="val 16667"/>
            </a:avLst>
          </a:prstGeom>
          <a:solidFill xmlns:a="http://schemas.openxmlformats.org/drawingml/2006/main">
            <a:srgbClr val="092034"/>
          </a:solidFill>
          <a:ln xmlns:a="http://schemas.openxmlformats.org/drawingml/2006/main" w="19050">
            <a:solidFill>
              <a:srgbClr val="22D3EE"/>
            </a:solidFill>
            <a:prstDash val="solid"/>
          </a:ln>
        </p:spPr>
      </p:sp>
      <p:sp>
        <p:nvSpPr>
          <p:cNvPr id="49" name="Rectangle 48">
            <a:extLst xmlns:a="http://schemas.openxmlformats.org/drawingml/2006/main">
              <a:ext uri="{FF2B5EF4-FFF2-40B4-BE49-F238E27FC236}">
                <a16:creationId xmlns:a16="http://schemas.microsoft.com/office/drawing/2014/main" id="{859EA67D-0761-4C99-99DD-3ECF2AC62FD9}"/>
              </a:ext>
            </a:extLst>
          </p:cNvPr>
          <p:cNvSpPr>
            <a:spLocks xmlns:a="http://schemas.openxmlformats.org/drawingml/2006/main" noGrp="1"/>
          </p:cNvSpPr>
          <p:nvPr/>
        </p:nvSpPr>
        <p:spPr>
          <a:xfrm xmlns:a="http://schemas.openxmlformats.org/drawingml/2006/main">
            <a:off x="5045202" y="470535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lnSpcReduction="10000"/>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The decoder now parses </a:t>
            </a:r>
            <a:r>
              <a:rPr sz="1500" b="1">
                <a:solidFill>
                  <a:srgbClr val="F4F8FC"/>
                </a:solidFill>
                <a:latin typeface="Arial"/>
                <a:ea typeface="Arial"/>
                <a:cs typeface="Arial"/>
              </a:rPr>
              <a:t>residual_coding</a:t>
            </a:r>
            <a:r>
              <a:rPr sz="1500" b="1">
                <a:solidFill>
                  <a:srgbClr val="F4F8FC"/>
                </a:solidFill>
                <a:latin typeface="Arial"/>
                <a:ea typeface="Arial"/>
                <a:cs typeface="Arial"/>
              </a:rPr>
              <a:t> for this luma block</a:t>
            </a:r>
          </a:p>
        </p:txBody>
      </p:sp>
      <p:sp>
        <p:nvSpPr>
          <p:cNvPr id="50" name="Rectangle 49">
            <a:extLst xmlns:a="http://schemas.openxmlformats.org/drawingml/2006/main">
              <a:ext uri="{FF2B5EF4-FFF2-40B4-BE49-F238E27FC236}">
                <a16:creationId xmlns:a16="http://schemas.microsoft.com/office/drawing/2014/main" id="{E696568B-2BA2-44F5-AD32-9DA4863C564E}"/>
              </a:ext>
            </a:extLst>
          </p:cNvPr>
          <p:cNvSpPr>
            <a:spLocks xmlns:a="http://schemas.openxmlformats.org/drawingml/2006/main" noGrp="1"/>
          </p:cNvSpPr>
          <p:nvPr/>
        </p:nvSpPr>
        <p:spPr>
          <a:xfrm xmlns:a="http://schemas.openxmlformats.org/drawingml/2006/main">
            <a:off x="1952625" y="6000750"/>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If cbf_luma were 0, no luma coefficient syntax would follow for this transform block.</a:t>
            </a:r>
          </a:p>
        </p:txBody>
      </p:sp>
    </p:spTree>
    <p:extLst>
      <p:ext uri="{BB962C8B-B14F-4D97-AF65-F5344CB8AC3E}">
        <p14:creationId xmlns:p14="http://schemas.microsoft.com/office/powerpoint/2010/main" val="2015256504"/>
      </p:ext>
    </p:extLst>
  </p:cSld>
</p:sld>
</file>

<file path=ppt/slides/slide13.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7" name="Oval 36">
            <a:extLst xmlns:a="http://schemas.openxmlformats.org/drawingml/2006/main">
              <a:ext uri="{FF2B5EF4-FFF2-40B4-BE49-F238E27FC236}">
                <a16:creationId xmlns:a16="http://schemas.microsoft.com/office/drawing/2014/main" id="{6B3758E3-1458-4AE8-80A6-DF167D82056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AC49FDF2-4328-47D4-A390-4AAF0FBA532F}"/>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8B2C5E0C-5CF6-4C25-9712-A713C667C45A}"/>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Step 2: locate the last significant coefficient</a:t>
            </a:r>
          </a:p>
        </p:txBody>
      </p:sp>
      <p:sp>
        <p:nvSpPr>
          <p:cNvPr id="4" name="Straight Connector 3">
            <a:extLst xmlns:a="http://schemas.openxmlformats.org/drawingml/2006/main">
              <a:ext uri="{FF2B5EF4-FFF2-40B4-BE49-F238E27FC236}">
                <a16:creationId xmlns:a16="http://schemas.microsoft.com/office/drawing/2014/main" id="{CB609457-3F8C-4F7E-B455-F69F2D2C727A}"/>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E261A0D8-DC02-4322-A856-58C7708E1510}"/>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HEVC signals the x and y coordinates of the final nonzero coefficient in scan order</a:t>
            </a:r>
          </a:p>
        </p:txBody>
      </p:sp>
      <p:sp>
        <p:nvSpPr>
          <p:cNvPr id="6" name="Rectangle 5">
            <a:extLst xmlns:a="http://schemas.openxmlformats.org/drawingml/2006/main">
              <a:ext uri="{FF2B5EF4-FFF2-40B4-BE49-F238E27FC236}">
                <a16:creationId xmlns:a16="http://schemas.microsoft.com/office/drawing/2014/main" id="{102B84A7-C357-4E9D-A193-FA0064E89A86}"/>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D2FBC959-5D55-425E-8333-26F8963DB0D3}"/>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13 / 49</a:t>
            </a:r>
          </a:p>
        </p:txBody>
      </p:sp>
      <p:sp>
        <p:nvSpPr>
          <p:cNvPr id="8" name="Rectangle: Rounded Corners 7">
            <a:extLst xmlns:a="http://schemas.openxmlformats.org/drawingml/2006/main">
              <a:ext uri="{FF2B5EF4-FFF2-40B4-BE49-F238E27FC236}">
                <a16:creationId xmlns:a16="http://schemas.microsoft.com/office/drawing/2014/main" id="{A8EA2CCA-332F-47C6-A986-124C48A720BC}"/>
              </a:ext>
            </a:extLst>
          </p:cNvPr>
          <p:cNvSpPr>
            <a:spLocks xmlns:a="http://schemas.openxmlformats.org/drawingml/2006/main" noGrp="1"/>
          </p:cNvSpPr>
          <p:nvPr/>
        </p:nvSpPr>
        <p:spPr>
          <a:xfrm xmlns:a="http://schemas.openxmlformats.org/drawingml/2006/main">
            <a:off x="857250" y="1809750"/>
            <a:ext cx="904875" cy="666750"/>
          </a:xfrm>
          <a:prstGeom xmlns:a="http://schemas.openxmlformats.org/drawingml/2006/main" prst="roundRect">
            <a:avLst>
              <a:gd name="adj" fmla="val 17143"/>
            </a:avLst>
          </a:prstGeom>
          <a:solidFill xmlns:a="http://schemas.openxmlformats.org/drawingml/2006/main">
            <a:srgbClr val="102A40"/>
          </a:solidFill>
          <a:ln xmlns:a="http://schemas.openxmlformats.org/drawingml/2006/main" w="19050">
            <a:solidFill>
              <a:srgbClr val="22D3EE"/>
            </a:solidFill>
            <a:prstDash val="solid"/>
          </a:ln>
        </p:spPr>
      </p:sp>
      <p:sp>
        <p:nvSpPr>
          <p:cNvPr id="9" name="Rectangle 8">
            <a:extLst xmlns:a="http://schemas.openxmlformats.org/drawingml/2006/main">
              <a:ext uri="{FF2B5EF4-FFF2-40B4-BE49-F238E27FC236}">
                <a16:creationId xmlns:a16="http://schemas.microsoft.com/office/drawing/2014/main" id="{628173C6-B1DA-49D4-B55D-38F62AB6D13E}"/>
              </a:ext>
            </a:extLst>
          </p:cNvPr>
          <p:cNvSpPr>
            <a:spLocks xmlns:a="http://schemas.openxmlformats.org/drawingml/2006/main" noGrp="1"/>
          </p:cNvSpPr>
          <p:nvPr/>
        </p:nvSpPr>
        <p:spPr>
          <a:xfrm xmlns:a="http://schemas.openxmlformats.org/drawingml/2006/main">
            <a:off x="9715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1</a:t>
            </a:r>
          </a:p>
        </p:txBody>
      </p:sp>
      <p:sp>
        <p:nvSpPr>
          <p:cNvPr id="10" name="Rectangle: Rounded Corners 9">
            <a:extLst xmlns:a="http://schemas.openxmlformats.org/drawingml/2006/main">
              <a:ext uri="{FF2B5EF4-FFF2-40B4-BE49-F238E27FC236}">
                <a16:creationId xmlns:a16="http://schemas.microsoft.com/office/drawing/2014/main" id="{D9667F2C-B672-4393-821D-356324B4FF21}"/>
              </a:ext>
            </a:extLst>
          </p:cNvPr>
          <p:cNvSpPr>
            <a:spLocks xmlns:a="http://schemas.openxmlformats.org/drawingml/2006/main" noGrp="1"/>
          </p:cNvSpPr>
          <p:nvPr/>
        </p:nvSpPr>
        <p:spPr>
          <a:xfrm xmlns:a="http://schemas.openxmlformats.org/drawingml/2006/main">
            <a:off x="2190750" y="1809750"/>
            <a:ext cx="904875" cy="666750"/>
          </a:xfrm>
          <a:prstGeom xmlns:a="http://schemas.openxmlformats.org/drawingml/2006/main" prst="roundRect">
            <a:avLst>
              <a:gd name="adj" fmla="val 17143"/>
            </a:avLst>
          </a:prstGeom>
          <a:solidFill xmlns:a="http://schemas.openxmlformats.org/drawingml/2006/main">
            <a:srgbClr val="102A40"/>
          </a:solidFill>
          <a:ln xmlns:a="http://schemas.openxmlformats.org/drawingml/2006/main" w="19050">
            <a:solidFill>
              <a:srgbClr val="22D3EE"/>
            </a:solidFill>
            <a:prstDash val="solid"/>
          </a:ln>
        </p:spPr>
      </p:sp>
      <p:sp>
        <p:nvSpPr>
          <p:cNvPr id="11" name="Rectangle 10">
            <a:extLst xmlns:a="http://schemas.openxmlformats.org/drawingml/2006/main">
              <a:ext uri="{FF2B5EF4-FFF2-40B4-BE49-F238E27FC236}">
                <a16:creationId xmlns:a16="http://schemas.microsoft.com/office/drawing/2014/main" id="{C52131B8-9C5F-468C-A48E-B0A08360CE51}"/>
              </a:ext>
            </a:extLst>
          </p:cNvPr>
          <p:cNvSpPr>
            <a:spLocks xmlns:a="http://schemas.openxmlformats.org/drawingml/2006/main" noGrp="1"/>
          </p:cNvSpPr>
          <p:nvPr/>
        </p:nvSpPr>
        <p:spPr>
          <a:xfrm xmlns:a="http://schemas.openxmlformats.org/drawingml/2006/main">
            <a:off x="23050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2</a:t>
            </a:r>
          </a:p>
        </p:txBody>
      </p:sp>
      <p:sp>
        <p:nvSpPr>
          <p:cNvPr id="12" name="Rectangle: Rounded Corners 11">
            <a:extLst xmlns:a="http://schemas.openxmlformats.org/drawingml/2006/main">
              <a:ext uri="{FF2B5EF4-FFF2-40B4-BE49-F238E27FC236}">
                <a16:creationId xmlns:a16="http://schemas.microsoft.com/office/drawing/2014/main" id="{5C13ABD1-DDB3-495F-8796-0D890492692C}"/>
              </a:ext>
            </a:extLst>
          </p:cNvPr>
          <p:cNvSpPr>
            <a:spLocks xmlns:a="http://schemas.openxmlformats.org/drawingml/2006/main" noGrp="1"/>
          </p:cNvSpPr>
          <p:nvPr/>
        </p:nvSpPr>
        <p:spPr>
          <a:xfrm xmlns:a="http://schemas.openxmlformats.org/drawingml/2006/main">
            <a:off x="3524250" y="1809750"/>
            <a:ext cx="904875" cy="666750"/>
          </a:xfrm>
          <a:prstGeom xmlns:a="http://schemas.openxmlformats.org/drawingml/2006/main" prst="roundRect">
            <a:avLst>
              <a:gd name="adj" fmla="val 17143"/>
            </a:avLst>
          </a:prstGeom>
          <a:solidFill xmlns:a="http://schemas.openxmlformats.org/drawingml/2006/main">
            <a:srgbClr val="102A40"/>
          </a:solidFill>
          <a:ln xmlns:a="http://schemas.openxmlformats.org/drawingml/2006/main" w="19050">
            <a:solidFill>
              <a:srgbClr val="22D3EE"/>
            </a:solidFill>
            <a:prstDash val="solid"/>
          </a:ln>
        </p:spPr>
      </p:sp>
      <p:sp>
        <p:nvSpPr>
          <p:cNvPr id="13" name="Rectangle 12">
            <a:extLst xmlns:a="http://schemas.openxmlformats.org/drawingml/2006/main">
              <a:ext uri="{FF2B5EF4-FFF2-40B4-BE49-F238E27FC236}">
                <a16:creationId xmlns:a16="http://schemas.microsoft.com/office/drawing/2014/main" id="{BC8DE77D-DC73-43B5-94F2-F2DBDA6A8DE3}"/>
              </a:ext>
            </a:extLst>
          </p:cNvPr>
          <p:cNvSpPr>
            <a:spLocks xmlns:a="http://schemas.openxmlformats.org/drawingml/2006/main" noGrp="1"/>
          </p:cNvSpPr>
          <p:nvPr/>
        </p:nvSpPr>
        <p:spPr>
          <a:xfrm xmlns:a="http://schemas.openxmlformats.org/drawingml/2006/main">
            <a:off x="36385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3</a:t>
            </a:r>
          </a:p>
        </p:txBody>
      </p:sp>
      <p:sp>
        <p:nvSpPr>
          <p:cNvPr id="14" name="Rectangle: Rounded Corners 13">
            <a:extLst xmlns:a="http://schemas.openxmlformats.org/drawingml/2006/main">
              <a:ext uri="{FF2B5EF4-FFF2-40B4-BE49-F238E27FC236}">
                <a16:creationId xmlns:a16="http://schemas.microsoft.com/office/drawing/2014/main" id="{51C669C3-5402-409B-B87D-16B136D7A633}"/>
              </a:ext>
            </a:extLst>
          </p:cNvPr>
          <p:cNvSpPr>
            <a:spLocks xmlns:a="http://schemas.openxmlformats.org/drawingml/2006/main" noGrp="1"/>
          </p:cNvSpPr>
          <p:nvPr/>
        </p:nvSpPr>
        <p:spPr>
          <a:xfrm xmlns:a="http://schemas.openxmlformats.org/drawingml/2006/main">
            <a:off x="4857750" y="1809750"/>
            <a:ext cx="904875" cy="666750"/>
          </a:xfrm>
          <a:prstGeom xmlns:a="http://schemas.openxmlformats.org/drawingml/2006/main" prst="roundRect">
            <a:avLst>
              <a:gd name="adj" fmla="val 17143"/>
            </a:avLst>
          </a:prstGeom>
          <a:solidFill xmlns:a="http://schemas.openxmlformats.org/drawingml/2006/main">
            <a:srgbClr val="102A40"/>
          </a:solidFill>
          <a:ln xmlns:a="http://schemas.openxmlformats.org/drawingml/2006/main" w="19050">
            <a:solidFill>
              <a:srgbClr val="22D3EE"/>
            </a:solidFill>
            <a:prstDash val="solid"/>
          </a:ln>
        </p:spPr>
      </p:sp>
      <p:sp>
        <p:nvSpPr>
          <p:cNvPr id="15" name="Rectangle 14">
            <a:extLst xmlns:a="http://schemas.openxmlformats.org/drawingml/2006/main">
              <a:ext uri="{FF2B5EF4-FFF2-40B4-BE49-F238E27FC236}">
                <a16:creationId xmlns:a16="http://schemas.microsoft.com/office/drawing/2014/main" id="{C18A715E-E3E3-4E4C-969F-F6425EB3E09F}"/>
              </a:ext>
            </a:extLst>
          </p:cNvPr>
          <p:cNvSpPr>
            <a:spLocks xmlns:a="http://schemas.openxmlformats.org/drawingml/2006/main" noGrp="1"/>
          </p:cNvSpPr>
          <p:nvPr/>
        </p:nvSpPr>
        <p:spPr>
          <a:xfrm xmlns:a="http://schemas.openxmlformats.org/drawingml/2006/main">
            <a:off x="49720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4</a:t>
            </a:r>
          </a:p>
        </p:txBody>
      </p:sp>
      <p:sp>
        <p:nvSpPr>
          <p:cNvPr id="16" name="Rectangle: Rounded Corners 15">
            <a:extLst xmlns:a="http://schemas.openxmlformats.org/drawingml/2006/main">
              <a:ext uri="{FF2B5EF4-FFF2-40B4-BE49-F238E27FC236}">
                <a16:creationId xmlns:a16="http://schemas.microsoft.com/office/drawing/2014/main" id="{4BC8CC9E-81B1-4CBE-BE15-20D5B2A1F37A}"/>
              </a:ext>
            </a:extLst>
          </p:cNvPr>
          <p:cNvSpPr>
            <a:spLocks xmlns:a="http://schemas.openxmlformats.org/drawingml/2006/main" noGrp="1"/>
          </p:cNvSpPr>
          <p:nvPr/>
        </p:nvSpPr>
        <p:spPr>
          <a:xfrm xmlns:a="http://schemas.openxmlformats.org/drawingml/2006/main">
            <a:off x="6191250" y="1809750"/>
            <a:ext cx="904875" cy="666750"/>
          </a:xfrm>
          <a:prstGeom xmlns:a="http://schemas.openxmlformats.org/drawingml/2006/main" prst="roundRect">
            <a:avLst>
              <a:gd name="adj" fmla="val 17143"/>
            </a:avLst>
          </a:prstGeom>
          <a:solidFill xmlns:a="http://schemas.openxmlformats.org/drawingml/2006/main">
            <a:srgbClr val="102A40"/>
          </a:solidFill>
          <a:ln xmlns:a="http://schemas.openxmlformats.org/drawingml/2006/main" w="19050">
            <a:solidFill>
              <a:srgbClr val="22D3EE"/>
            </a:solidFill>
            <a:prstDash val="solid"/>
          </a:ln>
        </p:spPr>
      </p:sp>
      <p:sp>
        <p:nvSpPr>
          <p:cNvPr id="17" name="Rectangle 16">
            <a:extLst xmlns:a="http://schemas.openxmlformats.org/drawingml/2006/main">
              <a:ext uri="{FF2B5EF4-FFF2-40B4-BE49-F238E27FC236}">
                <a16:creationId xmlns:a16="http://schemas.microsoft.com/office/drawing/2014/main" id="{3D0F3505-0259-4089-8BB4-93D909ED824B}"/>
              </a:ext>
            </a:extLst>
          </p:cNvPr>
          <p:cNvSpPr>
            <a:spLocks xmlns:a="http://schemas.openxmlformats.org/drawingml/2006/main" noGrp="1"/>
          </p:cNvSpPr>
          <p:nvPr/>
        </p:nvSpPr>
        <p:spPr>
          <a:xfrm xmlns:a="http://schemas.openxmlformats.org/drawingml/2006/main">
            <a:off x="63055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5</a:t>
            </a:r>
          </a:p>
        </p:txBody>
      </p:sp>
      <p:sp>
        <p:nvSpPr>
          <p:cNvPr id="18" name="Rectangle: Rounded Corners 17">
            <a:extLst xmlns:a="http://schemas.openxmlformats.org/drawingml/2006/main">
              <a:ext uri="{FF2B5EF4-FFF2-40B4-BE49-F238E27FC236}">
                <a16:creationId xmlns:a16="http://schemas.microsoft.com/office/drawing/2014/main" id="{23D7A865-3268-41A7-AB1A-592B6A16E03A}"/>
              </a:ext>
            </a:extLst>
          </p:cNvPr>
          <p:cNvSpPr>
            <a:spLocks xmlns:a="http://schemas.openxmlformats.org/drawingml/2006/main" noGrp="1"/>
          </p:cNvSpPr>
          <p:nvPr/>
        </p:nvSpPr>
        <p:spPr>
          <a:xfrm xmlns:a="http://schemas.openxmlformats.org/drawingml/2006/main">
            <a:off x="7524750" y="1809750"/>
            <a:ext cx="904875" cy="666750"/>
          </a:xfrm>
          <a:prstGeom xmlns:a="http://schemas.openxmlformats.org/drawingml/2006/main" prst="roundRect">
            <a:avLst>
              <a:gd name="adj" fmla="val 17143"/>
            </a:avLst>
          </a:prstGeom>
          <a:solidFill xmlns:a="http://schemas.openxmlformats.org/drawingml/2006/main">
            <a:srgbClr val="081925"/>
          </a:solidFill>
          <a:ln xmlns:a="http://schemas.openxmlformats.org/drawingml/2006/main" w="19050">
            <a:solidFill>
              <a:srgbClr val="2A5876"/>
            </a:solidFill>
            <a:prstDash val="solid"/>
          </a:ln>
        </p:spPr>
      </p:sp>
      <p:sp>
        <p:nvSpPr>
          <p:cNvPr id="19" name="Rectangle 18">
            <a:extLst xmlns:a="http://schemas.openxmlformats.org/drawingml/2006/main">
              <a:ext uri="{FF2B5EF4-FFF2-40B4-BE49-F238E27FC236}">
                <a16:creationId xmlns:a16="http://schemas.microsoft.com/office/drawing/2014/main" id="{12534477-4F41-4E0F-8C12-8A94EF684AE4}"/>
              </a:ext>
            </a:extLst>
          </p:cNvPr>
          <p:cNvSpPr>
            <a:spLocks xmlns:a="http://schemas.openxmlformats.org/drawingml/2006/main" noGrp="1"/>
          </p:cNvSpPr>
          <p:nvPr/>
        </p:nvSpPr>
        <p:spPr>
          <a:xfrm xmlns:a="http://schemas.openxmlformats.org/drawingml/2006/main">
            <a:off x="76390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6</a:t>
            </a:r>
          </a:p>
        </p:txBody>
      </p:sp>
      <p:sp>
        <p:nvSpPr>
          <p:cNvPr id="20" name="Rectangle: Rounded Corners 19">
            <a:extLst xmlns:a="http://schemas.openxmlformats.org/drawingml/2006/main">
              <a:ext uri="{FF2B5EF4-FFF2-40B4-BE49-F238E27FC236}">
                <a16:creationId xmlns:a16="http://schemas.microsoft.com/office/drawing/2014/main" id="{3F073B19-92F2-4494-B87E-64332618955A}"/>
              </a:ext>
            </a:extLst>
          </p:cNvPr>
          <p:cNvSpPr>
            <a:spLocks xmlns:a="http://schemas.openxmlformats.org/drawingml/2006/main" noGrp="1"/>
          </p:cNvSpPr>
          <p:nvPr/>
        </p:nvSpPr>
        <p:spPr>
          <a:xfrm xmlns:a="http://schemas.openxmlformats.org/drawingml/2006/main">
            <a:off x="8858250" y="1809750"/>
            <a:ext cx="904875" cy="666750"/>
          </a:xfrm>
          <a:prstGeom xmlns:a="http://schemas.openxmlformats.org/drawingml/2006/main" prst="roundRect">
            <a:avLst>
              <a:gd name="adj" fmla="val 17143"/>
            </a:avLst>
          </a:prstGeom>
          <a:solidFill xmlns:a="http://schemas.openxmlformats.org/drawingml/2006/main">
            <a:srgbClr val="081925"/>
          </a:solidFill>
          <a:ln xmlns:a="http://schemas.openxmlformats.org/drawingml/2006/main" w="19050">
            <a:solidFill>
              <a:srgbClr val="2A5876"/>
            </a:solidFill>
            <a:prstDash val="solid"/>
          </a:ln>
        </p:spPr>
      </p:sp>
      <p:sp>
        <p:nvSpPr>
          <p:cNvPr id="21" name="Rectangle 20">
            <a:extLst xmlns:a="http://schemas.openxmlformats.org/drawingml/2006/main">
              <a:ext uri="{FF2B5EF4-FFF2-40B4-BE49-F238E27FC236}">
                <a16:creationId xmlns:a16="http://schemas.microsoft.com/office/drawing/2014/main" id="{18CC2409-447D-4B3A-BA4E-6DCE60E1DB51}"/>
              </a:ext>
            </a:extLst>
          </p:cNvPr>
          <p:cNvSpPr>
            <a:spLocks xmlns:a="http://schemas.openxmlformats.org/drawingml/2006/main" noGrp="1"/>
          </p:cNvSpPr>
          <p:nvPr/>
        </p:nvSpPr>
        <p:spPr>
          <a:xfrm xmlns:a="http://schemas.openxmlformats.org/drawingml/2006/main">
            <a:off x="89725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7</a:t>
            </a:r>
          </a:p>
        </p:txBody>
      </p:sp>
      <p:sp>
        <p:nvSpPr>
          <p:cNvPr id="22" name="Rectangle: Rounded Corners 21">
            <a:extLst xmlns:a="http://schemas.openxmlformats.org/drawingml/2006/main">
              <a:ext uri="{FF2B5EF4-FFF2-40B4-BE49-F238E27FC236}">
                <a16:creationId xmlns:a16="http://schemas.microsoft.com/office/drawing/2014/main" id="{EC9F2593-06A6-4C0A-A08A-E26D3D8BDD07}"/>
              </a:ext>
            </a:extLst>
          </p:cNvPr>
          <p:cNvSpPr>
            <a:spLocks xmlns:a="http://schemas.openxmlformats.org/drawingml/2006/main" noGrp="1"/>
          </p:cNvSpPr>
          <p:nvPr/>
        </p:nvSpPr>
        <p:spPr>
          <a:xfrm xmlns:a="http://schemas.openxmlformats.org/drawingml/2006/main">
            <a:off x="10191750" y="1809750"/>
            <a:ext cx="904875" cy="666750"/>
          </a:xfrm>
          <a:prstGeom xmlns:a="http://schemas.openxmlformats.org/drawingml/2006/main" prst="roundRect">
            <a:avLst>
              <a:gd name="adj" fmla="val 17143"/>
            </a:avLst>
          </a:prstGeom>
          <a:solidFill xmlns:a="http://schemas.openxmlformats.org/drawingml/2006/main">
            <a:srgbClr val="081925"/>
          </a:solidFill>
          <a:ln xmlns:a="http://schemas.openxmlformats.org/drawingml/2006/main" w="19050">
            <a:solidFill>
              <a:srgbClr val="2A5876"/>
            </a:solidFill>
            <a:prstDash val="solid"/>
          </a:ln>
        </p:spPr>
      </p:sp>
      <p:sp>
        <p:nvSpPr>
          <p:cNvPr id="23" name="Rectangle 22">
            <a:extLst xmlns:a="http://schemas.openxmlformats.org/drawingml/2006/main">
              <a:ext uri="{FF2B5EF4-FFF2-40B4-BE49-F238E27FC236}">
                <a16:creationId xmlns:a16="http://schemas.microsoft.com/office/drawing/2014/main" id="{9D2CC6B4-2CEC-488D-87DF-7763E39A9523}"/>
              </a:ext>
            </a:extLst>
          </p:cNvPr>
          <p:cNvSpPr>
            <a:spLocks xmlns:a="http://schemas.openxmlformats.org/drawingml/2006/main" noGrp="1"/>
          </p:cNvSpPr>
          <p:nvPr/>
        </p:nvSpPr>
        <p:spPr>
          <a:xfrm xmlns:a="http://schemas.openxmlformats.org/drawingml/2006/main">
            <a:off x="10306050" y="1905000"/>
            <a:ext cx="676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8</a:t>
            </a:r>
          </a:p>
        </p:txBody>
      </p:sp>
      <p:sp>
        <p:nvSpPr>
          <p:cNvPr id="24" name="Rectangle 23">
            <a:extLst xmlns:a="http://schemas.openxmlformats.org/drawingml/2006/main">
              <a:ext uri="{FF2B5EF4-FFF2-40B4-BE49-F238E27FC236}">
                <a16:creationId xmlns:a16="http://schemas.microsoft.com/office/drawing/2014/main" id="{A08CD24A-863E-4109-8ABD-152CD9FC98B6}"/>
              </a:ext>
            </a:extLst>
          </p:cNvPr>
          <p:cNvSpPr>
            <a:spLocks xmlns:a="http://schemas.openxmlformats.org/drawingml/2006/main" noGrp="1"/>
          </p:cNvSpPr>
          <p:nvPr/>
        </p:nvSpPr>
        <p:spPr>
          <a:xfrm xmlns:a="http://schemas.openxmlformats.org/drawingml/2006/main">
            <a:off x="8477250" y="28670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C2126B8F-0AED-4112-BE0D-06DD4CB7FEF8}"/>
              </a:ext>
            </a:extLst>
          </p:cNvPr>
          <p:cNvSpPr>
            <a:spLocks xmlns:a="http://schemas.openxmlformats.org/drawingml/2006/main" noGrp="1"/>
          </p:cNvSpPr>
          <p:nvPr/>
        </p:nvSpPr>
        <p:spPr>
          <a:xfrm xmlns:a="http://schemas.openxmlformats.org/drawingml/2006/main">
            <a:off x="3714750" y="28670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8" name="Straight Arrow Connector 61"/>
          <p:cNvCxnSpPr>
            <a:stCxn xmlns:a="http://schemas.openxmlformats.org/drawingml/2006/main" id="24" idx="1"/>
            <a:endCxn xmlns:a="http://schemas.openxmlformats.org/drawingml/2006/main" id="25" idx="3"/>
          </p:cNvCxnSpPr>
          <p:nvPr/>
        </p:nvCxnSpPr>
        <p:spPr>
          <a:xfrm xmlns:a="http://schemas.openxmlformats.org/drawingml/2006/main" flipH="1">
            <a:off x="3733800" y="2876550"/>
            <a:ext cx="47434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7" name="Rectangle 26">
            <a:extLst xmlns:a="http://schemas.openxmlformats.org/drawingml/2006/main">
              <a:ext uri="{FF2B5EF4-FFF2-40B4-BE49-F238E27FC236}">
                <a16:creationId xmlns:a16="http://schemas.microsoft.com/office/drawing/2014/main" id="{4E97BEE3-358C-4F1B-A5A8-4A7D6D0D8381}"/>
              </a:ext>
            </a:extLst>
          </p:cNvPr>
          <p:cNvSpPr>
            <a:spLocks xmlns:a="http://schemas.openxmlformats.org/drawingml/2006/main" noGrp="1"/>
          </p:cNvSpPr>
          <p:nvPr/>
        </p:nvSpPr>
        <p:spPr>
          <a:xfrm xmlns:a="http://schemas.openxmlformats.org/drawingml/2006/main">
            <a:off x="3857625" y="30480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AFC0D0"/>
                </a:solidFill>
                <a:latin typeface="Arial"/>
                <a:ea typeface="Arial"/>
                <a:cs typeface="Arial"/>
              </a:defRPr>
            </a:pPr>
            <a:r>
              <a:rPr sz="1350" b="1">
                <a:solidFill>
                  <a:srgbClr val="AFC0D0"/>
                </a:solidFill>
                <a:latin typeface="Arial"/>
                <a:ea typeface="Arial"/>
                <a:cs typeface="Arial"/>
              </a:rPr>
              <a:t>KNOWN TRANSFORM SCAN ORDER</a:t>
            </a:r>
          </a:p>
        </p:txBody>
      </p:sp>
      <p:sp>
        <p:nvSpPr>
          <p:cNvPr id="28" name="Rectangle: Rounded Corners 27">
            <a:extLst xmlns:a="http://schemas.openxmlformats.org/drawingml/2006/main">
              <a:ext uri="{FF2B5EF4-FFF2-40B4-BE49-F238E27FC236}">
                <a16:creationId xmlns:a16="http://schemas.microsoft.com/office/drawing/2014/main" id="{F9E85176-BEB7-448C-B24A-F63130DD7CEB}"/>
              </a:ext>
            </a:extLst>
          </p:cNvPr>
          <p:cNvSpPr>
            <a:spLocks xmlns:a="http://schemas.openxmlformats.org/drawingml/2006/main" noGrp="1"/>
          </p:cNvSpPr>
          <p:nvPr/>
        </p:nvSpPr>
        <p:spPr>
          <a:xfrm xmlns:a="http://schemas.openxmlformats.org/drawingml/2006/main">
            <a:off x="1000125" y="3857625"/>
            <a:ext cx="3000375" cy="590550"/>
          </a:xfrm>
          <a:prstGeom xmlns:a="http://schemas.openxmlformats.org/drawingml/2006/main" prst="roundRect">
            <a:avLst>
              <a:gd name="adj" fmla="val 19355"/>
            </a:avLst>
          </a:prstGeom>
          <a:solidFill xmlns:a="http://schemas.openxmlformats.org/drawingml/2006/main">
            <a:srgbClr val="092034"/>
          </a:solidFill>
          <a:ln xmlns:a="http://schemas.openxmlformats.org/drawingml/2006/main" w="19050">
            <a:solidFill>
              <a:srgbClr val="22D3EE"/>
            </a:solidFill>
            <a:prstDash val="solid"/>
          </a:ln>
        </p:spPr>
      </p:sp>
      <p:sp>
        <p:nvSpPr>
          <p:cNvPr id="29" name="Rectangle 28">
            <a:extLst xmlns:a="http://schemas.openxmlformats.org/drawingml/2006/main">
              <a:ext uri="{FF2B5EF4-FFF2-40B4-BE49-F238E27FC236}">
                <a16:creationId xmlns:a16="http://schemas.microsoft.com/office/drawing/2014/main" id="{73EBBC67-1939-4B33-92A5-E08ECEB66B67}"/>
              </a:ext>
            </a:extLst>
          </p:cNvPr>
          <p:cNvSpPr>
            <a:spLocks xmlns:a="http://schemas.openxmlformats.org/drawingml/2006/main" noGrp="1"/>
          </p:cNvSpPr>
          <p:nvPr/>
        </p:nvSpPr>
        <p:spPr>
          <a:xfrm xmlns:a="http://schemas.openxmlformats.org/drawingml/2006/main">
            <a:off x="1114425" y="3952875"/>
            <a:ext cx="2771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last_sig_coeff_x_prefix</a:t>
            </a:r>
          </a:p>
        </p:txBody>
      </p:sp>
      <p:sp>
        <p:nvSpPr>
          <p:cNvPr id="30" name="Rectangle: Rounded Corners 29">
            <a:extLst xmlns:a="http://schemas.openxmlformats.org/drawingml/2006/main">
              <a:ext uri="{FF2B5EF4-FFF2-40B4-BE49-F238E27FC236}">
                <a16:creationId xmlns:a16="http://schemas.microsoft.com/office/drawing/2014/main" id="{178B831C-C01F-4D08-BEA7-5003354646E1}"/>
              </a:ext>
            </a:extLst>
          </p:cNvPr>
          <p:cNvSpPr>
            <a:spLocks xmlns:a="http://schemas.openxmlformats.org/drawingml/2006/main" noGrp="1"/>
          </p:cNvSpPr>
          <p:nvPr/>
        </p:nvSpPr>
        <p:spPr>
          <a:xfrm xmlns:a="http://schemas.openxmlformats.org/drawingml/2006/main">
            <a:off x="4619625" y="3857625"/>
            <a:ext cx="3000375" cy="590550"/>
          </a:xfrm>
          <a:prstGeom xmlns:a="http://schemas.openxmlformats.org/drawingml/2006/main" prst="roundRect">
            <a:avLst>
              <a:gd name="adj" fmla="val 19355"/>
            </a:avLst>
          </a:prstGeom>
          <a:solidFill xmlns:a="http://schemas.openxmlformats.org/drawingml/2006/main">
            <a:srgbClr val="092034"/>
          </a:solidFill>
          <a:ln xmlns:a="http://schemas.openxmlformats.org/drawingml/2006/main" w="19050">
            <a:solidFill>
              <a:srgbClr val="22D3EE"/>
            </a:solidFill>
            <a:prstDash val="solid"/>
          </a:ln>
        </p:spPr>
      </p:sp>
      <p:sp>
        <p:nvSpPr>
          <p:cNvPr id="31" name="Rectangle 30">
            <a:extLst xmlns:a="http://schemas.openxmlformats.org/drawingml/2006/main">
              <a:ext uri="{FF2B5EF4-FFF2-40B4-BE49-F238E27FC236}">
                <a16:creationId xmlns:a16="http://schemas.microsoft.com/office/drawing/2014/main" id="{8FCCAAF6-15FC-4A8D-AE35-9D2B4392A88C}"/>
              </a:ext>
            </a:extLst>
          </p:cNvPr>
          <p:cNvSpPr>
            <a:spLocks xmlns:a="http://schemas.openxmlformats.org/drawingml/2006/main" noGrp="1"/>
          </p:cNvSpPr>
          <p:nvPr/>
        </p:nvSpPr>
        <p:spPr>
          <a:xfrm xmlns:a="http://schemas.openxmlformats.org/drawingml/2006/main">
            <a:off x="4733925" y="3952875"/>
            <a:ext cx="2771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last_sig_coeff_y_prefix</a:t>
            </a:r>
          </a:p>
        </p:txBody>
      </p:sp>
      <p:sp>
        <p:nvSpPr>
          <p:cNvPr id="32" name="Rectangle: Rounded Corners 31">
            <a:extLst xmlns:a="http://schemas.openxmlformats.org/drawingml/2006/main">
              <a:ext uri="{FF2B5EF4-FFF2-40B4-BE49-F238E27FC236}">
                <a16:creationId xmlns:a16="http://schemas.microsoft.com/office/drawing/2014/main" id="{59A2840F-C281-4E9E-93F0-45718DE6E687}"/>
              </a:ext>
            </a:extLst>
          </p:cNvPr>
          <p:cNvSpPr>
            <a:spLocks xmlns:a="http://schemas.openxmlformats.org/drawingml/2006/main" noGrp="1"/>
          </p:cNvSpPr>
          <p:nvPr/>
        </p:nvSpPr>
        <p:spPr>
          <a:xfrm xmlns:a="http://schemas.openxmlformats.org/drawingml/2006/main">
            <a:off x="8239125" y="3857625"/>
            <a:ext cx="3000375" cy="590550"/>
          </a:xfrm>
          <a:prstGeom xmlns:a="http://schemas.openxmlformats.org/drawingml/2006/main" prst="roundRect">
            <a:avLst>
              <a:gd name="adj" fmla="val 19355"/>
            </a:avLst>
          </a:prstGeom>
          <a:solidFill xmlns:a="http://schemas.openxmlformats.org/drawingml/2006/main">
            <a:srgbClr val="10223A"/>
          </a:solidFill>
          <a:ln xmlns:a="http://schemas.openxmlformats.org/drawingml/2006/main" w="19050">
            <a:solidFill>
              <a:srgbClr val="2E9BFF"/>
            </a:solidFill>
            <a:prstDash val="solid"/>
          </a:ln>
        </p:spPr>
      </p:sp>
      <p:sp>
        <p:nvSpPr>
          <p:cNvPr id="33" name="Rectangle 32">
            <a:extLst xmlns:a="http://schemas.openxmlformats.org/drawingml/2006/main">
              <a:ext uri="{FF2B5EF4-FFF2-40B4-BE49-F238E27FC236}">
                <a16:creationId xmlns:a16="http://schemas.microsoft.com/office/drawing/2014/main" id="{D85A3777-CCC8-4F2E-B439-214D8C923BC4}"/>
              </a:ext>
            </a:extLst>
          </p:cNvPr>
          <p:cNvSpPr>
            <a:spLocks xmlns:a="http://schemas.openxmlformats.org/drawingml/2006/main" noGrp="1"/>
          </p:cNvSpPr>
          <p:nvPr/>
        </p:nvSpPr>
        <p:spPr>
          <a:xfrm xmlns:a="http://schemas.openxmlformats.org/drawingml/2006/main">
            <a:off x="8353425" y="3952875"/>
            <a:ext cx="27717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optional x/y suffixes</a:t>
            </a:r>
          </a:p>
        </p:txBody>
      </p:sp>
      <p:sp>
        <p:nvSpPr>
          <p:cNvPr id="34" name="Rectangle: Rounded Corners 33">
            <a:extLst xmlns:a="http://schemas.openxmlformats.org/drawingml/2006/main">
              <a:ext uri="{FF2B5EF4-FFF2-40B4-BE49-F238E27FC236}">
                <a16:creationId xmlns:a16="http://schemas.microsoft.com/office/drawing/2014/main" id="{E14C6A79-3C2F-4138-808F-A38E81363939}"/>
              </a:ext>
            </a:extLst>
          </p:cNvPr>
          <p:cNvSpPr>
            <a:spLocks xmlns:a="http://schemas.openxmlformats.org/drawingml/2006/main" noGrp="1"/>
          </p:cNvSpPr>
          <p:nvPr/>
        </p:nvSpPr>
        <p:spPr>
          <a:xfrm xmlns:a="http://schemas.openxmlformats.org/drawingml/2006/main">
            <a:off x="2286000" y="5048250"/>
            <a:ext cx="7620000" cy="628650"/>
          </a:xfrm>
          <a:prstGeom xmlns:a="http://schemas.openxmlformats.org/drawingml/2006/main" prst="roundRect">
            <a:avLst>
              <a:gd name="adj" fmla="val 18182"/>
            </a:avLst>
          </a:prstGeom>
          <a:solidFill xmlns:a="http://schemas.openxmlformats.org/drawingml/2006/main">
            <a:srgbClr val="0A2830"/>
          </a:solidFill>
          <a:ln xmlns:a="http://schemas.openxmlformats.org/drawingml/2006/main" w="19050">
            <a:solidFill>
              <a:srgbClr val="47E6A4"/>
            </a:solidFill>
            <a:prstDash val="solid"/>
          </a:ln>
        </p:spPr>
      </p:sp>
      <p:sp>
        <p:nvSpPr>
          <p:cNvPr id="35" name="Rectangle 34">
            <a:extLst xmlns:a="http://schemas.openxmlformats.org/drawingml/2006/main">
              <a:ext uri="{FF2B5EF4-FFF2-40B4-BE49-F238E27FC236}">
                <a16:creationId xmlns:a16="http://schemas.microsoft.com/office/drawing/2014/main" id="{02F44955-1C47-4148-BF58-F43DBEED3EC0}"/>
              </a:ext>
            </a:extLst>
          </p:cNvPr>
          <p:cNvSpPr>
            <a:spLocks xmlns:a="http://schemas.openxmlformats.org/drawingml/2006/main" noGrp="1"/>
          </p:cNvSpPr>
          <p:nvPr/>
        </p:nvSpPr>
        <p:spPr>
          <a:xfrm xmlns:a="http://schemas.openxmlformats.org/drawingml/2006/main">
            <a:off x="2400300" y="5143500"/>
            <a:ext cx="739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Result: </a:t>
            </a:r>
            <a:r>
              <a:rPr sz="1575" b="1">
                <a:solidFill>
                  <a:srgbClr val="F4F8FC"/>
                </a:solidFill>
                <a:latin typeface="Arial"/>
                <a:ea typeface="Arial"/>
                <a:cs typeface="Arial"/>
              </a:rPr>
              <a:t>LastSignificantCoeffX</a:t>
            </a:r>
            <a:r>
              <a:rPr sz="1575" b="1">
                <a:solidFill>
                  <a:srgbClr val="F4F8FC"/>
                </a:solidFill>
                <a:latin typeface="Arial"/>
                <a:ea typeface="Arial"/>
                <a:cs typeface="Arial"/>
              </a:rPr>
              <a:t> and LastSignificantCoeffY</a:t>
            </a:r>
          </a:p>
        </p:txBody>
      </p:sp>
      <p:sp>
        <p:nvSpPr>
          <p:cNvPr id="36" name="Rectangle 35">
            <a:extLst xmlns:a="http://schemas.openxmlformats.org/drawingml/2006/main">
              <a:ext uri="{FF2B5EF4-FFF2-40B4-BE49-F238E27FC236}">
                <a16:creationId xmlns:a16="http://schemas.microsoft.com/office/drawing/2014/main" id="{EC53AF7C-3A5E-42A3-9A41-90BB6E3C9E22}"/>
              </a:ext>
            </a:extLst>
          </p:cNvPr>
          <p:cNvSpPr>
            <a:spLocks xmlns:a="http://schemas.openxmlformats.org/drawingml/2006/main" noGrp="1"/>
          </p:cNvSpPr>
          <p:nvPr/>
        </p:nvSpPr>
        <p:spPr>
          <a:xfrm xmlns:a="http://schemas.openxmlformats.org/drawingml/2006/main">
            <a:off x="2333625" y="6048375"/>
            <a:ext cx="752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FF6577"/>
                </a:solidFill>
                <a:latin typeface="Arial"/>
                <a:ea typeface="Arial"/>
                <a:cs typeface="Arial"/>
              </a:defRPr>
            </a:pPr>
            <a:r>
              <a:rPr sz="1350" b="1">
                <a:solidFill>
                  <a:srgbClr val="FF6577"/>
                </a:solidFill>
                <a:latin typeface="Arial"/>
                <a:ea typeface="Arial"/>
                <a:cs typeface="Arial"/>
              </a:rPr>
              <a:t>There is no unary field saying how many significance flags follow.</a:t>
            </a:r>
          </a:p>
        </p:txBody>
      </p:sp>
    </p:spTree>
    <p:extLst>
      <p:ext uri="{BB962C8B-B14F-4D97-AF65-F5344CB8AC3E}">
        <p14:creationId xmlns:p14="http://schemas.microsoft.com/office/powerpoint/2010/main" val="2062432107"/>
      </p:ext>
    </p:extLst>
  </p:cSld>
</p:sld>
</file>

<file path=ppt/slides/slide14.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2" name="Oval 11">
            <a:extLst xmlns:a="http://schemas.openxmlformats.org/drawingml/2006/main">
              <a:ext uri="{FF2B5EF4-FFF2-40B4-BE49-F238E27FC236}">
                <a16:creationId xmlns:a16="http://schemas.microsoft.com/office/drawing/2014/main" id="{372BF087-9A62-4A75-B808-E4A6DBA628DE}"/>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1B262E6E-9AF6-468D-B592-2AB56698CED2}"/>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14FC6D47-A65E-42E7-AFEE-3EAAEE70FCA5}"/>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Step 3: decode coefficient groups and significance</a:t>
            </a:r>
          </a:p>
        </p:txBody>
      </p:sp>
      <p:sp>
        <p:nvSpPr>
          <p:cNvPr id="4" name="Straight Connector 3">
            <a:extLst xmlns:a="http://schemas.openxmlformats.org/drawingml/2006/main">
              <a:ext uri="{FF2B5EF4-FFF2-40B4-BE49-F238E27FC236}">
                <a16:creationId xmlns:a16="http://schemas.microsoft.com/office/drawing/2014/main" id="{C78D83E5-8744-4CE5-A54C-7CCE97134051}"/>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20D0E8FD-C432-4724-91B4-A4E2FCD91540}"/>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known scan order—not a delimiter—tells the parser which coefficient position comes next</a:t>
            </a:r>
          </a:p>
        </p:txBody>
      </p:sp>
      <p:sp>
        <p:nvSpPr>
          <p:cNvPr id="6" name="Rectangle 5">
            <a:extLst xmlns:a="http://schemas.openxmlformats.org/drawingml/2006/main">
              <a:ext uri="{FF2B5EF4-FFF2-40B4-BE49-F238E27FC236}">
                <a16:creationId xmlns:a16="http://schemas.microsoft.com/office/drawing/2014/main" id="{67BD7A7B-16AE-48F7-80EE-D6537EE878AC}"/>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C8781F4A-30AE-4FF1-9D16-2CF3EE89B202}"/>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14 / 49</a:t>
            </a:r>
          </a:p>
        </p:txBody>
      </p:sp>
      <p:graphicFrame>
        <p:nvGraphicFramePr>
          <p:cNvPr id="21" name="Table 18"/>
          <p:cNvGraphicFramePr/>
          <p:nvPr/>
        </p:nvGraphicFramePr>
        <p:xfrm>
          <a:off xmlns:a="http://schemas.openxmlformats.org/drawingml/2006/main" x="619125" y="1619250"/>
          <a:ext xmlns:a="http://schemas.openxmlformats.org/drawingml/2006/main" cx="10953750" cy="2857500"/>
        </p:xfrm>
        <a:graphic xmlns:a="http://schemas.openxmlformats.org/drawingml/2006/main">
          <a:graphicData uri="http://schemas.openxmlformats.org/drawingml/2006/table">
            <a:tbl>
              <a:tblPr/>
              <a:tblGrid>
                <a:gridCol w="2667000"/>
                <a:gridCol w="3714750"/>
                <a:gridCol w="4572000"/>
              </a:tblGrid>
              <a:tr h="714375">
                <a:tc>
                  <a:txBody>
                    <a:bodyPr/>
                    <a:lstStyle/>
                    <a:p>
                      <a:r>
                        <a:rPr sz="1200" b="1">
                          <a:solidFill>
                            <a:srgbClr val="22D3EE"/>
                          </a:solidFill>
                          <a:latin typeface="Arial"/>
                          <a:ea typeface="Arial"/>
                          <a:cs typeface="Arial"/>
                        </a:rPr>
                        <a:t>Syntax element</a:t>
                      </a:r>
                    </a:p>
                  </a:txBody>
                  <a:tcPr marL="57150" marR="57150" marT="28575" marB="28575" anchor="ctr">
                    <a:solidFill>
                      <a:srgbClr val="102A40"/>
                    </a:solidFill>
                  </a:tcPr>
                </a:tc>
                <a:tc>
                  <a:txBody>
                    <a:bodyPr/>
                    <a:lstStyle/>
                    <a:p>
                      <a:r>
                        <a:rPr sz="1200" b="1">
                          <a:solidFill>
                            <a:srgbClr val="22D3EE"/>
                          </a:solidFill>
                          <a:latin typeface="Arial"/>
                          <a:ea typeface="Arial"/>
                          <a:cs typeface="Arial"/>
                        </a:rPr>
                        <a:t>What it answers</a:t>
                      </a:r>
                    </a:p>
                  </a:txBody>
                  <a:tcPr marL="57150" marR="57150" marT="28575" marB="28575" anchor="ctr">
                    <a:solidFill>
                      <a:srgbClr val="102A40"/>
                    </a:solidFill>
                  </a:tcPr>
                </a:tc>
                <a:tc>
                  <a:txBody>
                    <a:bodyPr/>
                    <a:lstStyle/>
                    <a:p>
                      <a:r>
                        <a:rPr sz="1200" b="1">
                          <a:solidFill>
                            <a:srgbClr val="22D3EE"/>
                          </a:solidFill>
                          <a:latin typeface="Arial"/>
                          <a:ea typeface="Arial"/>
                          <a:cs typeface="Arial"/>
                        </a:rPr>
                        <a:t>When it is used</a:t>
                      </a:r>
                    </a:p>
                  </a:txBody>
                  <a:tcPr marL="57150" marR="57150" marT="28575" marB="28575" anchor="ctr">
                    <a:solidFill>
                      <a:srgbClr val="102A40"/>
                    </a:solidFill>
                  </a:tcPr>
                </a:tc>
              </a:tr>
              <a:tr h="714375">
                <a:tc>
                  <a:txBody>
                    <a:bodyPr/>
                    <a:lstStyle/>
                    <a:p>
                      <a:r>
                        <a:rPr sz="1200">
                          <a:solidFill>
                            <a:srgbClr val="F4F8FC"/>
                          </a:solidFill>
                          <a:latin typeface="Arial"/>
                          <a:ea typeface="Arial"/>
                          <a:cs typeface="Arial"/>
                        </a:rPr>
                        <a:t>coded_sub_block_flag</a:t>
                      </a:r>
                    </a:p>
                  </a:txBody>
                  <a:tcPr marL="57150" marR="57150" marT="28575" marB="28575" anchor="ctr">
                    <a:solidFill>
                      <a:srgbClr val="0B2033"/>
                    </a:solidFill>
                  </a:tcPr>
                </a:tc>
                <a:tc>
                  <a:txBody>
                    <a:bodyPr/>
                    <a:lstStyle/>
                    <a:p>
                      <a:r>
                        <a:rPr sz="1200">
                          <a:solidFill>
                            <a:srgbClr val="F4F8FC"/>
                          </a:solidFill>
                          <a:latin typeface="Arial"/>
                          <a:ea typeface="Arial"/>
                          <a:cs typeface="Arial"/>
                        </a:rPr>
                        <a:t>Does this 4×4 coefficient group contain a nonzero?</a:t>
                      </a:r>
                    </a:p>
                  </a:txBody>
                  <a:tcPr marL="57150" marR="57150" marT="28575" marB="28575" anchor="ctr">
                    <a:solidFill>
                      <a:srgbClr val="0B2033"/>
                    </a:solidFill>
                  </a:tcPr>
                </a:tc>
                <a:tc>
                  <a:txBody>
                    <a:bodyPr/>
                    <a:lstStyle/>
                    <a:p>
                      <a:r>
                        <a:rPr sz="1200">
                          <a:solidFill>
                            <a:srgbClr val="F4F8FC"/>
                          </a:solidFill>
                          <a:latin typeface="Arial"/>
                          <a:ea typeface="Arial"/>
                          <a:cs typeface="Arial"/>
                        </a:rPr>
                        <a:t>For applicable groups in larger transform blocks</a:t>
                      </a:r>
                    </a:p>
                  </a:txBody>
                  <a:tcPr marL="57150" marR="57150" marT="28575" marB="28575" anchor="ctr">
                    <a:solidFill>
                      <a:srgbClr val="0B2033"/>
                    </a:solidFill>
                  </a:tcPr>
                </a:tc>
              </a:tr>
              <a:tr h="714375">
                <a:tc>
                  <a:txBody>
                    <a:bodyPr/>
                    <a:lstStyle/>
                    <a:p>
                      <a:r>
                        <a:rPr sz="1200">
                          <a:solidFill>
                            <a:srgbClr val="F4F8FC"/>
                          </a:solidFill>
                          <a:latin typeface="Arial"/>
                          <a:ea typeface="Arial"/>
                          <a:cs typeface="Arial"/>
                        </a:rPr>
                        <a:t>sig_coeff_flag[x][y]</a:t>
                      </a:r>
                    </a:p>
                  </a:txBody>
                  <a:tcPr marL="57150" marR="57150" marT="28575" marB="28575" anchor="ctr">
                    <a:solidFill>
                      <a:srgbClr val="0B2033"/>
                    </a:solidFill>
                  </a:tcPr>
                </a:tc>
                <a:tc>
                  <a:txBody>
                    <a:bodyPr/>
                    <a:lstStyle/>
                    <a:p>
                      <a:r>
                        <a:rPr sz="1200">
                          <a:solidFill>
                            <a:srgbClr val="F4F8FC"/>
                          </a:solidFill>
                          <a:latin typeface="Arial"/>
                          <a:ea typeface="Arial"/>
                          <a:cs typeface="Arial"/>
                        </a:rPr>
                        <a:t>Is this coefficient position nonzero?</a:t>
                      </a:r>
                    </a:p>
                  </a:txBody>
                  <a:tcPr marL="57150" marR="57150" marT="28575" marB="28575" anchor="ctr">
                    <a:solidFill>
                      <a:srgbClr val="0B2033"/>
                    </a:solidFill>
                  </a:tcPr>
                </a:tc>
                <a:tc>
                  <a:txBody>
                    <a:bodyPr/>
                    <a:lstStyle/>
                    <a:p>
                      <a:r>
                        <a:rPr sz="1200">
                          <a:solidFill>
                            <a:srgbClr val="F4F8FC"/>
                          </a:solidFill>
                          <a:latin typeface="Arial"/>
                          <a:ea typeface="Arial"/>
                          <a:cs typeface="Arial"/>
                        </a:rPr>
                        <a:t>For positions required by residual_coding</a:t>
                      </a:r>
                    </a:p>
                  </a:txBody>
                  <a:tcPr marL="57150" marR="57150" marT="28575" marB="28575" anchor="ctr">
                    <a:solidFill>
                      <a:srgbClr val="0B2033"/>
                    </a:solidFill>
                  </a:tcPr>
                </a:tc>
              </a:tr>
              <a:tr h="714375">
                <a:tc>
                  <a:txBody>
                    <a:bodyPr/>
                    <a:lstStyle/>
                    <a:p>
                      <a:r>
                        <a:rPr sz="1200" b="1">
                          <a:solidFill>
                            <a:srgbClr val="FFB84D"/>
                          </a:solidFill>
                          <a:latin typeface="Arial"/>
                          <a:ea typeface="Arial"/>
                          <a:cs typeface="Arial"/>
                        </a:rPr>
                        <a:t>inferred significance</a:t>
                      </a:r>
                    </a:p>
                  </a:txBody>
                  <a:tcPr marL="57150" marR="57150" marT="28575" marB="28575" anchor="ctr">
                    <a:solidFill>
                      <a:srgbClr val="2A1720"/>
                    </a:solidFill>
                  </a:tcPr>
                </a:tc>
                <a:tc>
                  <a:txBody>
                    <a:bodyPr/>
                    <a:lstStyle/>
                    <a:p>
                      <a:r>
                        <a:rPr sz="1200" b="1">
                          <a:solidFill>
                            <a:srgbClr val="FFB84D"/>
                          </a:solidFill>
                          <a:latin typeface="Arial"/>
                          <a:ea typeface="Arial"/>
                          <a:cs typeface="Arial"/>
                        </a:rPr>
                        <a:t>This position is already known to be nonzero</a:t>
                      </a:r>
                    </a:p>
                  </a:txBody>
                  <a:tcPr marL="57150" marR="57150" marT="28575" marB="28575" anchor="ctr">
                    <a:solidFill>
                      <a:srgbClr val="2A1720"/>
                    </a:solidFill>
                  </a:tcPr>
                </a:tc>
                <a:tc>
                  <a:txBody>
                    <a:bodyPr/>
                    <a:lstStyle/>
                    <a:p>
                      <a:r>
                        <a:rPr sz="1200" b="1">
                          <a:solidFill>
                            <a:srgbClr val="FFB84D"/>
                          </a:solidFill>
                          <a:latin typeface="Arial"/>
                          <a:ea typeface="Arial"/>
                          <a:cs typeface="Arial"/>
                        </a:rPr>
                        <a:t>At the last-significant position and other specified cases</a:t>
                      </a:r>
                    </a:p>
                  </a:txBody>
                  <a:tcPr marL="57150" marR="57150" marT="28575" marB="28575" anchor="ctr">
                    <a:solidFill>
                      <a:srgbClr val="2A1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14DB0DB5-17C5-4326-9BCE-7054736D3180}"/>
              </a:ext>
            </a:extLst>
          </p:cNvPr>
          <p:cNvSpPr>
            <a:spLocks xmlns:a="http://schemas.openxmlformats.org/drawingml/2006/main" noGrp="1"/>
          </p:cNvSpPr>
          <p:nvPr/>
        </p:nvSpPr>
        <p:spPr>
          <a:xfrm xmlns:a="http://schemas.openxmlformats.org/drawingml/2006/main">
            <a:off x="1428750" y="4953000"/>
            <a:ext cx="9334500" cy="609600"/>
          </a:xfrm>
          <a:prstGeom xmlns:a="http://schemas.openxmlformats.org/drawingml/2006/main" prst="roundRect">
            <a:avLst>
              <a:gd name="adj" fmla="val 18750"/>
            </a:avLst>
          </a:prstGeom>
          <a:solidFill xmlns:a="http://schemas.openxmlformats.org/drawingml/2006/main">
            <a:srgbClr val="0A2830"/>
          </a:solidFill>
          <a:ln xmlns:a="http://schemas.openxmlformats.org/drawingml/2006/main" w="19050">
            <a:solidFill>
              <a:srgbClr val="47E6A4"/>
            </a:solidFill>
            <a:prstDash val="solid"/>
          </a:ln>
        </p:spPr>
      </p:sp>
      <p:sp>
        <p:nvSpPr>
          <p:cNvPr id="10" name="Rectangle 9">
            <a:extLst xmlns:a="http://schemas.openxmlformats.org/drawingml/2006/main">
              <a:ext uri="{FF2B5EF4-FFF2-40B4-BE49-F238E27FC236}">
                <a16:creationId xmlns:a16="http://schemas.microsoft.com/office/drawing/2014/main" id="{32BB5F96-1D73-4763-9BA6-84CFBB6207E0}"/>
              </a:ext>
            </a:extLst>
          </p:cNvPr>
          <p:cNvSpPr>
            <a:spLocks xmlns:a="http://schemas.openxmlformats.org/drawingml/2006/main" noGrp="1"/>
          </p:cNvSpPr>
          <p:nvPr/>
        </p:nvSpPr>
        <p:spPr>
          <a:xfrm xmlns:a="http://schemas.openxmlformats.org/drawingml/2006/main">
            <a:off x="1543050" y="5048250"/>
            <a:ext cx="910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For Block X: scan backward from the signaled endpoint and build the set of nonzero positions.</a:t>
            </a:r>
          </a:p>
        </p:txBody>
      </p:sp>
      <p:sp>
        <p:nvSpPr>
          <p:cNvPr id="11" name="Rectangle 10">
            <a:extLst xmlns:a="http://schemas.openxmlformats.org/drawingml/2006/main">
              <a:ext uri="{FF2B5EF4-FFF2-40B4-BE49-F238E27FC236}">
                <a16:creationId xmlns:a16="http://schemas.microsoft.com/office/drawing/2014/main" id="{01BA52F5-41B1-4903-85D2-CB28D9231609}"/>
              </a:ext>
            </a:extLst>
          </p:cNvPr>
          <p:cNvSpPr>
            <a:spLocks xmlns:a="http://schemas.openxmlformats.org/drawingml/2006/main" noGrp="1"/>
          </p:cNvSpPr>
          <p:nvPr/>
        </p:nvSpPr>
        <p:spPr>
          <a:xfrm xmlns:a="http://schemas.openxmlformats.org/drawingml/2006/main">
            <a:off x="1762125" y="5953125"/>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22D3EE"/>
                </a:solidFill>
                <a:latin typeface="Arial"/>
                <a:ea typeface="Arial"/>
                <a:cs typeface="Arial"/>
              </a:defRPr>
            </a:pPr>
            <a:r>
              <a:rPr sz="1275" b="1">
                <a:solidFill>
                  <a:srgbClr val="22D3EE"/>
                </a:solidFill>
                <a:latin typeface="Arial"/>
                <a:ea typeface="Arial"/>
                <a:cs typeface="Arial"/>
              </a:rPr>
              <a:t>Only after that set is known does the parser move to coefficient levels and signs.</a:t>
            </a:r>
          </a:p>
        </p:txBody>
      </p:sp>
    </p:spTree>
    <p:extLst>
      <p:ext uri="{BB962C8B-B14F-4D97-AF65-F5344CB8AC3E}">
        <p14:creationId xmlns:p14="http://schemas.microsoft.com/office/powerpoint/2010/main" val="608641613"/>
      </p:ext>
    </p:extLst>
  </p:cSld>
</p:sld>
</file>

<file path=ppt/slides/slide15.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2" name="Oval 11">
            <a:extLst xmlns:a="http://schemas.openxmlformats.org/drawingml/2006/main">
              <a:ext uri="{FF2B5EF4-FFF2-40B4-BE49-F238E27FC236}">
                <a16:creationId xmlns:a16="http://schemas.microsoft.com/office/drawing/2014/main" id="{EE83EE04-3018-438A-B326-376BBAFC5380}"/>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4B4A4783-5FA1-41E3-B54C-9F3FA00D12DB}"/>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F08EAE67-CB96-4EDA-816F-0B82ED72C913}"/>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Open question: how does the decoder separate CABAC fields?</a:t>
            </a:r>
          </a:p>
        </p:txBody>
      </p:sp>
      <p:sp>
        <p:nvSpPr>
          <p:cNvPr id="4" name="Straight Connector 3">
            <a:extLst xmlns:a="http://schemas.openxmlformats.org/drawingml/2006/main">
              <a:ext uri="{FF2B5EF4-FFF2-40B4-BE49-F238E27FC236}">
                <a16:creationId xmlns:a16="http://schemas.microsoft.com/office/drawing/2014/main" id="{134F9890-37E6-4A4A-87E3-529C7C9E6806}"/>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1931E9B4-1647-45AA-9367-81916806E224}"/>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HEVC has a syntax and flag system, but the exact field boundaries remain an open study question</a:t>
            </a:r>
          </a:p>
        </p:txBody>
      </p:sp>
      <p:sp>
        <p:nvSpPr>
          <p:cNvPr id="6" name="Rectangle 5">
            <a:extLst xmlns:a="http://schemas.openxmlformats.org/drawingml/2006/main">
              <a:ext uri="{FF2B5EF4-FFF2-40B4-BE49-F238E27FC236}">
                <a16:creationId xmlns:a16="http://schemas.microsoft.com/office/drawing/2014/main" id="{1F36239F-60FC-4665-943B-BAAAB1767A55}"/>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AE996266-6C5A-42B7-8F8E-6296E6E610F4}"/>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15 / 49</a:t>
            </a:r>
          </a:p>
        </p:txBody>
      </p:sp>
      <p:graphicFrame>
        <p:nvGraphicFramePr>
          <p:cNvPr id="21" name="Table 18"/>
          <p:cNvGraphicFramePr/>
          <p:nvPr/>
        </p:nvGraphicFramePr>
        <p:xfrm>
          <a:off xmlns:a="http://schemas.openxmlformats.org/drawingml/2006/main" x="666750" y="1619250"/>
          <a:ext xmlns:a="http://schemas.openxmlformats.org/drawingml/2006/main" cx="10858500" cy="3000376"/>
        </p:xfrm>
        <a:graphic xmlns:a="http://schemas.openxmlformats.org/drawingml/2006/main">
          <a:graphicData uri="http://schemas.openxmlformats.org/drawingml/2006/table">
            <a:tbl>
              <a:tblPr/>
              <a:tblGrid>
                <a:gridCol w="5143500"/>
                <a:gridCol w="1714500"/>
                <a:gridCol w="4000500"/>
              </a:tblGrid>
              <a:tr h="750094">
                <a:tc>
                  <a:txBody>
                    <a:bodyPr/>
                    <a:lstStyle/>
                    <a:p>
                      <a:r>
                        <a:rPr sz="1200" b="1">
                          <a:solidFill>
                            <a:srgbClr val="22D3EE"/>
                          </a:solidFill>
                          <a:latin typeface="Arial"/>
                          <a:ea typeface="Arial"/>
                          <a:cs typeface="Arial"/>
                        </a:rPr>
                        <a:t>Parser is currently requesting</a:t>
                      </a:r>
                    </a:p>
                  </a:txBody>
                  <a:tcPr marL="57150" marR="57150" marT="28575" marB="28575" anchor="ctr">
                    <a:solidFill>
                      <a:srgbClr val="102A40"/>
                    </a:solidFill>
                  </a:tcPr>
                </a:tc>
                <a:tc>
                  <a:txBody>
                    <a:bodyPr/>
                    <a:lstStyle/>
                    <a:p>
                      <a:r>
                        <a:rPr sz="1200" b="1">
                          <a:solidFill>
                            <a:srgbClr val="22D3EE"/>
                          </a:solidFill>
                          <a:latin typeface="Arial"/>
                          <a:ea typeface="Arial"/>
                          <a:cs typeface="Arial"/>
                        </a:rPr>
                        <a:t>CABAC returns</a:t>
                      </a:r>
                    </a:p>
                  </a:txBody>
                  <a:tcPr marL="57150" marR="57150" marT="28575" marB="28575" anchor="ctr">
                    <a:solidFill>
                      <a:srgbClr val="102A40"/>
                    </a:solidFill>
                  </a:tcPr>
                </a:tc>
                <a:tc>
                  <a:txBody>
                    <a:bodyPr/>
                    <a:lstStyle/>
                    <a:p>
                      <a:r>
                        <a:rPr sz="1200" b="1">
                          <a:solidFill>
                            <a:srgbClr val="22D3EE"/>
                          </a:solidFill>
                          <a:latin typeface="Arial"/>
                          <a:ea typeface="Arial"/>
                          <a:cs typeface="Arial"/>
                        </a:rPr>
                        <a:t>Meaning of that 1</a:t>
                      </a:r>
                    </a:p>
                  </a:txBody>
                  <a:tcPr marL="57150" marR="57150" marT="28575" marB="28575" anchor="ctr">
                    <a:solidFill>
                      <a:srgbClr val="102A40"/>
                    </a:solidFill>
                  </a:tcPr>
                </a:tc>
              </a:tr>
              <a:tr h="750094">
                <a:tc>
                  <a:txBody>
                    <a:bodyPr/>
                    <a:lstStyle/>
                    <a:p>
                      <a:r>
                        <a:rPr sz="1275" b="1">
                          <a:solidFill>
                            <a:srgbClr val="FFB84D"/>
                          </a:solidFill>
                          <a:latin typeface="Arial"/>
                          <a:ea typeface="Arial"/>
                          <a:cs typeface="Arial"/>
                        </a:rPr>
                        <a:t>sig_coeff_flag at position 1</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1</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this coefficient position is significant</a:t>
                      </a:r>
                    </a:p>
                  </a:txBody>
                  <a:tcPr marL="57150" marR="57150" marT="28575" marB="28575" anchor="ctr">
                    <a:solidFill>
                      <a:srgbClr val="2A1720"/>
                    </a:solidFill>
                  </a:tcPr>
                </a:tc>
              </a:tr>
              <a:tr h="750094">
                <a:tc>
                  <a:txBody>
                    <a:bodyPr/>
                    <a:lstStyle/>
                    <a:p>
                      <a:r>
                        <a:rPr sz="1275" b="1">
                          <a:solidFill>
                            <a:srgbClr val="FFB84D"/>
                          </a:solidFill>
                          <a:latin typeface="Arial"/>
                          <a:ea typeface="Arial"/>
                          <a:cs typeface="Arial"/>
                        </a:rPr>
                        <a:t>coeff_abs_level_greater1_flag for position 1</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1</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its absolute level is greater than 1</a:t>
                      </a:r>
                    </a:p>
                  </a:txBody>
                  <a:tcPr marL="57150" marR="57150" marT="28575" marB="28575" anchor="ctr">
                    <a:solidFill>
                      <a:srgbClr val="2A1720"/>
                    </a:solidFill>
                  </a:tcPr>
                </a:tc>
              </a:tr>
              <a:tr h="750094">
                <a:tc>
                  <a:txBody>
                    <a:bodyPr/>
                    <a:lstStyle/>
                    <a:p>
                      <a:r>
                        <a:rPr sz="1275" b="1">
                          <a:solidFill>
                            <a:srgbClr val="FFB84D"/>
                          </a:solidFill>
                          <a:latin typeface="Arial"/>
                          <a:ea typeface="Arial"/>
                          <a:cs typeface="Arial"/>
                        </a:rPr>
                        <a:t>coeff_sign_flag for position 1</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1</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its sign is negative</a:t>
                      </a:r>
                    </a:p>
                  </a:txBody>
                  <a:tcPr marL="57150" marR="57150" marT="28575" marB="28575" anchor="ctr">
                    <a:solidFill>
                      <a:srgbClr val="2A1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A03A84E3-3CD1-4249-8B64-976E6B0A2CA2}"/>
              </a:ext>
            </a:extLst>
          </p:cNvPr>
          <p:cNvSpPr>
            <a:spLocks xmlns:a="http://schemas.openxmlformats.org/drawingml/2006/main" noGrp="1"/>
          </p:cNvSpPr>
          <p:nvPr/>
        </p:nvSpPr>
        <p:spPr>
          <a:xfrm xmlns:a="http://schemas.openxmlformats.org/drawingml/2006/main">
            <a:off x="1428750" y="5095875"/>
            <a:ext cx="9334500" cy="666750"/>
          </a:xfrm>
          <a:prstGeom xmlns:a="http://schemas.openxmlformats.org/drawingml/2006/main" prst="roundRect">
            <a:avLst>
              <a:gd name="adj" fmla="val 17143"/>
            </a:avLst>
          </a:prstGeom>
          <a:solidFill xmlns:a="http://schemas.openxmlformats.org/drawingml/2006/main">
            <a:srgbClr val="0A2830"/>
          </a:solidFill>
          <a:ln xmlns:a="http://schemas.openxmlformats.org/drawingml/2006/main" w="19050">
            <a:solidFill>
              <a:srgbClr val="47E6A4"/>
            </a:solidFill>
            <a:prstDash val="solid"/>
          </a:ln>
        </p:spPr>
      </p:sp>
      <p:sp>
        <p:nvSpPr>
          <p:cNvPr id="10" name="Rectangle 9">
            <a:extLst xmlns:a="http://schemas.openxmlformats.org/drawingml/2006/main">
              <a:ext uri="{FF2B5EF4-FFF2-40B4-BE49-F238E27FC236}">
                <a16:creationId xmlns:a16="http://schemas.microsoft.com/office/drawing/2014/main" id="{E2050D66-DAEB-4499-81F6-3CA52416CCD0}"/>
              </a:ext>
            </a:extLst>
          </p:cNvPr>
          <p:cNvSpPr>
            <a:spLocks xmlns:a="http://schemas.openxmlformats.org/drawingml/2006/main" noGrp="1"/>
          </p:cNvSpPr>
          <p:nvPr/>
        </p:nvSpPr>
        <p:spPr>
          <a:xfrm xmlns:a="http://schemas.openxmlformats.org/drawingml/2006/main">
            <a:off x="1543050" y="5191125"/>
            <a:ext cx="910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Known so far: the active syntax element gives each decoded bin its meaning.</a:t>
            </a:r>
          </a:p>
        </p:txBody>
      </p:sp>
      <p:sp>
        <p:nvSpPr>
          <p:cNvPr id="11" name="Rectangle 10">
            <a:extLst xmlns:a="http://schemas.openxmlformats.org/drawingml/2006/main">
              <a:ext uri="{FF2B5EF4-FFF2-40B4-BE49-F238E27FC236}">
                <a16:creationId xmlns:a16="http://schemas.microsoft.com/office/drawing/2014/main" id="{074CA91C-9564-44CA-A68B-C5104A30E55E}"/>
              </a:ext>
            </a:extLst>
          </p:cNvPr>
          <p:cNvSpPr>
            <a:spLocks xmlns:a="http://schemas.openxmlformats.org/drawingml/2006/main" noGrp="1"/>
          </p:cNvSpPr>
          <p:nvPr/>
        </p:nvSpPr>
        <p:spPr>
          <a:xfrm xmlns:a="http://schemas.openxmlformats.org/drawingml/2006/main">
            <a:off x="1143000" y="60960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22D3EE"/>
                </a:solidFill>
                <a:latin typeface="Arial"/>
                <a:ea typeface="Arial"/>
                <a:cs typeface="Arial"/>
              </a:defRPr>
            </a:pPr>
            <a:r>
              <a:rPr sz="1275" b="1">
                <a:solidFill>
                  <a:srgbClr val="22D3EE"/>
                </a:solidFill>
                <a:latin typeface="Arial"/>
                <a:ea typeface="Arial"/>
                <a:cs typeface="Arial"/>
              </a:rPr>
              <a:t>The decoder never asks: ‘What does this 1 look like?’ It asks: ‘What is the next syntax element?’</a:t>
            </a:r>
          </a:p>
        </p:txBody>
      </p:sp>
    </p:spTree>
    <p:extLst>
      <p:ext uri="{BB962C8B-B14F-4D97-AF65-F5344CB8AC3E}">
        <p14:creationId xmlns:p14="http://schemas.microsoft.com/office/powerpoint/2010/main" val="1374404601"/>
      </p:ext>
    </p:extLst>
  </p:cSld>
</p:sld>
</file>

<file path=ppt/slides/slide16.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2" name="Oval 11">
            <a:extLst xmlns:a="http://schemas.openxmlformats.org/drawingml/2006/main">
              <a:ext uri="{FF2B5EF4-FFF2-40B4-BE49-F238E27FC236}">
                <a16:creationId xmlns:a16="http://schemas.microsoft.com/office/drawing/2014/main" id="{388AFF2C-4B86-4911-8270-AD66F2D8EEB9}"/>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26B3D92E-4A52-4449-9EF9-0AB514204A57}"/>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21ABC2B0-FA34-41F7-9B8F-BC1E9D495175}"/>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Step 4: decode each significant coefficient level</a:t>
            </a:r>
          </a:p>
        </p:txBody>
      </p:sp>
      <p:sp>
        <p:nvSpPr>
          <p:cNvPr id="4" name="Straight Connector 3">
            <a:extLst xmlns:a="http://schemas.openxmlformats.org/drawingml/2006/main">
              <a:ext uri="{FF2B5EF4-FFF2-40B4-BE49-F238E27FC236}">
                <a16:creationId xmlns:a16="http://schemas.microsoft.com/office/drawing/2014/main" id="{C516C93D-580D-4948-85B5-379C850070D7}"/>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8000635E-79D6-407C-9546-EF6B26624CE2}"/>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HEVC uses named level syntax—not a universal greater-than-1, greater-than-2 code for every value</a:t>
            </a:r>
          </a:p>
        </p:txBody>
      </p:sp>
      <p:sp>
        <p:nvSpPr>
          <p:cNvPr id="6" name="Rectangle 5">
            <a:extLst xmlns:a="http://schemas.openxmlformats.org/drawingml/2006/main">
              <a:ext uri="{FF2B5EF4-FFF2-40B4-BE49-F238E27FC236}">
                <a16:creationId xmlns:a16="http://schemas.microsoft.com/office/drawing/2014/main" id="{0B4FA72A-182F-4AA1-8582-2A4D785EBFD8}"/>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F8AD4A3-68DC-4059-916E-D03B40E19F1D}"/>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16 / 49</a:t>
            </a:r>
          </a:p>
        </p:txBody>
      </p:sp>
      <p:graphicFrame>
        <p:nvGraphicFramePr>
          <p:cNvPr id="21" name="Table 18"/>
          <p:cNvGraphicFramePr/>
          <p:nvPr/>
        </p:nvGraphicFramePr>
        <p:xfrm>
          <a:off xmlns:a="http://schemas.openxmlformats.org/drawingml/2006/main" x="523875" y="1476375"/>
          <a:ext xmlns:a="http://schemas.openxmlformats.org/drawingml/2006/main" cx="11144250" cy="3429000"/>
        </p:xfrm>
        <a:graphic xmlns:a="http://schemas.openxmlformats.org/drawingml/2006/main">
          <a:graphicData uri="http://schemas.openxmlformats.org/drawingml/2006/table">
            <a:tbl>
              <a:tblPr/>
              <a:tblGrid>
                <a:gridCol w="3714750"/>
                <a:gridCol w="3810000"/>
                <a:gridCol w="3619500"/>
              </a:tblGrid>
              <a:tr h="685800">
                <a:tc>
                  <a:txBody>
                    <a:bodyPr/>
                    <a:lstStyle/>
                    <a:p>
                      <a:r>
                        <a:rPr sz="1125" b="1">
                          <a:solidFill>
                            <a:srgbClr val="22D3EE"/>
                          </a:solidFill>
                          <a:latin typeface="Arial"/>
                          <a:ea typeface="Arial"/>
                          <a:cs typeface="Arial"/>
                        </a:rPr>
                        <a:t>Syntax element</a:t>
                      </a:r>
                    </a:p>
                  </a:txBody>
                  <a:tcPr marL="57150" marR="57150" marT="28575" marB="28575" anchor="ctr">
                    <a:solidFill>
                      <a:srgbClr val="102A40"/>
                    </a:solidFill>
                  </a:tcPr>
                </a:tc>
                <a:tc>
                  <a:txBody>
                    <a:bodyPr/>
                    <a:lstStyle/>
                    <a:p>
                      <a:r>
                        <a:rPr sz="1125" b="1">
                          <a:solidFill>
                            <a:srgbClr val="22D3EE"/>
                          </a:solidFill>
                          <a:latin typeface="Arial"/>
                          <a:ea typeface="Arial"/>
                          <a:cs typeface="Arial"/>
                        </a:rPr>
                        <a:t>Meaning</a:t>
                      </a:r>
                    </a:p>
                  </a:txBody>
                  <a:tcPr marL="57150" marR="57150" marT="28575" marB="28575" anchor="ctr">
                    <a:solidFill>
                      <a:srgbClr val="102A40"/>
                    </a:solidFill>
                  </a:tcPr>
                </a:tc>
                <a:tc>
                  <a:txBody>
                    <a:bodyPr/>
                    <a:lstStyle/>
                    <a:p>
                      <a:r>
                        <a:rPr sz="1125" b="1">
                          <a:solidFill>
                            <a:srgbClr val="22D3EE"/>
                          </a:solidFill>
                          <a:latin typeface="Arial"/>
                          <a:ea typeface="Arial"/>
                          <a:cs typeface="Arial"/>
                        </a:rPr>
                        <a:t>Coding detail</a:t>
                      </a:r>
                    </a:p>
                  </a:txBody>
                  <a:tcPr marL="57150" marR="57150" marT="28575" marB="28575" anchor="ctr">
                    <a:solidFill>
                      <a:srgbClr val="102A40"/>
                    </a:solidFill>
                  </a:tcPr>
                </a:tc>
              </a:tr>
              <a:tr h="685800">
                <a:tc>
                  <a:txBody>
                    <a:bodyPr/>
                    <a:lstStyle/>
                    <a:p>
                      <a:r>
                        <a:rPr sz="1125">
                          <a:solidFill>
                            <a:srgbClr val="F4F8FC"/>
                          </a:solidFill>
                          <a:latin typeface="Arial"/>
                          <a:ea typeface="Arial"/>
                          <a:cs typeface="Arial"/>
                        </a:rPr>
                        <a:t>coeff_abs_level_greater1_flag[n]</a:t>
                      </a:r>
                    </a:p>
                  </a:txBody>
                  <a:tcPr marL="57150" marR="57150" marT="28575" marB="28575" anchor="ctr">
                    <a:solidFill>
                      <a:srgbClr val="0B2033"/>
                    </a:solidFill>
                  </a:tcPr>
                </a:tc>
                <a:tc>
                  <a:txBody>
                    <a:bodyPr/>
                    <a:lstStyle/>
                    <a:p>
                      <a:r>
                        <a:rPr sz="1125">
                          <a:solidFill>
                            <a:srgbClr val="F4F8FC"/>
                          </a:solidFill>
                          <a:latin typeface="Arial"/>
                          <a:ea typeface="Arial"/>
                          <a:cs typeface="Arial"/>
                        </a:rPr>
                        <a:t>Is the absolute level greater than 1?</a:t>
                      </a:r>
                    </a:p>
                  </a:txBody>
                  <a:tcPr marL="57150" marR="57150" marT="28575" marB="28575" anchor="ctr">
                    <a:solidFill>
                      <a:srgbClr val="0B2033"/>
                    </a:solidFill>
                  </a:tcPr>
                </a:tc>
                <a:tc>
                  <a:txBody>
                    <a:bodyPr/>
                    <a:lstStyle/>
                    <a:p>
                      <a:r>
                        <a:rPr sz="1125">
                          <a:solidFill>
                            <a:srgbClr val="F4F8FC"/>
                          </a:solidFill>
                          <a:latin typeface="Arial"/>
                          <a:ea typeface="Arial"/>
                          <a:cs typeface="Arial"/>
                        </a:rPr>
                        <a:t>Context-coded when present</a:t>
                      </a:r>
                    </a:p>
                  </a:txBody>
                  <a:tcPr marL="57150" marR="57150" marT="28575" marB="28575" anchor="ctr">
                    <a:solidFill>
                      <a:srgbClr val="0B2033"/>
                    </a:solidFill>
                  </a:tcPr>
                </a:tc>
              </a:tr>
              <a:tr h="685800">
                <a:tc>
                  <a:txBody>
                    <a:bodyPr/>
                    <a:lstStyle/>
                    <a:p>
                      <a:r>
                        <a:rPr sz="1125">
                          <a:solidFill>
                            <a:srgbClr val="F4F8FC"/>
                          </a:solidFill>
                          <a:latin typeface="Arial"/>
                          <a:ea typeface="Arial"/>
                          <a:cs typeface="Arial"/>
                        </a:rPr>
                        <a:t>coeff_abs_level_greater2_flag[n]</a:t>
                      </a:r>
                    </a:p>
                  </a:txBody>
                  <a:tcPr marL="57150" marR="57150" marT="28575" marB="28575" anchor="ctr">
                    <a:solidFill>
                      <a:srgbClr val="0B2033"/>
                    </a:solidFill>
                  </a:tcPr>
                </a:tc>
                <a:tc>
                  <a:txBody>
                    <a:bodyPr/>
                    <a:lstStyle/>
                    <a:p>
                      <a:r>
                        <a:rPr sz="1125">
                          <a:solidFill>
                            <a:srgbClr val="F4F8FC"/>
                          </a:solidFill>
                          <a:latin typeface="Arial"/>
                          <a:ea typeface="Arial"/>
                          <a:cs typeface="Arial"/>
                        </a:rPr>
                        <a:t>Is the selected absolute level greater than 2?</a:t>
                      </a:r>
                    </a:p>
                  </a:txBody>
                  <a:tcPr marL="57150" marR="57150" marT="28575" marB="28575" anchor="ctr">
                    <a:solidFill>
                      <a:srgbClr val="0B2033"/>
                    </a:solidFill>
                  </a:tcPr>
                </a:tc>
                <a:tc>
                  <a:txBody>
                    <a:bodyPr/>
                    <a:lstStyle/>
                    <a:p>
                      <a:r>
                        <a:rPr sz="1125">
                          <a:solidFill>
                            <a:srgbClr val="F4F8FC"/>
                          </a:solidFill>
                          <a:latin typeface="Arial"/>
                          <a:ea typeface="Arial"/>
                          <a:cs typeface="Arial"/>
                        </a:rPr>
                        <a:t>Context-coded when present</a:t>
                      </a:r>
                    </a:p>
                  </a:txBody>
                  <a:tcPr marL="57150" marR="57150" marT="28575" marB="28575" anchor="ctr">
                    <a:solidFill>
                      <a:srgbClr val="0B2033"/>
                    </a:solidFill>
                  </a:tcPr>
                </a:tc>
              </a:tr>
              <a:tr h="685800">
                <a:tc>
                  <a:txBody>
                    <a:bodyPr/>
                    <a:lstStyle/>
                    <a:p>
                      <a:r>
                        <a:rPr sz="1125" b="1">
                          <a:solidFill>
                            <a:srgbClr val="FFB84D"/>
                          </a:solidFill>
                          <a:latin typeface="Arial"/>
                          <a:ea typeface="Arial"/>
                          <a:cs typeface="Arial"/>
                        </a:rPr>
                        <a:t>coeff_sign_flag[n]</a:t>
                      </a:r>
                    </a:p>
                  </a:txBody>
                  <a:tcPr marL="57150" marR="57150" marT="28575" marB="28575" anchor="ctr">
                    <a:solidFill>
                      <a:srgbClr val="2A1720"/>
                    </a:solidFill>
                  </a:tcPr>
                </a:tc>
                <a:tc>
                  <a:txBody>
                    <a:bodyPr/>
                    <a:lstStyle/>
                    <a:p>
                      <a:r>
                        <a:rPr sz="1125" b="1">
                          <a:solidFill>
                            <a:srgbClr val="FFB84D"/>
                          </a:solidFill>
                          <a:latin typeface="Arial"/>
                          <a:ea typeface="Arial"/>
                          <a:cs typeface="Arial"/>
                        </a:rPr>
                        <a:t>0 = positive; 1 = negative</a:t>
                      </a:r>
                    </a:p>
                  </a:txBody>
                  <a:tcPr marL="57150" marR="57150" marT="28575" marB="28575" anchor="ctr">
                    <a:solidFill>
                      <a:srgbClr val="2A1720"/>
                    </a:solidFill>
                  </a:tcPr>
                </a:tc>
                <a:tc>
                  <a:txBody>
                    <a:bodyPr/>
                    <a:lstStyle/>
                    <a:p>
                      <a:r>
                        <a:rPr sz="1125" b="1">
                          <a:solidFill>
                            <a:srgbClr val="FFB84D"/>
                          </a:solidFill>
                          <a:latin typeface="Arial"/>
                          <a:ea typeface="Arial"/>
                          <a:cs typeface="Arial"/>
                        </a:rPr>
                        <a:t>CABAC bypass mode; may be inferred with sign hiding</a:t>
                      </a:r>
                    </a:p>
                  </a:txBody>
                  <a:tcPr marL="57150" marR="57150" marT="28575" marB="28575" anchor="ctr">
                    <a:solidFill>
                      <a:srgbClr val="2A1720"/>
                    </a:solidFill>
                  </a:tcPr>
                </a:tc>
              </a:tr>
              <a:tr h="685800">
                <a:tc>
                  <a:txBody>
                    <a:bodyPr/>
                    <a:lstStyle/>
                    <a:p>
                      <a:r>
                        <a:rPr sz="1125" b="1">
                          <a:solidFill>
                            <a:srgbClr val="FFB84D"/>
                          </a:solidFill>
                          <a:latin typeface="Arial"/>
                          <a:ea typeface="Arial"/>
                          <a:cs typeface="Arial"/>
                        </a:rPr>
                        <a:t>coeff_abs_level_remaining[n]</a:t>
                      </a:r>
                    </a:p>
                  </a:txBody>
                  <a:tcPr marL="57150" marR="57150" marT="28575" marB="28575" anchor="ctr">
                    <a:solidFill>
                      <a:srgbClr val="2A1720"/>
                    </a:solidFill>
                  </a:tcPr>
                </a:tc>
                <a:tc>
                  <a:txBody>
                    <a:bodyPr/>
                    <a:lstStyle/>
                    <a:p>
                      <a:r>
                        <a:rPr sz="1125" b="1">
                          <a:solidFill>
                            <a:srgbClr val="FFB84D"/>
                          </a:solidFill>
                          <a:latin typeface="Arial"/>
                          <a:ea typeface="Arial"/>
                          <a:cs typeface="Arial"/>
                        </a:rPr>
                        <a:t>Carries any required remaining magnitude</a:t>
                      </a:r>
                    </a:p>
                  </a:txBody>
                  <a:tcPr marL="57150" marR="57150" marT="28575" marB="28575" anchor="ctr">
                    <a:solidFill>
                      <a:srgbClr val="2A1720"/>
                    </a:solidFill>
                  </a:tcPr>
                </a:tc>
                <a:tc>
                  <a:txBody>
                    <a:bodyPr/>
                    <a:lstStyle/>
                    <a:p>
                      <a:r>
                        <a:rPr sz="1125" b="1">
                          <a:solidFill>
                            <a:srgbClr val="FFB84D"/>
                          </a:solidFill>
                          <a:latin typeface="Arial"/>
                          <a:ea typeface="Arial"/>
                          <a:cs typeface="Arial"/>
                        </a:rPr>
                        <a:t>Adaptive Golomb–Rice binarization</a:t>
                      </a:r>
                    </a:p>
                  </a:txBody>
                  <a:tcPr marL="57150" marR="57150" marT="28575" marB="28575" anchor="ctr">
                    <a:solidFill>
                      <a:srgbClr val="2A1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181BCFF2-93DE-475F-8BE9-C026E2AC112F}"/>
              </a:ext>
            </a:extLst>
          </p:cNvPr>
          <p:cNvSpPr>
            <a:spLocks xmlns:a="http://schemas.openxmlformats.org/drawingml/2006/main" noGrp="1"/>
          </p:cNvSpPr>
          <p:nvPr/>
        </p:nvSpPr>
        <p:spPr>
          <a:xfrm xmlns:a="http://schemas.openxmlformats.org/drawingml/2006/main">
            <a:off x="2571750" y="5286375"/>
            <a:ext cx="7048500" cy="571500"/>
          </a:xfrm>
          <a:prstGeom xmlns:a="http://schemas.openxmlformats.org/drawingml/2006/main" prst="roundRect">
            <a:avLst>
              <a:gd name="adj" fmla="val 20000"/>
            </a:avLst>
          </a:prstGeom>
          <a:solidFill xmlns:a="http://schemas.openxmlformats.org/drawingml/2006/main">
            <a:srgbClr val="0A2830"/>
          </a:solidFill>
          <a:ln xmlns:a="http://schemas.openxmlformats.org/drawingml/2006/main" w="19050">
            <a:solidFill>
              <a:srgbClr val="47E6A4"/>
            </a:solidFill>
            <a:prstDash val="solid"/>
          </a:ln>
        </p:spPr>
      </p:sp>
      <p:sp>
        <p:nvSpPr>
          <p:cNvPr id="10" name="Rectangle 9">
            <a:extLst xmlns:a="http://schemas.openxmlformats.org/drawingml/2006/main">
              <a:ext uri="{FF2B5EF4-FFF2-40B4-BE49-F238E27FC236}">
                <a16:creationId xmlns:a16="http://schemas.microsoft.com/office/drawing/2014/main" id="{BE784127-9F78-4231-9228-3934D807C7A9}"/>
              </a:ext>
            </a:extLst>
          </p:cNvPr>
          <p:cNvSpPr>
            <a:spLocks xmlns:a="http://schemas.openxmlformats.org/drawingml/2006/main" noGrp="1"/>
          </p:cNvSpPr>
          <p:nvPr/>
        </p:nvSpPr>
        <p:spPr>
          <a:xfrm xmlns:a="http://schemas.openxmlformats.org/drawingml/2006/main">
            <a:off x="2686050" y="5381625"/>
            <a:ext cx="6819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Final level = (remaining + baseLevel) × sign</a:t>
            </a:r>
          </a:p>
        </p:txBody>
      </p:sp>
      <p:sp>
        <p:nvSpPr>
          <p:cNvPr id="11" name="Rectangle 10">
            <a:extLst xmlns:a="http://schemas.openxmlformats.org/drawingml/2006/main">
              <a:ext uri="{FF2B5EF4-FFF2-40B4-BE49-F238E27FC236}">
                <a16:creationId xmlns:a16="http://schemas.microsoft.com/office/drawing/2014/main" id="{654D4D75-3BE5-49E8-BFEC-C129D036B55B}"/>
              </a:ext>
            </a:extLst>
          </p:cNvPr>
          <p:cNvSpPr>
            <a:spLocks xmlns:a="http://schemas.openxmlformats.org/drawingml/2006/main" noGrp="1"/>
          </p:cNvSpPr>
          <p:nvPr/>
        </p:nvSpPr>
        <p:spPr>
          <a:xfrm xmlns:a="http://schemas.openxmlformats.org/drawingml/2006/main">
            <a:off x="1285875" y="619125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FF6577"/>
                </a:solidFill>
                <a:latin typeface="Arial"/>
                <a:ea typeface="Arial"/>
                <a:cs typeface="Arial"/>
              </a:defRPr>
            </a:pPr>
            <a:r>
              <a:rPr sz="1200" b="1">
                <a:solidFill>
                  <a:srgbClr val="FF6577"/>
                </a:solidFill>
                <a:latin typeface="Arial"/>
                <a:ea typeface="Arial"/>
                <a:cs typeface="Arial"/>
              </a:rPr>
              <a:t>Which flags are present depends on HEVC's syntax state; it is not a free-standing prefix code.</a:t>
            </a:r>
          </a:p>
        </p:txBody>
      </p:sp>
    </p:spTree>
    <p:extLst>
      <p:ext uri="{BB962C8B-B14F-4D97-AF65-F5344CB8AC3E}">
        <p14:creationId xmlns:p14="http://schemas.microsoft.com/office/powerpoint/2010/main" val="1245348066"/>
      </p:ext>
    </p:extLst>
  </p:cSld>
</p:sld>
</file>

<file path=ppt/slides/slide17.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7" name="Oval 36">
            <a:extLst xmlns:a="http://schemas.openxmlformats.org/drawingml/2006/main">
              <a:ext uri="{FF2B5EF4-FFF2-40B4-BE49-F238E27FC236}">
                <a16:creationId xmlns:a16="http://schemas.microsoft.com/office/drawing/2014/main" id="{A40B803A-4D5C-4E70-B558-80142AF6D8A9}"/>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3FD907D9-E740-4937-B4D8-2F3A2A585FA0}"/>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1B6DC411-80A9-455F-BFD2-6A60D89A1542}"/>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The actual HEVC residual syntax order</a:t>
            </a:r>
          </a:p>
        </p:txBody>
      </p:sp>
      <p:sp>
        <p:nvSpPr>
          <p:cNvPr id="4" name="Straight Connector 3">
            <a:extLst xmlns:a="http://schemas.openxmlformats.org/drawingml/2006/main">
              <a:ext uri="{FF2B5EF4-FFF2-40B4-BE49-F238E27FC236}">
                <a16:creationId xmlns:a16="http://schemas.microsoft.com/office/drawing/2014/main" id="{678AD6A7-4F3F-4407-A354-8C12A7486250}"/>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3D33E2D5-157C-41A7-A500-B68FB21D5CFA}"/>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grammar tells the decoder what each next CABAC decision represents</a:t>
            </a:r>
          </a:p>
        </p:txBody>
      </p:sp>
      <p:sp>
        <p:nvSpPr>
          <p:cNvPr id="6" name="Rectangle 5">
            <a:extLst xmlns:a="http://schemas.openxmlformats.org/drawingml/2006/main">
              <a:ext uri="{FF2B5EF4-FFF2-40B4-BE49-F238E27FC236}">
                <a16:creationId xmlns:a16="http://schemas.microsoft.com/office/drawing/2014/main" id="{1DCDE3DA-F0C4-4262-ABC0-70906B94459F}"/>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FFB464AD-7D8F-45E7-BAAD-99C09A18A410}"/>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17 / 49</a:t>
            </a:r>
          </a:p>
        </p:txBody>
      </p:sp>
      <p:sp>
        <p:nvSpPr>
          <p:cNvPr id="8" name="Oval 7">
            <a:extLst xmlns:a="http://schemas.openxmlformats.org/drawingml/2006/main">
              <a:ext uri="{FF2B5EF4-FFF2-40B4-BE49-F238E27FC236}">
                <a16:creationId xmlns:a16="http://schemas.microsoft.com/office/drawing/2014/main" id="{62DD69BD-37F4-4F85-91A7-8929AB48239E}"/>
              </a:ext>
            </a:extLst>
          </p:cNvPr>
          <p:cNvSpPr>
            <a:spLocks xmlns:a="http://schemas.openxmlformats.org/drawingml/2006/main" noGrp="1"/>
          </p:cNvSpPr>
          <p:nvPr/>
        </p:nvSpPr>
        <p:spPr>
          <a:xfrm xmlns:a="http://schemas.openxmlformats.org/drawingml/2006/main">
            <a:off x="857250" y="138112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22D3EE"/>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2D3EE"/>
                </a:solidFill>
                <a:latin typeface="Arial"/>
                <a:ea typeface="Arial"/>
                <a:cs typeface="Arial"/>
              </a:defRPr>
            </a:pPr>
            <a:r>
              <a:rPr sz="1200" b="1">
                <a:solidFill>
                  <a:srgbClr val="22D3EE"/>
                </a:solidFill>
                <a:latin typeface="Arial"/>
                <a:ea typeface="Arial"/>
                <a:cs typeface="Arial"/>
              </a:rPr>
              <a:t>1</a:t>
            </a:r>
          </a:p>
        </p:txBody>
      </p:sp>
      <p:sp>
        <p:nvSpPr>
          <p:cNvPr id="9" name="Rectangle: Rounded Corners 8">
            <a:extLst xmlns:a="http://schemas.openxmlformats.org/drawingml/2006/main">
              <a:ext uri="{FF2B5EF4-FFF2-40B4-BE49-F238E27FC236}">
                <a16:creationId xmlns:a16="http://schemas.microsoft.com/office/drawing/2014/main" id="{82096989-4D2F-4572-8E1F-408D9C9B8BD5}"/>
              </a:ext>
            </a:extLst>
          </p:cNvPr>
          <p:cNvSpPr>
            <a:spLocks xmlns:a="http://schemas.openxmlformats.org/drawingml/2006/main" noGrp="1"/>
          </p:cNvSpPr>
          <p:nvPr/>
        </p:nvSpPr>
        <p:spPr>
          <a:xfrm xmlns:a="http://schemas.openxmlformats.org/drawingml/2006/main">
            <a:off x="1571625" y="1333500"/>
            <a:ext cx="8858250"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22D3EE"/>
            </a:solidFill>
            <a:prstDash val="solid"/>
          </a:ln>
        </p:spPr>
      </p:sp>
      <p:sp>
        <p:nvSpPr>
          <p:cNvPr id="10" name="Rectangle 9">
            <a:extLst xmlns:a="http://schemas.openxmlformats.org/drawingml/2006/main">
              <a:ext uri="{FF2B5EF4-FFF2-40B4-BE49-F238E27FC236}">
                <a16:creationId xmlns:a16="http://schemas.microsoft.com/office/drawing/2014/main" id="{9AD36628-8B22-41B3-AA39-9A44DBE9FDE3}"/>
              </a:ext>
            </a:extLst>
          </p:cNvPr>
          <p:cNvSpPr>
            <a:spLocks xmlns:a="http://schemas.openxmlformats.org/drawingml/2006/main" noGrp="1"/>
          </p:cNvSpPr>
          <p:nvPr/>
        </p:nvSpPr>
        <p:spPr>
          <a:xfrm xmlns:a="http://schemas.openxmlformats.org/drawingml/2006/main">
            <a:off x="1685925" y="1428750"/>
            <a:ext cx="8629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cbf_luma / chroma coded-block flags</a:t>
            </a:r>
          </a:p>
        </p:txBody>
      </p:sp>
      <p:sp>
        <p:nvSpPr>
          <p:cNvPr id="11" name="Rectangle 10">
            <a:extLst xmlns:a="http://schemas.openxmlformats.org/drawingml/2006/main">
              <a:ext uri="{FF2B5EF4-FFF2-40B4-BE49-F238E27FC236}">
                <a16:creationId xmlns:a16="http://schemas.microsoft.com/office/drawing/2014/main" id="{7870C8AA-3D05-4B48-86FE-A15AE22E5F9E}"/>
              </a:ext>
            </a:extLst>
          </p:cNvPr>
          <p:cNvSpPr>
            <a:spLocks xmlns:a="http://schemas.openxmlformats.org/drawingml/2006/main" noGrp="1"/>
          </p:cNvSpPr>
          <p:nvPr/>
        </p:nvSpPr>
        <p:spPr>
          <a:xfrm xmlns:a="http://schemas.openxmlformats.org/drawingml/2006/main">
            <a:off x="5943600" y="22098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Rectangle 11">
            <a:extLst xmlns:a="http://schemas.openxmlformats.org/drawingml/2006/main">
              <a:ext uri="{FF2B5EF4-FFF2-40B4-BE49-F238E27FC236}">
                <a16:creationId xmlns:a16="http://schemas.microsoft.com/office/drawing/2014/main" id="{6628888F-C43F-47CE-9798-AC3750FCB1E9}"/>
              </a:ext>
            </a:extLst>
          </p:cNvPr>
          <p:cNvSpPr>
            <a:spLocks xmlns:a="http://schemas.openxmlformats.org/drawingml/2006/main" noGrp="1"/>
          </p:cNvSpPr>
          <p:nvPr/>
        </p:nvSpPr>
        <p:spPr>
          <a:xfrm xmlns:a="http://schemas.openxmlformats.org/drawingml/2006/main">
            <a:off x="5943600"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0" name="Straight Arrow Connector 48"/>
          <p:cNvCxnSpPr>
            <a:stCxn xmlns:a="http://schemas.openxmlformats.org/drawingml/2006/main" id="11" idx="0"/>
            <a:endCxn xmlns:a="http://schemas.openxmlformats.org/drawingml/2006/main" id="12" idx="2"/>
          </p:cNvCxnSpPr>
          <p:nvPr/>
        </p:nvCxnSpPr>
        <p:spPr>
          <a:xfrm xmlns:a="http://schemas.openxmlformats.org/drawingml/2006/main" flipV="1">
            <a:off x="5953125" y="1924050"/>
            <a:ext cx="0" cy="28575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4" name="Oval 13">
            <a:extLst xmlns:a="http://schemas.openxmlformats.org/drawingml/2006/main">
              <a:ext uri="{FF2B5EF4-FFF2-40B4-BE49-F238E27FC236}">
                <a16:creationId xmlns:a16="http://schemas.microsoft.com/office/drawing/2014/main" id="{331281F3-D5CD-467F-A81C-6845CA3DD2E8}"/>
              </a:ext>
            </a:extLst>
          </p:cNvPr>
          <p:cNvSpPr>
            <a:spLocks xmlns:a="http://schemas.openxmlformats.org/drawingml/2006/main" noGrp="1"/>
          </p:cNvSpPr>
          <p:nvPr/>
        </p:nvSpPr>
        <p:spPr>
          <a:xfrm xmlns:a="http://schemas.openxmlformats.org/drawingml/2006/main">
            <a:off x="857250" y="229552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2E9BFF"/>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E9BFF"/>
                </a:solidFill>
                <a:latin typeface="Arial"/>
                <a:ea typeface="Arial"/>
                <a:cs typeface="Arial"/>
              </a:defRPr>
            </a:pPr>
            <a:r>
              <a:rPr sz="1200" b="1">
                <a:solidFill>
                  <a:srgbClr val="2E9BFF"/>
                </a:solidFill>
                <a:latin typeface="Arial"/>
                <a:ea typeface="Arial"/>
                <a:cs typeface="Arial"/>
              </a:rPr>
              <a:t>2</a:t>
            </a:r>
          </a:p>
        </p:txBody>
      </p:sp>
      <p:sp>
        <p:nvSpPr>
          <p:cNvPr id="15" name="Rectangle: Rounded Corners 14">
            <a:extLst xmlns:a="http://schemas.openxmlformats.org/drawingml/2006/main">
              <a:ext uri="{FF2B5EF4-FFF2-40B4-BE49-F238E27FC236}">
                <a16:creationId xmlns:a16="http://schemas.microsoft.com/office/drawing/2014/main" id="{D973979F-CA58-4FFA-BD4F-C53B0A77715C}"/>
              </a:ext>
            </a:extLst>
          </p:cNvPr>
          <p:cNvSpPr>
            <a:spLocks xmlns:a="http://schemas.openxmlformats.org/drawingml/2006/main" noGrp="1"/>
          </p:cNvSpPr>
          <p:nvPr/>
        </p:nvSpPr>
        <p:spPr>
          <a:xfrm xmlns:a="http://schemas.openxmlformats.org/drawingml/2006/main">
            <a:off x="1571625" y="2247900"/>
            <a:ext cx="8858250"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2E9BFF"/>
            </a:solidFill>
            <a:prstDash val="solid"/>
          </a:ln>
        </p:spPr>
      </p:sp>
      <p:sp>
        <p:nvSpPr>
          <p:cNvPr id="16" name="Rectangle 15">
            <a:extLst xmlns:a="http://schemas.openxmlformats.org/drawingml/2006/main">
              <a:ext uri="{FF2B5EF4-FFF2-40B4-BE49-F238E27FC236}">
                <a16:creationId xmlns:a16="http://schemas.microsoft.com/office/drawing/2014/main" id="{DB2A6B99-9AC5-4913-9C65-DE96297FE5D5}"/>
              </a:ext>
            </a:extLst>
          </p:cNvPr>
          <p:cNvSpPr>
            <a:spLocks xmlns:a="http://schemas.openxmlformats.org/drawingml/2006/main" noGrp="1"/>
          </p:cNvSpPr>
          <p:nvPr/>
        </p:nvSpPr>
        <p:spPr>
          <a:xfrm xmlns:a="http://schemas.openxmlformats.org/drawingml/2006/main">
            <a:off x="1685925" y="2343150"/>
            <a:ext cx="8629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last significant x/y prefix and optional suffix</a:t>
            </a:r>
          </a:p>
        </p:txBody>
      </p:sp>
      <p:sp>
        <p:nvSpPr>
          <p:cNvPr id="17" name="Rectangle 16">
            <a:extLst xmlns:a="http://schemas.openxmlformats.org/drawingml/2006/main">
              <a:ext uri="{FF2B5EF4-FFF2-40B4-BE49-F238E27FC236}">
                <a16:creationId xmlns:a16="http://schemas.microsoft.com/office/drawing/2014/main" id="{80EC08F9-5D57-4986-A5CC-5C33EFD50899}"/>
              </a:ext>
            </a:extLst>
          </p:cNvPr>
          <p:cNvSpPr>
            <a:spLocks xmlns:a="http://schemas.openxmlformats.org/drawingml/2006/main" noGrp="1"/>
          </p:cNvSpPr>
          <p:nvPr/>
        </p:nvSpPr>
        <p:spPr>
          <a:xfrm xmlns:a="http://schemas.openxmlformats.org/drawingml/2006/main">
            <a:off x="5943600" y="3124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8" name="Rectangle 17">
            <a:extLst xmlns:a="http://schemas.openxmlformats.org/drawingml/2006/main">
              <a:ext uri="{FF2B5EF4-FFF2-40B4-BE49-F238E27FC236}">
                <a16:creationId xmlns:a16="http://schemas.microsoft.com/office/drawing/2014/main" id="{8820E3AA-116C-4C46-9B3E-6F1047E3A0E6}"/>
              </a:ext>
            </a:extLst>
          </p:cNvPr>
          <p:cNvSpPr>
            <a:spLocks xmlns:a="http://schemas.openxmlformats.org/drawingml/2006/main" noGrp="1"/>
          </p:cNvSpPr>
          <p:nvPr/>
        </p:nvSpPr>
        <p:spPr>
          <a:xfrm xmlns:a="http://schemas.openxmlformats.org/drawingml/2006/main">
            <a:off x="5943600" y="28194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6" name="Straight Arrow Connector 54"/>
          <p:cNvCxnSpPr>
            <a:stCxn xmlns:a="http://schemas.openxmlformats.org/drawingml/2006/main" id="17" idx="0"/>
            <a:endCxn xmlns:a="http://schemas.openxmlformats.org/drawingml/2006/main" id="18" idx="2"/>
          </p:cNvCxnSpPr>
          <p:nvPr/>
        </p:nvCxnSpPr>
        <p:spPr>
          <a:xfrm xmlns:a="http://schemas.openxmlformats.org/drawingml/2006/main" flipV="1">
            <a:off x="5953125" y="2838450"/>
            <a:ext cx="0" cy="28575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0" name="Oval 19">
            <a:extLst xmlns:a="http://schemas.openxmlformats.org/drawingml/2006/main">
              <a:ext uri="{FF2B5EF4-FFF2-40B4-BE49-F238E27FC236}">
                <a16:creationId xmlns:a16="http://schemas.microsoft.com/office/drawing/2014/main" id="{F7578697-F14A-4837-994A-B3190C718F32}"/>
              </a:ext>
            </a:extLst>
          </p:cNvPr>
          <p:cNvSpPr>
            <a:spLocks xmlns:a="http://schemas.openxmlformats.org/drawingml/2006/main" noGrp="1"/>
          </p:cNvSpPr>
          <p:nvPr/>
        </p:nvSpPr>
        <p:spPr>
          <a:xfrm xmlns:a="http://schemas.openxmlformats.org/drawingml/2006/main">
            <a:off x="857250" y="320992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47E6A4"/>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47E6A4"/>
                </a:solidFill>
                <a:latin typeface="Arial"/>
                <a:ea typeface="Arial"/>
                <a:cs typeface="Arial"/>
              </a:defRPr>
            </a:pPr>
            <a:r>
              <a:rPr sz="1200" b="1">
                <a:solidFill>
                  <a:srgbClr val="47E6A4"/>
                </a:solidFill>
                <a:latin typeface="Arial"/>
                <a:ea typeface="Arial"/>
                <a:cs typeface="Arial"/>
              </a:rPr>
              <a:t>3</a:t>
            </a:r>
          </a:p>
        </p:txBody>
      </p:sp>
      <p:sp>
        <p:nvSpPr>
          <p:cNvPr id="21" name="Rectangle: Rounded Corners 20">
            <a:extLst xmlns:a="http://schemas.openxmlformats.org/drawingml/2006/main">
              <a:ext uri="{FF2B5EF4-FFF2-40B4-BE49-F238E27FC236}">
                <a16:creationId xmlns:a16="http://schemas.microsoft.com/office/drawing/2014/main" id="{BC62A9F8-8ED1-40B6-A013-F210DD16CE3B}"/>
              </a:ext>
            </a:extLst>
          </p:cNvPr>
          <p:cNvSpPr>
            <a:spLocks xmlns:a="http://schemas.openxmlformats.org/drawingml/2006/main" noGrp="1"/>
          </p:cNvSpPr>
          <p:nvPr/>
        </p:nvSpPr>
        <p:spPr>
          <a:xfrm xmlns:a="http://schemas.openxmlformats.org/drawingml/2006/main">
            <a:off x="1571625" y="3162300"/>
            <a:ext cx="8858250"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47E6A4"/>
            </a:solidFill>
            <a:prstDash val="solid"/>
          </a:ln>
        </p:spPr>
      </p:sp>
      <p:sp>
        <p:nvSpPr>
          <p:cNvPr id="22" name="Rectangle 21">
            <a:extLst xmlns:a="http://schemas.openxmlformats.org/drawingml/2006/main">
              <a:ext uri="{FF2B5EF4-FFF2-40B4-BE49-F238E27FC236}">
                <a16:creationId xmlns:a16="http://schemas.microsoft.com/office/drawing/2014/main" id="{64785895-5151-4444-B9F2-F5D35F68F3E0}"/>
              </a:ext>
            </a:extLst>
          </p:cNvPr>
          <p:cNvSpPr>
            <a:spLocks xmlns:a="http://schemas.openxmlformats.org/drawingml/2006/main" noGrp="1"/>
          </p:cNvSpPr>
          <p:nvPr/>
        </p:nvSpPr>
        <p:spPr>
          <a:xfrm xmlns:a="http://schemas.openxmlformats.org/drawingml/2006/main">
            <a:off x="1685925" y="3257550"/>
            <a:ext cx="8629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coded sub-block flags and significance flags</a:t>
            </a:r>
          </a:p>
        </p:txBody>
      </p:sp>
      <p:sp>
        <p:nvSpPr>
          <p:cNvPr id="23" name="Rectangle 22">
            <a:extLst xmlns:a="http://schemas.openxmlformats.org/drawingml/2006/main">
              <a:ext uri="{FF2B5EF4-FFF2-40B4-BE49-F238E27FC236}">
                <a16:creationId xmlns:a16="http://schemas.microsoft.com/office/drawing/2014/main" id="{896E7422-30D7-4EBE-91F9-B6563E185F11}"/>
              </a:ext>
            </a:extLst>
          </p:cNvPr>
          <p:cNvSpPr>
            <a:spLocks xmlns:a="http://schemas.openxmlformats.org/drawingml/2006/main" noGrp="1"/>
          </p:cNvSpPr>
          <p:nvPr/>
        </p:nvSpPr>
        <p:spPr>
          <a:xfrm xmlns:a="http://schemas.openxmlformats.org/drawingml/2006/main">
            <a:off x="594360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FC3D5B6E-4EC1-40B3-844E-8F3F4538A6DB}"/>
              </a:ext>
            </a:extLst>
          </p:cNvPr>
          <p:cNvSpPr>
            <a:spLocks xmlns:a="http://schemas.openxmlformats.org/drawingml/2006/main" noGrp="1"/>
          </p:cNvSpPr>
          <p:nvPr/>
        </p:nvSpPr>
        <p:spPr>
          <a:xfrm xmlns:a="http://schemas.openxmlformats.org/drawingml/2006/main">
            <a:off x="5943600" y="37338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2" name="Straight Arrow Connector 60"/>
          <p:cNvCxnSpPr>
            <a:stCxn xmlns:a="http://schemas.openxmlformats.org/drawingml/2006/main" id="23" idx="0"/>
            <a:endCxn xmlns:a="http://schemas.openxmlformats.org/drawingml/2006/main" id="24" idx="2"/>
          </p:cNvCxnSpPr>
          <p:nvPr/>
        </p:nvCxnSpPr>
        <p:spPr>
          <a:xfrm xmlns:a="http://schemas.openxmlformats.org/drawingml/2006/main" flipV="1">
            <a:off x="5953125" y="3752850"/>
            <a:ext cx="0" cy="28575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6" name="Oval 25">
            <a:extLst xmlns:a="http://schemas.openxmlformats.org/drawingml/2006/main">
              <a:ext uri="{FF2B5EF4-FFF2-40B4-BE49-F238E27FC236}">
                <a16:creationId xmlns:a16="http://schemas.microsoft.com/office/drawing/2014/main" id="{68C6F996-25F8-4732-9218-C5202D87C5C1}"/>
              </a:ext>
            </a:extLst>
          </p:cNvPr>
          <p:cNvSpPr>
            <a:spLocks xmlns:a="http://schemas.openxmlformats.org/drawingml/2006/main" noGrp="1"/>
          </p:cNvSpPr>
          <p:nvPr/>
        </p:nvSpPr>
        <p:spPr>
          <a:xfrm xmlns:a="http://schemas.openxmlformats.org/drawingml/2006/main">
            <a:off x="857250" y="412432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B84D"/>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B84D"/>
                </a:solidFill>
                <a:latin typeface="Arial"/>
                <a:ea typeface="Arial"/>
                <a:cs typeface="Arial"/>
              </a:defRPr>
            </a:pPr>
            <a:r>
              <a:rPr sz="1200" b="1">
                <a:solidFill>
                  <a:srgbClr val="FFB84D"/>
                </a:solidFill>
                <a:latin typeface="Arial"/>
                <a:ea typeface="Arial"/>
                <a:cs typeface="Arial"/>
              </a:rPr>
              <a:t>4</a:t>
            </a:r>
          </a:p>
        </p:txBody>
      </p:sp>
      <p:sp>
        <p:nvSpPr>
          <p:cNvPr id="27" name="Rectangle: Rounded Corners 26">
            <a:extLst xmlns:a="http://schemas.openxmlformats.org/drawingml/2006/main">
              <a:ext uri="{FF2B5EF4-FFF2-40B4-BE49-F238E27FC236}">
                <a16:creationId xmlns:a16="http://schemas.microsoft.com/office/drawing/2014/main" id="{F97F66F4-FB30-4B48-B365-C262AE55A4A1}"/>
              </a:ext>
            </a:extLst>
          </p:cNvPr>
          <p:cNvSpPr>
            <a:spLocks xmlns:a="http://schemas.openxmlformats.org/drawingml/2006/main" noGrp="1"/>
          </p:cNvSpPr>
          <p:nvPr/>
        </p:nvSpPr>
        <p:spPr>
          <a:xfrm xmlns:a="http://schemas.openxmlformats.org/drawingml/2006/main">
            <a:off x="1571625" y="4076700"/>
            <a:ext cx="8858250"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FFB84D"/>
            </a:solidFill>
            <a:prstDash val="solid"/>
          </a:ln>
        </p:spPr>
      </p:sp>
      <p:sp>
        <p:nvSpPr>
          <p:cNvPr id="28" name="Rectangle 27">
            <a:extLst xmlns:a="http://schemas.openxmlformats.org/drawingml/2006/main">
              <a:ext uri="{FF2B5EF4-FFF2-40B4-BE49-F238E27FC236}">
                <a16:creationId xmlns:a16="http://schemas.microsoft.com/office/drawing/2014/main" id="{D59CE644-0F92-4DCA-9703-D5B087A10AD9}"/>
              </a:ext>
            </a:extLst>
          </p:cNvPr>
          <p:cNvSpPr>
            <a:spLocks xmlns:a="http://schemas.openxmlformats.org/drawingml/2006/main" noGrp="1"/>
          </p:cNvSpPr>
          <p:nvPr/>
        </p:nvSpPr>
        <p:spPr>
          <a:xfrm xmlns:a="http://schemas.openxmlformats.org/drawingml/2006/main">
            <a:off x="1685925" y="4171950"/>
            <a:ext cx="8629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greater1 / conditional greater2 level flags</a:t>
            </a:r>
          </a:p>
        </p:txBody>
      </p:sp>
      <p:sp>
        <p:nvSpPr>
          <p:cNvPr id="29" name="Rectangle 28">
            <a:extLst xmlns:a="http://schemas.openxmlformats.org/drawingml/2006/main">
              <a:ext uri="{FF2B5EF4-FFF2-40B4-BE49-F238E27FC236}">
                <a16:creationId xmlns:a16="http://schemas.microsoft.com/office/drawing/2014/main" id="{7B7474C1-76A7-4DA2-9AC6-6DB2B9E7303E}"/>
              </a:ext>
            </a:extLst>
          </p:cNvPr>
          <p:cNvSpPr>
            <a:spLocks xmlns:a="http://schemas.openxmlformats.org/drawingml/2006/main" noGrp="1"/>
          </p:cNvSpPr>
          <p:nvPr/>
        </p:nvSpPr>
        <p:spPr>
          <a:xfrm xmlns:a="http://schemas.openxmlformats.org/drawingml/2006/main">
            <a:off x="5943600" y="4953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415E9532-5D49-42EE-B36D-22BF0D4AF1AA}"/>
              </a:ext>
            </a:extLst>
          </p:cNvPr>
          <p:cNvSpPr>
            <a:spLocks xmlns:a="http://schemas.openxmlformats.org/drawingml/2006/main" noGrp="1"/>
          </p:cNvSpPr>
          <p:nvPr/>
        </p:nvSpPr>
        <p:spPr>
          <a:xfrm xmlns:a="http://schemas.openxmlformats.org/drawingml/2006/main">
            <a:off x="5943600" y="46482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8" name="Straight Arrow Connector 66"/>
          <p:cNvCxnSpPr>
            <a:stCxn xmlns:a="http://schemas.openxmlformats.org/drawingml/2006/main" id="29" idx="0"/>
            <a:endCxn xmlns:a="http://schemas.openxmlformats.org/drawingml/2006/main" id="30" idx="2"/>
          </p:cNvCxnSpPr>
          <p:nvPr/>
        </p:nvCxnSpPr>
        <p:spPr>
          <a:xfrm xmlns:a="http://schemas.openxmlformats.org/drawingml/2006/main" flipV="1">
            <a:off x="5953125" y="4667250"/>
            <a:ext cx="0" cy="28575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32" name="Oval 31">
            <a:extLst xmlns:a="http://schemas.openxmlformats.org/drawingml/2006/main">
              <a:ext uri="{FF2B5EF4-FFF2-40B4-BE49-F238E27FC236}">
                <a16:creationId xmlns:a16="http://schemas.microsoft.com/office/drawing/2014/main" id="{233BBD5D-EF1A-48AB-A164-3886FDCA9C38}"/>
              </a:ext>
            </a:extLst>
          </p:cNvPr>
          <p:cNvSpPr>
            <a:spLocks xmlns:a="http://schemas.openxmlformats.org/drawingml/2006/main" noGrp="1"/>
          </p:cNvSpPr>
          <p:nvPr/>
        </p:nvSpPr>
        <p:spPr>
          <a:xfrm xmlns:a="http://schemas.openxmlformats.org/drawingml/2006/main">
            <a:off x="857250" y="503872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6577"/>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6577"/>
                </a:solidFill>
                <a:latin typeface="Arial"/>
                <a:ea typeface="Arial"/>
                <a:cs typeface="Arial"/>
              </a:defRPr>
            </a:pPr>
            <a:r>
              <a:rPr sz="1200" b="1">
                <a:solidFill>
                  <a:srgbClr val="FF6577"/>
                </a:solidFill>
                <a:latin typeface="Arial"/>
                <a:ea typeface="Arial"/>
                <a:cs typeface="Arial"/>
              </a:rPr>
              <a:t>5</a:t>
            </a:r>
          </a:p>
        </p:txBody>
      </p:sp>
      <p:sp>
        <p:nvSpPr>
          <p:cNvPr id="33" name="Rectangle: Rounded Corners 32">
            <a:extLst xmlns:a="http://schemas.openxmlformats.org/drawingml/2006/main">
              <a:ext uri="{FF2B5EF4-FFF2-40B4-BE49-F238E27FC236}">
                <a16:creationId xmlns:a16="http://schemas.microsoft.com/office/drawing/2014/main" id="{D4614740-29D1-4785-A120-AFE4BCA84F40}"/>
              </a:ext>
            </a:extLst>
          </p:cNvPr>
          <p:cNvSpPr>
            <a:spLocks xmlns:a="http://schemas.openxmlformats.org/drawingml/2006/main" noGrp="1"/>
          </p:cNvSpPr>
          <p:nvPr/>
        </p:nvSpPr>
        <p:spPr>
          <a:xfrm xmlns:a="http://schemas.openxmlformats.org/drawingml/2006/main">
            <a:off x="1571625" y="4991100"/>
            <a:ext cx="8858250" cy="552450"/>
          </a:xfrm>
          <a:prstGeom xmlns:a="http://schemas.openxmlformats.org/drawingml/2006/main" prst="roundRect">
            <a:avLst>
              <a:gd name="adj" fmla="val 20690"/>
            </a:avLst>
          </a:prstGeom>
          <a:solidFill xmlns:a="http://schemas.openxmlformats.org/drawingml/2006/main">
            <a:srgbClr val="0B2033"/>
          </a:solidFill>
          <a:ln xmlns:a="http://schemas.openxmlformats.org/drawingml/2006/main" w="19050">
            <a:solidFill>
              <a:srgbClr val="FF6577"/>
            </a:solidFill>
            <a:prstDash val="solid"/>
          </a:ln>
        </p:spPr>
      </p:sp>
      <p:sp>
        <p:nvSpPr>
          <p:cNvPr id="34" name="Rectangle 33">
            <a:extLst xmlns:a="http://schemas.openxmlformats.org/drawingml/2006/main">
              <a:ext uri="{FF2B5EF4-FFF2-40B4-BE49-F238E27FC236}">
                <a16:creationId xmlns:a16="http://schemas.microsoft.com/office/drawing/2014/main" id="{BBF5EBD7-B9F2-4CCE-906A-D4597186EEE1}"/>
              </a:ext>
            </a:extLst>
          </p:cNvPr>
          <p:cNvSpPr>
            <a:spLocks xmlns:a="http://schemas.openxmlformats.org/drawingml/2006/main" noGrp="1"/>
          </p:cNvSpPr>
          <p:nvPr/>
        </p:nvSpPr>
        <p:spPr>
          <a:xfrm xmlns:a="http://schemas.openxmlformats.org/drawingml/2006/main">
            <a:off x="1685925" y="5086350"/>
            <a:ext cx="8629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sign flags and remaining absolute levels</a:t>
            </a:r>
          </a:p>
        </p:txBody>
      </p:sp>
      <p:sp>
        <p:nvSpPr>
          <p:cNvPr id="35" name="Rectangle: Rounded Corners 34">
            <a:extLst xmlns:a="http://schemas.openxmlformats.org/drawingml/2006/main">
              <a:ext uri="{FF2B5EF4-FFF2-40B4-BE49-F238E27FC236}">
                <a16:creationId xmlns:a16="http://schemas.microsoft.com/office/drawing/2014/main" id="{06A8EAA9-F9AC-4D31-810C-4100CF8E7FDD}"/>
              </a:ext>
            </a:extLst>
          </p:cNvPr>
          <p:cNvSpPr>
            <a:spLocks xmlns:a="http://schemas.openxmlformats.org/drawingml/2006/main" noGrp="1"/>
          </p:cNvSpPr>
          <p:nvPr/>
        </p:nvSpPr>
        <p:spPr>
          <a:xfrm xmlns:a="http://schemas.openxmlformats.org/drawingml/2006/main">
            <a:off x="1952625" y="6115050"/>
            <a:ext cx="8286750" cy="400050"/>
          </a:xfrm>
          <a:prstGeom xmlns:a="http://schemas.openxmlformats.org/drawingml/2006/main" prst="roundRect">
            <a:avLst>
              <a:gd name="adj" fmla="val 28571"/>
            </a:avLst>
          </a:prstGeom>
          <a:solidFill xmlns:a="http://schemas.openxmlformats.org/drawingml/2006/main">
            <a:srgbClr val="092034"/>
          </a:solidFill>
          <a:ln xmlns:a="http://schemas.openxmlformats.org/drawingml/2006/main" w="19050">
            <a:solidFill>
              <a:srgbClr val="22D3EE"/>
            </a:solidFill>
            <a:prstDash val="solid"/>
          </a:ln>
        </p:spPr>
      </p:sp>
      <p:sp>
        <p:nvSpPr>
          <p:cNvPr id="36" name="Rectangle 35">
            <a:extLst xmlns:a="http://schemas.openxmlformats.org/drawingml/2006/main">
              <a:ext uri="{FF2B5EF4-FFF2-40B4-BE49-F238E27FC236}">
                <a16:creationId xmlns:a16="http://schemas.microsoft.com/office/drawing/2014/main" id="{525567C6-B5D9-4675-BBBA-56DB9BCCA8D3}"/>
              </a:ext>
            </a:extLst>
          </p:cNvPr>
          <p:cNvSpPr>
            <a:spLocks xmlns:a="http://schemas.openxmlformats.org/drawingml/2006/main" noGrp="1"/>
          </p:cNvSpPr>
          <p:nvPr/>
        </p:nvSpPr>
        <p:spPr>
          <a:xfrm xmlns:a="http://schemas.openxmlformats.org/drawingml/2006/main">
            <a:off x="2066925" y="6210300"/>
            <a:ext cx="805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This is a syntax sequence—not one universal literal bit string for every block.</a:t>
            </a:r>
          </a:p>
        </p:txBody>
      </p:sp>
    </p:spTree>
    <p:extLst>
      <p:ext uri="{BB962C8B-B14F-4D97-AF65-F5344CB8AC3E}">
        <p14:creationId xmlns:p14="http://schemas.microsoft.com/office/powerpoint/2010/main" val="1261842593"/>
      </p:ext>
    </p:extLst>
  </p:cSld>
</p:sld>
</file>

<file path=ppt/slides/slide18.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5" name="Oval 34">
            <a:extLst xmlns:a="http://schemas.openxmlformats.org/drawingml/2006/main">
              <a:ext uri="{FF2B5EF4-FFF2-40B4-BE49-F238E27FC236}">
                <a16:creationId xmlns:a16="http://schemas.microsoft.com/office/drawing/2014/main" id="{FC1D19F1-3738-4919-9598-6E3FF4E6D808}"/>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06EAF309-3CF7-4DEC-B34E-088708480B3C}"/>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2981780F-65E8-4CDA-8DDD-F90D4058C6CD}"/>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How CABAC serves the syntax parser</a:t>
            </a:r>
          </a:p>
        </p:txBody>
      </p:sp>
      <p:sp>
        <p:nvSpPr>
          <p:cNvPr id="4" name="Straight Connector 3">
            <a:extLst xmlns:a="http://schemas.openxmlformats.org/drawingml/2006/main">
              <a:ext uri="{FF2B5EF4-FFF2-40B4-BE49-F238E27FC236}">
                <a16:creationId xmlns:a16="http://schemas.microsoft.com/office/drawing/2014/main" id="{75911E1A-5010-446A-9BA7-99EB0CAE106F}"/>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6BA805BE-0CBA-4085-856F-7E5A7CF63301}"/>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Each request arrives with its own binarization rule, context selection, and decoding mode</a:t>
            </a:r>
          </a:p>
        </p:txBody>
      </p:sp>
      <p:sp>
        <p:nvSpPr>
          <p:cNvPr id="6" name="Rectangle 5">
            <a:extLst xmlns:a="http://schemas.openxmlformats.org/drawingml/2006/main">
              <a:ext uri="{FF2B5EF4-FFF2-40B4-BE49-F238E27FC236}">
                <a16:creationId xmlns:a16="http://schemas.microsoft.com/office/drawing/2014/main" id="{7F33CFCA-979F-4D19-A056-6F3AD049FD23}"/>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0D2B14B5-7D36-4E74-8E0B-C00EA3749369}"/>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18 / 49</a:t>
            </a:r>
          </a:p>
        </p:txBody>
      </p:sp>
      <p:sp>
        <p:nvSpPr>
          <p:cNvPr id="8" name="Rectangle: Rounded Corners 7">
            <a:extLst xmlns:a="http://schemas.openxmlformats.org/drawingml/2006/main">
              <a:ext uri="{FF2B5EF4-FFF2-40B4-BE49-F238E27FC236}">
                <a16:creationId xmlns:a16="http://schemas.microsoft.com/office/drawing/2014/main" id="{CD80DDF3-B6CF-49C2-9CED-66B34D0712D2}"/>
              </a:ext>
            </a:extLst>
          </p:cNvPr>
          <p:cNvSpPr>
            <a:spLocks xmlns:a="http://schemas.openxmlformats.org/drawingml/2006/main" noGrp="1"/>
          </p:cNvSpPr>
          <p:nvPr/>
        </p:nvSpPr>
        <p:spPr>
          <a:xfrm xmlns:a="http://schemas.openxmlformats.org/drawingml/2006/main">
            <a:off x="523875" y="1952625"/>
            <a:ext cx="2333625" cy="571500"/>
          </a:xfrm>
          <a:prstGeom xmlns:a="http://schemas.openxmlformats.org/drawingml/2006/main" prst="roundRect">
            <a:avLst>
              <a:gd name="adj" fmla="val 20000"/>
            </a:avLst>
          </a:prstGeom>
          <a:solidFill xmlns:a="http://schemas.openxmlformats.org/drawingml/2006/main">
            <a:srgbClr val="0B2033"/>
          </a:solidFill>
          <a:ln xmlns:a="http://schemas.openxmlformats.org/drawingml/2006/main" w="19050">
            <a:solidFill>
              <a:srgbClr val="22D3EE"/>
            </a:solidFill>
            <a:prstDash val="solid"/>
          </a:ln>
        </p:spPr>
      </p:sp>
      <p:sp>
        <p:nvSpPr>
          <p:cNvPr id="9" name="Rectangle 8">
            <a:extLst xmlns:a="http://schemas.openxmlformats.org/drawingml/2006/main">
              <a:ext uri="{FF2B5EF4-FFF2-40B4-BE49-F238E27FC236}">
                <a16:creationId xmlns:a16="http://schemas.microsoft.com/office/drawing/2014/main" id="{8235EFF1-D949-4597-B4FC-5321AAC62AF5}"/>
              </a:ext>
            </a:extLst>
          </p:cNvPr>
          <p:cNvSpPr>
            <a:spLocks xmlns:a="http://schemas.openxmlformats.org/drawingml/2006/main" noGrp="1"/>
          </p:cNvSpPr>
          <p:nvPr/>
        </p:nvSpPr>
        <p:spPr>
          <a:xfrm xmlns:a="http://schemas.openxmlformats.org/drawingml/2006/main">
            <a:off x="638175" y="2047875"/>
            <a:ext cx="2105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SYNTAX PARSER</a:t>
            </a:r>
          </a:p>
        </p:txBody>
      </p:sp>
      <p:sp>
        <p:nvSpPr>
          <p:cNvPr id="10" name="Rectangle 9">
            <a:extLst xmlns:a="http://schemas.openxmlformats.org/drawingml/2006/main">
              <a:ext uri="{FF2B5EF4-FFF2-40B4-BE49-F238E27FC236}">
                <a16:creationId xmlns:a16="http://schemas.microsoft.com/office/drawing/2014/main" id="{07614EA7-FF86-4E44-A55C-95EE97715B0E}"/>
              </a:ext>
            </a:extLst>
          </p:cNvPr>
          <p:cNvSpPr>
            <a:spLocks xmlns:a="http://schemas.openxmlformats.org/drawingml/2006/main" noGrp="1"/>
          </p:cNvSpPr>
          <p:nvPr/>
        </p:nvSpPr>
        <p:spPr>
          <a:xfrm xmlns:a="http://schemas.openxmlformats.org/drawingml/2006/main">
            <a:off x="619125" y="2714625"/>
            <a:ext cx="2143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requests one named syntax element</a:t>
            </a:r>
          </a:p>
        </p:txBody>
      </p:sp>
      <p:sp>
        <p:nvSpPr>
          <p:cNvPr id="11" name="Rectangle 10">
            <a:extLst xmlns:a="http://schemas.openxmlformats.org/drawingml/2006/main">
              <a:ext uri="{FF2B5EF4-FFF2-40B4-BE49-F238E27FC236}">
                <a16:creationId xmlns:a16="http://schemas.microsoft.com/office/drawing/2014/main" id="{B94C5764-2578-49CE-9F07-C693C2B9296D}"/>
              </a:ext>
            </a:extLst>
          </p:cNvPr>
          <p:cNvSpPr>
            <a:spLocks xmlns:a="http://schemas.openxmlformats.org/drawingml/2006/main" noGrp="1"/>
          </p:cNvSpPr>
          <p:nvPr/>
        </p:nvSpPr>
        <p:spPr>
          <a:xfrm xmlns:a="http://schemas.openxmlformats.org/drawingml/2006/main">
            <a:off x="3409950"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Rectangle 11">
            <a:extLst xmlns:a="http://schemas.openxmlformats.org/drawingml/2006/main">
              <a:ext uri="{FF2B5EF4-FFF2-40B4-BE49-F238E27FC236}">
                <a16:creationId xmlns:a16="http://schemas.microsoft.com/office/drawing/2014/main" id="{EEEC7484-E985-43C4-8EEB-E332CB3F0310}"/>
              </a:ext>
            </a:extLst>
          </p:cNvPr>
          <p:cNvSpPr>
            <a:spLocks xmlns:a="http://schemas.openxmlformats.org/drawingml/2006/main" noGrp="1"/>
          </p:cNvSpPr>
          <p:nvPr/>
        </p:nvSpPr>
        <p:spPr>
          <a:xfrm xmlns:a="http://schemas.openxmlformats.org/drawingml/2006/main">
            <a:off x="2886075"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0" name="Straight Arrow Connector 46"/>
          <p:cNvCxnSpPr>
            <a:stCxn xmlns:a="http://schemas.openxmlformats.org/drawingml/2006/main" id="11" idx="1"/>
            <a:endCxn xmlns:a="http://schemas.openxmlformats.org/drawingml/2006/main" id="12" idx="3"/>
          </p:cNvCxnSpPr>
          <p:nvPr/>
        </p:nvCxnSpPr>
        <p:spPr>
          <a:xfrm xmlns:a="http://schemas.openxmlformats.org/drawingml/2006/main" flipH="1">
            <a:off x="2905125" y="2247900"/>
            <a:ext cx="50482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4" name="Rectangle: Rounded Corners 13">
            <a:extLst xmlns:a="http://schemas.openxmlformats.org/drawingml/2006/main">
              <a:ext uri="{FF2B5EF4-FFF2-40B4-BE49-F238E27FC236}">
                <a16:creationId xmlns:a16="http://schemas.microsoft.com/office/drawing/2014/main" id="{E4C23BB6-07BF-4D1E-8D89-142DF20C9138}"/>
              </a:ext>
            </a:extLst>
          </p:cNvPr>
          <p:cNvSpPr>
            <a:spLocks xmlns:a="http://schemas.openxmlformats.org/drawingml/2006/main" noGrp="1"/>
          </p:cNvSpPr>
          <p:nvPr/>
        </p:nvSpPr>
        <p:spPr>
          <a:xfrm xmlns:a="http://schemas.openxmlformats.org/drawingml/2006/main">
            <a:off x="3048000" y="1952625"/>
            <a:ext cx="2333625" cy="571500"/>
          </a:xfrm>
          <a:prstGeom xmlns:a="http://schemas.openxmlformats.org/drawingml/2006/main" prst="roundRect">
            <a:avLst>
              <a:gd name="adj" fmla="val 20000"/>
            </a:avLst>
          </a:prstGeom>
          <a:solidFill xmlns:a="http://schemas.openxmlformats.org/drawingml/2006/main">
            <a:srgbClr val="0B2033"/>
          </a:solidFill>
          <a:ln xmlns:a="http://schemas.openxmlformats.org/drawingml/2006/main" w="19050">
            <a:solidFill>
              <a:srgbClr val="2E9BFF"/>
            </a:solidFill>
            <a:prstDash val="solid"/>
          </a:ln>
        </p:spPr>
      </p:sp>
      <p:sp>
        <p:nvSpPr>
          <p:cNvPr id="15" name="Rectangle 14">
            <a:extLst xmlns:a="http://schemas.openxmlformats.org/drawingml/2006/main">
              <a:ext uri="{FF2B5EF4-FFF2-40B4-BE49-F238E27FC236}">
                <a16:creationId xmlns:a16="http://schemas.microsoft.com/office/drawing/2014/main" id="{7D3312A6-ED7B-4986-8730-06A667B02CA6}"/>
              </a:ext>
            </a:extLst>
          </p:cNvPr>
          <p:cNvSpPr>
            <a:spLocks xmlns:a="http://schemas.openxmlformats.org/drawingml/2006/main" noGrp="1"/>
          </p:cNvSpPr>
          <p:nvPr/>
        </p:nvSpPr>
        <p:spPr>
          <a:xfrm xmlns:a="http://schemas.openxmlformats.org/drawingml/2006/main">
            <a:off x="3162300" y="2047875"/>
            <a:ext cx="2105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BINARIZATION</a:t>
            </a:r>
          </a:p>
        </p:txBody>
      </p:sp>
      <p:sp>
        <p:nvSpPr>
          <p:cNvPr id="16" name="Rectangle 15">
            <a:extLst xmlns:a="http://schemas.openxmlformats.org/drawingml/2006/main">
              <a:ext uri="{FF2B5EF4-FFF2-40B4-BE49-F238E27FC236}">
                <a16:creationId xmlns:a16="http://schemas.microsoft.com/office/drawing/2014/main" id="{853033F7-26E1-466D-8F4B-7E6A2D658D1F}"/>
              </a:ext>
            </a:extLst>
          </p:cNvPr>
          <p:cNvSpPr>
            <a:spLocks xmlns:a="http://schemas.openxmlformats.org/drawingml/2006/main" noGrp="1"/>
          </p:cNvSpPr>
          <p:nvPr/>
        </p:nvSpPr>
        <p:spPr>
          <a:xfrm xmlns:a="http://schemas.openxmlformats.org/drawingml/2006/main">
            <a:off x="3143250" y="2714625"/>
            <a:ext cx="2143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knows how many decisions may be needed</a:t>
            </a:r>
          </a:p>
        </p:txBody>
      </p:sp>
      <p:sp>
        <p:nvSpPr>
          <p:cNvPr id="17" name="Rectangle 16">
            <a:extLst xmlns:a="http://schemas.openxmlformats.org/drawingml/2006/main">
              <a:ext uri="{FF2B5EF4-FFF2-40B4-BE49-F238E27FC236}">
                <a16:creationId xmlns:a16="http://schemas.microsoft.com/office/drawing/2014/main" id="{8C136A85-3C36-4FB7-BF1E-F086A92E410C}"/>
              </a:ext>
            </a:extLst>
          </p:cNvPr>
          <p:cNvSpPr>
            <a:spLocks xmlns:a="http://schemas.openxmlformats.org/drawingml/2006/main" noGrp="1"/>
          </p:cNvSpPr>
          <p:nvPr/>
        </p:nvSpPr>
        <p:spPr>
          <a:xfrm xmlns:a="http://schemas.openxmlformats.org/drawingml/2006/main">
            <a:off x="5934075"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8" name="Rectangle 17">
            <a:extLst xmlns:a="http://schemas.openxmlformats.org/drawingml/2006/main">
              <a:ext uri="{FF2B5EF4-FFF2-40B4-BE49-F238E27FC236}">
                <a16:creationId xmlns:a16="http://schemas.microsoft.com/office/drawing/2014/main" id="{2473A98B-6815-4AD8-BC1A-F1D467C5752E}"/>
              </a:ext>
            </a:extLst>
          </p:cNvPr>
          <p:cNvSpPr>
            <a:spLocks xmlns:a="http://schemas.openxmlformats.org/drawingml/2006/main" noGrp="1"/>
          </p:cNvSpPr>
          <p:nvPr/>
        </p:nvSpPr>
        <p:spPr>
          <a:xfrm xmlns:a="http://schemas.openxmlformats.org/drawingml/2006/main">
            <a:off x="5410200"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6" name="Straight Arrow Connector 52"/>
          <p:cNvCxnSpPr>
            <a:stCxn xmlns:a="http://schemas.openxmlformats.org/drawingml/2006/main" id="17" idx="1"/>
            <a:endCxn xmlns:a="http://schemas.openxmlformats.org/drawingml/2006/main" id="18" idx="3"/>
          </p:cNvCxnSpPr>
          <p:nvPr/>
        </p:nvCxnSpPr>
        <p:spPr>
          <a:xfrm xmlns:a="http://schemas.openxmlformats.org/drawingml/2006/main" flipH="1">
            <a:off x="5429250" y="2247900"/>
            <a:ext cx="50482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0" name="Rectangle: Rounded Corners 19">
            <a:extLst xmlns:a="http://schemas.openxmlformats.org/drawingml/2006/main">
              <a:ext uri="{FF2B5EF4-FFF2-40B4-BE49-F238E27FC236}">
                <a16:creationId xmlns:a16="http://schemas.microsoft.com/office/drawing/2014/main" id="{A2C77F41-E9B6-4E84-98E7-EE7B88B299B6}"/>
              </a:ext>
            </a:extLst>
          </p:cNvPr>
          <p:cNvSpPr>
            <a:spLocks xmlns:a="http://schemas.openxmlformats.org/drawingml/2006/main" noGrp="1"/>
          </p:cNvSpPr>
          <p:nvPr/>
        </p:nvSpPr>
        <p:spPr>
          <a:xfrm xmlns:a="http://schemas.openxmlformats.org/drawingml/2006/main">
            <a:off x="5905500" y="1952625"/>
            <a:ext cx="2333625" cy="571500"/>
          </a:xfrm>
          <a:prstGeom xmlns:a="http://schemas.openxmlformats.org/drawingml/2006/main" prst="roundRect">
            <a:avLst>
              <a:gd name="adj" fmla="val 20000"/>
            </a:avLst>
          </a:prstGeom>
          <a:solidFill xmlns:a="http://schemas.openxmlformats.org/drawingml/2006/main">
            <a:srgbClr val="0B2033"/>
          </a:solidFill>
          <a:ln xmlns:a="http://schemas.openxmlformats.org/drawingml/2006/main" w="19050">
            <a:solidFill>
              <a:srgbClr val="FFB84D"/>
            </a:solidFill>
            <a:prstDash val="solid"/>
          </a:ln>
        </p:spPr>
      </p:sp>
      <p:sp>
        <p:nvSpPr>
          <p:cNvPr id="21" name="Rectangle 20">
            <a:extLst xmlns:a="http://schemas.openxmlformats.org/drawingml/2006/main">
              <a:ext uri="{FF2B5EF4-FFF2-40B4-BE49-F238E27FC236}">
                <a16:creationId xmlns:a16="http://schemas.microsoft.com/office/drawing/2014/main" id="{38653649-AE00-4E0D-A8D9-9B8266CBB50F}"/>
              </a:ext>
            </a:extLst>
          </p:cNvPr>
          <p:cNvSpPr>
            <a:spLocks xmlns:a="http://schemas.openxmlformats.org/drawingml/2006/main" noGrp="1"/>
          </p:cNvSpPr>
          <p:nvPr/>
        </p:nvSpPr>
        <p:spPr>
          <a:xfrm xmlns:a="http://schemas.openxmlformats.org/drawingml/2006/main">
            <a:off x="6019800" y="2047875"/>
            <a:ext cx="2105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CONTEXT / BYPASS</a:t>
            </a:r>
          </a:p>
        </p:txBody>
      </p:sp>
      <p:sp>
        <p:nvSpPr>
          <p:cNvPr id="22" name="Rectangle 21">
            <a:extLst xmlns:a="http://schemas.openxmlformats.org/drawingml/2006/main">
              <a:ext uri="{FF2B5EF4-FFF2-40B4-BE49-F238E27FC236}">
                <a16:creationId xmlns:a16="http://schemas.microsoft.com/office/drawing/2014/main" id="{374212C4-E18F-461D-A86A-E39E9209C8C4}"/>
              </a:ext>
            </a:extLst>
          </p:cNvPr>
          <p:cNvSpPr>
            <a:spLocks xmlns:a="http://schemas.openxmlformats.org/drawingml/2006/main" noGrp="1"/>
          </p:cNvSpPr>
          <p:nvPr/>
        </p:nvSpPr>
        <p:spPr>
          <a:xfrm xmlns:a="http://schemas.openxmlformats.org/drawingml/2006/main">
            <a:off x="6000750" y="2714625"/>
            <a:ext cx="2143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selects probability state or equal-probability mode</a:t>
            </a:r>
          </a:p>
        </p:txBody>
      </p:sp>
      <p:sp>
        <p:nvSpPr>
          <p:cNvPr id="23" name="Rectangle 22">
            <a:extLst xmlns:a="http://schemas.openxmlformats.org/drawingml/2006/main">
              <a:ext uri="{FF2B5EF4-FFF2-40B4-BE49-F238E27FC236}">
                <a16:creationId xmlns:a16="http://schemas.microsoft.com/office/drawing/2014/main" id="{C0EF9E8C-D08A-4539-B89F-D1D71DDAA3B6}"/>
              </a:ext>
            </a:extLst>
          </p:cNvPr>
          <p:cNvSpPr>
            <a:spLocks xmlns:a="http://schemas.openxmlformats.org/drawingml/2006/main" noGrp="1"/>
          </p:cNvSpPr>
          <p:nvPr/>
        </p:nvSpPr>
        <p:spPr>
          <a:xfrm xmlns:a="http://schemas.openxmlformats.org/drawingml/2006/main">
            <a:off x="8791575"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B374BD3-1B24-42CF-849E-F53F780CE163}"/>
              </a:ext>
            </a:extLst>
          </p:cNvPr>
          <p:cNvSpPr>
            <a:spLocks xmlns:a="http://schemas.openxmlformats.org/drawingml/2006/main" noGrp="1"/>
          </p:cNvSpPr>
          <p:nvPr/>
        </p:nvSpPr>
        <p:spPr>
          <a:xfrm xmlns:a="http://schemas.openxmlformats.org/drawingml/2006/main">
            <a:off x="8267700"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2" name="Straight Arrow Connector 58"/>
          <p:cNvCxnSpPr>
            <a:stCxn xmlns:a="http://schemas.openxmlformats.org/drawingml/2006/main" id="23" idx="1"/>
            <a:endCxn xmlns:a="http://schemas.openxmlformats.org/drawingml/2006/main" id="24" idx="3"/>
          </p:cNvCxnSpPr>
          <p:nvPr/>
        </p:nvCxnSpPr>
        <p:spPr>
          <a:xfrm xmlns:a="http://schemas.openxmlformats.org/drawingml/2006/main" flipH="1">
            <a:off x="8286750" y="2247900"/>
            <a:ext cx="50482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6" name="Rectangle: Rounded Corners 25">
            <a:extLst xmlns:a="http://schemas.openxmlformats.org/drawingml/2006/main">
              <a:ext uri="{FF2B5EF4-FFF2-40B4-BE49-F238E27FC236}">
                <a16:creationId xmlns:a16="http://schemas.microsoft.com/office/drawing/2014/main" id="{7D72E865-5763-44D8-8A46-6827E2AC15A0}"/>
              </a:ext>
            </a:extLst>
          </p:cNvPr>
          <p:cNvSpPr>
            <a:spLocks xmlns:a="http://schemas.openxmlformats.org/drawingml/2006/main" noGrp="1"/>
          </p:cNvSpPr>
          <p:nvPr/>
        </p:nvSpPr>
        <p:spPr>
          <a:xfrm xmlns:a="http://schemas.openxmlformats.org/drawingml/2006/main">
            <a:off x="8810625" y="1952625"/>
            <a:ext cx="2333625" cy="571500"/>
          </a:xfrm>
          <a:prstGeom xmlns:a="http://schemas.openxmlformats.org/drawingml/2006/main" prst="roundRect">
            <a:avLst>
              <a:gd name="adj" fmla="val 20000"/>
            </a:avLst>
          </a:prstGeom>
          <a:solidFill xmlns:a="http://schemas.openxmlformats.org/drawingml/2006/main">
            <a:srgbClr val="0B2033"/>
          </a:solidFill>
          <a:ln xmlns:a="http://schemas.openxmlformats.org/drawingml/2006/main" w="19050">
            <a:solidFill>
              <a:srgbClr val="47E6A4"/>
            </a:solidFill>
            <a:prstDash val="solid"/>
          </a:ln>
        </p:spPr>
      </p:sp>
      <p:sp>
        <p:nvSpPr>
          <p:cNvPr id="27" name="Rectangle 26">
            <a:extLst xmlns:a="http://schemas.openxmlformats.org/drawingml/2006/main">
              <a:ext uri="{FF2B5EF4-FFF2-40B4-BE49-F238E27FC236}">
                <a16:creationId xmlns:a16="http://schemas.microsoft.com/office/drawing/2014/main" id="{C9B49951-217A-4B76-9015-2E1218AC5B85}"/>
              </a:ext>
            </a:extLst>
          </p:cNvPr>
          <p:cNvSpPr>
            <a:spLocks xmlns:a="http://schemas.openxmlformats.org/drawingml/2006/main" noGrp="1"/>
          </p:cNvSpPr>
          <p:nvPr/>
        </p:nvSpPr>
        <p:spPr>
          <a:xfrm xmlns:a="http://schemas.openxmlformats.org/drawingml/2006/main">
            <a:off x="8924925" y="2047875"/>
            <a:ext cx="2105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ARITHMETIC DECODER</a:t>
            </a:r>
          </a:p>
        </p:txBody>
      </p:sp>
      <p:sp>
        <p:nvSpPr>
          <p:cNvPr id="28" name="Rectangle 27">
            <a:extLst xmlns:a="http://schemas.openxmlformats.org/drawingml/2006/main">
              <a:ext uri="{FF2B5EF4-FFF2-40B4-BE49-F238E27FC236}">
                <a16:creationId xmlns:a16="http://schemas.microsoft.com/office/drawing/2014/main" id="{0AC5E7AE-27F5-407A-850C-56975CA9194E}"/>
              </a:ext>
            </a:extLst>
          </p:cNvPr>
          <p:cNvSpPr>
            <a:spLocks xmlns:a="http://schemas.openxmlformats.org/drawingml/2006/main" noGrp="1"/>
          </p:cNvSpPr>
          <p:nvPr/>
        </p:nvSpPr>
        <p:spPr>
          <a:xfrm xmlns:a="http://schemas.openxmlformats.org/drawingml/2006/main">
            <a:off x="8905875" y="2714625"/>
            <a:ext cx="2143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returns the next bin and updates state</a:t>
            </a:r>
          </a:p>
        </p:txBody>
      </p:sp>
      <p:sp>
        <p:nvSpPr>
          <p:cNvPr id="29" name="Rectangle: Rounded Corners 28">
            <a:extLst xmlns:a="http://schemas.openxmlformats.org/drawingml/2006/main">
              <a:ext uri="{FF2B5EF4-FFF2-40B4-BE49-F238E27FC236}">
                <a16:creationId xmlns:a16="http://schemas.microsoft.com/office/drawing/2014/main" id="{3CF8F2A1-CB9C-4E25-B28D-21F56E719A07}"/>
              </a:ext>
            </a:extLst>
          </p:cNvPr>
          <p:cNvSpPr>
            <a:spLocks xmlns:a="http://schemas.openxmlformats.org/drawingml/2006/main" noGrp="1"/>
          </p:cNvSpPr>
          <p:nvPr/>
        </p:nvSpPr>
        <p:spPr>
          <a:xfrm xmlns:a="http://schemas.openxmlformats.org/drawingml/2006/main">
            <a:off x="3143250" y="4095750"/>
            <a:ext cx="5905500" cy="609600"/>
          </a:xfrm>
          <a:prstGeom xmlns:a="http://schemas.openxmlformats.org/drawingml/2006/main" prst="roundRect">
            <a:avLst>
              <a:gd name="adj" fmla="val 18750"/>
            </a:avLst>
          </a:prstGeom>
          <a:solidFill xmlns:a="http://schemas.openxmlformats.org/drawingml/2006/main">
            <a:srgbClr val="0A2830"/>
          </a:solidFill>
          <a:ln xmlns:a="http://schemas.openxmlformats.org/drawingml/2006/main" w="19050">
            <a:solidFill>
              <a:srgbClr val="47E6A4"/>
            </a:solidFill>
            <a:prstDash val="solid"/>
          </a:ln>
        </p:spPr>
      </p:sp>
      <p:sp>
        <p:nvSpPr>
          <p:cNvPr id="30" name="Rectangle 29">
            <a:extLst xmlns:a="http://schemas.openxmlformats.org/drawingml/2006/main">
              <a:ext uri="{FF2B5EF4-FFF2-40B4-BE49-F238E27FC236}">
                <a16:creationId xmlns:a16="http://schemas.microsoft.com/office/drawing/2014/main" id="{C1E97EF2-3576-45BB-9F3C-E2FA0A5A54A9}"/>
              </a:ext>
            </a:extLst>
          </p:cNvPr>
          <p:cNvSpPr>
            <a:spLocks xmlns:a="http://schemas.openxmlformats.org/drawingml/2006/main" noGrp="1"/>
          </p:cNvSpPr>
          <p:nvPr/>
        </p:nvSpPr>
        <p:spPr>
          <a:xfrm xmlns:a="http://schemas.openxmlformats.org/drawingml/2006/main">
            <a:off x="3257550" y="4191000"/>
            <a:ext cx="567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Returned value goes back to the active syntax element</a:t>
            </a:r>
          </a:p>
        </p:txBody>
      </p:sp>
      <p:sp>
        <p:nvSpPr>
          <p:cNvPr id="31" name="Rectangle 30">
            <a:extLst xmlns:a="http://schemas.openxmlformats.org/drawingml/2006/main">
              <a:ext uri="{FF2B5EF4-FFF2-40B4-BE49-F238E27FC236}">
                <a16:creationId xmlns:a16="http://schemas.microsoft.com/office/drawing/2014/main" id="{82C2B326-C34E-46C0-BED8-8038F6C94941}"/>
              </a:ext>
            </a:extLst>
          </p:cNvPr>
          <p:cNvSpPr>
            <a:spLocks xmlns:a="http://schemas.openxmlformats.org/drawingml/2006/main" noGrp="1"/>
          </p:cNvSpPr>
          <p:nvPr/>
        </p:nvSpPr>
        <p:spPr>
          <a:xfrm xmlns:a="http://schemas.openxmlformats.org/drawingml/2006/main">
            <a:off x="9858375" y="52101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Rectangle 31">
            <a:extLst xmlns:a="http://schemas.openxmlformats.org/drawingml/2006/main">
              <a:ext uri="{FF2B5EF4-FFF2-40B4-BE49-F238E27FC236}">
                <a16:creationId xmlns:a16="http://schemas.microsoft.com/office/drawing/2014/main" id="{933060DC-4E72-44A2-8588-081A4C5E913A}"/>
              </a:ext>
            </a:extLst>
          </p:cNvPr>
          <p:cNvSpPr>
            <a:spLocks xmlns:a="http://schemas.openxmlformats.org/drawingml/2006/main" noGrp="1"/>
          </p:cNvSpPr>
          <p:nvPr/>
        </p:nvSpPr>
        <p:spPr>
          <a:xfrm xmlns:a="http://schemas.openxmlformats.org/drawingml/2006/main">
            <a:off x="2333625" y="52101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0" name="Straight Arrow Connector 66"/>
          <p:cNvCxnSpPr>
            <a:stCxn xmlns:a="http://schemas.openxmlformats.org/drawingml/2006/main" id="31" idx="1"/>
            <a:endCxn xmlns:a="http://schemas.openxmlformats.org/drawingml/2006/main" id="32" idx="3"/>
          </p:cNvCxnSpPr>
          <p:nvPr/>
        </p:nvCxnSpPr>
        <p:spPr>
          <a:xfrm xmlns:a="http://schemas.openxmlformats.org/drawingml/2006/main" flipH="1">
            <a:off x="2352675" y="5219700"/>
            <a:ext cx="7505700" cy="0"/>
          </a:xfrm>
          <a:prstGeom xmlns:a="http://schemas.openxmlformats.org/drawingml/2006/main" prst="straightConnector1">
            <a:avLst/>
          </a:prstGeom>
          <a:ln xmlns:a="http://schemas.openxmlformats.org/drawingml/2006/main" w="19050" cap="rnd">
            <a:solidFill>
              <a:srgbClr val="22D3EE"/>
            </a:solidFill>
            <a:prstDash val="solid"/>
            <a:headEnd type="triangle" w="sm" len="sm"/>
          </a:ln>
        </p:spPr>
      </p:cxnSp>
      <p:sp>
        <p:nvSpPr>
          <p:cNvPr id="34" name="Rectangle 33">
            <a:extLst xmlns:a="http://schemas.openxmlformats.org/drawingml/2006/main">
              <a:ext uri="{FF2B5EF4-FFF2-40B4-BE49-F238E27FC236}">
                <a16:creationId xmlns:a16="http://schemas.microsoft.com/office/drawing/2014/main" id="{0F7A3FC9-7C44-49DB-973C-87F3296E9EB6}"/>
              </a:ext>
            </a:extLst>
          </p:cNvPr>
          <p:cNvSpPr>
            <a:spLocks xmlns:a="http://schemas.openxmlformats.org/drawingml/2006/main" noGrp="1"/>
          </p:cNvSpPr>
          <p:nvPr/>
        </p:nvSpPr>
        <p:spPr>
          <a:xfrm xmlns:a="http://schemas.openxmlformats.org/drawingml/2006/main">
            <a:off x="3143250" y="55245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22D3EE"/>
                </a:solidFill>
                <a:latin typeface="Arial"/>
                <a:ea typeface="Arial"/>
                <a:cs typeface="Arial"/>
              </a:defRPr>
            </a:pPr>
            <a:r>
              <a:rPr sz="1575" b="1">
                <a:solidFill>
                  <a:srgbClr val="22D3EE"/>
                </a:solidFill>
                <a:latin typeface="Arial"/>
                <a:ea typeface="Arial"/>
                <a:cs typeface="Arial"/>
              </a:rPr>
              <a:t>Parser state and CABAC state advance together</a:t>
            </a:r>
          </a:p>
        </p:txBody>
      </p:sp>
    </p:spTree>
    <p:extLst>
      <p:ext uri="{BB962C8B-B14F-4D97-AF65-F5344CB8AC3E}">
        <p14:creationId xmlns:p14="http://schemas.microsoft.com/office/powerpoint/2010/main" val="2035267311"/>
      </p:ext>
    </p:extLst>
  </p:cSld>
</p:sld>
</file>

<file path=ppt/slides/slide19.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0" name="Oval 19">
            <a:extLst xmlns:a="http://schemas.openxmlformats.org/drawingml/2006/main">
              <a:ext uri="{FF2B5EF4-FFF2-40B4-BE49-F238E27FC236}">
                <a16:creationId xmlns:a16="http://schemas.microsoft.com/office/drawing/2014/main" id="{9F15E859-76BF-4890-A376-1361BBF98F23}"/>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289A283A-0A74-4DBD-BAFD-02A205808C3D}"/>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1F7A45B2-CFCF-4BF8-8268-DE017D474224}"/>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How the decoder reconstructs the coefficient block</a:t>
            </a:r>
          </a:p>
        </p:txBody>
      </p:sp>
      <p:sp>
        <p:nvSpPr>
          <p:cNvPr id="4" name="Straight Connector 3">
            <a:extLst xmlns:a="http://schemas.openxmlformats.org/drawingml/2006/main">
              <a:ext uri="{FF2B5EF4-FFF2-40B4-BE49-F238E27FC236}">
                <a16:creationId xmlns:a16="http://schemas.microsoft.com/office/drawing/2014/main" id="{411D5779-1F2B-4085-A7F9-EA31090E8BEA}"/>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9F72FAD1-A83A-4C6E-9C6F-CBC57D61CA6E}"/>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It retraces the prescribed grammar; it never searches the stream for visual separators</a:t>
            </a:r>
          </a:p>
        </p:txBody>
      </p:sp>
      <p:sp>
        <p:nvSpPr>
          <p:cNvPr id="6" name="Rectangle 5">
            <a:extLst xmlns:a="http://schemas.openxmlformats.org/drawingml/2006/main">
              <a:ext uri="{FF2B5EF4-FFF2-40B4-BE49-F238E27FC236}">
                <a16:creationId xmlns:a16="http://schemas.microsoft.com/office/drawing/2014/main" id="{D5EFD09B-DEB2-4176-9EF1-01165C746588}"/>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A30C3BE-5914-423A-AE9A-64E395D09AE9}"/>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19 / 49</a:t>
            </a:r>
          </a:p>
        </p:txBody>
      </p:sp>
      <p:sp>
        <p:nvSpPr>
          <p:cNvPr id="8" name="Oval 7">
            <a:extLst xmlns:a="http://schemas.openxmlformats.org/drawingml/2006/main">
              <a:ext uri="{FF2B5EF4-FFF2-40B4-BE49-F238E27FC236}">
                <a16:creationId xmlns:a16="http://schemas.microsoft.com/office/drawing/2014/main" id="{A60F8B30-B84C-4A49-8196-0F5D7752FDA3}"/>
              </a:ext>
            </a:extLst>
          </p:cNvPr>
          <p:cNvSpPr>
            <a:spLocks xmlns:a="http://schemas.openxmlformats.org/drawingml/2006/main" noGrp="1"/>
          </p:cNvSpPr>
          <p:nvPr/>
        </p:nvSpPr>
        <p:spPr>
          <a:xfrm xmlns:a="http://schemas.openxmlformats.org/drawingml/2006/main">
            <a:off x="857250" y="128587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22D3EE"/>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2D3EE"/>
                </a:solidFill>
                <a:latin typeface="Arial"/>
                <a:ea typeface="Arial"/>
                <a:cs typeface="Arial"/>
              </a:defRPr>
            </a:pPr>
            <a:r>
              <a:rPr sz="1200" b="1">
                <a:solidFill>
                  <a:srgbClr val="22D3EE"/>
                </a:solidFill>
                <a:latin typeface="Arial"/>
                <a:ea typeface="Arial"/>
                <a:cs typeface="Arial"/>
              </a:rPr>
              <a:t>1</a:t>
            </a:r>
          </a:p>
        </p:txBody>
      </p:sp>
      <p:sp>
        <p:nvSpPr>
          <p:cNvPr id="9" name="Rectangle 8">
            <a:extLst xmlns:a="http://schemas.openxmlformats.org/drawingml/2006/main">
              <a:ext uri="{FF2B5EF4-FFF2-40B4-BE49-F238E27FC236}">
                <a16:creationId xmlns:a16="http://schemas.microsoft.com/office/drawing/2014/main" id="{090B3831-2319-4A04-852A-9A435A94164A}"/>
              </a:ext>
            </a:extLst>
          </p:cNvPr>
          <p:cNvSpPr>
            <a:spLocks xmlns:a="http://schemas.openxmlformats.org/drawingml/2006/main" noGrp="1"/>
          </p:cNvSpPr>
          <p:nvPr/>
        </p:nvSpPr>
        <p:spPr>
          <a:xfrm xmlns:a="http://schemas.openxmlformats.org/drawingml/2006/main">
            <a:off x="1571625" y="1304925"/>
            <a:ext cx="942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Read coded-block flag; enter residual_coding only when required</a:t>
            </a:r>
          </a:p>
        </p:txBody>
      </p:sp>
      <p:sp>
        <p:nvSpPr>
          <p:cNvPr id="10" name="Oval 9">
            <a:extLst xmlns:a="http://schemas.openxmlformats.org/drawingml/2006/main">
              <a:ext uri="{FF2B5EF4-FFF2-40B4-BE49-F238E27FC236}">
                <a16:creationId xmlns:a16="http://schemas.microsoft.com/office/drawing/2014/main" id="{74AEDD51-F2B3-4216-8CB4-C8362610A829}"/>
              </a:ext>
            </a:extLst>
          </p:cNvPr>
          <p:cNvSpPr>
            <a:spLocks xmlns:a="http://schemas.openxmlformats.org/drawingml/2006/main" noGrp="1"/>
          </p:cNvSpPr>
          <p:nvPr/>
        </p:nvSpPr>
        <p:spPr>
          <a:xfrm xmlns:a="http://schemas.openxmlformats.org/drawingml/2006/main">
            <a:off x="857250" y="223837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2E9BFF"/>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E9BFF"/>
                </a:solidFill>
                <a:latin typeface="Arial"/>
                <a:ea typeface="Arial"/>
                <a:cs typeface="Arial"/>
              </a:defRPr>
            </a:pPr>
            <a:r>
              <a:rPr sz="1200" b="1">
                <a:solidFill>
                  <a:srgbClr val="2E9BFF"/>
                </a:solidFill>
                <a:latin typeface="Arial"/>
                <a:ea typeface="Arial"/>
                <a:cs typeface="Arial"/>
              </a:rPr>
              <a:t>2</a:t>
            </a:r>
          </a:p>
        </p:txBody>
      </p:sp>
      <p:sp>
        <p:nvSpPr>
          <p:cNvPr id="11" name="Rectangle 10">
            <a:extLst xmlns:a="http://schemas.openxmlformats.org/drawingml/2006/main">
              <a:ext uri="{FF2B5EF4-FFF2-40B4-BE49-F238E27FC236}">
                <a16:creationId xmlns:a16="http://schemas.microsoft.com/office/drawing/2014/main" id="{1D23625D-3EE8-4297-AEE7-32BD6455C2BD}"/>
              </a:ext>
            </a:extLst>
          </p:cNvPr>
          <p:cNvSpPr>
            <a:spLocks xmlns:a="http://schemas.openxmlformats.org/drawingml/2006/main" noGrp="1"/>
          </p:cNvSpPr>
          <p:nvPr/>
        </p:nvSpPr>
        <p:spPr>
          <a:xfrm xmlns:a="http://schemas.openxmlformats.org/drawingml/2006/main">
            <a:off x="1571625" y="2257425"/>
            <a:ext cx="942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Recover the last-significant x/y coordinate</a:t>
            </a:r>
          </a:p>
        </p:txBody>
      </p:sp>
      <p:sp>
        <p:nvSpPr>
          <p:cNvPr id="12" name="Oval 11">
            <a:extLst xmlns:a="http://schemas.openxmlformats.org/drawingml/2006/main">
              <a:ext uri="{FF2B5EF4-FFF2-40B4-BE49-F238E27FC236}">
                <a16:creationId xmlns:a16="http://schemas.microsoft.com/office/drawing/2014/main" id="{E758E68C-B108-4919-B571-DCD326E4DCA9}"/>
              </a:ext>
            </a:extLst>
          </p:cNvPr>
          <p:cNvSpPr>
            <a:spLocks xmlns:a="http://schemas.openxmlformats.org/drawingml/2006/main" noGrp="1"/>
          </p:cNvSpPr>
          <p:nvPr/>
        </p:nvSpPr>
        <p:spPr>
          <a:xfrm xmlns:a="http://schemas.openxmlformats.org/drawingml/2006/main">
            <a:off x="857250" y="319087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47E6A4"/>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47E6A4"/>
                </a:solidFill>
                <a:latin typeface="Arial"/>
                <a:ea typeface="Arial"/>
                <a:cs typeface="Arial"/>
              </a:defRPr>
            </a:pPr>
            <a:r>
              <a:rPr sz="1200" b="1">
                <a:solidFill>
                  <a:srgbClr val="47E6A4"/>
                </a:solidFill>
                <a:latin typeface="Arial"/>
                <a:ea typeface="Arial"/>
                <a:cs typeface="Arial"/>
              </a:rPr>
              <a:t>3</a:t>
            </a:r>
          </a:p>
        </p:txBody>
      </p:sp>
      <p:sp>
        <p:nvSpPr>
          <p:cNvPr id="13" name="Rectangle 12">
            <a:extLst xmlns:a="http://schemas.openxmlformats.org/drawingml/2006/main">
              <a:ext uri="{FF2B5EF4-FFF2-40B4-BE49-F238E27FC236}">
                <a16:creationId xmlns:a16="http://schemas.microsoft.com/office/drawing/2014/main" id="{E0D53B6E-173F-4D6E-AD5A-6C40B9C023BE}"/>
              </a:ext>
            </a:extLst>
          </p:cNvPr>
          <p:cNvSpPr>
            <a:spLocks xmlns:a="http://schemas.openxmlformats.org/drawingml/2006/main" noGrp="1"/>
          </p:cNvSpPr>
          <p:nvPr/>
        </p:nvSpPr>
        <p:spPr>
          <a:xfrm xmlns:a="http://schemas.openxmlformats.org/drawingml/2006/main">
            <a:off x="1571625" y="3209925"/>
            <a:ext cx="942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Follow the known reverse scan and recover significant positions</a:t>
            </a:r>
          </a:p>
        </p:txBody>
      </p:sp>
      <p:sp>
        <p:nvSpPr>
          <p:cNvPr id="14" name="Oval 13">
            <a:extLst xmlns:a="http://schemas.openxmlformats.org/drawingml/2006/main">
              <a:ext uri="{FF2B5EF4-FFF2-40B4-BE49-F238E27FC236}">
                <a16:creationId xmlns:a16="http://schemas.microsoft.com/office/drawing/2014/main" id="{B8F8238C-ED83-4C80-940A-2677094FA07B}"/>
              </a:ext>
            </a:extLst>
          </p:cNvPr>
          <p:cNvSpPr>
            <a:spLocks xmlns:a="http://schemas.openxmlformats.org/drawingml/2006/main" noGrp="1"/>
          </p:cNvSpPr>
          <p:nvPr/>
        </p:nvSpPr>
        <p:spPr>
          <a:xfrm xmlns:a="http://schemas.openxmlformats.org/drawingml/2006/main">
            <a:off x="857250" y="414337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B84D"/>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B84D"/>
                </a:solidFill>
                <a:latin typeface="Arial"/>
                <a:ea typeface="Arial"/>
                <a:cs typeface="Arial"/>
              </a:defRPr>
            </a:pPr>
            <a:r>
              <a:rPr sz="1200" b="1">
                <a:solidFill>
                  <a:srgbClr val="FFB84D"/>
                </a:solidFill>
                <a:latin typeface="Arial"/>
                <a:ea typeface="Arial"/>
                <a:cs typeface="Arial"/>
              </a:rPr>
              <a:t>4</a:t>
            </a:r>
          </a:p>
        </p:txBody>
      </p:sp>
      <p:sp>
        <p:nvSpPr>
          <p:cNvPr id="15" name="Rectangle 14">
            <a:extLst xmlns:a="http://schemas.openxmlformats.org/drawingml/2006/main">
              <a:ext uri="{FF2B5EF4-FFF2-40B4-BE49-F238E27FC236}">
                <a16:creationId xmlns:a16="http://schemas.microsoft.com/office/drawing/2014/main" id="{A3BE1588-C5B1-44C1-AF6D-9570AF7862FE}"/>
              </a:ext>
            </a:extLst>
          </p:cNvPr>
          <p:cNvSpPr>
            <a:spLocks xmlns:a="http://schemas.openxmlformats.org/drawingml/2006/main" noGrp="1"/>
          </p:cNvSpPr>
          <p:nvPr/>
        </p:nvSpPr>
        <p:spPr>
          <a:xfrm xmlns:a="http://schemas.openxmlformats.org/drawingml/2006/main">
            <a:off x="1571625" y="4162425"/>
            <a:ext cx="942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For those positions, recover levels and signs under the syntax conditions</a:t>
            </a:r>
          </a:p>
        </p:txBody>
      </p:sp>
      <p:sp>
        <p:nvSpPr>
          <p:cNvPr id="16" name="Oval 15">
            <a:extLst xmlns:a="http://schemas.openxmlformats.org/drawingml/2006/main">
              <a:ext uri="{FF2B5EF4-FFF2-40B4-BE49-F238E27FC236}">
                <a16:creationId xmlns:a16="http://schemas.microsoft.com/office/drawing/2014/main" id="{B247227A-1F0D-45D9-91BD-EC0A9A154166}"/>
              </a:ext>
            </a:extLst>
          </p:cNvPr>
          <p:cNvSpPr>
            <a:spLocks xmlns:a="http://schemas.openxmlformats.org/drawingml/2006/main" noGrp="1"/>
          </p:cNvSpPr>
          <p:nvPr/>
        </p:nvSpPr>
        <p:spPr>
          <a:xfrm xmlns:a="http://schemas.openxmlformats.org/drawingml/2006/main">
            <a:off x="857250" y="5095875"/>
            <a:ext cx="438150" cy="43815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6577"/>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6577"/>
                </a:solidFill>
                <a:latin typeface="Arial"/>
                <a:ea typeface="Arial"/>
                <a:cs typeface="Arial"/>
              </a:defRPr>
            </a:pPr>
            <a:r>
              <a:rPr sz="1200" b="1">
                <a:solidFill>
                  <a:srgbClr val="FF6577"/>
                </a:solidFill>
                <a:latin typeface="Arial"/>
                <a:ea typeface="Arial"/>
                <a:cs typeface="Arial"/>
              </a:rPr>
              <a:t>5</a:t>
            </a:r>
          </a:p>
        </p:txBody>
      </p:sp>
      <p:sp>
        <p:nvSpPr>
          <p:cNvPr id="17" name="Rectangle 16">
            <a:extLst xmlns:a="http://schemas.openxmlformats.org/drawingml/2006/main">
              <a:ext uri="{FF2B5EF4-FFF2-40B4-BE49-F238E27FC236}">
                <a16:creationId xmlns:a16="http://schemas.microsoft.com/office/drawing/2014/main" id="{61AB997D-63F0-4D20-AC61-3E3450D37F88}"/>
              </a:ext>
            </a:extLst>
          </p:cNvPr>
          <p:cNvSpPr>
            <a:spLocks xmlns:a="http://schemas.openxmlformats.org/drawingml/2006/main" noGrp="1"/>
          </p:cNvSpPr>
          <p:nvPr/>
        </p:nvSpPr>
        <p:spPr>
          <a:xfrm xmlns:a="http://schemas.openxmlformats.org/drawingml/2006/main">
            <a:off x="1571625" y="5114925"/>
            <a:ext cx="942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Place each signed level at its known (x, y) coordinate; all others are zero</a:t>
            </a:r>
          </a:p>
        </p:txBody>
      </p:sp>
      <p:sp>
        <p:nvSpPr>
          <p:cNvPr id="18" name="Rectangle: Rounded Corners 17">
            <a:extLst xmlns:a="http://schemas.openxmlformats.org/drawingml/2006/main">
              <a:ext uri="{FF2B5EF4-FFF2-40B4-BE49-F238E27FC236}">
                <a16:creationId xmlns:a16="http://schemas.microsoft.com/office/drawing/2014/main" id="{C5291900-326F-4B19-B35A-834820A82935}"/>
              </a:ext>
            </a:extLst>
          </p:cNvPr>
          <p:cNvSpPr>
            <a:spLocks xmlns:a="http://schemas.openxmlformats.org/drawingml/2006/main" noGrp="1"/>
          </p:cNvSpPr>
          <p:nvPr/>
        </p:nvSpPr>
        <p:spPr>
          <a:xfrm xmlns:a="http://schemas.openxmlformats.org/drawingml/2006/main">
            <a:off x="2571750" y="6048375"/>
            <a:ext cx="7048500" cy="457200"/>
          </a:xfrm>
          <a:prstGeom xmlns:a="http://schemas.openxmlformats.org/drawingml/2006/main" prst="roundRect">
            <a:avLst>
              <a:gd name="adj" fmla="val 25000"/>
            </a:avLst>
          </a:prstGeom>
          <a:solidFill xmlns:a="http://schemas.openxmlformats.org/drawingml/2006/main">
            <a:srgbClr val="0A2830"/>
          </a:solidFill>
          <a:ln xmlns:a="http://schemas.openxmlformats.org/drawingml/2006/main" w="19050">
            <a:solidFill>
              <a:srgbClr val="47E6A4"/>
            </a:solidFill>
            <a:prstDash val="solid"/>
          </a:ln>
        </p:spPr>
      </p:sp>
      <p:sp>
        <p:nvSpPr>
          <p:cNvPr id="19" name="Rectangle 18">
            <a:extLst xmlns:a="http://schemas.openxmlformats.org/drawingml/2006/main">
              <a:ext uri="{FF2B5EF4-FFF2-40B4-BE49-F238E27FC236}">
                <a16:creationId xmlns:a16="http://schemas.microsoft.com/office/drawing/2014/main" id="{E678EDBF-B8BA-4AF3-B800-FE2A0AA55054}"/>
              </a:ext>
            </a:extLst>
          </p:cNvPr>
          <p:cNvSpPr>
            <a:spLocks xmlns:a="http://schemas.openxmlformats.org/drawingml/2006/main" noGrp="1"/>
          </p:cNvSpPr>
          <p:nvPr/>
        </p:nvSpPr>
        <p:spPr>
          <a:xfrm xmlns:a="http://schemas.openxmlformats.org/drawingml/2006/main">
            <a:off x="2686050" y="6143625"/>
            <a:ext cx="681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No count field. No guess from the bit value. No ambiguity.</a:t>
            </a:r>
          </a:p>
        </p:txBody>
      </p:sp>
    </p:spTree>
    <p:extLst>
      <p:ext uri="{BB962C8B-B14F-4D97-AF65-F5344CB8AC3E}">
        <p14:creationId xmlns:p14="http://schemas.microsoft.com/office/powerpoint/2010/main" val="738570556"/>
      </p:ext>
    </p:extLst>
  </p:cSld>
</p:sld>
</file>

<file path=ppt/slides/slide20.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A25FE6-97B4-4249-A513-5AD1208D27DB}"/>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159B9A3-FB52-485C-87D3-94508C7EF459}"/>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EF5FDE-E78A-42C6-83B2-ECA2E01429BD}"/>
              </a:ext>
            </a:extLst>
          </p:cNvPr>
          <p:cNvSpPr>
            <a:spLocks xmlns:a="http://schemas.openxmlformats.org/drawingml/2006/main" noGrp="1"/>
          </p:cNvSpPr>
          <p:nvPr/>
        </p:nvSpPr>
        <p:spPr>
          <a:xfrm xmlns:a="http://schemas.openxmlformats.org/drawingml/2006/main">
            <a:off x="476250" y="23812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2550" b="1">
                <a:solidFill>
                  <a:srgbClr val="F4F8FC"/>
                </a:solidFill>
                <a:latin typeface="Arial"/>
                <a:ea typeface="Arial"/>
                <a:cs typeface="Arial"/>
              </a:defRPr>
            </a:pPr>
            <a:r>
              <a:rPr sz="2550" b="1">
                <a:solidFill>
                  <a:srgbClr val="F4F8FC"/>
                </a:solidFill>
                <a:latin typeface="Arial"/>
                <a:ea typeface="Arial"/>
                <a:cs typeface="Arial"/>
              </a:rPr>
              <a:t>Arithmetic encoding: bins 1 to 10</a:t>
            </a:r>
          </a:p>
        </p:txBody>
      </p:sp>
      <p:sp>
        <p:nvSpPr>
          <p:cNvPr id="4" name="">
            <a:extLst xmlns:a="http://schemas.openxmlformats.org/drawingml/2006/main">
              <a:ext uri="{FF2B5EF4-FFF2-40B4-BE49-F238E27FC236}">
                <a16:creationId xmlns:a16="http://schemas.microsoft.com/office/drawing/2014/main" id="{C3BA9743-C3E6-45AF-BDF3-098A49445125}"/>
              </a:ext>
            </a:extLst>
          </p:cNvPr>
          <p:cNvSpPr>
            <a:spLocks xmlns:a="http://schemas.openxmlformats.org/drawingml/2006/main" noGrp="1"/>
          </p:cNvSpPr>
          <p:nvPr/>
        </p:nvSpPr>
        <p:spPr>
          <a:xfrm xmlns:a="http://schemas.openxmlformats.org/drawingml/2006/main">
            <a:off x="400050" y="904875"/>
            <a:ext cx="11391900" cy="19050"/>
          </a:xfrm>
          <a:prstGeom xmlns:a="http://schemas.openxmlformats.org/drawingml/2006/main" prst="rect">
            <a:avLst/>
          </a:prstGeom>
          <a:solidFill xmlns:a="http://schemas.openxmlformats.org/drawingml/2006/main">
            <a:srgbClr val="2A587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0710AF-D99C-448E-8F9B-B6632ACC25C6}"/>
              </a:ext>
            </a:extLst>
          </p:cNvPr>
          <p:cNvSpPr>
            <a:spLocks xmlns:a="http://schemas.openxmlformats.org/drawingml/2006/main" noGrp="1"/>
          </p:cNvSpPr>
          <p:nvPr/>
        </p:nvSpPr>
        <p:spPr>
          <a:xfrm xmlns:a="http://schemas.openxmlformats.org/drawingml/2006/main">
            <a:off x="476250" y="990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1200" b="0">
                <a:solidFill>
                  <a:srgbClr val="AFC0D0"/>
                </a:solidFill>
                <a:latin typeface="Arial"/>
                <a:ea typeface="Arial"/>
                <a:cs typeface="Arial"/>
              </a:defRPr>
            </a:pPr>
            <a:r>
              <a:rPr sz="1200" b="0">
                <a:solidFill>
                  <a:srgbClr val="AFC0D0"/>
                </a:solidFill>
                <a:latin typeface="Arial"/>
                <a:ea typeface="Arial"/>
                <a:cs typeface="Arial"/>
              </a:rPr>
              <a:t>Split = low + width × P(0). Bin 1 keeps the upper interval. Bin 0 keeps the lower interval.</a:t>
            </a:r>
          </a:p>
        </p:txBody>
      </p:sp>
      <p:sp>
        <p:nvSpPr>
          <p:cNvPr id="6" name="">
            <a:extLst xmlns:a="http://schemas.openxmlformats.org/drawingml/2006/main">
              <a:ext uri="{FF2B5EF4-FFF2-40B4-BE49-F238E27FC236}">
                <a16:creationId xmlns:a16="http://schemas.microsoft.com/office/drawing/2014/main" id="{74954D96-6701-43BB-B928-5F51AF49E219}"/>
              </a:ext>
            </a:extLst>
          </p:cNvPr>
          <p:cNvSpPr>
            <a:spLocks xmlns:a="http://schemas.openxmlformats.org/drawingml/2006/main" noGrp="1"/>
          </p:cNvSpPr>
          <p:nvPr/>
        </p:nvSpPr>
        <p:spPr>
          <a:xfrm xmlns:a="http://schemas.openxmlformats.org/drawingml/2006/main">
            <a:off x="1285875" y="64579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600" b="0">
                <a:solidFill>
                  <a:srgbClr val="AFC0D0"/>
                </a:solidFill>
                <a:latin typeface="Arial"/>
                <a:ea typeface="Arial"/>
                <a:cs typeface="Arial"/>
              </a:defRPr>
            </a:pPr>
            <a:r>
              <a:rPr sz="600" b="0">
                <a:solidFill>
                  <a:srgbClr val="AFC0D0"/>
                </a:solidFill>
                <a:latin typeface="Arial"/>
                <a:ea typeface="Arial"/>
                <a:cs typeface="Arial"/>
              </a:rPr>
              <a:t>Sources and evidence: speaker notes</a:t>
            </a:r>
          </a:p>
        </p:txBody>
      </p:sp>
      <p:sp>
        <p:nvSpPr>
          <p:cNvPr id="7" name="">
            <a:extLst xmlns:a="http://schemas.openxmlformats.org/drawingml/2006/main">
              <a:ext uri="{FF2B5EF4-FFF2-40B4-BE49-F238E27FC236}">
                <a16:creationId xmlns:a16="http://schemas.microsoft.com/office/drawing/2014/main" id="{1B0F92C1-E6F1-440E-A55C-1F5F13E0D87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r">
              <a:defRPr sz="975" b="1">
                <a:solidFill>
                  <a:srgbClr val="22D3EE"/>
                </a:solidFill>
                <a:latin typeface="Arial"/>
                <a:ea typeface="Arial"/>
                <a:cs typeface="Arial"/>
              </a:defRPr>
            </a:pPr>
            <a:r>
              <a:rPr sz="975" b="1">
                <a:solidFill>
                  <a:srgbClr val="22D3EE"/>
                </a:solidFill>
                <a:latin typeface="Arial"/>
                <a:ea typeface="Arial"/>
                <a:cs typeface="Arial"/>
              </a:rPr>
              <a:t>20 / 49</a:t>
            </a:r>
          </a:p>
        </p:txBody>
      </p:sp>
      <p:graphicFrame>
        <p:nvGraphicFramePr>
          <p:cNvPr id="17" name=""/>
          <p:cNvGraphicFramePr/>
          <p:nvPr/>
        </p:nvGraphicFramePr>
        <p:xfrm>
          <a:off xmlns:a="http://schemas.openxmlformats.org/drawingml/2006/main" x="333375" y="1428750"/>
          <a:ext xmlns:a="http://schemas.openxmlformats.org/drawingml/2006/main" cx="11525250" cy="4429125"/>
        </p:xfrm>
        <a:graphic xmlns:a="http://schemas.openxmlformats.org/drawingml/2006/main">
          <a:graphicData uri="http://schemas.openxmlformats.org/drawingml/2006/table">
            <a:tbl>
              <a:tblPr/>
              <a:tblGrid>
                <a:gridCol w="428625"/>
                <a:gridCol w="2381250"/>
                <a:gridCol w="523875"/>
                <a:gridCol w="619125"/>
                <a:gridCol w="1000125"/>
                <a:gridCol w="1000125"/>
                <a:gridCol w="1000125"/>
                <a:gridCol w="1000125"/>
                <a:gridCol w="3571875"/>
              </a:tblGrid>
              <a:tr h="402648">
                <a:tc>
                  <a:txBody>
                    <a:bodyPr/>
                    <a:lstStyle/>
                    <a:p>
                      <a:r>
                        <a:rPr sz="863" b="1">
                          <a:solidFill>
                            <a:srgbClr val="22D3EE"/>
                          </a:solidFill>
                          <a:latin typeface="Arial"/>
                          <a:ea typeface="Arial"/>
                          <a:cs typeface="Arial"/>
                        </a:rPr>
                        <a:t>#</a:t>
                      </a:r>
                    </a:p>
                  </a:txBody>
                  <a:tcPr marL="57150" marR="57150" marT="28575" marB="28575" anchor="ctr">
                    <a:solidFill>
                      <a:srgbClr val="12314A"/>
                    </a:solidFill>
                  </a:tcPr>
                </a:tc>
                <a:tc>
                  <a:txBody>
                    <a:bodyPr/>
                    <a:lstStyle/>
                    <a:p>
                      <a:r>
                        <a:rPr sz="863" b="1">
                          <a:solidFill>
                            <a:srgbClr val="22D3EE"/>
                          </a:solidFill>
                          <a:latin typeface="Arial"/>
                          <a:ea typeface="Arial"/>
                          <a:cs typeface="Arial"/>
                        </a:rPr>
                        <a:t>Meaning</a:t>
                      </a:r>
                    </a:p>
                  </a:txBody>
                  <a:tcPr marL="57150" marR="57150" marT="28575" marB="28575" anchor="ctr">
                    <a:solidFill>
                      <a:srgbClr val="12314A"/>
                    </a:solidFill>
                  </a:tcPr>
                </a:tc>
                <a:tc>
                  <a:txBody>
                    <a:bodyPr/>
                    <a:lstStyle/>
                    <a:p>
                      <a:r>
                        <a:rPr sz="863" b="1">
                          <a:solidFill>
                            <a:srgbClr val="22D3EE"/>
                          </a:solidFill>
                          <a:latin typeface="Arial"/>
                          <a:ea typeface="Arial"/>
                          <a:cs typeface="Arial"/>
                        </a:rPr>
                        <a:t>Bin</a:t>
                      </a:r>
                    </a:p>
                  </a:txBody>
                  <a:tcPr marL="57150" marR="57150" marT="28575" marB="28575" anchor="ctr">
                    <a:solidFill>
                      <a:srgbClr val="12314A"/>
                    </a:solidFill>
                  </a:tcPr>
                </a:tc>
                <a:tc>
                  <a:txBody>
                    <a:bodyPr/>
                    <a:lstStyle/>
                    <a:p>
                      <a:r>
                        <a:rPr sz="863" b="1">
                          <a:solidFill>
                            <a:srgbClr val="22D3EE"/>
                          </a:solidFill>
                          <a:latin typeface="Arial"/>
                          <a:ea typeface="Arial"/>
                          <a:cs typeface="Arial"/>
                        </a:rPr>
                        <a:t>P(0)</a:t>
                      </a:r>
                    </a:p>
                  </a:txBody>
                  <a:tcPr marL="57150" marR="57150" marT="28575" marB="28575" anchor="ctr">
                    <a:solidFill>
                      <a:srgbClr val="12314A"/>
                    </a:solidFill>
                  </a:tcPr>
                </a:tc>
                <a:tc>
                  <a:txBody>
                    <a:bodyPr/>
                    <a:lstStyle/>
                    <a:p>
                      <a:r>
                        <a:rPr sz="863" b="1">
                          <a:solidFill>
                            <a:srgbClr val="22D3EE"/>
                          </a:solidFill>
                          <a:latin typeface="Arial"/>
                          <a:ea typeface="Arial"/>
                          <a:cs typeface="Arial"/>
                        </a:rPr>
                        <a:t>Low</a:t>
                      </a:r>
                    </a:p>
                  </a:txBody>
                  <a:tcPr marL="57150" marR="57150" marT="28575" marB="28575" anchor="ctr">
                    <a:solidFill>
                      <a:srgbClr val="12314A"/>
                    </a:solidFill>
                  </a:tcPr>
                </a:tc>
                <a:tc>
                  <a:txBody>
                    <a:bodyPr/>
                    <a:lstStyle/>
                    <a:p>
                      <a:r>
                        <a:rPr sz="863" b="1">
                          <a:solidFill>
                            <a:srgbClr val="22D3EE"/>
                          </a:solidFill>
                          <a:latin typeface="Arial"/>
                          <a:ea typeface="Arial"/>
                          <a:cs typeface="Arial"/>
                        </a:rPr>
                        <a:t>High</a:t>
                      </a:r>
                    </a:p>
                  </a:txBody>
                  <a:tcPr marL="57150" marR="57150" marT="28575" marB="28575" anchor="ctr">
                    <a:solidFill>
                      <a:srgbClr val="12314A"/>
                    </a:solidFill>
                  </a:tcPr>
                </a:tc>
                <a:tc>
                  <a:txBody>
                    <a:bodyPr/>
                    <a:lstStyle/>
                    <a:p>
                      <a:r>
                        <a:rPr sz="863" b="1">
                          <a:solidFill>
                            <a:srgbClr val="22D3EE"/>
                          </a:solidFill>
                          <a:latin typeface="Arial"/>
                          <a:ea typeface="Arial"/>
                          <a:cs typeface="Arial"/>
                        </a:rPr>
                        <a:t>Width</a:t>
                      </a:r>
                    </a:p>
                  </a:txBody>
                  <a:tcPr marL="57150" marR="57150" marT="28575" marB="28575" anchor="ctr">
                    <a:solidFill>
                      <a:srgbClr val="12314A"/>
                    </a:solidFill>
                  </a:tcPr>
                </a:tc>
                <a:tc>
                  <a:txBody>
                    <a:bodyPr/>
                    <a:lstStyle/>
                    <a:p>
                      <a:r>
                        <a:rPr sz="863" b="1">
                          <a:solidFill>
                            <a:srgbClr val="22D3EE"/>
                          </a:solidFill>
                          <a:latin typeface="Arial"/>
                          <a:ea typeface="Arial"/>
                          <a:cs typeface="Arial"/>
                        </a:rPr>
                        <a:t>Split</a:t>
                      </a:r>
                    </a:p>
                  </a:txBody>
                  <a:tcPr marL="57150" marR="57150" marT="28575" marB="28575" anchor="ctr">
                    <a:solidFill>
                      <a:srgbClr val="12314A"/>
                    </a:solidFill>
                  </a:tcPr>
                </a:tc>
                <a:tc>
                  <a:txBody>
                    <a:bodyPr/>
                    <a:lstStyle/>
                    <a:p>
                      <a:r>
                        <a:rPr sz="863" b="1">
                          <a:solidFill>
                            <a:srgbClr val="22D3EE"/>
                          </a:solidFill>
                          <a:latin typeface="Arial"/>
                          <a:ea typeface="Arial"/>
                          <a:cs typeface="Arial"/>
                        </a:rPr>
                        <a:t>Resulting interval</a:t>
                      </a:r>
                    </a:p>
                  </a:txBody>
                  <a:tcPr marL="57150" marR="57150" marT="28575" marB="28575" anchor="ctr">
                    <a:solidFill>
                      <a:srgbClr val="12314A"/>
                    </a:solidFill>
                  </a:tcPr>
                </a:tc>
              </a:tr>
              <a:tr h="402648">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coded-block presence</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0.15</a:t>
                      </a:r>
                    </a:p>
                  </a:txBody>
                  <a:tcPr marL="57150" marR="57150" marT="28575" marB="28575" anchor="ctr">
                    <a:solidFill>
                      <a:srgbClr val="0B2033"/>
                    </a:solidFill>
                  </a:tcPr>
                </a:tc>
                <a:tc>
                  <a:txBody>
                    <a:bodyPr/>
                    <a:lstStyle/>
                    <a:p>
                      <a:r>
                        <a:rPr sz="788">
                          <a:solidFill>
                            <a:srgbClr val="F4F8FC"/>
                          </a:solidFill>
                          <a:latin typeface="Arial"/>
                          <a:ea typeface="Arial"/>
                          <a:cs typeface="Arial"/>
                        </a:rPr>
                        <a:t>0.00000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0.15000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[0.15000,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2</a:t>
                      </a:r>
                    </a:p>
                  </a:txBody>
                  <a:tcPr marL="57150" marR="57150" marT="28575" marB="28575" anchor="ctr">
                    <a:solidFill>
                      <a:srgbClr val="0B2033"/>
                    </a:solidFill>
                  </a:tcPr>
                </a:tc>
                <a:tc>
                  <a:txBody>
                    <a:bodyPr/>
                    <a:lstStyle/>
                    <a:p>
                      <a:r>
                        <a:rPr sz="788">
                          <a:solidFill>
                            <a:srgbClr val="F4F8FC"/>
                          </a:solidFill>
                          <a:latin typeface="Arial"/>
                          <a:ea typeface="Arial"/>
                          <a:cs typeface="Arial"/>
                        </a:rPr>
                        <a:t>significance: position 1</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0.10</a:t>
                      </a:r>
                    </a:p>
                  </a:txBody>
                  <a:tcPr marL="57150" marR="57150" marT="28575" marB="28575" anchor="ctr">
                    <a:solidFill>
                      <a:srgbClr val="0B2033"/>
                    </a:solidFill>
                  </a:tcPr>
                </a:tc>
                <a:tc>
                  <a:txBody>
                    <a:bodyPr/>
                    <a:lstStyle/>
                    <a:p>
                      <a:r>
                        <a:rPr sz="788">
                          <a:solidFill>
                            <a:srgbClr val="F4F8FC"/>
                          </a:solidFill>
                          <a:latin typeface="Arial"/>
                          <a:ea typeface="Arial"/>
                          <a:cs typeface="Arial"/>
                        </a:rPr>
                        <a:t>0.15000</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0.85000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0.23500</a:t>
                      </a:r>
                    </a:p>
                  </a:txBody>
                  <a:tcPr marL="57150" marR="57150" marT="28575" marB="28575" anchor="ctr">
                    <a:solidFill>
                      <a:srgbClr val="0B2033"/>
                    </a:solidFill>
                  </a:tcPr>
                </a:tc>
                <a:tc>
                  <a:txBody>
                    <a:bodyPr/>
                    <a:lstStyle/>
                    <a:p>
                      <a:r>
                        <a:rPr sz="788">
                          <a:solidFill>
                            <a:srgbClr val="F4F8FC"/>
                          </a:solidFill>
                          <a:latin typeface="Arial"/>
                          <a:ea typeface="Arial"/>
                          <a:cs typeface="Arial"/>
                        </a:rPr>
                        <a:t>[0.23500,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3</a:t>
                      </a:r>
                    </a:p>
                  </a:txBody>
                  <a:tcPr marL="57150" marR="57150" marT="28575" marB="28575" anchor="ctr">
                    <a:solidFill>
                      <a:srgbClr val="0B2033"/>
                    </a:solidFill>
                  </a:tcPr>
                </a:tc>
                <a:tc>
                  <a:txBody>
                    <a:bodyPr/>
                    <a:lstStyle/>
                    <a:p>
                      <a:r>
                        <a:rPr sz="788">
                          <a:solidFill>
                            <a:srgbClr val="F4F8FC"/>
                          </a:solidFill>
                          <a:latin typeface="Arial"/>
                          <a:ea typeface="Arial"/>
                          <a:cs typeface="Arial"/>
                        </a:rPr>
                        <a:t>significance: position 2</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0.25</a:t>
                      </a:r>
                    </a:p>
                  </a:txBody>
                  <a:tcPr marL="57150" marR="57150" marT="28575" marB="28575" anchor="ctr">
                    <a:solidFill>
                      <a:srgbClr val="0B2033"/>
                    </a:solidFill>
                  </a:tcPr>
                </a:tc>
                <a:tc>
                  <a:txBody>
                    <a:bodyPr/>
                    <a:lstStyle/>
                    <a:p>
                      <a:r>
                        <a:rPr sz="788">
                          <a:solidFill>
                            <a:srgbClr val="F4F8FC"/>
                          </a:solidFill>
                          <a:latin typeface="Arial"/>
                          <a:ea typeface="Arial"/>
                          <a:cs typeface="Arial"/>
                        </a:rPr>
                        <a:t>0.23500</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0.76500</a:t>
                      </a:r>
                    </a:p>
                  </a:txBody>
                  <a:tcPr marL="57150" marR="57150" marT="28575" marB="28575" anchor="ctr">
                    <a:solidFill>
                      <a:srgbClr val="0B2033"/>
                    </a:solidFill>
                  </a:tcPr>
                </a:tc>
                <a:tc>
                  <a:txBody>
                    <a:bodyPr/>
                    <a:lstStyle/>
                    <a:p>
                      <a:r>
                        <a:rPr sz="788">
                          <a:solidFill>
                            <a:srgbClr val="F4F8FC"/>
                          </a:solidFill>
                          <a:latin typeface="Arial"/>
                          <a:ea typeface="Arial"/>
                          <a:cs typeface="Arial"/>
                        </a:rPr>
                        <a:t>0.42625</a:t>
                      </a:r>
                    </a:p>
                  </a:txBody>
                  <a:tcPr marL="57150" marR="57150" marT="28575" marB="28575" anchor="ctr">
                    <a:solidFill>
                      <a:srgbClr val="0B2033"/>
                    </a:solidFill>
                  </a:tcPr>
                </a:tc>
                <a:tc>
                  <a:txBody>
                    <a:bodyPr/>
                    <a:lstStyle/>
                    <a:p>
                      <a:r>
                        <a:rPr sz="788">
                          <a:solidFill>
                            <a:srgbClr val="F4F8FC"/>
                          </a:solidFill>
                          <a:latin typeface="Arial"/>
                          <a:ea typeface="Arial"/>
                          <a:cs typeface="Arial"/>
                        </a:rPr>
                        <a:t>[0.42625,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4</a:t>
                      </a:r>
                    </a:p>
                  </a:txBody>
                  <a:tcPr marL="57150" marR="57150" marT="28575" marB="28575" anchor="ctr">
                    <a:solidFill>
                      <a:srgbClr val="0B2033"/>
                    </a:solidFill>
                  </a:tcPr>
                </a:tc>
                <a:tc>
                  <a:txBody>
                    <a:bodyPr/>
                    <a:lstStyle/>
                    <a:p>
                      <a:r>
                        <a:rPr sz="788">
                          <a:solidFill>
                            <a:srgbClr val="F4F8FC"/>
                          </a:solidFill>
                          <a:latin typeface="Arial"/>
                          <a:ea typeface="Arial"/>
                          <a:cs typeface="Arial"/>
                        </a:rPr>
                        <a:t>significance: position 3</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0.45</a:t>
                      </a:r>
                    </a:p>
                  </a:txBody>
                  <a:tcPr marL="57150" marR="57150" marT="28575" marB="28575" anchor="ctr">
                    <a:solidFill>
                      <a:srgbClr val="0B2033"/>
                    </a:solidFill>
                  </a:tcPr>
                </a:tc>
                <a:tc>
                  <a:txBody>
                    <a:bodyPr/>
                    <a:lstStyle/>
                    <a:p>
                      <a:r>
                        <a:rPr sz="788">
                          <a:solidFill>
                            <a:srgbClr val="F4F8FC"/>
                          </a:solidFill>
                          <a:latin typeface="Arial"/>
                          <a:ea typeface="Arial"/>
                          <a:cs typeface="Arial"/>
                        </a:rPr>
                        <a:t>0.42625</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0.57375</a:t>
                      </a:r>
                    </a:p>
                  </a:txBody>
                  <a:tcPr marL="57150" marR="57150" marT="28575" marB="28575" anchor="ctr">
                    <a:solidFill>
                      <a:srgbClr val="0B2033"/>
                    </a:solidFill>
                  </a:tcPr>
                </a:tc>
                <a:tc>
                  <a:txBody>
                    <a:bodyPr/>
                    <a:lstStyle/>
                    <a:p>
                      <a:r>
                        <a:rPr sz="788">
                          <a:solidFill>
                            <a:srgbClr val="F4F8FC"/>
                          </a:solidFill>
                          <a:latin typeface="Arial"/>
                          <a:ea typeface="Arial"/>
                          <a:cs typeface="Arial"/>
                        </a:rPr>
                        <a:t>0.68444</a:t>
                      </a:r>
                    </a:p>
                  </a:txBody>
                  <a:tcPr marL="57150" marR="57150" marT="28575" marB="28575" anchor="ctr">
                    <a:solidFill>
                      <a:srgbClr val="0B2033"/>
                    </a:solidFill>
                  </a:tcPr>
                </a:tc>
                <a:tc>
                  <a:txBody>
                    <a:bodyPr/>
                    <a:lstStyle/>
                    <a:p>
                      <a:r>
                        <a:rPr sz="788">
                          <a:solidFill>
                            <a:srgbClr val="F4F8FC"/>
                          </a:solidFill>
                          <a:latin typeface="Arial"/>
                          <a:ea typeface="Arial"/>
                          <a:cs typeface="Arial"/>
                        </a:rPr>
                        <a:t>[0.68444,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5</a:t>
                      </a:r>
                    </a:p>
                  </a:txBody>
                  <a:tcPr marL="57150" marR="57150" marT="28575" marB="28575" anchor="ctr">
                    <a:solidFill>
                      <a:srgbClr val="0B2033"/>
                    </a:solidFill>
                  </a:tcPr>
                </a:tc>
                <a:tc>
                  <a:txBody>
                    <a:bodyPr/>
                    <a:lstStyle/>
                    <a:p>
                      <a:r>
                        <a:rPr sz="788">
                          <a:solidFill>
                            <a:srgbClr val="F4F8FC"/>
                          </a:solidFill>
                          <a:latin typeface="Arial"/>
                          <a:ea typeface="Arial"/>
                          <a:cs typeface="Arial"/>
                        </a:rPr>
                        <a:t>significance: position 4</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0.55</a:t>
                      </a:r>
                    </a:p>
                  </a:txBody>
                  <a:tcPr marL="57150" marR="57150" marT="28575" marB="28575" anchor="ctr">
                    <a:solidFill>
                      <a:srgbClr val="0B2033"/>
                    </a:solidFill>
                  </a:tcPr>
                </a:tc>
                <a:tc>
                  <a:txBody>
                    <a:bodyPr/>
                    <a:lstStyle/>
                    <a:p>
                      <a:r>
                        <a:rPr sz="788">
                          <a:solidFill>
                            <a:srgbClr val="F4F8FC"/>
                          </a:solidFill>
                          <a:latin typeface="Arial"/>
                          <a:ea typeface="Arial"/>
                          <a:cs typeface="Arial"/>
                        </a:rPr>
                        <a:t>0.68444</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0.31556</a:t>
                      </a:r>
                    </a:p>
                  </a:txBody>
                  <a:tcPr marL="57150" marR="57150" marT="28575" marB="28575" anchor="ctr">
                    <a:solidFill>
                      <a:srgbClr val="0B2033"/>
                    </a:solidFill>
                  </a:tcPr>
                </a:tc>
                <a:tc>
                  <a:txBody>
                    <a:bodyPr/>
                    <a:lstStyle/>
                    <a:p>
                      <a:r>
                        <a:rPr sz="788">
                          <a:solidFill>
                            <a:srgbClr val="F4F8FC"/>
                          </a:solidFill>
                          <a:latin typeface="Arial"/>
                          <a:ea typeface="Arial"/>
                          <a:cs typeface="Arial"/>
                        </a:rPr>
                        <a:t>0.85800</a:t>
                      </a:r>
                    </a:p>
                  </a:txBody>
                  <a:tcPr marL="57150" marR="57150" marT="28575" marB="28575" anchor="ctr">
                    <a:solidFill>
                      <a:srgbClr val="0B2033"/>
                    </a:solidFill>
                  </a:tcPr>
                </a:tc>
                <a:tc>
                  <a:txBody>
                    <a:bodyPr/>
                    <a:lstStyle/>
                    <a:p>
                      <a:r>
                        <a:rPr sz="788">
                          <a:solidFill>
                            <a:srgbClr val="F4F8FC"/>
                          </a:solidFill>
                          <a:latin typeface="Arial"/>
                          <a:ea typeface="Arial"/>
                          <a:cs typeface="Arial"/>
                        </a:rPr>
                        <a:t>[0.85800,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6</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1 magnitude &gt; 1</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0.85800</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0.14200</a:t>
                      </a:r>
                    </a:p>
                  </a:txBody>
                  <a:tcPr marL="57150" marR="57150" marT="28575" marB="28575" anchor="ctr">
                    <a:solidFill>
                      <a:srgbClr val="0B2033"/>
                    </a:solidFill>
                  </a:tcPr>
                </a:tc>
                <a:tc>
                  <a:txBody>
                    <a:bodyPr/>
                    <a:lstStyle/>
                    <a:p>
                      <a:r>
                        <a:rPr sz="788">
                          <a:solidFill>
                            <a:srgbClr val="F4F8FC"/>
                          </a:solidFill>
                          <a:latin typeface="Arial"/>
                          <a:ea typeface="Arial"/>
                          <a:cs typeface="Arial"/>
                        </a:rPr>
                        <a:t>0.92900</a:t>
                      </a:r>
                    </a:p>
                  </a:txBody>
                  <a:tcPr marL="57150" marR="57150" marT="28575" marB="28575" anchor="ctr">
                    <a:solidFill>
                      <a:srgbClr val="0B2033"/>
                    </a:solidFill>
                  </a:tcPr>
                </a:tc>
                <a:tc>
                  <a:txBody>
                    <a:bodyPr/>
                    <a:lstStyle/>
                    <a:p>
                      <a:r>
                        <a:rPr sz="788">
                          <a:solidFill>
                            <a:srgbClr val="F4F8FC"/>
                          </a:solidFill>
                          <a:latin typeface="Arial"/>
                          <a:ea typeface="Arial"/>
                          <a:cs typeface="Arial"/>
                        </a:rPr>
                        <a:t>[0.92900,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7</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1 magnitude &gt; 2</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0.92900</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0.07100</a:t>
                      </a:r>
                    </a:p>
                  </a:txBody>
                  <a:tcPr marL="57150" marR="57150" marT="28575" marB="28575" anchor="ctr">
                    <a:solidFill>
                      <a:srgbClr val="0B2033"/>
                    </a:solidFill>
                  </a:tcPr>
                </a:tc>
                <a:tc>
                  <a:txBody>
                    <a:bodyPr/>
                    <a:lstStyle/>
                    <a:p>
                      <a:r>
                        <a:rPr sz="788">
                          <a:solidFill>
                            <a:srgbClr val="F4F8FC"/>
                          </a:solidFill>
                          <a:latin typeface="Arial"/>
                          <a:ea typeface="Arial"/>
                          <a:cs typeface="Arial"/>
                        </a:rPr>
                        <a:t>0.96450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[0.96450,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8</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1 remainder a</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0.96450</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0.03550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0.98225</a:t>
                      </a:r>
                    </a:p>
                  </a:txBody>
                  <a:tcPr marL="57150" marR="57150" marT="28575" marB="28575" anchor="ctr">
                    <a:solidFill>
                      <a:srgbClr val="0B2033"/>
                    </a:solidFill>
                  </a:tcPr>
                </a:tc>
                <a:tc>
                  <a:txBody>
                    <a:bodyPr/>
                    <a:lstStyle/>
                    <a:p>
                      <a:r>
                        <a:rPr sz="788">
                          <a:solidFill>
                            <a:srgbClr val="F4F8FC"/>
                          </a:solidFill>
                          <a:latin typeface="Arial"/>
                          <a:ea typeface="Arial"/>
                          <a:cs typeface="Arial"/>
                        </a:rPr>
                        <a:t>[0.98225, 1.00000)</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9</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1 remainder b</a:t>
                      </a:r>
                    </a:p>
                  </a:txBody>
                  <a:tcPr marL="57150" marR="57150" marT="28575" marB="28575" anchor="ctr">
                    <a:solidFill>
                      <a:srgbClr val="0B2033"/>
                    </a:solidFill>
                  </a:tcPr>
                </a:tc>
                <a:tc>
                  <a:txBody>
                    <a:bodyPr/>
                    <a:lstStyle/>
                    <a:p>
                      <a:r>
                        <a:rPr sz="788">
                          <a:solidFill>
                            <a:srgbClr val="F4F8FC"/>
                          </a:solidFill>
                          <a:latin typeface="Arial"/>
                          <a:ea typeface="Arial"/>
                          <a:cs typeface="Arial"/>
                        </a:rPr>
                        <a:t>0</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0.98225</a:t>
                      </a:r>
                    </a:p>
                  </a:txBody>
                  <a:tcPr marL="57150" marR="57150" marT="28575" marB="28575" anchor="ctr">
                    <a:solidFill>
                      <a:srgbClr val="0B2033"/>
                    </a:solidFill>
                  </a:tcPr>
                </a:tc>
                <a:tc>
                  <a:txBody>
                    <a:bodyPr/>
                    <a:lstStyle/>
                    <a:p>
                      <a:r>
                        <a:rPr sz="788">
                          <a:solidFill>
                            <a:srgbClr val="F4F8FC"/>
                          </a:solidFill>
                          <a:latin typeface="Arial"/>
                          <a:ea typeface="Arial"/>
                          <a:cs typeface="Arial"/>
                        </a:rPr>
                        <a:t>1.00000</a:t>
                      </a:r>
                    </a:p>
                  </a:txBody>
                  <a:tcPr marL="57150" marR="57150" marT="28575" marB="28575" anchor="ctr">
                    <a:solidFill>
                      <a:srgbClr val="0B2033"/>
                    </a:solidFill>
                  </a:tcPr>
                </a:tc>
                <a:tc>
                  <a:txBody>
                    <a:bodyPr/>
                    <a:lstStyle/>
                    <a:p>
                      <a:r>
                        <a:rPr sz="788">
                          <a:solidFill>
                            <a:srgbClr val="F4F8FC"/>
                          </a:solidFill>
                          <a:latin typeface="Arial"/>
                          <a:ea typeface="Arial"/>
                          <a:cs typeface="Arial"/>
                        </a:rPr>
                        <a:t>0.01775</a:t>
                      </a:r>
                    </a:p>
                  </a:txBody>
                  <a:tcPr marL="57150" marR="57150" marT="28575" marB="28575" anchor="ctr">
                    <a:solidFill>
                      <a:srgbClr val="0B2033"/>
                    </a:solidFill>
                  </a:tcPr>
                </a:tc>
                <a:tc>
                  <a:txBody>
                    <a:bodyPr/>
                    <a:lstStyle/>
                    <a:p>
                      <a:r>
                        <a:rPr sz="788">
                          <a:solidFill>
                            <a:srgbClr val="F4F8FC"/>
                          </a:solidFill>
                          <a:latin typeface="Arial"/>
                          <a:ea typeface="Arial"/>
                          <a:cs typeface="Arial"/>
                        </a:rPr>
                        <a:t>0.99112</a:t>
                      </a:r>
                    </a:p>
                  </a:txBody>
                  <a:tcPr marL="57150" marR="57150" marT="28575" marB="28575" anchor="ctr">
                    <a:solidFill>
                      <a:srgbClr val="0B2033"/>
                    </a:solidFill>
                  </a:tcPr>
                </a:tc>
                <a:tc>
                  <a:txBody>
                    <a:bodyPr/>
                    <a:lstStyle/>
                    <a:p>
                      <a:r>
                        <a:rPr sz="788">
                          <a:solidFill>
                            <a:srgbClr val="F4F8FC"/>
                          </a:solidFill>
                          <a:latin typeface="Arial"/>
                          <a:ea typeface="Arial"/>
                          <a:cs typeface="Arial"/>
                        </a:rPr>
                        <a:t>[0.98225, 0.99112)</a:t>
                      </a:r>
                    </a:p>
                  </a:txBody>
                  <a:tcPr marL="57150" marR="57150" marT="28575" marB="28575" anchor="ctr">
                    <a:solidFill>
                      <a:srgbClr val="0B2033"/>
                    </a:solidFill>
                  </a:tcPr>
                </a:tc>
              </a:tr>
              <a:tr h="402648">
                <a:tc>
                  <a:txBody>
                    <a:bodyPr/>
                    <a:lstStyle/>
                    <a:p>
                      <a:r>
                        <a:rPr sz="788">
                          <a:solidFill>
                            <a:srgbClr val="F4F8FC"/>
                          </a:solidFill>
                          <a:latin typeface="Arial"/>
                          <a:ea typeface="Arial"/>
                          <a:cs typeface="Arial"/>
                        </a:rPr>
                        <a:t>10</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1 sign</a:t>
                      </a:r>
                    </a:p>
                  </a:txBody>
                  <a:tcPr marL="57150" marR="57150" marT="28575" marB="28575" anchor="ctr">
                    <a:solidFill>
                      <a:srgbClr val="0B2033"/>
                    </a:solidFill>
                  </a:tcPr>
                </a:tc>
                <a:tc>
                  <a:txBody>
                    <a:bodyPr/>
                    <a:lstStyle/>
                    <a:p>
                      <a:r>
                        <a:rPr sz="788">
                          <a:solidFill>
                            <a:srgbClr val="F4F8FC"/>
                          </a:solidFill>
                          <a:latin typeface="Arial"/>
                          <a:ea typeface="Arial"/>
                          <a:cs typeface="Arial"/>
                        </a:rPr>
                        <a:t>0</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0.98225</a:t>
                      </a:r>
                    </a:p>
                  </a:txBody>
                  <a:tcPr marL="57150" marR="57150" marT="28575" marB="28575" anchor="ctr">
                    <a:solidFill>
                      <a:srgbClr val="0B2033"/>
                    </a:solidFill>
                  </a:tcPr>
                </a:tc>
                <a:tc>
                  <a:txBody>
                    <a:bodyPr/>
                    <a:lstStyle/>
                    <a:p>
                      <a:r>
                        <a:rPr sz="788">
                          <a:solidFill>
                            <a:srgbClr val="F4F8FC"/>
                          </a:solidFill>
                          <a:latin typeface="Arial"/>
                          <a:ea typeface="Arial"/>
                          <a:cs typeface="Arial"/>
                        </a:rPr>
                        <a:t>0.99112</a:t>
                      </a:r>
                    </a:p>
                  </a:txBody>
                  <a:tcPr marL="57150" marR="57150" marT="28575" marB="28575" anchor="ctr">
                    <a:solidFill>
                      <a:srgbClr val="0B2033"/>
                    </a:solidFill>
                  </a:tcPr>
                </a:tc>
                <a:tc>
                  <a:txBody>
                    <a:bodyPr/>
                    <a:lstStyle/>
                    <a:p>
                      <a:r>
                        <a:rPr sz="788">
                          <a:solidFill>
                            <a:srgbClr val="F4F8FC"/>
                          </a:solidFill>
                          <a:latin typeface="Arial"/>
                          <a:ea typeface="Arial"/>
                          <a:cs typeface="Arial"/>
                        </a:rPr>
                        <a:t>0.00888</a:t>
                      </a:r>
                    </a:p>
                  </a:txBody>
                  <a:tcPr marL="57150" marR="57150" marT="28575" marB="28575" anchor="ctr">
                    <a:solidFill>
                      <a:srgbClr val="0B2033"/>
                    </a:solidFill>
                  </a:tcPr>
                </a:tc>
                <a:tc>
                  <a:txBody>
                    <a:bodyPr/>
                    <a:lstStyle/>
                    <a:p>
                      <a:r>
                        <a:rPr sz="788">
                          <a:solidFill>
                            <a:srgbClr val="F4F8FC"/>
                          </a:solidFill>
                          <a:latin typeface="Arial"/>
                          <a:ea typeface="Arial"/>
                          <a:cs typeface="Arial"/>
                        </a:rPr>
                        <a:t>0.98669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[0.98225, 0.98669)</a:t>
                      </a:r>
                    </a:p>
                  </a:txBody>
                  <a:tcPr marL="57150" marR="57150" marT="28575" marB="28575" anchor="ctr">
                    <a:solidFill>
                      <a:srgbClr val="0B2033"/>
                    </a:solidFill>
                  </a:tcPr>
                </a:tc>
              </a:tr>
            </a:tbl>
          </a:graphicData>
        </a:graphic>
      </p:graphicFrame>
      <p:sp>
        <p:nvSpPr>
          <p:cNvPr id="9" name="">
            <a:extLst xmlns:a="http://schemas.openxmlformats.org/drawingml/2006/main">
              <a:ext uri="{FF2B5EF4-FFF2-40B4-BE49-F238E27FC236}">
                <a16:creationId xmlns:a16="http://schemas.microsoft.com/office/drawing/2014/main" id="{469DC0B7-793E-49DA-AB5B-DCA168B5BBC4}"/>
              </a:ext>
            </a:extLst>
          </p:cNvPr>
          <p:cNvSpPr>
            <a:spLocks xmlns:a="http://schemas.openxmlformats.org/drawingml/2006/main" noGrp="1"/>
          </p:cNvSpPr>
          <p:nvPr/>
        </p:nvSpPr>
        <p:spPr>
          <a:xfrm xmlns:a="http://schemas.openxmlformats.org/drawingml/2006/main">
            <a:off x="2381250" y="6000750"/>
            <a:ext cx="7429500" cy="419100"/>
          </a:xfrm>
          <a:prstGeom xmlns:a="http://schemas.openxmlformats.org/drawingml/2006/main" prst="roundRect">
            <a:avLst>
              <a:gd name="adj" fmla="val 27273"/>
            </a:avLst>
          </a:prstGeom>
          <a:solidFill xmlns:a="http://schemas.openxmlformats.org/drawingml/2006/main">
            <a:srgbClr val="092034"/>
          </a:solidFill>
          <a:ln xmlns:a="http://schemas.openxmlformats.org/drawingml/2006/main" w="19050">
            <a:solidFill>
              <a:srgbClr val="22D3EE"/>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defRPr sz="1275" b="1">
                <a:solidFill>
                  <a:srgbClr val="F4F8FC"/>
                </a:solidFill>
                <a:latin typeface="Arial"/>
                <a:ea typeface="Arial"/>
                <a:cs typeface="Arial"/>
              </a:defRPr>
            </a:pPr>
            <a:r>
              <a:rPr sz="1275" b="1">
                <a:solidFill>
                  <a:srgbClr val="F4F8FC"/>
                </a:solidFill>
                <a:latin typeface="Arial"/>
                <a:ea typeface="Arial"/>
                <a:cs typeface="Arial"/>
              </a:rPr>
              <a:t>Interval after bin 10: [0.98225, 0.98669)</a:t>
            </a:r>
          </a:p>
        </p:txBody>
      </p:sp>
    </p:spTree>
    <p:extLst>
      <p:ext uri="{BB962C8B-B14F-4D97-AF65-F5344CB8AC3E}">
        <p14:creationId xmlns:p14="http://schemas.microsoft.com/office/powerpoint/2010/main" val="1259136182"/>
      </p:ext>
    </p:extLst>
  </p:cSld>
</p:sld>
</file>

<file path=ppt/slides/slide21.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51E8CA-BE5B-4769-B087-D5B5A3946FA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039954-3638-48EA-87FC-B414AFEF1B11}"/>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B3C48D-6317-4FC5-B36D-01ABD9167AA9}"/>
              </a:ext>
            </a:extLst>
          </p:cNvPr>
          <p:cNvSpPr>
            <a:spLocks xmlns:a="http://schemas.openxmlformats.org/drawingml/2006/main" noGrp="1"/>
          </p:cNvSpPr>
          <p:nvPr/>
        </p:nvSpPr>
        <p:spPr>
          <a:xfrm xmlns:a="http://schemas.openxmlformats.org/drawingml/2006/main">
            <a:off x="476250" y="23812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2550" b="1">
                <a:solidFill>
                  <a:srgbClr val="F4F8FC"/>
                </a:solidFill>
                <a:latin typeface="Arial"/>
                <a:ea typeface="Arial"/>
                <a:cs typeface="Arial"/>
              </a:defRPr>
            </a:pPr>
            <a:r>
              <a:rPr sz="2550" b="1">
                <a:solidFill>
                  <a:srgbClr val="F4F8FC"/>
                </a:solidFill>
                <a:latin typeface="Arial"/>
                <a:ea typeface="Arial"/>
                <a:cs typeface="Arial"/>
              </a:rPr>
              <a:t>Arithmetic encoding table, continued</a:t>
            </a:r>
          </a:p>
        </p:txBody>
      </p:sp>
      <p:sp>
        <p:nvSpPr>
          <p:cNvPr id="4" name="">
            <a:extLst xmlns:a="http://schemas.openxmlformats.org/drawingml/2006/main">
              <a:ext uri="{FF2B5EF4-FFF2-40B4-BE49-F238E27FC236}">
                <a16:creationId xmlns:a16="http://schemas.microsoft.com/office/drawing/2014/main" id="{1DEFA0E2-ACE5-49E9-BFC3-44E17F91DF45}"/>
              </a:ext>
            </a:extLst>
          </p:cNvPr>
          <p:cNvSpPr>
            <a:spLocks xmlns:a="http://schemas.openxmlformats.org/drawingml/2006/main" noGrp="1"/>
          </p:cNvSpPr>
          <p:nvPr/>
        </p:nvSpPr>
        <p:spPr>
          <a:xfrm xmlns:a="http://schemas.openxmlformats.org/drawingml/2006/main">
            <a:off x="400050" y="904875"/>
            <a:ext cx="11391900" cy="19050"/>
          </a:xfrm>
          <a:prstGeom xmlns:a="http://schemas.openxmlformats.org/drawingml/2006/main" prst="rect">
            <a:avLst/>
          </a:prstGeom>
          <a:solidFill xmlns:a="http://schemas.openxmlformats.org/drawingml/2006/main">
            <a:srgbClr val="2A587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02B7AF8-47B2-46F6-9D01-E8499348F547}"/>
              </a:ext>
            </a:extLst>
          </p:cNvPr>
          <p:cNvSpPr>
            <a:spLocks xmlns:a="http://schemas.openxmlformats.org/drawingml/2006/main" noGrp="1"/>
          </p:cNvSpPr>
          <p:nvPr/>
        </p:nvSpPr>
        <p:spPr>
          <a:xfrm xmlns:a="http://schemas.openxmlformats.org/drawingml/2006/main">
            <a:off x="476250" y="990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1200" b="0">
                <a:solidFill>
                  <a:srgbClr val="AFC0D0"/>
                </a:solidFill>
                <a:latin typeface="Arial"/>
                <a:ea typeface="Arial"/>
                <a:cs typeface="Arial"/>
              </a:defRPr>
            </a:pPr>
            <a:r>
              <a:rPr sz="1200" b="0">
                <a:solidFill>
                  <a:srgbClr val="AFC0D0"/>
                </a:solidFill>
                <a:latin typeface="Arial"/>
                <a:ea typeface="Arial"/>
                <a:cs typeface="Arial"/>
              </a:rPr>
              <a:t>Split = low + width × P(0). Bin 1 keeps the upper interval. Bin 0 keeps the lower interval.</a:t>
            </a:r>
          </a:p>
        </p:txBody>
      </p:sp>
      <p:sp>
        <p:nvSpPr>
          <p:cNvPr id="6" name="">
            <a:extLst xmlns:a="http://schemas.openxmlformats.org/drawingml/2006/main">
              <a:ext uri="{FF2B5EF4-FFF2-40B4-BE49-F238E27FC236}">
                <a16:creationId xmlns:a16="http://schemas.microsoft.com/office/drawing/2014/main" id="{4E25044D-9A55-4A07-83EC-91F2A621CE08}"/>
              </a:ext>
            </a:extLst>
          </p:cNvPr>
          <p:cNvSpPr>
            <a:spLocks xmlns:a="http://schemas.openxmlformats.org/drawingml/2006/main" noGrp="1"/>
          </p:cNvSpPr>
          <p:nvPr/>
        </p:nvSpPr>
        <p:spPr>
          <a:xfrm xmlns:a="http://schemas.openxmlformats.org/drawingml/2006/main">
            <a:off x="1285875" y="64579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600" b="0">
                <a:solidFill>
                  <a:srgbClr val="AFC0D0"/>
                </a:solidFill>
                <a:latin typeface="Arial"/>
                <a:ea typeface="Arial"/>
                <a:cs typeface="Arial"/>
              </a:defRPr>
            </a:pPr>
            <a:r>
              <a:rPr sz="600" b="0">
                <a:solidFill>
                  <a:srgbClr val="AFC0D0"/>
                </a:solidFill>
                <a:latin typeface="Arial"/>
                <a:ea typeface="Arial"/>
                <a:cs typeface="Arial"/>
              </a:rPr>
              <a:t>Sources and evidence: speaker notes</a:t>
            </a:r>
          </a:p>
        </p:txBody>
      </p:sp>
      <p:sp>
        <p:nvSpPr>
          <p:cNvPr id="7" name="">
            <a:extLst xmlns:a="http://schemas.openxmlformats.org/drawingml/2006/main">
              <a:ext uri="{FF2B5EF4-FFF2-40B4-BE49-F238E27FC236}">
                <a16:creationId xmlns:a16="http://schemas.microsoft.com/office/drawing/2014/main" id="{A7BCCC7C-578D-4395-8356-8E0560B34C1A}"/>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r">
              <a:defRPr sz="975" b="1">
                <a:solidFill>
                  <a:srgbClr val="22D3EE"/>
                </a:solidFill>
                <a:latin typeface="Arial"/>
                <a:ea typeface="Arial"/>
                <a:cs typeface="Arial"/>
              </a:defRPr>
            </a:pPr>
            <a:r>
              <a:rPr sz="975" b="1">
                <a:solidFill>
                  <a:srgbClr val="22D3EE"/>
                </a:solidFill>
                <a:latin typeface="Arial"/>
                <a:ea typeface="Arial"/>
                <a:cs typeface="Arial"/>
              </a:rPr>
              <a:t>21 / 49</a:t>
            </a:r>
          </a:p>
        </p:txBody>
      </p:sp>
      <p:graphicFrame>
        <p:nvGraphicFramePr>
          <p:cNvPr id="17" name=""/>
          <p:cNvGraphicFramePr/>
          <p:nvPr/>
        </p:nvGraphicFramePr>
        <p:xfrm>
          <a:off xmlns:a="http://schemas.openxmlformats.org/drawingml/2006/main" x="333375" y="1428750"/>
          <a:ext xmlns:a="http://schemas.openxmlformats.org/drawingml/2006/main" cx="11525250" cy="4429125"/>
        </p:xfrm>
        <a:graphic xmlns:a="http://schemas.openxmlformats.org/drawingml/2006/main">
          <a:graphicData uri="http://schemas.openxmlformats.org/drawingml/2006/table">
            <a:tbl>
              <a:tblPr/>
              <a:tblGrid>
                <a:gridCol w="428625"/>
                <a:gridCol w="2381250"/>
                <a:gridCol w="523875"/>
                <a:gridCol w="619125"/>
                <a:gridCol w="1000125"/>
                <a:gridCol w="1000125"/>
                <a:gridCol w="1000125"/>
                <a:gridCol w="1000125"/>
                <a:gridCol w="3571875"/>
              </a:tblGrid>
              <a:tr h="442913">
                <a:tc>
                  <a:txBody>
                    <a:bodyPr/>
                    <a:lstStyle/>
                    <a:p>
                      <a:r>
                        <a:rPr sz="863" b="1">
                          <a:solidFill>
                            <a:srgbClr val="22D3EE"/>
                          </a:solidFill>
                          <a:latin typeface="Arial"/>
                          <a:ea typeface="Arial"/>
                          <a:cs typeface="Arial"/>
                        </a:rPr>
                        <a:t>#</a:t>
                      </a:r>
                    </a:p>
                  </a:txBody>
                  <a:tcPr marL="57150" marR="57150" marT="28575" marB="28575" anchor="ctr">
                    <a:solidFill>
                      <a:srgbClr val="12314A"/>
                    </a:solidFill>
                  </a:tcPr>
                </a:tc>
                <a:tc>
                  <a:txBody>
                    <a:bodyPr/>
                    <a:lstStyle/>
                    <a:p>
                      <a:r>
                        <a:rPr sz="863" b="1">
                          <a:solidFill>
                            <a:srgbClr val="22D3EE"/>
                          </a:solidFill>
                          <a:latin typeface="Arial"/>
                          <a:ea typeface="Arial"/>
                          <a:cs typeface="Arial"/>
                        </a:rPr>
                        <a:t>Meaning</a:t>
                      </a:r>
                    </a:p>
                  </a:txBody>
                  <a:tcPr marL="57150" marR="57150" marT="28575" marB="28575" anchor="ctr">
                    <a:solidFill>
                      <a:srgbClr val="12314A"/>
                    </a:solidFill>
                  </a:tcPr>
                </a:tc>
                <a:tc>
                  <a:txBody>
                    <a:bodyPr/>
                    <a:lstStyle/>
                    <a:p>
                      <a:r>
                        <a:rPr sz="863" b="1">
                          <a:solidFill>
                            <a:srgbClr val="22D3EE"/>
                          </a:solidFill>
                          <a:latin typeface="Arial"/>
                          <a:ea typeface="Arial"/>
                          <a:cs typeface="Arial"/>
                        </a:rPr>
                        <a:t>Bin</a:t>
                      </a:r>
                    </a:p>
                  </a:txBody>
                  <a:tcPr marL="57150" marR="57150" marT="28575" marB="28575" anchor="ctr">
                    <a:solidFill>
                      <a:srgbClr val="12314A"/>
                    </a:solidFill>
                  </a:tcPr>
                </a:tc>
                <a:tc>
                  <a:txBody>
                    <a:bodyPr/>
                    <a:lstStyle/>
                    <a:p>
                      <a:r>
                        <a:rPr sz="863" b="1">
                          <a:solidFill>
                            <a:srgbClr val="22D3EE"/>
                          </a:solidFill>
                          <a:latin typeface="Arial"/>
                          <a:ea typeface="Arial"/>
                          <a:cs typeface="Arial"/>
                        </a:rPr>
                        <a:t>P(0)</a:t>
                      </a:r>
                    </a:p>
                  </a:txBody>
                  <a:tcPr marL="57150" marR="57150" marT="28575" marB="28575" anchor="ctr">
                    <a:solidFill>
                      <a:srgbClr val="12314A"/>
                    </a:solidFill>
                  </a:tcPr>
                </a:tc>
                <a:tc>
                  <a:txBody>
                    <a:bodyPr/>
                    <a:lstStyle/>
                    <a:p>
                      <a:r>
                        <a:rPr sz="863" b="1">
                          <a:solidFill>
                            <a:srgbClr val="22D3EE"/>
                          </a:solidFill>
                          <a:latin typeface="Arial"/>
                          <a:ea typeface="Arial"/>
                          <a:cs typeface="Arial"/>
                        </a:rPr>
                        <a:t>Low</a:t>
                      </a:r>
                    </a:p>
                  </a:txBody>
                  <a:tcPr marL="57150" marR="57150" marT="28575" marB="28575" anchor="ctr">
                    <a:solidFill>
                      <a:srgbClr val="12314A"/>
                    </a:solidFill>
                  </a:tcPr>
                </a:tc>
                <a:tc>
                  <a:txBody>
                    <a:bodyPr/>
                    <a:lstStyle/>
                    <a:p>
                      <a:r>
                        <a:rPr sz="863" b="1">
                          <a:solidFill>
                            <a:srgbClr val="22D3EE"/>
                          </a:solidFill>
                          <a:latin typeface="Arial"/>
                          <a:ea typeface="Arial"/>
                          <a:cs typeface="Arial"/>
                        </a:rPr>
                        <a:t>High</a:t>
                      </a:r>
                    </a:p>
                  </a:txBody>
                  <a:tcPr marL="57150" marR="57150" marT="28575" marB="28575" anchor="ctr">
                    <a:solidFill>
                      <a:srgbClr val="12314A"/>
                    </a:solidFill>
                  </a:tcPr>
                </a:tc>
                <a:tc>
                  <a:txBody>
                    <a:bodyPr/>
                    <a:lstStyle/>
                    <a:p>
                      <a:r>
                        <a:rPr sz="863" b="1">
                          <a:solidFill>
                            <a:srgbClr val="22D3EE"/>
                          </a:solidFill>
                          <a:latin typeface="Arial"/>
                          <a:ea typeface="Arial"/>
                          <a:cs typeface="Arial"/>
                        </a:rPr>
                        <a:t>Width</a:t>
                      </a:r>
                    </a:p>
                  </a:txBody>
                  <a:tcPr marL="57150" marR="57150" marT="28575" marB="28575" anchor="ctr">
                    <a:solidFill>
                      <a:srgbClr val="12314A"/>
                    </a:solidFill>
                  </a:tcPr>
                </a:tc>
                <a:tc>
                  <a:txBody>
                    <a:bodyPr/>
                    <a:lstStyle/>
                    <a:p>
                      <a:r>
                        <a:rPr sz="863" b="1">
                          <a:solidFill>
                            <a:srgbClr val="22D3EE"/>
                          </a:solidFill>
                          <a:latin typeface="Arial"/>
                          <a:ea typeface="Arial"/>
                          <a:cs typeface="Arial"/>
                        </a:rPr>
                        <a:t>Split</a:t>
                      </a:r>
                    </a:p>
                  </a:txBody>
                  <a:tcPr marL="57150" marR="57150" marT="28575" marB="28575" anchor="ctr">
                    <a:solidFill>
                      <a:srgbClr val="12314A"/>
                    </a:solidFill>
                  </a:tcPr>
                </a:tc>
                <a:tc>
                  <a:txBody>
                    <a:bodyPr/>
                    <a:lstStyle/>
                    <a:p>
                      <a:r>
                        <a:rPr sz="863" b="1">
                          <a:solidFill>
                            <a:srgbClr val="22D3EE"/>
                          </a:solidFill>
                          <a:latin typeface="Arial"/>
                          <a:ea typeface="Arial"/>
                          <a:cs typeface="Arial"/>
                        </a:rPr>
                        <a:t>Resulting interval</a:t>
                      </a:r>
                    </a:p>
                  </a:txBody>
                  <a:tcPr marL="57150" marR="57150" marT="28575" marB="28575" anchor="ctr">
                    <a:solidFill>
                      <a:srgbClr val="12314A"/>
                    </a:solidFill>
                  </a:tcPr>
                </a:tc>
              </a:tr>
              <a:tr h="442913">
                <a:tc>
                  <a:txBody>
                    <a:bodyPr/>
                    <a:lstStyle/>
                    <a:p>
                      <a:r>
                        <a:rPr sz="788">
                          <a:solidFill>
                            <a:srgbClr val="F4F8FC"/>
                          </a:solidFill>
                          <a:latin typeface="Arial"/>
                          <a:ea typeface="Arial"/>
                          <a:cs typeface="Arial"/>
                        </a:rPr>
                        <a:t>11</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2 magnitude &gt; 1</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0.55</a:t>
                      </a:r>
                    </a:p>
                  </a:txBody>
                  <a:tcPr marL="57150" marR="57150" marT="28575" marB="28575" anchor="ctr">
                    <a:solidFill>
                      <a:srgbClr val="0B2033"/>
                    </a:solidFill>
                  </a:tcPr>
                </a:tc>
                <a:tc>
                  <a:txBody>
                    <a:bodyPr/>
                    <a:lstStyle/>
                    <a:p>
                      <a:r>
                        <a:rPr sz="788">
                          <a:solidFill>
                            <a:srgbClr val="F4F8FC"/>
                          </a:solidFill>
                          <a:latin typeface="Arial"/>
                          <a:ea typeface="Arial"/>
                          <a:cs typeface="Arial"/>
                        </a:rPr>
                        <a:t>0.98225</a:t>
                      </a:r>
                    </a:p>
                  </a:txBody>
                  <a:tcPr marL="57150" marR="57150" marT="28575" marB="28575" anchor="ctr">
                    <a:solidFill>
                      <a:srgbClr val="0B2033"/>
                    </a:solidFill>
                  </a:tcPr>
                </a:tc>
                <a:tc>
                  <a:txBody>
                    <a:bodyPr/>
                    <a:lstStyle/>
                    <a:p>
                      <a:r>
                        <a:rPr sz="788">
                          <a:solidFill>
                            <a:srgbClr val="F4F8FC"/>
                          </a:solidFill>
                          <a:latin typeface="Arial"/>
                          <a:ea typeface="Arial"/>
                          <a:cs typeface="Arial"/>
                        </a:rPr>
                        <a:t>0.98669</a:t>
                      </a:r>
                    </a:p>
                  </a:txBody>
                  <a:tcPr marL="57150" marR="57150" marT="28575" marB="28575" anchor="ctr">
                    <a:solidFill>
                      <a:srgbClr val="0B2033"/>
                    </a:solidFill>
                  </a:tcPr>
                </a:tc>
                <a:tc>
                  <a:txBody>
                    <a:bodyPr/>
                    <a:lstStyle/>
                    <a:p>
                      <a:r>
                        <a:rPr sz="788">
                          <a:solidFill>
                            <a:srgbClr val="F4F8FC"/>
                          </a:solidFill>
                          <a:latin typeface="Arial"/>
                          <a:ea typeface="Arial"/>
                          <a:cs typeface="Arial"/>
                        </a:rPr>
                        <a:t>0.00444</a:t>
                      </a:r>
                    </a:p>
                  </a:txBody>
                  <a:tcPr marL="57150" marR="57150" marT="28575" marB="28575" anchor="ctr">
                    <a:solidFill>
                      <a:srgbClr val="0B2033"/>
                    </a:solidFill>
                  </a:tcPr>
                </a:tc>
                <a:tc>
                  <a:txBody>
                    <a:bodyPr/>
                    <a:lstStyle/>
                    <a:p>
                      <a:r>
                        <a:rPr sz="788">
                          <a:solidFill>
                            <a:srgbClr val="F4F8FC"/>
                          </a:solidFill>
                          <a:latin typeface="Arial"/>
                          <a:ea typeface="Arial"/>
                          <a:cs typeface="Arial"/>
                        </a:rPr>
                        <a:t>0.98469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[0.98469, 0.98669)</a:t>
                      </a:r>
                    </a:p>
                  </a:txBody>
                  <a:tcPr marL="57150" marR="57150" marT="28575" marB="28575" anchor="ctr">
                    <a:solidFill>
                      <a:srgbClr val="0B2033"/>
                    </a:solidFill>
                  </a:tcPr>
                </a:tc>
              </a:tr>
              <a:tr h="442913">
                <a:tc>
                  <a:txBody>
                    <a:bodyPr/>
                    <a:lstStyle/>
                    <a:p>
                      <a:r>
                        <a:rPr sz="788">
                          <a:solidFill>
                            <a:srgbClr val="F4F8FC"/>
                          </a:solidFill>
                          <a:latin typeface="Arial"/>
                          <a:ea typeface="Arial"/>
                          <a:cs typeface="Arial"/>
                        </a:rPr>
                        <a:t>12</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2 magnitude &gt; 2</a:t>
                      </a:r>
                    </a:p>
                  </a:txBody>
                  <a:tcPr marL="57150" marR="57150" marT="28575" marB="28575" anchor="ctr">
                    <a:solidFill>
                      <a:srgbClr val="0B2033"/>
                    </a:solidFill>
                  </a:tcPr>
                </a:tc>
                <a:tc>
                  <a:txBody>
                    <a:bodyPr/>
                    <a:lstStyle/>
                    <a:p>
                      <a:r>
                        <a:rPr sz="788">
                          <a:solidFill>
                            <a:srgbClr val="F4F8FC"/>
                          </a:solidFill>
                          <a:latin typeface="Arial"/>
                          <a:ea typeface="Arial"/>
                          <a:cs typeface="Arial"/>
                        </a:rPr>
                        <a:t>0</a:t>
                      </a:r>
                    </a:p>
                  </a:txBody>
                  <a:tcPr marL="57150" marR="57150" marT="28575" marB="28575" anchor="ctr">
                    <a:solidFill>
                      <a:srgbClr val="0B2033"/>
                    </a:solidFill>
                  </a:tcPr>
                </a:tc>
                <a:tc>
                  <a:txBody>
                    <a:bodyPr/>
                    <a:lstStyle/>
                    <a:p>
                      <a:r>
                        <a:rPr sz="788">
                          <a:solidFill>
                            <a:srgbClr val="F4F8FC"/>
                          </a:solidFill>
                          <a:latin typeface="Arial"/>
                          <a:ea typeface="Arial"/>
                          <a:cs typeface="Arial"/>
                        </a:rPr>
                        <a:t>0.60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0.98469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0.98669</a:t>
                      </a:r>
                    </a:p>
                  </a:txBody>
                  <a:tcPr marL="57150" marR="57150" marT="28575" marB="28575" anchor="ctr">
                    <a:solidFill>
                      <a:srgbClr val="0B2033"/>
                    </a:solidFill>
                  </a:tcPr>
                </a:tc>
                <a:tc>
                  <a:txBody>
                    <a:bodyPr/>
                    <a:lstStyle/>
                    <a:p>
                      <a:r>
                        <a:rPr sz="788">
                          <a:solidFill>
                            <a:srgbClr val="F4F8FC"/>
                          </a:solidFill>
                          <a:latin typeface="Arial"/>
                          <a:ea typeface="Arial"/>
                          <a:cs typeface="Arial"/>
                        </a:rPr>
                        <a:t>0.00200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0.98589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[0.98469, 0.98589)</a:t>
                      </a:r>
                    </a:p>
                  </a:txBody>
                  <a:tcPr marL="57150" marR="57150" marT="28575" marB="28575" anchor="ctr">
                    <a:solidFill>
                      <a:srgbClr val="0B2033"/>
                    </a:solidFill>
                  </a:tcPr>
                </a:tc>
              </a:tr>
              <a:tr h="442913">
                <a:tc>
                  <a:txBody>
                    <a:bodyPr/>
                    <a:lstStyle/>
                    <a:p>
                      <a:r>
                        <a:rPr sz="788">
                          <a:solidFill>
                            <a:srgbClr val="F4F8FC"/>
                          </a:solidFill>
                          <a:latin typeface="Arial"/>
                          <a:ea typeface="Arial"/>
                          <a:cs typeface="Arial"/>
                        </a:rPr>
                        <a:t>13</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2 sign</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0.98469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0.98589</a:t>
                      </a:r>
                    </a:p>
                  </a:txBody>
                  <a:tcPr marL="57150" marR="57150" marT="28575" marB="28575" anchor="ctr">
                    <a:solidFill>
                      <a:srgbClr val="0B2033"/>
                    </a:solidFill>
                  </a:tcPr>
                </a:tc>
                <a:tc>
                  <a:txBody>
                    <a:bodyPr/>
                    <a:lstStyle/>
                    <a:p>
                      <a:r>
                        <a:rPr sz="788">
                          <a:solidFill>
                            <a:srgbClr val="F4F8FC"/>
                          </a:solidFill>
                          <a:latin typeface="Arial"/>
                          <a:ea typeface="Arial"/>
                          <a:cs typeface="Arial"/>
                        </a:rPr>
                        <a:t>0.00120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 0.98589)</a:t>
                      </a:r>
                    </a:p>
                  </a:txBody>
                  <a:tcPr marL="57150" marR="57150" marT="28575" marB="28575" anchor="ctr">
                    <a:solidFill>
                      <a:srgbClr val="0B2033"/>
                    </a:solidFill>
                  </a:tcPr>
                </a:tc>
              </a:tr>
              <a:tr h="442913">
                <a:tc>
                  <a:txBody>
                    <a:bodyPr/>
                    <a:lstStyle/>
                    <a:p>
                      <a:r>
                        <a:rPr sz="788">
                          <a:solidFill>
                            <a:srgbClr val="F4F8FC"/>
                          </a:solidFill>
                          <a:latin typeface="Arial"/>
                          <a:ea typeface="Arial"/>
                          <a:cs typeface="Arial"/>
                        </a:rPr>
                        <a:t>14</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3 magnitude &gt; 1</a:t>
                      </a:r>
                    </a:p>
                  </a:txBody>
                  <a:tcPr marL="57150" marR="57150" marT="28575" marB="28575" anchor="ctr">
                    <a:solidFill>
                      <a:srgbClr val="0B2033"/>
                    </a:solidFill>
                  </a:tcPr>
                </a:tc>
                <a:tc>
                  <a:txBody>
                    <a:bodyPr/>
                    <a:lstStyle/>
                    <a:p>
                      <a:r>
                        <a:rPr sz="788">
                          <a:solidFill>
                            <a:srgbClr val="F4F8FC"/>
                          </a:solidFill>
                          <a:latin typeface="Arial"/>
                          <a:ea typeface="Arial"/>
                          <a:cs typeface="Arial"/>
                        </a:rPr>
                        <a:t>0</a:t>
                      </a:r>
                    </a:p>
                  </a:txBody>
                  <a:tcPr marL="57150" marR="57150" marT="28575" marB="28575" anchor="ctr">
                    <a:solidFill>
                      <a:srgbClr val="0B2033"/>
                    </a:solidFill>
                  </a:tcPr>
                </a:tc>
                <a:tc>
                  <a:txBody>
                    <a:bodyPr/>
                    <a:lstStyle/>
                    <a:p>
                      <a:r>
                        <a:rPr sz="788">
                          <a:solidFill>
                            <a:srgbClr val="F4F8FC"/>
                          </a:solidFill>
                          <a:latin typeface="Arial"/>
                          <a:ea typeface="Arial"/>
                          <a:cs typeface="Arial"/>
                        </a:rPr>
                        <a:t>0.65</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0.98589</a:t>
                      </a:r>
                    </a:p>
                  </a:txBody>
                  <a:tcPr marL="57150" marR="57150" marT="28575" marB="28575" anchor="ctr">
                    <a:solidFill>
                      <a:srgbClr val="0B2033"/>
                    </a:solidFill>
                  </a:tcPr>
                </a:tc>
                <a:tc>
                  <a:txBody>
                    <a:bodyPr/>
                    <a:lstStyle/>
                    <a:p>
                      <a:r>
                        <a:rPr sz="788">
                          <a:solidFill>
                            <a:srgbClr val="F4F8FC"/>
                          </a:solidFill>
                          <a:latin typeface="Arial"/>
                          <a:ea typeface="Arial"/>
                          <a:cs typeface="Arial"/>
                        </a:rPr>
                        <a:t>0.00060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0.98568</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 0.98568)</a:t>
                      </a:r>
                    </a:p>
                  </a:txBody>
                  <a:tcPr marL="57150" marR="57150" marT="28575" marB="28575" anchor="ctr">
                    <a:solidFill>
                      <a:srgbClr val="0B2033"/>
                    </a:solidFill>
                  </a:tcPr>
                </a:tc>
              </a:tr>
              <a:tr h="442913">
                <a:tc>
                  <a:txBody>
                    <a:bodyPr/>
                    <a:lstStyle/>
                    <a:p>
                      <a:r>
                        <a:rPr sz="788">
                          <a:solidFill>
                            <a:srgbClr val="F4F8FC"/>
                          </a:solidFill>
                          <a:latin typeface="Arial"/>
                          <a:ea typeface="Arial"/>
                          <a:cs typeface="Arial"/>
                        </a:rPr>
                        <a:t>15</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3 sign</a:t>
                      </a:r>
                    </a:p>
                  </a:txBody>
                  <a:tcPr marL="57150" marR="57150" marT="28575" marB="28575" anchor="ctr">
                    <a:solidFill>
                      <a:srgbClr val="0B2033"/>
                    </a:solidFill>
                  </a:tcPr>
                </a:tc>
                <a:tc>
                  <a:txBody>
                    <a:bodyPr/>
                    <a:lstStyle/>
                    <a:p>
                      <a:r>
                        <a:rPr sz="788">
                          <a:solidFill>
                            <a:srgbClr val="F4F8FC"/>
                          </a:solidFill>
                          <a:latin typeface="Arial"/>
                          <a:ea typeface="Arial"/>
                          <a:cs typeface="Arial"/>
                        </a:rPr>
                        <a:t>0</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0.98568</a:t>
                      </a:r>
                    </a:p>
                  </a:txBody>
                  <a:tcPr marL="57150" marR="57150" marT="28575" marB="28575" anchor="ctr">
                    <a:solidFill>
                      <a:srgbClr val="0B2033"/>
                    </a:solidFill>
                  </a:tcPr>
                </a:tc>
                <a:tc>
                  <a:txBody>
                    <a:bodyPr/>
                    <a:lstStyle/>
                    <a:p>
                      <a:r>
                        <a:rPr sz="788">
                          <a:solidFill>
                            <a:srgbClr val="F4F8FC"/>
                          </a:solidFill>
                          <a:latin typeface="Arial"/>
                          <a:ea typeface="Arial"/>
                          <a:cs typeface="Arial"/>
                        </a:rPr>
                        <a:t>0.00039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0.98548</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 0.98548)</a:t>
                      </a:r>
                    </a:p>
                  </a:txBody>
                  <a:tcPr marL="57150" marR="57150" marT="28575" marB="28575" anchor="ctr">
                    <a:solidFill>
                      <a:srgbClr val="0B2033"/>
                    </a:solidFill>
                  </a:tcPr>
                </a:tc>
              </a:tr>
              <a:tr h="442913">
                <a:tc>
                  <a:txBody>
                    <a:bodyPr/>
                    <a:lstStyle/>
                    <a:p>
                      <a:r>
                        <a:rPr sz="788">
                          <a:solidFill>
                            <a:srgbClr val="F4F8FC"/>
                          </a:solidFill>
                          <a:latin typeface="Arial"/>
                          <a:ea typeface="Arial"/>
                          <a:cs typeface="Arial"/>
                        </a:rPr>
                        <a:t>16</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4 magnitude &gt; 1</a:t>
                      </a:r>
                    </a:p>
                  </a:txBody>
                  <a:tcPr marL="57150" marR="57150" marT="28575" marB="28575" anchor="ctr">
                    <a:solidFill>
                      <a:srgbClr val="0B2033"/>
                    </a:solidFill>
                  </a:tcPr>
                </a:tc>
                <a:tc>
                  <a:txBody>
                    <a:bodyPr/>
                    <a:lstStyle/>
                    <a:p>
                      <a:r>
                        <a:rPr sz="788">
                          <a:solidFill>
                            <a:srgbClr val="F4F8FC"/>
                          </a:solidFill>
                          <a:latin typeface="Arial"/>
                          <a:ea typeface="Arial"/>
                          <a:cs typeface="Arial"/>
                        </a:rPr>
                        <a:t>0</a:t>
                      </a:r>
                    </a:p>
                  </a:txBody>
                  <a:tcPr marL="57150" marR="57150" marT="28575" marB="28575" anchor="ctr">
                    <a:solidFill>
                      <a:srgbClr val="0B2033"/>
                    </a:solidFill>
                  </a:tcPr>
                </a:tc>
                <a:tc>
                  <a:txBody>
                    <a:bodyPr/>
                    <a:lstStyle/>
                    <a:p>
                      <a:r>
                        <a:rPr sz="788">
                          <a:solidFill>
                            <a:srgbClr val="F4F8FC"/>
                          </a:solidFill>
                          <a:latin typeface="Arial"/>
                          <a:ea typeface="Arial"/>
                          <a:cs typeface="Arial"/>
                        </a:rPr>
                        <a:t>0.70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0.98548</a:t>
                      </a:r>
                    </a:p>
                  </a:txBody>
                  <a:tcPr marL="57150" marR="57150" marT="28575" marB="28575" anchor="ctr">
                    <a:solidFill>
                      <a:srgbClr val="0B2033"/>
                    </a:solidFill>
                  </a:tcPr>
                </a:tc>
                <a:tc>
                  <a:txBody>
                    <a:bodyPr/>
                    <a:lstStyle/>
                    <a:p>
                      <a:r>
                        <a:rPr sz="788">
                          <a:solidFill>
                            <a:srgbClr val="F4F8FC"/>
                          </a:solidFill>
                          <a:latin typeface="Arial"/>
                          <a:ea typeface="Arial"/>
                          <a:cs typeface="Arial"/>
                        </a:rPr>
                        <a:t>0.00019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0.98543</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 0.98543)</a:t>
                      </a:r>
                    </a:p>
                  </a:txBody>
                  <a:tcPr marL="57150" marR="57150" marT="28575" marB="28575" anchor="ctr">
                    <a:solidFill>
                      <a:srgbClr val="0B2033"/>
                    </a:solidFill>
                  </a:tcPr>
                </a:tc>
              </a:tr>
              <a:tr h="442913">
                <a:tc>
                  <a:txBody>
                    <a:bodyPr/>
                    <a:lstStyle/>
                    <a:p>
                      <a:r>
                        <a:rPr sz="788">
                          <a:solidFill>
                            <a:srgbClr val="F4F8FC"/>
                          </a:solidFill>
                          <a:latin typeface="Arial"/>
                          <a:ea typeface="Arial"/>
                          <a:cs typeface="Arial"/>
                        </a:rPr>
                        <a:t>17</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4 sign</a:t>
                      </a:r>
                    </a:p>
                  </a:txBody>
                  <a:tcPr marL="57150" marR="57150" marT="28575" marB="28575" anchor="ctr">
                    <a:solidFill>
                      <a:srgbClr val="0B2033"/>
                    </a:solidFill>
                  </a:tcPr>
                </a:tc>
                <a:tc>
                  <a:txBody>
                    <a:bodyPr/>
                    <a:lstStyle/>
                    <a:p>
                      <a:r>
                        <a:rPr sz="788">
                          <a:solidFill>
                            <a:srgbClr val="F4F8FC"/>
                          </a:solidFill>
                          <a:latin typeface="Arial"/>
                          <a:ea typeface="Arial"/>
                          <a:cs typeface="Arial"/>
                        </a:rPr>
                        <a:t>1</a:t>
                      </a:r>
                    </a:p>
                  </a:txBody>
                  <a:tcPr marL="57150" marR="57150" marT="28575" marB="28575" anchor="ctr">
                    <a:solidFill>
                      <a:srgbClr val="0B2033"/>
                    </a:solidFill>
                  </a:tcPr>
                </a:tc>
                <a:tc>
                  <a:txBody>
                    <a:bodyPr/>
                    <a:lstStyle/>
                    <a:p>
                      <a:r>
                        <a:rPr sz="788">
                          <a:solidFill>
                            <a:srgbClr val="F4F8FC"/>
                          </a:solidFill>
                          <a:latin typeface="Arial"/>
                          <a:ea typeface="Arial"/>
                          <a:cs typeface="Arial"/>
                        </a:rPr>
                        <a:t>0.50</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0.98529</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0.98543</a:t>
                      </a:r>
                    </a:p>
                  </a:txBody>
                  <a:tcPr marL="57150" marR="57150" marT="28575" marB="28575" anchor="ctr">
                    <a:solidFill>
                      <a:srgbClr val="0B2033"/>
                    </a:solidFill>
                  </a:tcPr>
                </a:tc>
                <a:tc>
                  <a:txBody>
                    <a:bodyPr/>
                    <a:lstStyle/>
                    <a:p>
                      <a:r>
                        <a:rPr sz="788">
                          <a:solidFill>
                            <a:srgbClr val="F4F8FC"/>
                          </a:solidFill>
                          <a:latin typeface="Arial"/>
                          <a:ea typeface="Arial"/>
                          <a:cs typeface="Arial"/>
                        </a:rPr>
                        <a:t>0.00014</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0.98536</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[0.98536, 0.98543)</a:t>
                      </a:r>
                    </a:p>
                  </a:txBody>
                  <a:tcPr marL="57150" marR="57150" marT="28575" marB="28575" anchor="ctr">
                    <a:solidFill>
                      <a:srgbClr val="0B2033"/>
                    </a:solidFill>
                  </a:tcPr>
                </a:tc>
              </a:tr>
              <a:tr h="442913">
                <a:tc>
                  <a:txBody>
                    <a:bodyPr/>
                    <a:lstStyle/>
                    <a:p>
                      <a:r>
                        <a:rPr sz="788">
                          <a:solidFill>
                            <a:srgbClr val="F4F8FC"/>
                          </a:solidFill>
                          <a:latin typeface="Arial"/>
                          <a:ea typeface="Arial"/>
                          <a:cs typeface="Arial"/>
                        </a:rPr>
                        <a:t>18</a:t>
                      </a:r>
                    </a:p>
                  </a:txBody>
                  <a:tcPr marL="57150" marR="57150" marT="28575" marB="28575" anchor="ctr">
                    <a:solidFill>
                      <a:srgbClr val="0B2033"/>
                    </a:solidFill>
                  </a:tcPr>
                </a:tc>
                <a:tc>
                  <a:txBody>
                    <a:bodyPr/>
                    <a:lstStyle/>
                    <a:p>
                      <a:r>
                        <a:rPr sz="788">
                          <a:solidFill>
                            <a:srgbClr val="F4F8FC"/>
                          </a:solidFill>
                          <a:latin typeface="Arial"/>
                          <a:ea typeface="Arial"/>
                          <a:cs typeface="Arial"/>
                        </a:rPr>
                        <a:t>position 5 magnitude &gt; 1</a:t>
                      </a:r>
                    </a:p>
                  </a:txBody>
                  <a:tcPr marL="57150" marR="57150" marT="28575" marB="28575" anchor="ctr">
                    <a:solidFill>
                      <a:srgbClr val="0B2033"/>
                    </a:solidFill>
                  </a:tcPr>
                </a:tc>
                <a:tc>
                  <a:txBody>
                    <a:bodyPr/>
                    <a:lstStyle/>
                    <a:p>
                      <a:r>
                        <a:rPr sz="788">
                          <a:solidFill>
                            <a:srgbClr val="F4F8FC"/>
                          </a:solidFill>
                          <a:latin typeface="Arial"/>
                          <a:ea typeface="Arial"/>
                          <a:cs typeface="Arial"/>
                        </a:rPr>
                        <a:t>0</a:t>
                      </a:r>
                    </a:p>
                  </a:txBody>
                  <a:tcPr marL="57150" marR="57150" marT="28575" marB="28575" anchor="ctr">
                    <a:solidFill>
                      <a:srgbClr val="0B2033"/>
                    </a:solidFill>
                  </a:tcPr>
                </a:tc>
                <a:tc>
                  <a:txBody>
                    <a:bodyPr/>
                    <a:lstStyle/>
                    <a:p>
                      <a:r>
                        <a:rPr sz="788">
                          <a:solidFill>
                            <a:srgbClr val="F4F8FC"/>
                          </a:solidFill>
                          <a:latin typeface="Arial"/>
                          <a:ea typeface="Arial"/>
                          <a:cs typeface="Arial"/>
                        </a:rPr>
                        <a:t>0.75</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0.98536</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0.98543</a:t>
                      </a:r>
                    </a:p>
                  </a:txBody>
                  <a:tcPr marL="57150" marR="57150" marT="28575" marB="28575" anchor="ctr">
                    <a:solidFill>
                      <a:srgbClr val="0B2033"/>
                    </a:solidFill>
                  </a:tcPr>
                </a:tc>
                <a:tc>
                  <a:txBody>
                    <a:bodyPr/>
                    <a:lstStyle/>
                    <a:p>
                      <a:r>
                        <a:rPr sz="788">
                          <a:solidFill>
                            <a:srgbClr val="F4F8FC"/>
                          </a:solidFill>
                          <a:latin typeface="Arial"/>
                          <a:ea typeface="Arial"/>
                          <a:cs typeface="Arial"/>
                        </a:rPr>
                        <a:t>0.00007</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0.98541</a:t>
                      </a:r>
                    </a:p>
                  </a:txBody>
                  <a:tcPr marL="57150" marR="57150" marT="28575" marB="28575" anchor="ctr">
                    <a:solidFill>
                      <a:srgbClr val="0B2033"/>
                    </a:solidFill>
                  </a:tcPr>
                </a:tc>
                <a:tc>
                  <a:txBody>
                    <a:bodyPr/>
                    <a:lstStyle/>
                    <a:p>
                      <a:r>
                        <a:rPr sz="788">
                          <a:solidFill>
                            <a:srgbClr val="F4F8FC"/>
                          </a:solidFill>
                          <a:latin typeface="Arial"/>
                          <a:ea typeface="Arial"/>
                          <a:cs typeface="Arial"/>
                        </a:rPr>
                        <a:t>[0.98536, 0.98541)</a:t>
                      </a:r>
                    </a:p>
                  </a:txBody>
                  <a:tcPr marL="57150" marR="57150" marT="28575" marB="28575" anchor="ctr">
                    <a:solidFill>
                      <a:srgbClr val="0B2033"/>
                    </a:solidFill>
                  </a:tcPr>
                </a:tc>
              </a:tr>
              <a:tr h="442913">
                <a:tc>
                  <a:txBody>
                    <a:bodyPr/>
                    <a:lstStyle/>
                    <a:p>
                      <a:r>
                        <a:rPr sz="788" b="1">
                          <a:solidFill>
                            <a:srgbClr val="FFB84D"/>
                          </a:solidFill>
                          <a:latin typeface="Arial"/>
                          <a:ea typeface="Arial"/>
                          <a:cs typeface="Arial"/>
                        </a:rPr>
                        <a:t>19</a:t>
                      </a:r>
                    </a:p>
                  </a:txBody>
                  <a:tcPr marL="57150" marR="57150" marT="28575" marB="28575" anchor="ctr">
                    <a:solidFill>
                      <a:srgbClr val="1B3238"/>
                    </a:solidFill>
                  </a:tcPr>
                </a:tc>
                <a:tc>
                  <a:txBody>
                    <a:bodyPr/>
                    <a:lstStyle/>
                    <a:p>
                      <a:r>
                        <a:rPr sz="788" b="1">
                          <a:solidFill>
                            <a:srgbClr val="FFB84D"/>
                          </a:solidFill>
                          <a:latin typeface="Arial"/>
                          <a:ea typeface="Arial"/>
                          <a:cs typeface="Arial"/>
                        </a:rPr>
                        <a:t>position 5 sign</a:t>
                      </a:r>
                    </a:p>
                  </a:txBody>
                  <a:tcPr marL="57150" marR="57150" marT="28575" marB="28575" anchor="ctr">
                    <a:solidFill>
                      <a:srgbClr val="1B3238"/>
                    </a:solidFill>
                  </a:tcPr>
                </a:tc>
                <a:tc>
                  <a:txBody>
                    <a:bodyPr/>
                    <a:lstStyle/>
                    <a:p>
                      <a:r>
                        <a:rPr sz="788" b="1">
                          <a:solidFill>
                            <a:srgbClr val="FFB84D"/>
                          </a:solidFill>
                          <a:latin typeface="Arial"/>
                          <a:ea typeface="Arial"/>
                          <a:cs typeface="Arial"/>
                        </a:rPr>
                        <a:t>0</a:t>
                      </a:r>
                    </a:p>
                  </a:txBody>
                  <a:tcPr marL="57150" marR="57150" marT="28575" marB="28575" anchor="ctr">
                    <a:solidFill>
                      <a:srgbClr val="1B3238"/>
                    </a:solidFill>
                  </a:tcPr>
                </a:tc>
                <a:tc>
                  <a:txBody>
                    <a:bodyPr/>
                    <a:lstStyle/>
                    <a:p>
                      <a:r>
                        <a:rPr sz="788" b="1">
                          <a:solidFill>
                            <a:srgbClr val="FFB84D"/>
                          </a:solidFill>
                          <a:latin typeface="Arial"/>
                          <a:ea typeface="Arial"/>
                          <a:cs typeface="Arial"/>
                        </a:rPr>
                        <a:t>0.50</a:t>
                      </a:r>
                    </a:p>
                  </a:txBody>
                  <a:tcPr marL="57150" marR="57150" marT="28575" marB="28575" anchor="ctr">
                    <a:solidFill>
                      <a:srgbClr val="1B3238"/>
                    </a:solidFill>
                  </a:tcPr>
                </a:tc>
                <a:tc>
                  <a:txBody>
                    <a:bodyPr/>
                    <a:lstStyle/>
                    <a:p>
                      <a:r>
                        <a:rPr sz="788" b="1">
                          <a:solidFill>
                            <a:srgbClr val="FFB84D"/>
                          </a:solidFill>
                          <a:latin typeface="Arial"/>
                          <a:ea typeface="Arial"/>
                          <a:cs typeface="Arial"/>
                        </a:rPr>
                        <a:t>0.98536</a:t>
                      </a:r>
                    </a:p>
                  </a:txBody>
                  <a:tcPr marL="57150" marR="57150" marT="28575" marB="28575" anchor="ctr">
                    <a:solidFill>
                      <a:srgbClr val="1B3238"/>
                    </a:solidFill>
                  </a:tcPr>
                </a:tc>
                <a:tc>
                  <a:txBody>
                    <a:bodyPr/>
                    <a:lstStyle/>
                    <a:p>
                      <a:r>
                        <a:rPr sz="788" b="1">
                          <a:solidFill>
                            <a:srgbClr val="FFB84D"/>
                          </a:solidFill>
                          <a:latin typeface="Arial"/>
                          <a:ea typeface="Arial"/>
                          <a:cs typeface="Arial"/>
                        </a:rPr>
                        <a:t>0.98541</a:t>
                      </a:r>
                    </a:p>
                  </a:txBody>
                  <a:tcPr marL="57150" marR="57150" marT="28575" marB="28575" anchor="ctr">
                    <a:solidFill>
                      <a:srgbClr val="1B3238"/>
                    </a:solidFill>
                  </a:tcPr>
                </a:tc>
                <a:tc>
                  <a:txBody>
                    <a:bodyPr/>
                    <a:lstStyle/>
                    <a:p>
                      <a:r>
                        <a:rPr sz="788" b="1">
                          <a:solidFill>
                            <a:srgbClr val="FFB84D"/>
                          </a:solidFill>
                          <a:latin typeface="Arial"/>
                          <a:ea typeface="Arial"/>
                          <a:cs typeface="Arial"/>
                        </a:rPr>
                        <a:t>0.00005</a:t>
                      </a:r>
                    </a:p>
                  </a:txBody>
                  <a:tcPr marL="57150" marR="57150" marT="28575" marB="28575" anchor="ctr">
                    <a:solidFill>
                      <a:srgbClr val="1B3238"/>
                    </a:solidFill>
                  </a:tcPr>
                </a:tc>
                <a:tc>
                  <a:txBody>
                    <a:bodyPr/>
                    <a:lstStyle/>
                    <a:p>
                      <a:r>
                        <a:rPr sz="788" b="1">
                          <a:solidFill>
                            <a:srgbClr val="FFB84D"/>
                          </a:solidFill>
                          <a:latin typeface="Arial"/>
                          <a:ea typeface="Arial"/>
                          <a:cs typeface="Arial"/>
                        </a:rPr>
                        <a:t>0.98538</a:t>
                      </a:r>
                    </a:p>
                  </a:txBody>
                  <a:tcPr marL="57150" marR="57150" marT="28575" marB="28575" anchor="ctr">
                    <a:solidFill>
                      <a:srgbClr val="1B3238"/>
                    </a:solidFill>
                  </a:tcPr>
                </a:tc>
                <a:tc>
                  <a:txBody>
                    <a:bodyPr/>
                    <a:lstStyle/>
                    <a:p>
                      <a:r>
                        <a:rPr sz="788" b="1">
                          <a:solidFill>
                            <a:srgbClr val="FFB84D"/>
                          </a:solidFill>
                          <a:latin typeface="Arial"/>
                          <a:ea typeface="Arial"/>
                          <a:cs typeface="Arial"/>
                        </a:rPr>
                        <a:t>[0.98536, 0.98538)</a:t>
                      </a:r>
                    </a:p>
                  </a:txBody>
                  <a:tcPr marL="57150" marR="57150" marT="28575" marB="28575" anchor="ctr">
                    <a:solidFill>
                      <a:srgbClr val="1B3238"/>
                    </a:solidFill>
                  </a:tcPr>
                </a:tc>
              </a:tr>
            </a:tbl>
          </a:graphicData>
        </a:graphic>
      </p:graphicFrame>
      <p:sp>
        <p:nvSpPr>
          <p:cNvPr id="9" name="">
            <a:extLst xmlns:a="http://schemas.openxmlformats.org/drawingml/2006/main">
              <a:ext uri="{FF2B5EF4-FFF2-40B4-BE49-F238E27FC236}">
                <a16:creationId xmlns:a16="http://schemas.microsoft.com/office/drawing/2014/main" id="{30EDEFEE-7FA5-4935-9F38-E6C6D905FC2F}"/>
              </a:ext>
            </a:extLst>
          </p:cNvPr>
          <p:cNvSpPr>
            <a:spLocks xmlns:a="http://schemas.openxmlformats.org/drawingml/2006/main" noGrp="1"/>
          </p:cNvSpPr>
          <p:nvPr/>
        </p:nvSpPr>
        <p:spPr>
          <a:xfrm xmlns:a="http://schemas.openxmlformats.org/drawingml/2006/main">
            <a:off x="2381250" y="6000750"/>
            <a:ext cx="7429500" cy="419100"/>
          </a:xfrm>
          <a:prstGeom xmlns:a="http://schemas.openxmlformats.org/drawingml/2006/main" prst="roundRect">
            <a:avLst>
              <a:gd name="adj" fmla="val 27273"/>
            </a:avLst>
          </a:prstGeom>
          <a:solidFill xmlns:a="http://schemas.openxmlformats.org/drawingml/2006/main">
            <a:srgbClr val="0A2830"/>
          </a:solidFill>
          <a:ln xmlns:a="http://schemas.openxmlformats.org/drawingml/2006/main" w="19050">
            <a:solidFill>
              <a:srgbClr val="47E6A4"/>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defRPr sz="1275" b="1">
                <a:solidFill>
                  <a:srgbClr val="F4F8FC"/>
                </a:solidFill>
                <a:latin typeface="Arial"/>
                <a:ea typeface="Arial"/>
                <a:cs typeface="Arial"/>
              </a:defRPr>
            </a:pPr>
            <a:r>
              <a:rPr sz="1275" b="1">
                <a:solidFill>
                  <a:srgbClr val="F4F8FC"/>
                </a:solidFill>
                <a:latin typeface="Arial"/>
                <a:ea typeface="Arial"/>
                <a:cs typeface="Arial"/>
              </a:rPr>
              <a:t>Interval after bin 19: [0.98536, 0.98538)</a:t>
            </a:r>
          </a:p>
        </p:txBody>
      </p:sp>
    </p:spTree>
    <p:extLst>
      <p:ext uri="{BB962C8B-B14F-4D97-AF65-F5344CB8AC3E}">
        <p14:creationId xmlns:p14="http://schemas.microsoft.com/office/powerpoint/2010/main" val="2111560153"/>
      </p:ext>
    </p:extLst>
  </p:cSld>
</p:sld>
</file>

<file path=ppt/slides/slide22.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5F2E4E-25C2-4366-9AAC-526763A086FE}"/>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08A515-4260-42BD-9BFD-72D67A0F1D8F}"/>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C4895E-5A74-4396-A789-9FB069BDAC4D}"/>
              </a:ext>
            </a:extLst>
          </p:cNvPr>
          <p:cNvSpPr>
            <a:spLocks xmlns:a="http://schemas.openxmlformats.org/drawingml/2006/main" noGrp="1"/>
          </p:cNvSpPr>
          <p:nvPr/>
        </p:nvSpPr>
        <p:spPr>
          <a:xfrm xmlns:a="http://schemas.openxmlformats.org/drawingml/2006/main">
            <a:off x="476250" y="23812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2550" b="1">
                <a:solidFill>
                  <a:srgbClr val="F4F8FC"/>
                </a:solidFill>
                <a:latin typeface="Arial"/>
                <a:ea typeface="Arial"/>
                <a:cs typeface="Arial"/>
              </a:defRPr>
            </a:pPr>
            <a:r>
              <a:rPr sz="2550" b="1">
                <a:solidFill>
                  <a:srgbClr val="F4F8FC"/>
                </a:solidFill>
                <a:latin typeface="Arial"/>
                <a:ea typeface="Arial"/>
                <a:cs typeface="Arial"/>
              </a:rPr>
              <a:t>Binary-tag search: bisection steps 1 to 8</a:t>
            </a:r>
          </a:p>
        </p:txBody>
      </p:sp>
      <p:sp>
        <p:nvSpPr>
          <p:cNvPr id="4" name="">
            <a:extLst xmlns:a="http://schemas.openxmlformats.org/drawingml/2006/main">
              <a:ext uri="{FF2B5EF4-FFF2-40B4-BE49-F238E27FC236}">
                <a16:creationId xmlns:a16="http://schemas.microsoft.com/office/drawing/2014/main" id="{2CD85C01-80B1-4BA4-A83A-ED2881AF7FDC}"/>
              </a:ext>
            </a:extLst>
          </p:cNvPr>
          <p:cNvSpPr>
            <a:spLocks xmlns:a="http://schemas.openxmlformats.org/drawingml/2006/main" noGrp="1"/>
          </p:cNvSpPr>
          <p:nvPr/>
        </p:nvSpPr>
        <p:spPr>
          <a:xfrm xmlns:a="http://schemas.openxmlformats.org/drawingml/2006/main">
            <a:off x="400050" y="904875"/>
            <a:ext cx="11391900" cy="19050"/>
          </a:xfrm>
          <a:prstGeom xmlns:a="http://schemas.openxmlformats.org/drawingml/2006/main" prst="rect">
            <a:avLst/>
          </a:prstGeom>
          <a:solidFill xmlns:a="http://schemas.openxmlformats.org/drawingml/2006/main">
            <a:srgbClr val="2A587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BCD728-E870-42DB-9F0E-3CC955EE6A04}"/>
              </a:ext>
            </a:extLst>
          </p:cNvPr>
          <p:cNvSpPr>
            <a:spLocks xmlns:a="http://schemas.openxmlformats.org/drawingml/2006/main" noGrp="1"/>
          </p:cNvSpPr>
          <p:nvPr/>
        </p:nvSpPr>
        <p:spPr>
          <a:xfrm xmlns:a="http://schemas.openxmlformats.org/drawingml/2006/main">
            <a:off x="476250" y="990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1200" b="0">
                <a:solidFill>
                  <a:srgbClr val="AFC0D0"/>
                </a:solidFill>
                <a:latin typeface="Arial"/>
                <a:ea typeface="Arial"/>
                <a:cs typeface="Arial"/>
              </a:defRPr>
            </a:pPr>
            <a:r>
              <a:rPr sz="1200" b="0">
                <a:solidFill>
                  <a:srgbClr val="AFC0D0"/>
                </a:solidFill>
                <a:latin typeface="Arial"/>
                <a:ea typeface="Arial"/>
                <a:cs typeface="Arial"/>
              </a:rPr>
              <a:t>Target interval: [0.98536, 0.98538). Repeatedly bisect the candidate range.</a:t>
            </a:r>
          </a:p>
        </p:txBody>
      </p:sp>
      <p:sp>
        <p:nvSpPr>
          <p:cNvPr id="6" name="">
            <a:extLst xmlns:a="http://schemas.openxmlformats.org/drawingml/2006/main">
              <a:ext uri="{FF2B5EF4-FFF2-40B4-BE49-F238E27FC236}">
                <a16:creationId xmlns:a16="http://schemas.microsoft.com/office/drawing/2014/main" id="{01D070A6-8F1A-40E6-B8C1-9A86AAF21D68}"/>
              </a:ext>
            </a:extLst>
          </p:cNvPr>
          <p:cNvSpPr>
            <a:spLocks xmlns:a="http://schemas.openxmlformats.org/drawingml/2006/main" noGrp="1"/>
          </p:cNvSpPr>
          <p:nvPr/>
        </p:nvSpPr>
        <p:spPr>
          <a:xfrm xmlns:a="http://schemas.openxmlformats.org/drawingml/2006/main">
            <a:off x="1285875" y="64579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600" b="0">
                <a:solidFill>
                  <a:srgbClr val="AFC0D0"/>
                </a:solidFill>
                <a:latin typeface="Arial"/>
                <a:ea typeface="Arial"/>
                <a:cs typeface="Arial"/>
              </a:defRPr>
            </a:pPr>
            <a:r>
              <a:rPr sz="600" b="0">
                <a:solidFill>
                  <a:srgbClr val="AFC0D0"/>
                </a:solidFill>
                <a:latin typeface="Arial"/>
                <a:ea typeface="Arial"/>
                <a:cs typeface="Arial"/>
              </a:rPr>
              <a:t>Sources and evidence: speaker notes</a:t>
            </a:r>
          </a:p>
        </p:txBody>
      </p:sp>
      <p:sp>
        <p:nvSpPr>
          <p:cNvPr id="7" name="">
            <a:extLst xmlns:a="http://schemas.openxmlformats.org/drawingml/2006/main">
              <a:ext uri="{FF2B5EF4-FFF2-40B4-BE49-F238E27FC236}">
                <a16:creationId xmlns:a16="http://schemas.microsoft.com/office/drawing/2014/main" id="{7973FE57-B4FC-436C-AD20-1426CEB1D9F5}"/>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r">
              <a:defRPr sz="975" b="1">
                <a:solidFill>
                  <a:srgbClr val="22D3EE"/>
                </a:solidFill>
                <a:latin typeface="Arial"/>
                <a:ea typeface="Arial"/>
                <a:cs typeface="Arial"/>
              </a:defRPr>
            </a:pPr>
            <a:r>
              <a:rPr sz="975" b="1">
                <a:solidFill>
                  <a:srgbClr val="22D3EE"/>
                </a:solidFill>
                <a:latin typeface="Arial"/>
                <a:ea typeface="Arial"/>
                <a:cs typeface="Arial"/>
              </a:rPr>
              <a:t>22 / 49</a:t>
            </a:r>
          </a:p>
        </p:txBody>
      </p:sp>
      <p:graphicFrame>
        <p:nvGraphicFramePr>
          <p:cNvPr id="17" name=""/>
          <p:cNvGraphicFramePr/>
          <p:nvPr/>
        </p:nvGraphicFramePr>
        <p:xfrm>
          <a:off xmlns:a="http://schemas.openxmlformats.org/drawingml/2006/main" x="523875" y="1476375"/>
          <a:ext xmlns:a="http://schemas.openxmlformats.org/drawingml/2006/main" cx="11144250" cy="4095750"/>
        </p:xfrm>
        <a:graphic xmlns:a="http://schemas.openxmlformats.org/drawingml/2006/main">
          <a:graphicData uri="http://schemas.openxmlformats.org/drawingml/2006/table">
            <a:tbl>
              <a:tblPr/>
              <a:tblGrid>
                <a:gridCol w="666750"/>
                <a:gridCol w="2524125"/>
                <a:gridCol w="1905000"/>
                <a:gridCol w="1809750"/>
                <a:gridCol w="857250"/>
                <a:gridCol w="3381375"/>
              </a:tblGrid>
              <a:tr h="455083">
                <a:tc>
                  <a:txBody>
                    <a:bodyPr/>
                    <a:lstStyle/>
                    <a:p>
                      <a:r>
                        <a:rPr sz="1050" b="1">
                          <a:solidFill>
                            <a:srgbClr val="22D3EE"/>
                          </a:solidFill>
                          <a:latin typeface="Arial"/>
                          <a:ea typeface="Arial"/>
                          <a:cs typeface="Arial"/>
                        </a:rPr>
                        <a:t>Step</a:t>
                      </a:r>
                    </a:p>
                  </a:txBody>
                  <a:tcPr marL="57150" marR="57150" marT="28575" marB="28575" anchor="ctr">
                    <a:solidFill>
                      <a:srgbClr val="12314A"/>
                    </a:solidFill>
                  </a:tcPr>
                </a:tc>
                <a:tc>
                  <a:txBody>
                    <a:bodyPr/>
                    <a:lstStyle/>
                    <a:p>
                      <a:r>
                        <a:rPr sz="1050" b="1">
                          <a:solidFill>
                            <a:srgbClr val="22D3EE"/>
                          </a:solidFill>
                          <a:latin typeface="Arial"/>
                          <a:ea typeface="Arial"/>
                          <a:cs typeface="Arial"/>
                        </a:rPr>
                        <a:t>Candidate range</a:t>
                      </a:r>
                    </a:p>
                  </a:txBody>
                  <a:tcPr marL="57150" marR="57150" marT="28575" marB="28575" anchor="ctr">
                    <a:solidFill>
                      <a:srgbClr val="12314A"/>
                    </a:solidFill>
                  </a:tcPr>
                </a:tc>
                <a:tc>
                  <a:txBody>
                    <a:bodyPr/>
                    <a:lstStyle/>
                    <a:p>
                      <a:r>
                        <a:rPr sz="1050" b="1">
                          <a:solidFill>
                            <a:srgbClr val="22D3EE"/>
                          </a:solidFill>
                          <a:latin typeface="Arial"/>
                          <a:ea typeface="Arial"/>
                          <a:cs typeface="Arial"/>
                        </a:rPr>
                        <a:t>Midpoint</a:t>
                      </a:r>
                    </a:p>
                  </a:txBody>
                  <a:tcPr marL="57150" marR="57150" marT="28575" marB="28575" anchor="ctr">
                    <a:solidFill>
                      <a:srgbClr val="12314A"/>
                    </a:solidFill>
                  </a:tcPr>
                </a:tc>
                <a:tc>
                  <a:txBody>
                    <a:bodyPr/>
                    <a:lstStyle/>
                    <a:p>
                      <a:r>
                        <a:rPr sz="1050" b="1">
                          <a:solidFill>
                            <a:srgbClr val="22D3EE"/>
                          </a:solidFill>
                          <a:latin typeface="Arial"/>
                          <a:ea typeface="Arial"/>
                          <a:cs typeface="Arial"/>
                        </a:rPr>
                        <a:t>Target location</a:t>
                      </a:r>
                    </a:p>
                  </a:txBody>
                  <a:tcPr marL="57150" marR="57150" marT="28575" marB="28575" anchor="ctr">
                    <a:solidFill>
                      <a:srgbClr val="12314A"/>
                    </a:solidFill>
                  </a:tcPr>
                </a:tc>
                <a:tc>
                  <a:txBody>
                    <a:bodyPr/>
                    <a:lstStyle/>
                    <a:p>
                      <a:r>
                        <a:rPr sz="1050" b="1">
                          <a:solidFill>
                            <a:srgbClr val="22D3EE"/>
                          </a:solidFill>
                          <a:latin typeface="Arial"/>
                          <a:ea typeface="Arial"/>
                          <a:cs typeface="Arial"/>
                        </a:rPr>
                        <a:t>Bit</a:t>
                      </a:r>
                    </a:p>
                  </a:txBody>
                  <a:tcPr marL="57150" marR="57150" marT="28575" marB="28575" anchor="ctr">
                    <a:solidFill>
                      <a:srgbClr val="12314A"/>
                    </a:solidFill>
                  </a:tcPr>
                </a:tc>
                <a:tc>
                  <a:txBody>
                    <a:bodyPr/>
                    <a:lstStyle/>
                    <a:p>
                      <a:r>
                        <a:rPr sz="1050" b="1">
                          <a:solidFill>
                            <a:srgbClr val="22D3EE"/>
                          </a:solidFill>
                          <a:latin typeface="Arial"/>
                          <a:ea typeface="Arial"/>
                          <a:cs typeface="Arial"/>
                        </a:rPr>
                        <a:t>New candidate range</a:t>
                      </a:r>
                    </a:p>
                  </a:txBody>
                  <a:tcPr marL="57150" marR="57150" marT="28575" marB="28575" anchor="ctr">
                    <a:solidFill>
                      <a:srgbClr val="12314A"/>
                    </a:solidFill>
                  </a:tcPr>
                </a:tc>
              </a:tr>
              <a:tr h="455083">
                <a:tc>
                  <a:txBody>
                    <a:bodyPr/>
                    <a:lstStyle/>
                    <a:p>
                      <a:r>
                        <a:rPr sz="975">
                          <a:solidFill>
                            <a:srgbClr val="F4F8FC"/>
                          </a:solidFill>
                          <a:latin typeface="Arial"/>
                          <a:ea typeface="Arial"/>
                          <a:cs typeface="Arial"/>
                        </a:rPr>
                        <a:t>1</a:t>
                      </a:r>
                    </a:p>
                  </a:txBody>
                  <a:tcPr marL="57150" marR="57150" marT="28575" marB="28575" anchor="ctr">
                    <a:solidFill>
                      <a:srgbClr val="0B2033"/>
                    </a:solidFill>
                  </a:tcPr>
                </a:tc>
                <a:tc>
                  <a:txBody>
                    <a:bodyPr/>
                    <a:lstStyle/>
                    <a:p>
                      <a:r>
                        <a:rPr sz="975">
                          <a:solidFill>
                            <a:srgbClr val="F4F8FC"/>
                          </a:solidFill>
                          <a:latin typeface="Arial"/>
                          <a:ea typeface="Arial"/>
                          <a:cs typeface="Arial"/>
                        </a:rPr>
                        <a:t>[0, 1)</a:t>
                      </a:r>
                    </a:p>
                  </a:txBody>
                  <a:tcPr marL="57150" marR="57150" marT="28575" marB="28575" anchor="ctr">
                    <a:solidFill>
                      <a:srgbClr val="0B2033"/>
                    </a:solidFill>
                  </a:tcPr>
                </a:tc>
                <a:tc>
                  <a:txBody>
                    <a:bodyPr/>
                    <a:lstStyle/>
                    <a:p>
                      <a:r>
                        <a:rPr sz="975">
                          <a:solidFill>
                            <a:srgbClr val="F4F8FC"/>
                          </a:solidFill>
                          <a:latin typeface="Arial"/>
                          <a:ea typeface="Arial"/>
                          <a:cs typeface="Arial"/>
                        </a:rPr>
                        <a:t>0.5</a:t>
                      </a:r>
                    </a:p>
                  </a:txBody>
                  <a:tcPr marL="57150" marR="57150" marT="28575" marB="28575" anchor="ctr">
                    <a:solidFill>
                      <a:srgbClr val="0B2033"/>
                    </a:solidFill>
                  </a:tcPr>
                </a:tc>
                <a:tc>
                  <a:txBody>
                    <a:bodyPr/>
                    <a:lstStyle/>
                    <a:p>
                      <a:r>
                        <a:rPr sz="975">
                          <a:solidFill>
                            <a:srgbClr val="F4F8FC"/>
                          </a:solidFill>
                          <a:latin typeface="Arial"/>
                          <a:ea typeface="Arial"/>
                          <a:cs typeface="Arial"/>
                        </a:rPr>
                        <a:t>above</a:t>
                      </a:r>
                    </a:p>
                  </a:txBody>
                  <a:tcPr marL="57150" marR="57150" marT="28575" marB="28575" anchor="ctr">
                    <a:solidFill>
                      <a:srgbClr val="0B2033"/>
                    </a:solidFill>
                  </a:tcPr>
                </a:tc>
                <a:tc>
                  <a:txBody>
                    <a:bodyPr/>
                    <a:lstStyle/>
                    <a:p>
                      <a:r>
                        <a:rPr sz="975">
                          <a:solidFill>
                            <a:srgbClr val="F4F8FC"/>
                          </a:solidFill>
                          <a:latin typeface="Arial"/>
                          <a:ea typeface="Arial"/>
                          <a:cs typeface="Arial"/>
                        </a:rPr>
                        <a:t>1</a:t>
                      </a:r>
                    </a:p>
                  </a:txBody>
                  <a:tcPr marL="57150" marR="57150" marT="28575" marB="28575" anchor="ctr">
                    <a:solidFill>
                      <a:srgbClr val="0B2033"/>
                    </a:solidFill>
                  </a:tcPr>
                </a:tc>
                <a:tc>
                  <a:txBody>
                    <a:bodyPr/>
                    <a:lstStyle/>
                    <a:p>
                      <a:r>
                        <a:rPr sz="975">
                          <a:solidFill>
                            <a:srgbClr val="F4F8FC"/>
                          </a:solidFill>
                          <a:latin typeface="Arial"/>
                          <a:ea typeface="Arial"/>
                          <a:cs typeface="Arial"/>
                        </a:rPr>
                        <a:t>[0.5, 1)</a:t>
                      </a:r>
                    </a:p>
                  </a:txBody>
                  <a:tcPr marL="57150" marR="57150" marT="28575" marB="28575" anchor="ctr">
                    <a:solidFill>
                      <a:srgbClr val="0B2033"/>
                    </a:solidFill>
                  </a:tcPr>
                </a:tc>
              </a:tr>
              <a:tr h="455083">
                <a:tc>
                  <a:txBody>
                    <a:bodyPr/>
                    <a:lstStyle/>
                    <a:p>
                      <a:r>
                        <a:rPr sz="975">
                          <a:solidFill>
                            <a:srgbClr val="F4F8FC"/>
                          </a:solidFill>
                          <a:latin typeface="Arial"/>
                          <a:ea typeface="Arial"/>
                          <a:cs typeface="Arial"/>
                        </a:rPr>
                        <a:t>2</a:t>
                      </a:r>
                    </a:p>
                  </a:txBody>
                  <a:tcPr marL="57150" marR="57150" marT="28575" marB="28575" anchor="ctr">
                    <a:solidFill>
                      <a:srgbClr val="0B2033"/>
                    </a:solidFill>
                  </a:tcPr>
                </a:tc>
                <a:tc>
                  <a:txBody>
                    <a:bodyPr/>
                    <a:lstStyle/>
                    <a:p>
                      <a:r>
                        <a:rPr sz="975">
                          <a:solidFill>
                            <a:srgbClr val="F4F8FC"/>
                          </a:solidFill>
                          <a:latin typeface="Arial"/>
                          <a:ea typeface="Arial"/>
                          <a:cs typeface="Arial"/>
                        </a:rPr>
                        <a:t>[0.5, 1)</a:t>
                      </a:r>
                    </a:p>
                  </a:txBody>
                  <a:tcPr marL="57150" marR="57150" marT="28575" marB="28575" anchor="ctr">
                    <a:solidFill>
                      <a:srgbClr val="0B2033"/>
                    </a:solidFill>
                  </a:tcPr>
                </a:tc>
                <a:tc>
                  <a:txBody>
                    <a:bodyPr/>
                    <a:lstStyle/>
                    <a:p>
                      <a:r>
                        <a:rPr sz="975">
                          <a:solidFill>
                            <a:srgbClr val="F4F8FC"/>
                          </a:solidFill>
                          <a:latin typeface="Arial"/>
                          <a:ea typeface="Arial"/>
                          <a:cs typeface="Arial"/>
                        </a:rPr>
                        <a:t>0.75</a:t>
                      </a:r>
                    </a:p>
                  </a:txBody>
                  <a:tcPr marL="57150" marR="57150" marT="28575" marB="28575" anchor="ctr">
                    <a:solidFill>
                      <a:srgbClr val="0B2033"/>
                    </a:solidFill>
                  </a:tcPr>
                </a:tc>
                <a:tc>
                  <a:txBody>
                    <a:bodyPr/>
                    <a:lstStyle/>
                    <a:p>
                      <a:r>
                        <a:rPr sz="975">
                          <a:solidFill>
                            <a:srgbClr val="F4F8FC"/>
                          </a:solidFill>
                          <a:latin typeface="Arial"/>
                          <a:ea typeface="Arial"/>
                          <a:cs typeface="Arial"/>
                        </a:rPr>
                        <a:t>above</a:t>
                      </a:r>
                    </a:p>
                  </a:txBody>
                  <a:tcPr marL="57150" marR="57150" marT="28575" marB="28575" anchor="ctr">
                    <a:solidFill>
                      <a:srgbClr val="0B2033"/>
                    </a:solidFill>
                  </a:tcPr>
                </a:tc>
                <a:tc>
                  <a:txBody>
                    <a:bodyPr/>
                    <a:lstStyle/>
                    <a:p>
                      <a:r>
                        <a:rPr sz="975">
                          <a:solidFill>
                            <a:srgbClr val="F4F8FC"/>
                          </a:solidFill>
                          <a:latin typeface="Arial"/>
                          <a:ea typeface="Arial"/>
                          <a:cs typeface="Arial"/>
                        </a:rPr>
                        <a:t>1</a:t>
                      </a:r>
                    </a:p>
                  </a:txBody>
                  <a:tcPr marL="57150" marR="57150" marT="28575" marB="28575" anchor="ctr">
                    <a:solidFill>
                      <a:srgbClr val="0B2033"/>
                    </a:solidFill>
                  </a:tcPr>
                </a:tc>
                <a:tc>
                  <a:txBody>
                    <a:bodyPr/>
                    <a:lstStyle/>
                    <a:p>
                      <a:r>
                        <a:rPr sz="975">
                          <a:solidFill>
                            <a:srgbClr val="F4F8FC"/>
                          </a:solidFill>
                          <a:latin typeface="Arial"/>
                          <a:ea typeface="Arial"/>
                          <a:cs typeface="Arial"/>
                        </a:rPr>
                        <a:t>[0.75, 1)</a:t>
                      </a:r>
                    </a:p>
                  </a:txBody>
                  <a:tcPr marL="57150" marR="57150" marT="28575" marB="28575" anchor="ctr">
                    <a:solidFill>
                      <a:srgbClr val="0B2033"/>
                    </a:solidFill>
                  </a:tcPr>
                </a:tc>
              </a:tr>
              <a:tr h="455083">
                <a:tc>
                  <a:txBody>
                    <a:bodyPr/>
                    <a:lstStyle/>
                    <a:p>
                      <a:r>
                        <a:rPr sz="975">
                          <a:solidFill>
                            <a:srgbClr val="F4F8FC"/>
                          </a:solidFill>
                          <a:latin typeface="Arial"/>
                          <a:ea typeface="Arial"/>
                          <a:cs typeface="Arial"/>
                        </a:rPr>
                        <a:t>3</a:t>
                      </a:r>
                    </a:p>
                  </a:txBody>
                  <a:tcPr marL="57150" marR="57150" marT="28575" marB="28575" anchor="ctr">
                    <a:solidFill>
                      <a:srgbClr val="0B2033"/>
                    </a:solidFill>
                  </a:tcPr>
                </a:tc>
                <a:tc>
                  <a:txBody>
                    <a:bodyPr/>
                    <a:lstStyle/>
                    <a:p>
                      <a:r>
                        <a:rPr sz="975">
                          <a:solidFill>
                            <a:srgbClr val="F4F8FC"/>
                          </a:solidFill>
                          <a:latin typeface="Arial"/>
                          <a:ea typeface="Arial"/>
                          <a:cs typeface="Arial"/>
                        </a:rPr>
                        <a:t>[0.75, 1)</a:t>
                      </a:r>
                    </a:p>
                  </a:txBody>
                  <a:tcPr marL="57150" marR="57150" marT="28575" marB="28575" anchor="ctr">
                    <a:solidFill>
                      <a:srgbClr val="0B2033"/>
                    </a:solidFill>
                  </a:tcPr>
                </a:tc>
                <a:tc>
                  <a:txBody>
                    <a:bodyPr/>
                    <a:lstStyle/>
                    <a:p>
                      <a:r>
                        <a:rPr sz="975">
                          <a:solidFill>
                            <a:srgbClr val="F4F8FC"/>
                          </a:solidFill>
                          <a:latin typeface="Arial"/>
                          <a:ea typeface="Arial"/>
                          <a:cs typeface="Arial"/>
                        </a:rPr>
                        <a:t>0.875</a:t>
                      </a:r>
                    </a:p>
                  </a:txBody>
                  <a:tcPr marL="57150" marR="57150" marT="28575" marB="28575" anchor="ctr">
                    <a:solidFill>
                      <a:srgbClr val="0B2033"/>
                    </a:solidFill>
                  </a:tcPr>
                </a:tc>
                <a:tc>
                  <a:txBody>
                    <a:bodyPr/>
                    <a:lstStyle/>
                    <a:p>
                      <a:r>
                        <a:rPr sz="975">
                          <a:solidFill>
                            <a:srgbClr val="F4F8FC"/>
                          </a:solidFill>
                          <a:latin typeface="Arial"/>
                          <a:ea typeface="Arial"/>
                          <a:cs typeface="Arial"/>
                        </a:rPr>
                        <a:t>above</a:t>
                      </a:r>
                    </a:p>
                  </a:txBody>
                  <a:tcPr marL="57150" marR="57150" marT="28575" marB="28575" anchor="ctr">
                    <a:solidFill>
                      <a:srgbClr val="0B2033"/>
                    </a:solidFill>
                  </a:tcPr>
                </a:tc>
                <a:tc>
                  <a:txBody>
                    <a:bodyPr/>
                    <a:lstStyle/>
                    <a:p>
                      <a:r>
                        <a:rPr sz="975">
                          <a:solidFill>
                            <a:srgbClr val="F4F8FC"/>
                          </a:solidFill>
                          <a:latin typeface="Arial"/>
                          <a:ea typeface="Arial"/>
                          <a:cs typeface="Arial"/>
                        </a:rPr>
                        <a:t>1</a:t>
                      </a:r>
                    </a:p>
                  </a:txBody>
                  <a:tcPr marL="57150" marR="57150" marT="28575" marB="28575" anchor="ctr">
                    <a:solidFill>
                      <a:srgbClr val="0B2033"/>
                    </a:solidFill>
                  </a:tcPr>
                </a:tc>
                <a:tc>
                  <a:txBody>
                    <a:bodyPr/>
                    <a:lstStyle/>
                    <a:p>
                      <a:r>
                        <a:rPr sz="975">
                          <a:solidFill>
                            <a:srgbClr val="F4F8FC"/>
                          </a:solidFill>
                          <a:latin typeface="Arial"/>
                          <a:ea typeface="Arial"/>
                          <a:cs typeface="Arial"/>
                        </a:rPr>
                        <a:t>[0.875, 1)</a:t>
                      </a:r>
                    </a:p>
                  </a:txBody>
                  <a:tcPr marL="57150" marR="57150" marT="28575" marB="28575" anchor="ctr">
                    <a:solidFill>
                      <a:srgbClr val="0B2033"/>
                    </a:solidFill>
                  </a:tcPr>
                </a:tc>
              </a:tr>
              <a:tr h="455083">
                <a:tc>
                  <a:txBody>
                    <a:bodyPr/>
                    <a:lstStyle/>
                    <a:p>
                      <a:r>
                        <a:rPr sz="975">
                          <a:solidFill>
                            <a:srgbClr val="F4F8FC"/>
                          </a:solidFill>
                          <a:latin typeface="Arial"/>
                          <a:ea typeface="Arial"/>
                          <a:cs typeface="Arial"/>
                        </a:rPr>
                        <a:t>4</a:t>
                      </a:r>
                    </a:p>
                  </a:txBody>
                  <a:tcPr marL="57150" marR="57150" marT="28575" marB="28575" anchor="ctr">
                    <a:solidFill>
                      <a:srgbClr val="0B2033"/>
                    </a:solidFill>
                  </a:tcPr>
                </a:tc>
                <a:tc>
                  <a:txBody>
                    <a:bodyPr/>
                    <a:lstStyle/>
                    <a:p>
                      <a:r>
                        <a:rPr sz="975">
                          <a:solidFill>
                            <a:srgbClr val="F4F8FC"/>
                          </a:solidFill>
                          <a:latin typeface="Arial"/>
                          <a:ea typeface="Arial"/>
                          <a:cs typeface="Arial"/>
                        </a:rPr>
                        <a:t>[0.875, 1)</a:t>
                      </a:r>
                    </a:p>
                  </a:txBody>
                  <a:tcPr marL="57150" marR="57150" marT="28575" marB="28575" anchor="ctr">
                    <a:solidFill>
                      <a:srgbClr val="0B2033"/>
                    </a:solidFill>
                  </a:tcPr>
                </a:tc>
                <a:tc>
                  <a:txBody>
                    <a:bodyPr/>
                    <a:lstStyle/>
                    <a:p>
                      <a:r>
                        <a:rPr sz="975">
                          <a:solidFill>
                            <a:srgbClr val="F4F8FC"/>
                          </a:solidFill>
                          <a:latin typeface="Arial"/>
                          <a:ea typeface="Arial"/>
                          <a:cs typeface="Arial"/>
                        </a:rPr>
                        <a:t>0.9375</a:t>
                      </a:r>
                    </a:p>
                  </a:txBody>
                  <a:tcPr marL="57150" marR="57150" marT="28575" marB="28575" anchor="ctr">
                    <a:solidFill>
                      <a:srgbClr val="0B2033"/>
                    </a:solidFill>
                  </a:tcPr>
                </a:tc>
                <a:tc>
                  <a:txBody>
                    <a:bodyPr/>
                    <a:lstStyle/>
                    <a:p>
                      <a:r>
                        <a:rPr sz="975">
                          <a:solidFill>
                            <a:srgbClr val="F4F8FC"/>
                          </a:solidFill>
                          <a:latin typeface="Arial"/>
                          <a:ea typeface="Arial"/>
                          <a:cs typeface="Arial"/>
                        </a:rPr>
                        <a:t>above</a:t>
                      </a:r>
                    </a:p>
                  </a:txBody>
                  <a:tcPr marL="57150" marR="57150" marT="28575" marB="28575" anchor="ctr">
                    <a:solidFill>
                      <a:srgbClr val="0B2033"/>
                    </a:solidFill>
                  </a:tcPr>
                </a:tc>
                <a:tc>
                  <a:txBody>
                    <a:bodyPr/>
                    <a:lstStyle/>
                    <a:p>
                      <a:r>
                        <a:rPr sz="975">
                          <a:solidFill>
                            <a:srgbClr val="F4F8FC"/>
                          </a:solidFill>
                          <a:latin typeface="Arial"/>
                          <a:ea typeface="Arial"/>
                          <a:cs typeface="Arial"/>
                        </a:rPr>
                        <a:t>1</a:t>
                      </a:r>
                    </a:p>
                  </a:txBody>
                  <a:tcPr marL="57150" marR="57150" marT="28575" marB="28575" anchor="ctr">
                    <a:solidFill>
                      <a:srgbClr val="0B2033"/>
                    </a:solidFill>
                  </a:tcPr>
                </a:tc>
                <a:tc>
                  <a:txBody>
                    <a:bodyPr/>
                    <a:lstStyle/>
                    <a:p>
                      <a:r>
                        <a:rPr sz="975">
                          <a:solidFill>
                            <a:srgbClr val="F4F8FC"/>
                          </a:solidFill>
                          <a:latin typeface="Arial"/>
                          <a:ea typeface="Arial"/>
                          <a:cs typeface="Arial"/>
                        </a:rPr>
                        <a:t>[0.9375, 1)</a:t>
                      </a:r>
                    </a:p>
                  </a:txBody>
                  <a:tcPr marL="57150" marR="57150" marT="28575" marB="28575" anchor="ctr">
                    <a:solidFill>
                      <a:srgbClr val="0B2033"/>
                    </a:solidFill>
                  </a:tcPr>
                </a:tc>
              </a:tr>
              <a:tr h="455083">
                <a:tc>
                  <a:txBody>
                    <a:bodyPr/>
                    <a:lstStyle/>
                    <a:p>
                      <a:r>
                        <a:rPr sz="975">
                          <a:solidFill>
                            <a:srgbClr val="F4F8FC"/>
                          </a:solidFill>
                          <a:latin typeface="Arial"/>
                          <a:ea typeface="Arial"/>
                          <a:cs typeface="Arial"/>
                        </a:rPr>
                        <a:t>5</a:t>
                      </a:r>
                    </a:p>
                  </a:txBody>
                  <a:tcPr marL="57150" marR="57150" marT="28575" marB="28575" anchor="ctr">
                    <a:solidFill>
                      <a:srgbClr val="0B2033"/>
                    </a:solidFill>
                  </a:tcPr>
                </a:tc>
                <a:tc>
                  <a:txBody>
                    <a:bodyPr/>
                    <a:lstStyle/>
                    <a:p>
                      <a:r>
                        <a:rPr sz="975">
                          <a:solidFill>
                            <a:srgbClr val="F4F8FC"/>
                          </a:solidFill>
                          <a:latin typeface="Arial"/>
                          <a:ea typeface="Arial"/>
                          <a:cs typeface="Arial"/>
                        </a:rPr>
                        <a:t>[0.9375, 1)</a:t>
                      </a:r>
                    </a:p>
                  </a:txBody>
                  <a:tcPr marL="57150" marR="57150" marT="28575" marB="28575" anchor="ctr">
                    <a:solidFill>
                      <a:srgbClr val="0B2033"/>
                    </a:solidFill>
                  </a:tcPr>
                </a:tc>
                <a:tc>
                  <a:txBody>
                    <a:bodyPr/>
                    <a:lstStyle/>
                    <a:p>
                      <a:r>
                        <a:rPr sz="975">
                          <a:solidFill>
                            <a:srgbClr val="F4F8FC"/>
                          </a:solidFill>
                          <a:latin typeface="Arial"/>
                          <a:ea typeface="Arial"/>
                          <a:cs typeface="Arial"/>
                        </a:rPr>
                        <a:t>0.96875</a:t>
                      </a:r>
                    </a:p>
                  </a:txBody>
                  <a:tcPr marL="57150" marR="57150" marT="28575" marB="28575" anchor="ctr">
                    <a:solidFill>
                      <a:srgbClr val="0B2033"/>
                    </a:solidFill>
                  </a:tcPr>
                </a:tc>
                <a:tc>
                  <a:txBody>
                    <a:bodyPr/>
                    <a:lstStyle/>
                    <a:p>
                      <a:r>
                        <a:rPr sz="975">
                          <a:solidFill>
                            <a:srgbClr val="F4F8FC"/>
                          </a:solidFill>
                          <a:latin typeface="Arial"/>
                          <a:ea typeface="Arial"/>
                          <a:cs typeface="Arial"/>
                        </a:rPr>
                        <a:t>above</a:t>
                      </a:r>
                    </a:p>
                  </a:txBody>
                  <a:tcPr marL="57150" marR="57150" marT="28575" marB="28575" anchor="ctr">
                    <a:solidFill>
                      <a:srgbClr val="0B2033"/>
                    </a:solidFill>
                  </a:tcPr>
                </a:tc>
                <a:tc>
                  <a:txBody>
                    <a:bodyPr/>
                    <a:lstStyle/>
                    <a:p>
                      <a:r>
                        <a:rPr sz="975">
                          <a:solidFill>
                            <a:srgbClr val="F4F8FC"/>
                          </a:solidFill>
                          <a:latin typeface="Arial"/>
                          <a:ea typeface="Arial"/>
                          <a:cs typeface="Arial"/>
                        </a:rPr>
                        <a:t>1</a:t>
                      </a:r>
                    </a:p>
                  </a:txBody>
                  <a:tcPr marL="57150" marR="57150" marT="28575" marB="28575" anchor="ctr">
                    <a:solidFill>
                      <a:srgbClr val="0B2033"/>
                    </a:solidFill>
                  </a:tcPr>
                </a:tc>
                <a:tc>
                  <a:txBody>
                    <a:bodyPr/>
                    <a:lstStyle/>
                    <a:p>
                      <a:r>
                        <a:rPr sz="975">
                          <a:solidFill>
                            <a:srgbClr val="F4F8FC"/>
                          </a:solidFill>
                          <a:latin typeface="Arial"/>
                          <a:ea typeface="Arial"/>
                          <a:cs typeface="Arial"/>
                        </a:rPr>
                        <a:t>[0.96875, 1)</a:t>
                      </a:r>
                    </a:p>
                  </a:txBody>
                  <a:tcPr marL="57150" marR="57150" marT="28575" marB="28575" anchor="ctr">
                    <a:solidFill>
                      <a:srgbClr val="0B2033"/>
                    </a:solidFill>
                  </a:tcPr>
                </a:tc>
              </a:tr>
              <a:tr h="455083">
                <a:tc>
                  <a:txBody>
                    <a:bodyPr/>
                    <a:lstStyle/>
                    <a:p>
                      <a:r>
                        <a:rPr sz="975">
                          <a:solidFill>
                            <a:srgbClr val="F4F8FC"/>
                          </a:solidFill>
                          <a:latin typeface="Arial"/>
                          <a:ea typeface="Arial"/>
                          <a:cs typeface="Arial"/>
                        </a:rPr>
                        <a:t>6</a:t>
                      </a:r>
                    </a:p>
                  </a:txBody>
                  <a:tcPr marL="57150" marR="57150" marT="28575" marB="28575" anchor="ctr">
                    <a:solidFill>
                      <a:srgbClr val="0B2033"/>
                    </a:solidFill>
                  </a:tcPr>
                </a:tc>
                <a:tc>
                  <a:txBody>
                    <a:bodyPr/>
                    <a:lstStyle/>
                    <a:p>
                      <a:r>
                        <a:rPr sz="975">
                          <a:solidFill>
                            <a:srgbClr val="F4F8FC"/>
                          </a:solidFill>
                          <a:latin typeface="Arial"/>
                          <a:ea typeface="Arial"/>
                          <a:cs typeface="Arial"/>
                        </a:rPr>
                        <a:t>[0.96875, 1)</a:t>
                      </a:r>
                    </a:p>
                  </a:txBody>
                  <a:tcPr marL="57150" marR="57150" marT="28575" marB="28575" anchor="ctr">
                    <a:solidFill>
                      <a:srgbClr val="0B2033"/>
                    </a:solidFill>
                  </a:tcPr>
                </a:tc>
                <a:tc>
                  <a:txBody>
                    <a:bodyPr/>
                    <a:lstStyle/>
                    <a:p>
                      <a:r>
                        <a:rPr sz="975">
                          <a:solidFill>
                            <a:srgbClr val="F4F8FC"/>
                          </a:solidFill>
                          <a:latin typeface="Arial"/>
                          <a:ea typeface="Arial"/>
                          <a:cs typeface="Arial"/>
                        </a:rPr>
                        <a:t>0.984375</a:t>
                      </a:r>
                    </a:p>
                  </a:txBody>
                  <a:tcPr marL="57150" marR="57150" marT="28575" marB="28575" anchor="ctr">
                    <a:solidFill>
                      <a:srgbClr val="0B2033"/>
                    </a:solidFill>
                  </a:tcPr>
                </a:tc>
                <a:tc>
                  <a:txBody>
                    <a:bodyPr/>
                    <a:lstStyle/>
                    <a:p>
                      <a:r>
                        <a:rPr sz="975">
                          <a:solidFill>
                            <a:srgbClr val="F4F8FC"/>
                          </a:solidFill>
                          <a:latin typeface="Arial"/>
                          <a:ea typeface="Arial"/>
                          <a:cs typeface="Arial"/>
                        </a:rPr>
                        <a:t>above</a:t>
                      </a:r>
                    </a:p>
                  </a:txBody>
                  <a:tcPr marL="57150" marR="57150" marT="28575" marB="28575" anchor="ctr">
                    <a:solidFill>
                      <a:srgbClr val="0B2033"/>
                    </a:solidFill>
                  </a:tcPr>
                </a:tc>
                <a:tc>
                  <a:txBody>
                    <a:bodyPr/>
                    <a:lstStyle/>
                    <a:p>
                      <a:r>
                        <a:rPr sz="975">
                          <a:solidFill>
                            <a:srgbClr val="F4F8FC"/>
                          </a:solidFill>
                          <a:latin typeface="Arial"/>
                          <a:ea typeface="Arial"/>
                          <a:cs typeface="Arial"/>
                        </a:rPr>
                        <a:t>1</a:t>
                      </a:r>
                    </a:p>
                  </a:txBody>
                  <a:tcPr marL="57150" marR="57150" marT="28575" marB="28575" anchor="ctr">
                    <a:solidFill>
                      <a:srgbClr val="0B2033"/>
                    </a:solidFill>
                  </a:tcPr>
                </a:tc>
                <a:tc>
                  <a:txBody>
                    <a:bodyPr/>
                    <a:lstStyle/>
                    <a:p>
                      <a:r>
                        <a:rPr sz="975">
                          <a:solidFill>
                            <a:srgbClr val="F4F8FC"/>
                          </a:solidFill>
                          <a:latin typeface="Arial"/>
                          <a:ea typeface="Arial"/>
                          <a:cs typeface="Arial"/>
                        </a:rPr>
                        <a:t>[0.984375, 1)</a:t>
                      </a:r>
                    </a:p>
                  </a:txBody>
                  <a:tcPr marL="57150" marR="57150" marT="28575" marB="28575" anchor="ctr">
                    <a:solidFill>
                      <a:srgbClr val="0B2033"/>
                    </a:solidFill>
                  </a:tcPr>
                </a:tc>
              </a:tr>
              <a:tr h="455083">
                <a:tc>
                  <a:txBody>
                    <a:bodyPr/>
                    <a:lstStyle/>
                    <a:p>
                      <a:r>
                        <a:rPr sz="975">
                          <a:solidFill>
                            <a:srgbClr val="F4F8FC"/>
                          </a:solidFill>
                          <a:latin typeface="Arial"/>
                          <a:ea typeface="Arial"/>
                          <a:cs typeface="Arial"/>
                        </a:rPr>
                        <a:t>7</a:t>
                      </a:r>
                    </a:p>
                  </a:txBody>
                  <a:tcPr marL="57150" marR="57150" marT="28575" marB="28575" anchor="ctr">
                    <a:solidFill>
                      <a:srgbClr val="0B2033"/>
                    </a:solidFill>
                  </a:tcPr>
                </a:tc>
                <a:tc>
                  <a:txBody>
                    <a:bodyPr/>
                    <a:lstStyle/>
                    <a:p>
                      <a:r>
                        <a:rPr sz="975">
                          <a:solidFill>
                            <a:srgbClr val="F4F8FC"/>
                          </a:solidFill>
                          <a:latin typeface="Arial"/>
                          <a:ea typeface="Arial"/>
                          <a:cs typeface="Arial"/>
                        </a:rPr>
                        <a:t>[0.984375, 1)</a:t>
                      </a:r>
                    </a:p>
                  </a:txBody>
                  <a:tcPr marL="57150" marR="57150" marT="28575" marB="28575" anchor="ctr">
                    <a:solidFill>
                      <a:srgbClr val="0B2033"/>
                    </a:solidFill>
                  </a:tcPr>
                </a:tc>
                <a:tc>
                  <a:txBody>
                    <a:bodyPr/>
                    <a:lstStyle/>
                    <a:p>
                      <a:r>
                        <a:rPr sz="975">
                          <a:solidFill>
                            <a:srgbClr val="F4F8FC"/>
                          </a:solidFill>
                          <a:latin typeface="Arial"/>
                          <a:ea typeface="Arial"/>
                          <a:cs typeface="Arial"/>
                        </a:rPr>
                        <a:t>0.9921875</a:t>
                      </a:r>
                    </a:p>
                  </a:txBody>
                  <a:tcPr marL="57150" marR="57150" marT="28575" marB="28575" anchor="ctr">
                    <a:solidFill>
                      <a:srgbClr val="0B2033"/>
                    </a:solidFill>
                  </a:tcPr>
                </a:tc>
                <a:tc>
                  <a:txBody>
                    <a:bodyPr/>
                    <a:lstStyle/>
                    <a:p>
                      <a:r>
                        <a:rPr sz="975">
                          <a:solidFill>
                            <a:srgbClr val="F4F8FC"/>
                          </a:solidFill>
                          <a:latin typeface="Arial"/>
                          <a:ea typeface="Arial"/>
                          <a:cs typeface="Arial"/>
                        </a:rPr>
                        <a:t>below</a:t>
                      </a:r>
                    </a:p>
                  </a:txBody>
                  <a:tcPr marL="57150" marR="57150" marT="28575" marB="28575" anchor="ctr">
                    <a:solidFill>
                      <a:srgbClr val="0B2033"/>
                    </a:solidFill>
                  </a:tcPr>
                </a:tc>
                <a:tc>
                  <a:txBody>
                    <a:bodyPr/>
                    <a:lstStyle/>
                    <a:p>
                      <a:r>
                        <a:rPr sz="975">
                          <a:solidFill>
                            <a:srgbClr val="F4F8FC"/>
                          </a:solidFill>
                          <a:latin typeface="Arial"/>
                          <a:ea typeface="Arial"/>
                          <a:cs typeface="Arial"/>
                        </a:rPr>
                        <a:t>0</a:t>
                      </a:r>
                    </a:p>
                  </a:txBody>
                  <a:tcPr marL="57150" marR="57150" marT="28575" marB="28575" anchor="ctr">
                    <a:solidFill>
                      <a:srgbClr val="0B2033"/>
                    </a:solidFill>
                  </a:tcPr>
                </a:tc>
                <a:tc>
                  <a:txBody>
                    <a:bodyPr/>
                    <a:lstStyle/>
                    <a:p>
                      <a:r>
                        <a:rPr sz="975">
                          <a:solidFill>
                            <a:srgbClr val="F4F8FC"/>
                          </a:solidFill>
                          <a:latin typeface="Arial"/>
                          <a:ea typeface="Arial"/>
                          <a:cs typeface="Arial"/>
                        </a:rPr>
                        <a:t>[0.984375, 0.9921875)</a:t>
                      </a:r>
                    </a:p>
                  </a:txBody>
                  <a:tcPr marL="57150" marR="57150" marT="28575" marB="28575" anchor="ctr">
                    <a:solidFill>
                      <a:srgbClr val="0B2033"/>
                    </a:solidFill>
                  </a:tcPr>
                </a:tc>
              </a:tr>
              <a:tr h="455083">
                <a:tc>
                  <a:txBody>
                    <a:bodyPr/>
                    <a:lstStyle/>
                    <a:p>
                      <a:r>
                        <a:rPr sz="975">
                          <a:solidFill>
                            <a:srgbClr val="F4F8FC"/>
                          </a:solidFill>
                          <a:latin typeface="Arial"/>
                          <a:ea typeface="Arial"/>
                          <a:cs typeface="Arial"/>
                        </a:rPr>
                        <a:t>8</a:t>
                      </a:r>
                    </a:p>
                  </a:txBody>
                  <a:tcPr marL="57150" marR="57150" marT="28575" marB="28575" anchor="ctr">
                    <a:solidFill>
                      <a:srgbClr val="0B2033"/>
                    </a:solidFill>
                  </a:tcPr>
                </a:tc>
                <a:tc>
                  <a:txBody>
                    <a:bodyPr/>
                    <a:lstStyle/>
                    <a:p>
                      <a:r>
                        <a:rPr sz="975">
                          <a:solidFill>
                            <a:srgbClr val="F4F8FC"/>
                          </a:solidFill>
                          <a:latin typeface="Arial"/>
                          <a:ea typeface="Arial"/>
                          <a:cs typeface="Arial"/>
                        </a:rPr>
                        <a:t>[0.984375, 0.9921875)</a:t>
                      </a:r>
                    </a:p>
                  </a:txBody>
                  <a:tcPr marL="57150" marR="57150" marT="28575" marB="28575" anchor="ctr">
                    <a:solidFill>
                      <a:srgbClr val="0B2033"/>
                    </a:solidFill>
                  </a:tcPr>
                </a:tc>
                <a:tc>
                  <a:txBody>
                    <a:bodyPr/>
                    <a:lstStyle/>
                    <a:p>
                      <a:r>
                        <a:rPr sz="975">
                          <a:solidFill>
                            <a:srgbClr val="F4F8FC"/>
                          </a:solidFill>
                          <a:latin typeface="Arial"/>
                          <a:ea typeface="Arial"/>
                          <a:cs typeface="Arial"/>
                        </a:rPr>
                        <a:t>0.98828125</a:t>
                      </a:r>
                    </a:p>
                  </a:txBody>
                  <a:tcPr marL="57150" marR="57150" marT="28575" marB="28575" anchor="ctr">
                    <a:solidFill>
                      <a:srgbClr val="0B2033"/>
                    </a:solidFill>
                  </a:tcPr>
                </a:tc>
                <a:tc>
                  <a:txBody>
                    <a:bodyPr/>
                    <a:lstStyle/>
                    <a:p>
                      <a:r>
                        <a:rPr sz="975">
                          <a:solidFill>
                            <a:srgbClr val="F4F8FC"/>
                          </a:solidFill>
                          <a:latin typeface="Arial"/>
                          <a:ea typeface="Arial"/>
                          <a:cs typeface="Arial"/>
                        </a:rPr>
                        <a:t>below</a:t>
                      </a:r>
                    </a:p>
                  </a:txBody>
                  <a:tcPr marL="57150" marR="57150" marT="28575" marB="28575" anchor="ctr">
                    <a:solidFill>
                      <a:srgbClr val="0B2033"/>
                    </a:solidFill>
                  </a:tcPr>
                </a:tc>
                <a:tc>
                  <a:txBody>
                    <a:bodyPr/>
                    <a:lstStyle/>
                    <a:p>
                      <a:r>
                        <a:rPr sz="975">
                          <a:solidFill>
                            <a:srgbClr val="F4F8FC"/>
                          </a:solidFill>
                          <a:latin typeface="Arial"/>
                          <a:ea typeface="Arial"/>
                          <a:cs typeface="Arial"/>
                        </a:rPr>
                        <a:t>0</a:t>
                      </a:r>
                    </a:p>
                  </a:txBody>
                  <a:tcPr marL="57150" marR="57150" marT="28575" marB="28575" anchor="ctr">
                    <a:solidFill>
                      <a:srgbClr val="0B2033"/>
                    </a:solidFill>
                  </a:tcPr>
                </a:tc>
                <a:tc>
                  <a:txBody>
                    <a:bodyPr/>
                    <a:lstStyle/>
                    <a:p>
                      <a:r>
                        <a:rPr sz="975">
                          <a:solidFill>
                            <a:srgbClr val="F4F8FC"/>
                          </a:solidFill>
                          <a:latin typeface="Arial"/>
                          <a:ea typeface="Arial"/>
                          <a:cs typeface="Arial"/>
                        </a:rPr>
                        <a:t>[0.984375, 0.98828125)</a:t>
                      </a:r>
                    </a:p>
                  </a:txBody>
                  <a:tcPr marL="57150" marR="57150" marT="28575" marB="28575" anchor="ctr">
                    <a:solidFill>
                      <a:srgbClr val="0B2033"/>
                    </a:solidFill>
                  </a:tcPr>
                </a:tc>
              </a:tr>
            </a:tbl>
          </a:graphicData>
        </a:graphic>
      </p:graphicFrame>
      <p:sp>
        <p:nvSpPr>
          <p:cNvPr id="9" name="">
            <a:extLst xmlns:a="http://schemas.openxmlformats.org/drawingml/2006/main">
              <a:ext uri="{FF2B5EF4-FFF2-40B4-BE49-F238E27FC236}">
                <a16:creationId xmlns:a16="http://schemas.microsoft.com/office/drawing/2014/main" id="{A1C45CF2-EBFF-4D5F-B764-7EFB2A99FFF6}"/>
              </a:ext>
            </a:extLst>
          </p:cNvPr>
          <p:cNvSpPr>
            <a:spLocks xmlns:a="http://schemas.openxmlformats.org/drawingml/2006/main" noGrp="1"/>
          </p:cNvSpPr>
          <p:nvPr/>
        </p:nvSpPr>
        <p:spPr>
          <a:xfrm xmlns:a="http://schemas.openxmlformats.org/drawingml/2006/main">
            <a:off x="3333750" y="5905500"/>
            <a:ext cx="5524500" cy="476250"/>
          </a:xfrm>
          <a:prstGeom xmlns:a="http://schemas.openxmlformats.org/drawingml/2006/main" prst="roundRect">
            <a:avLst>
              <a:gd name="adj" fmla="val 24000"/>
            </a:avLst>
          </a:prstGeom>
          <a:solidFill xmlns:a="http://schemas.openxmlformats.org/drawingml/2006/main">
            <a:srgbClr val="092034"/>
          </a:solidFill>
          <a:ln xmlns:a="http://schemas.openxmlformats.org/drawingml/2006/main" w="19050">
            <a:solidFill>
              <a:srgbClr val="22D3EE"/>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defRPr sz="1650" b="1">
                <a:solidFill>
                  <a:srgbClr val="F4F8FC"/>
                </a:solidFill>
                <a:latin typeface="Arial"/>
                <a:ea typeface="Arial"/>
                <a:cs typeface="Arial"/>
              </a:defRPr>
            </a:pPr>
            <a:r>
              <a:rPr sz="1650" b="1">
                <a:solidFill>
                  <a:srgbClr val="F4F8FC"/>
                </a:solidFill>
                <a:latin typeface="Arial"/>
                <a:ea typeface="Arial"/>
                <a:cs typeface="Arial"/>
              </a:rPr>
              <a:t>Bits after step 8: 11111100</a:t>
            </a:r>
          </a:p>
        </p:txBody>
      </p:sp>
    </p:spTree>
    <p:extLst>
      <p:ext uri="{BB962C8B-B14F-4D97-AF65-F5344CB8AC3E}">
        <p14:creationId xmlns:p14="http://schemas.microsoft.com/office/powerpoint/2010/main" val="1458645695"/>
      </p:ext>
    </p:extLst>
  </p:cSld>
</p:sld>
</file>

<file path=ppt/slides/slide23.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BC78CC-E047-4DB0-9CFA-50051A34ADD2}"/>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313AFD-10AA-450B-B4B4-0979CA66D2F8}"/>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AA9F0F-2BE1-4BB6-BAFD-F362AF0631DE}"/>
              </a:ext>
            </a:extLst>
          </p:cNvPr>
          <p:cNvSpPr>
            <a:spLocks xmlns:a="http://schemas.openxmlformats.org/drawingml/2006/main" noGrp="1"/>
          </p:cNvSpPr>
          <p:nvPr/>
        </p:nvSpPr>
        <p:spPr>
          <a:xfrm xmlns:a="http://schemas.openxmlformats.org/drawingml/2006/main">
            <a:off x="476250" y="23812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2550" b="1">
                <a:solidFill>
                  <a:srgbClr val="F4F8FC"/>
                </a:solidFill>
                <a:latin typeface="Arial"/>
                <a:ea typeface="Arial"/>
                <a:cs typeface="Arial"/>
              </a:defRPr>
            </a:pPr>
            <a:r>
              <a:rPr sz="2550" b="1">
                <a:solidFill>
                  <a:srgbClr val="F4F8FC"/>
                </a:solidFill>
                <a:latin typeface="Arial"/>
                <a:ea typeface="Arial"/>
                <a:cs typeface="Arial"/>
              </a:rPr>
              <a:t>Binary-tag search, continued</a:t>
            </a:r>
          </a:p>
        </p:txBody>
      </p:sp>
      <p:sp>
        <p:nvSpPr>
          <p:cNvPr id="4" name="">
            <a:extLst xmlns:a="http://schemas.openxmlformats.org/drawingml/2006/main">
              <a:ext uri="{FF2B5EF4-FFF2-40B4-BE49-F238E27FC236}">
                <a16:creationId xmlns:a16="http://schemas.microsoft.com/office/drawing/2014/main" id="{5F3BA616-8A8A-44A3-ACC0-28F1C1C94D7B}"/>
              </a:ext>
            </a:extLst>
          </p:cNvPr>
          <p:cNvSpPr>
            <a:spLocks xmlns:a="http://schemas.openxmlformats.org/drawingml/2006/main" noGrp="1"/>
          </p:cNvSpPr>
          <p:nvPr/>
        </p:nvSpPr>
        <p:spPr>
          <a:xfrm xmlns:a="http://schemas.openxmlformats.org/drawingml/2006/main">
            <a:off x="400050" y="904875"/>
            <a:ext cx="11391900" cy="19050"/>
          </a:xfrm>
          <a:prstGeom xmlns:a="http://schemas.openxmlformats.org/drawingml/2006/main" prst="rect">
            <a:avLst/>
          </a:prstGeom>
          <a:solidFill xmlns:a="http://schemas.openxmlformats.org/drawingml/2006/main">
            <a:srgbClr val="2A587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08EED1-72E1-491C-89EC-295DFD111620}"/>
              </a:ext>
            </a:extLst>
          </p:cNvPr>
          <p:cNvSpPr>
            <a:spLocks xmlns:a="http://schemas.openxmlformats.org/drawingml/2006/main" noGrp="1"/>
          </p:cNvSpPr>
          <p:nvPr/>
        </p:nvSpPr>
        <p:spPr>
          <a:xfrm xmlns:a="http://schemas.openxmlformats.org/drawingml/2006/main">
            <a:off x="476250" y="990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1200" b="0">
                <a:solidFill>
                  <a:srgbClr val="AFC0D0"/>
                </a:solidFill>
                <a:latin typeface="Arial"/>
                <a:ea typeface="Arial"/>
                <a:cs typeface="Arial"/>
              </a:defRPr>
            </a:pPr>
            <a:r>
              <a:rPr sz="1200" b="0">
                <a:solidFill>
                  <a:srgbClr val="AFC0D0"/>
                </a:solidFill>
                <a:latin typeface="Arial"/>
                <a:ea typeface="Arial"/>
                <a:cs typeface="Arial"/>
              </a:rPr>
              <a:t>The 16-bit point lies inside the target. A 17-bit prefix gives a fully contained binary cell.</a:t>
            </a:r>
          </a:p>
        </p:txBody>
      </p:sp>
      <p:sp>
        <p:nvSpPr>
          <p:cNvPr id="6" name="">
            <a:extLst xmlns:a="http://schemas.openxmlformats.org/drawingml/2006/main">
              <a:ext uri="{FF2B5EF4-FFF2-40B4-BE49-F238E27FC236}">
                <a16:creationId xmlns:a16="http://schemas.microsoft.com/office/drawing/2014/main" id="{2E39F3BE-B41F-436E-8172-671C1BB00E51}"/>
              </a:ext>
            </a:extLst>
          </p:cNvPr>
          <p:cNvSpPr>
            <a:spLocks xmlns:a="http://schemas.openxmlformats.org/drawingml/2006/main" noGrp="1"/>
          </p:cNvSpPr>
          <p:nvPr/>
        </p:nvSpPr>
        <p:spPr>
          <a:xfrm xmlns:a="http://schemas.openxmlformats.org/drawingml/2006/main">
            <a:off x="1285875" y="64579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600" b="0">
                <a:solidFill>
                  <a:srgbClr val="AFC0D0"/>
                </a:solidFill>
                <a:latin typeface="Arial"/>
                <a:ea typeface="Arial"/>
                <a:cs typeface="Arial"/>
              </a:defRPr>
            </a:pPr>
            <a:r>
              <a:rPr sz="600" b="0">
                <a:solidFill>
                  <a:srgbClr val="AFC0D0"/>
                </a:solidFill>
                <a:latin typeface="Arial"/>
                <a:ea typeface="Arial"/>
                <a:cs typeface="Arial"/>
              </a:rPr>
              <a:t>Sources and evidence: speaker notes</a:t>
            </a:r>
          </a:p>
        </p:txBody>
      </p:sp>
      <p:sp>
        <p:nvSpPr>
          <p:cNvPr id="7" name="">
            <a:extLst xmlns:a="http://schemas.openxmlformats.org/drawingml/2006/main">
              <a:ext uri="{FF2B5EF4-FFF2-40B4-BE49-F238E27FC236}">
                <a16:creationId xmlns:a16="http://schemas.microsoft.com/office/drawing/2014/main" id="{A8944032-7F70-4B3D-98CD-47A715CB28CF}"/>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r">
              <a:defRPr sz="975" b="1">
                <a:solidFill>
                  <a:srgbClr val="22D3EE"/>
                </a:solidFill>
                <a:latin typeface="Arial"/>
                <a:ea typeface="Arial"/>
                <a:cs typeface="Arial"/>
              </a:defRPr>
            </a:pPr>
            <a:r>
              <a:rPr sz="975" b="1">
                <a:solidFill>
                  <a:srgbClr val="22D3EE"/>
                </a:solidFill>
                <a:latin typeface="Arial"/>
                <a:ea typeface="Arial"/>
                <a:cs typeface="Arial"/>
              </a:rPr>
              <a:t>23 / 49</a:t>
            </a:r>
          </a:p>
        </p:txBody>
      </p:sp>
      <p:graphicFrame>
        <p:nvGraphicFramePr>
          <p:cNvPr id="19" name=""/>
          <p:cNvGraphicFramePr/>
          <p:nvPr/>
        </p:nvGraphicFramePr>
        <p:xfrm>
          <a:off xmlns:a="http://schemas.openxmlformats.org/drawingml/2006/main" x="428625" y="1381125"/>
          <a:ext xmlns:a="http://schemas.openxmlformats.org/drawingml/2006/main" cx="11334750" cy="3857625"/>
        </p:xfrm>
        <a:graphic xmlns:a="http://schemas.openxmlformats.org/drawingml/2006/main">
          <a:graphicData uri="http://schemas.openxmlformats.org/drawingml/2006/table">
            <a:tbl>
              <a:tblPr/>
              <a:tblGrid>
                <a:gridCol w="619125"/>
                <a:gridCol w="3333750"/>
                <a:gridCol w="1809750"/>
                <a:gridCol w="2095500"/>
                <a:gridCol w="666750"/>
                <a:gridCol w="2809875"/>
              </a:tblGrid>
              <a:tr h="385763">
                <a:tc>
                  <a:txBody>
                    <a:bodyPr/>
                    <a:lstStyle/>
                    <a:p>
                      <a:r>
                        <a:rPr sz="975" b="1">
                          <a:solidFill>
                            <a:srgbClr val="22D3EE"/>
                          </a:solidFill>
                          <a:latin typeface="Arial"/>
                          <a:ea typeface="Arial"/>
                          <a:cs typeface="Arial"/>
                        </a:rPr>
                        <a:t>Step</a:t>
                      </a:r>
                    </a:p>
                  </a:txBody>
                  <a:tcPr marL="57150" marR="57150" marT="28575" marB="28575" anchor="ctr">
                    <a:solidFill>
                      <a:srgbClr val="12314A"/>
                    </a:solidFill>
                  </a:tcPr>
                </a:tc>
                <a:tc>
                  <a:txBody>
                    <a:bodyPr/>
                    <a:lstStyle/>
                    <a:p>
                      <a:r>
                        <a:rPr sz="975" b="1">
                          <a:solidFill>
                            <a:srgbClr val="22D3EE"/>
                          </a:solidFill>
                          <a:latin typeface="Arial"/>
                          <a:ea typeface="Arial"/>
                          <a:cs typeface="Arial"/>
                        </a:rPr>
                        <a:t>Candidate range</a:t>
                      </a:r>
                    </a:p>
                  </a:txBody>
                  <a:tcPr marL="57150" marR="57150" marT="28575" marB="28575" anchor="ctr">
                    <a:solidFill>
                      <a:srgbClr val="12314A"/>
                    </a:solidFill>
                  </a:tcPr>
                </a:tc>
                <a:tc>
                  <a:txBody>
                    <a:bodyPr/>
                    <a:lstStyle/>
                    <a:p>
                      <a:r>
                        <a:rPr sz="975" b="1">
                          <a:solidFill>
                            <a:srgbClr val="22D3EE"/>
                          </a:solidFill>
                          <a:latin typeface="Arial"/>
                          <a:ea typeface="Arial"/>
                          <a:cs typeface="Arial"/>
                        </a:rPr>
                        <a:t>Midpoint</a:t>
                      </a:r>
                    </a:p>
                  </a:txBody>
                  <a:tcPr marL="57150" marR="57150" marT="28575" marB="28575" anchor="ctr">
                    <a:solidFill>
                      <a:srgbClr val="12314A"/>
                    </a:solidFill>
                  </a:tcPr>
                </a:tc>
                <a:tc>
                  <a:txBody>
                    <a:bodyPr/>
                    <a:lstStyle/>
                    <a:p>
                      <a:r>
                        <a:rPr sz="975" b="1">
                          <a:solidFill>
                            <a:srgbClr val="22D3EE"/>
                          </a:solidFill>
                          <a:latin typeface="Arial"/>
                          <a:ea typeface="Arial"/>
                          <a:cs typeface="Arial"/>
                        </a:rPr>
                        <a:t>Decision</a:t>
                      </a:r>
                    </a:p>
                  </a:txBody>
                  <a:tcPr marL="57150" marR="57150" marT="28575" marB="28575" anchor="ctr">
                    <a:solidFill>
                      <a:srgbClr val="12314A"/>
                    </a:solidFill>
                  </a:tcPr>
                </a:tc>
                <a:tc>
                  <a:txBody>
                    <a:bodyPr/>
                    <a:lstStyle/>
                    <a:p>
                      <a:r>
                        <a:rPr sz="975" b="1">
                          <a:solidFill>
                            <a:srgbClr val="22D3EE"/>
                          </a:solidFill>
                          <a:latin typeface="Arial"/>
                          <a:ea typeface="Arial"/>
                          <a:cs typeface="Arial"/>
                        </a:rPr>
                        <a:t>Bit</a:t>
                      </a:r>
                    </a:p>
                  </a:txBody>
                  <a:tcPr marL="57150" marR="57150" marT="28575" marB="28575" anchor="ctr">
                    <a:solidFill>
                      <a:srgbClr val="12314A"/>
                    </a:solidFill>
                  </a:tcPr>
                </a:tc>
                <a:tc>
                  <a:txBody>
                    <a:bodyPr/>
                    <a:lstStyle/>
                    <a:p>
                      <a:r>
                        <a:rPr sz="975" b="1">
                          <a:solidFill>
                            <a:srgbClr val="22D3EE"/>
                          </a:solidFill>
                          <a:latin typeface="Arial"/>
                          <a:ea typeface="Arial"/>
                          <a:cs typeface="Arial"/>
                        </a:rPr>
                        <a:t>Result</a:t>
                      </a:r>
                    </a:p>
                  </a:txBody>
                  <a:tcPr marL="57150" marR="57150" marT="28575" marB="28575" anchor="ctr">
                    <a:solidFill>
                      <a:srgbClr val="12314A"/>
                    </a:solidFill>
                  </a:tcPr>
                </a:tc>
              </a:tr>
              <a:tr h="385763">
                <a:tc>
                  <a:txBody>
                    <a:bodyPr/>
                    <a:lstStyle/>
                    <a:p>
                      <a:r>
                        <a:rPr sz="863">
                          <a:solidFill>
                            <a:srgbClr val="F4F8FC"/>
                          </a:solidFill>
                          <a:latin typeface="Arial"/>
                          <a:ea typeface="Arial"/>
                          <a:cs typeface="Arial"/>
                        </a:rPr>
                        <a:t>9</a:t>
                      </a:r>
                    </a:p>
                  </a:txBody>
                  <a:tcPr marL="57150" marR="57150" marT="28575" marB="28575" anchor="ctr">
                    <a:solidFill>
                      <a:srgbClr val="0B2033"/>
                    </a:solidFill>
                  </a:tcPr>
                </a:tc>
                <a:tc>
                  <a:txBody>
                    <a:bodyPr/>
                    <a:lstStyle/>
                    <a:p>
                      <a:r>
                        <a:rPr sz="863">
                          <a:solidFill>
                            <a:srgbClr val="F4F8FC"/>
                          </a:solidFill>
                          <a:latin typeface="Arial"/>
                          <a:ea typeface="Arial"/>
                          <a:cs typeface="Arial"/>
                        </a:rPr>
                        <a:t>[0.984375, 0.98828125)</a:t>
                      </a:r>
                    </a:p>
                  </a:txBody>
                  <a:tcPr marL="57150" marR="57150" marT="28575" marB="28575" anchor="ctr">
                    <a:solidFill>
                      <a:srgbClr val="0B2033"/>
                    </a:solidFill>
                  </a:tcPr>
                </a:tc>
                <a:tc>
                  <a:txBody>
                    <a:bodyPr/>
                    <a:lstStyle/>
                    <a:p>
                      <a:r>
                        <a:rPr sz="863">
                          <a:solidFill>
                            <a:srgbClr val="F4F8FC"/>
                          </a:solidFill>
                          <a:latin typeface="Arial"/>
                          <a:ea typeface="Arial"/>
                          <a:cs typeface="Arial"/>
                        </a:rPr>
                        <a:t>0.98632813</a:t>
                      </a:r>
                    </a:p>
                  </a:txBody>
                  <a:tcPr marL="57150" marR="57150" marT="28575" marB="28575" anchor="ctr">
                    <a:solidFill>
                      <a:srgbClr val="0B2033"/>
                    </a:solidFill>
                  </a:tcPr>
                </a:tc>
                <a:tc>
                  <a:txBody>
                    <a:bodyPr/>
                    <a:lstStyle/>
                    <a:p>
                      <a:r>
                        <a:rPr sz="863">
                          <a:solidFill>
                            <a:srgbClr val="F4F8FC"/>
                          </a:solidFill>
                          <a:latin typeface="Arial"/>
                          <a:ea typeface="Arial"/>
                          <a:cs typeface="Arial"/>
                        </a:rPr>
                        <a:t>below</a:t>
                      </a:r>
                    </a:p>
                  </a:txBody>
                  <a:tcPr marL="57150" marR="57150" marT="28575" marB="28575" anchor="ctr">
                    <a:solidFill>
                      <a:srgbClr val="0B2033"/>
                    </a:solidFill>
                  </a:tcPr>
                </a:tc>
                <a:tc>
                  <a:txBody>
                    <a:bodyPr/>
                    <a:lstStyle/>
                    <a:p>
                      <a:r>
                        <a:rPr sz="863">
                          <a:solidFill>
                            <a:srgbClr val="F4F8FC"/>
                          </a:solidFill>
                          <a:latin typeface="Arial"/>
                          <a:ea typeface="Arial"/>
                          <a:cs typeface="Arial"/>
                        </a:rPr>
                        <a:t>0</a:t>
                      </a:r>
                    </a:p>
                  </a:txBody>
                  <a:tcPr marL="57150" marR="57150" marT="28575" marB="28575" anchor="ctr">
                    <a:solidFill>
                      <a:srgbClr val="0B2033"/>
                    </a:solidFill>
                  </a:tcPr>
                </a:tc>
                <a:tc>
                  <a:txBody>
                    <a:bodyPr/>
                    <a:lstStyle/>
                    <a:p>
                      <a:r>
                        <a:rPr sz="863">
                          <a:solidFill>
                            <a:srgbClr val="F4F8FC"/>
                          </a:solidFill>
                          <a:latin typeface="Arial"/>
                          <a:ea typeface="Arial"/>
                          <a:cs typeface="Arial"/>
                        </a:rPr>
                        <a:t>lower half</a:t>
                      </a:r>
                    </a:p>
                  </a:txBody>
                  <a:tcPr marL="57150" marR="57150" marT="28575" marB="28575" anchor="ctr">
                    <a:solidFill>
                      <a:srgbClr val="0B2033"/>
                    </a:solidFill>
                  </a:tcPr>
                </a:tc>
              </a:tr>
              <a:tr h="385763">
                <a:tc>
                  <a:txBody>
                    <a:bodyPr/>
                    <a:lstStyle/>
                    <a:p>
                      <a:r>
                        <a:rPr sz="863">
                          <a:solidFill>
                            <a:srgbClr val="F4F8FC"/>
                          </a:solidFill>
                          <a:latin typeface="Arial"/>
                          <a:ea typeface="Arial"/>
                          <a:cs typeface="Arial"/>
                        </a:rPr>
                        <a:t>10</a:t>
                      </a:r>
                    </a:p>
                  </a:txBody>
                  <a:tcPr marL="57150" marR="57150" marT="28575" marB="28575" anchor="ctr">
                    <a:solidFill>
                      <a:srgbClr val="0B2033"/>
                    </a:solidFill>
                  </a:tcPr>
                </a:tc>
                <a:tc>
                  <a:txBody>
                    <a:bodyPr/>
                    <a:lstStyle/>
                    <a:p>
                      <a:r>
                        <a:rPr sz="863">
                          <a:solidFill>
                            <a:srgbClr val="F4F8FC"/>
                          </a:solidFill>
                          <a:latin typeface="Arial"/>
                          <a:ea typeface="Arial"/>
                          <a:cs typeface="Arial"/>
                        </a:rPr>
                        <a:t>[0.984375, 0.98632813)</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0.98535156</a:t>
                      </a:r>
                    </a:p>
                  </a:txBody>
                  <a:tcPr marL="57150" marR="57150" marT="28575" marB="28575" anchor="ctr">
                    <a:solidFill>
                      <a:srgbClr val="0B2033"/>
                    </a:solidFill>
                  </a:tcPr>
                </a:tc>
                <a:tc>
                  <a:txBody>
                    <a:bodyPr/>
                    <a:lstStyle/>
                    <a:p>
                      <a:r>
                        <a:rPr sz="863">
                          <a:solidFill>
                            <a:srgbClr val="F4F8FC"/>
                          </a:solidFill>
                          <a:latin typeface="Arial"/>
                          <a:ea typeface="Arial"/>
                          <a:cs typeface="Arial"/>
                        </a:rPr>
                        <a:t>above</a:t>
                      </a:r>
                    </a:p>
                  </a:txBody>
                  <a:tcPr marL="57150" marR="57150" marT="28575" marB="28575" anchor="ctr">
                    <a:solidFill>
                      <a:srgbClr val="0B2033"/>
                    </a:solidFill>
                  </a:tcPr>
                </a:tc>
                <a:tc>
                  <a:txBody>
                    <a:bodyPr/>
                    <a:lstStyle/>
                    <a:p>
                      <a:r>
                        <a:rPr sz="863">
                          <a:solidFill>
                            <a:srgbClr val="F4F8FC"/>
                          </a:solidFill>
                          <a:latin typeface="Arial"/>
                          <a:ea typeface="Arial"/>
                          <a:cs typeface="Arial"/>
                        </a:rPr>
                        <a:t>1</a:t>
                      </a:r>
                    </a:p>
                  </a:txBody>
                  <a:tcPr marL="57150" marR="57150" marT="28575" marB="28575" anchor="ctr">
                    <a:solidFill>
                      <a:srgbClr val="0B2033"/>
                    </a:solidFill>
                  </a:tcPr>
                </a:tc>
                <a:tc>
                  <a:txBody>
                    <a:bodyPr/>
                    <a:lstStyle/>
                    <a:p>
                      <a:r>
                        <a:rPr sz="863">
                          <a:solidFill>
                            <a:srgbClr val="F4F8FC"/>
                          </a:solidFill>
                          <a:latin typeface="Arial"/>
                          <a:ea typeface="Arial"/>
                          <a:cs typeface="Arial"/>
                        </a:rPr>
                        <a:t>upper half</a:t>
                      </a:r>
                    </a:p>
                  </a:txBody>
                  <a:tcPr marL="57150" marR="57150" marT="28575" marB="28575" anchor="ctr">
                    <a:solidFill>
                      <a:srgbClr val="0B2033"/>
                    </a:solidFill>
                  </a:tcPr>
                </a:tc>
              </a:tr>
              <a:tr h="385763">
                <a:tc>
                  <a:txBody>
                    <a:bodyPr/>
                    <a:lstStyle/>
                    <a:p>
                      <a:r>
                        <a:rPr sz="863">
                          <a:solidFill>
                            <a:srgbClr val="F4F8FC"/>
                          </a:solidFill>
                          <a:latin typeface="Arial"/>
                          <a:ea typeface="Arial"/>
                          <a:cs typeface="Arial"/>
                        </a:rPr>
                        <a:t>11</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[0.98535156, 0.98632813)</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0.98583984</a:t>
                      </a:r>
                    </a:p>
                  </a:txBody>
                  <a:tcPr marL="57150" marR="57150" marT="28575" marB="28575" anchor="ctr">
                    <a:solidFill>
                      <a:srgbClr val="0B2033"/>
                    </a:solidFill>
                  </a:tcPr>
                </a:tc>
                <a:tc>
                  <a:txBody>
                    <a:bodyPr/>
                    <a:lstStyle/>
                    <a:p>
                      <a:r>
                        <a:rPr sz="863">
                          <a:solidFill>
                            <a:srgbClr val="F4F8FC"/>
                          </a:solidFill>
                          <a:latin typeface="Arial"/>
                          <a:ea typeface="Arial"/>
                          <a:cs typeface="Arial"/>
                        </a:rPr>
                        <a:t>below</a:t>
                      </a:r>
                    </a:p>
                  </a:txBody>
                  <a:tcPr marL="57150" marR="57150" marT="28575" marB="28575" anchor="ctr">
                    <a:solidFill>
                      <a:srgbClr val="0B2033"/>
                    </a:solidFill>
                  </a:tcPr>
                </a:tc>
                <a:tc>
                  <a:txBody>
                    <a:bodyPr/>
                    <a:lstStyle/>
                    <a:p>
                      <a:r>
                        <a:rPr sz="863">
                          <a:solidFill>
                            <a:srgbClr val="F4F8FC"/>
                          </a:solidFill>
                          <a:latin typeface="Arial"/>
                          <a:ea typeface="Arial"/>
                          <a:cs typeface="Arial"/>
                        </a:rPr>
                        <a:t>0</a:t>
                      </a:r>
                    </a:p>
                  </a:txBody>
                  <a:tcPr marL="57150" marR="57150" marT="28575" marB="28575" anchor="ctr">
                    <a:solidFill>
                      <a:srgbClr val="0B2033"/>
                    </a:solidFill>
                  </a:tcPr>
                </a:tc>
                <a:tc>
                  <a:txBody>
                    <a:bodyPr/>
                    <a:lstStyle/>
                    <a:p>
                      <a:r>
                        <a:rPr sz="863">
                          <a:solidFill>
                            <a:srgbClr val="F4F8FC"/>
                          </a:solidFill>
                          <a:latin typeface="Arial"/>
                          <a:ea typeface="Arial"/>
                          <a:cs typeface="Arial"/>
                        </a:rPr>
                        <a:t>lower half</a:t>
                      </a:r>
                    </a:p>
                  </a:txBody>
                  <a:tcPr marL="57150" marR="57150" marT="28575" marB="28575" anchor="ctr">
                    <a:solidFill>
                      <a:srgbClr val="0B2033"/>
                    </a:solidFill>
                  </a:tcPr>
                </a:tc>
              </a:tr>
              <a:tr h="385763">
                <a:tc>
                  <a:txBody>
                    <a:bodyPr/>
                    <a:lstStyle/>
                    <a:p>
                      <a:r>
                        <a:rPr sz="863">
                          <a:solidFill>
                            <a:srgbClr val="F4F8FC"/>
                          </a:solidFill>
                          <a:latin typeface="Arial"/>
                          <a:ea typeface="Arial"/>
                          <a:cs typeface="Arial"/>
                        </a:rPr>
                        <a:t>12</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[0.98535156, 0.98583984)</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0.98559570</a:t>
                      </a:r>
                    </a:p>
                  </a:txBody>
                  <a:tcPr marL="57150" marR="57150" marT="28575" marB="28575" anchor="ctr">
                    <a:solidFill>
                      <a:srgbClr val="0B2033"/>
                    </a:solidFill>
                  </a:tcPr>
                </a:tc>
                <a:tc>
                  <a:txBody>
                    <a:bodyPr/>
                    <a:lstStyle/>
                    <a:p>
                      <a:r>
                        <a:rPr sz="863">
                          <a:solidFill>
                            <a:srgbClr val="F4F8FC"/>
                          </a:solidFill>
                          <a:latin typeface="Arial"/>
                          <a:ea typeface="Arial"/>
                          <a:cs typeface="Arial"/>
                        </a:rPr>
                        <a:t>below</a:t>
                      </a:r>
                    </a:p>
                  </a:txBody>
                  <a:tcPr marL="57150" marR="57150" marT="28575" marB="28575" anchor="ctr">
                    <a:solidFill>
                      <a:srgbClr val="0B2033"/>
                    </a:solidFill>
                  </a:tcPr>
                </a:tc>
                <a:tc>
                  <a:txBody>
                    <a:bodyPr/>
                    <a:lstStyle/>
                    <a:p>
                      <a:r>
                        <a:rPr sz="863">
                          <a:solidFill>
                            <a:srgbClr val="F4F8FC"/>
                          </a:solidFill>
                          <a:latin typeface="Arial"/>
                          <a:ea typeface="Arial"/>
                          <a:cs typeface="Arial"/>
                        </a:rPr>
                        <a:t>0</a:t>
                      </a:r>
                    </a:p>
                  </a:txBody>
                  <a:tcPr marL="57150" marR="57150" marT="28575" marB="28575" anchor="ctr">
                    <a:solidFill>
                      <a:srgbClr val="0B2033"/>
                    </a:solidFill>
                  </a:tcPr>
                </a:tc>
                <a:tc>
                  <a:txBody>
                    <a:bodyPr/>
                    <a:lstStyle/>
                    <a:p>
                      <a:r>
                        <a:rPr sz="863">
                          <a:solidFill>
                            <a:srgbClr val="F4F8FC"/>
                          </a:solidFill>
                          <a:latin typeface="Arial"/>
                          <a:ea typeface="Arial"/>
                          <a:cs typeface="Arial"/>
                        </a:rPr>
                        <a:t>lower half</a:t>
                      </a:r>
                    </a:p>
                  </a:txBody>
                  <a:tcPr marL="57150" marR="57150" marT="28575" marB="28575" anchor="ctr">
                    <a:solidFill>
                      <a:srgbClr val="0B2033"/>
                    </a:solidFill>
                  </a:tcPr>
                </a:tc>
              </a:tr>
              <a:tr h="385763">
                <a:tc>
                  <a:txBody>
                    <a:bodyPr/>
                    <a:lstStyle/>
                    <a:p>
                      <a:r>
                        <a:rPr sz="863">
                          <a:solidFill>
                            <a:srgbClr val="F4F8FC"/>
                          </a:solidFill>
                          <a:latin typeface="Arial"/>
                          <a:ea typeface="Arial"/>
                          <a:cs typeface="Arial"/>
                        </a:rPr>
                        <a:t>13</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[0.98535156, 0.98559570)</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0.98547363</a:t>
                      </a:r>
                    </a:p>
                  </a:txBody>
                  <a:tcPr marL="57150" marR="57150" marT="28575" marB="28575" anchor="ctr">
                    <a:solidFill>
                      <a:srgbClr val="0B2033"/>
                    </a:solidFill>
                  </a:tcPr>
                </a:tc>
                <a:tc>
                  <a:txBody>
                    <a:bodyPr/>
                    <a:lstStyle/>
                    <a:p>
                      <a:r>
                        <a:rPr sz="863">
                          <a:solidFill>
                            <a:srgbClr val="F4F8FC"/>
                          </a:solidFill>
                          <a:latin typeface="Arial"/>
                          <a:ea typeface="Arial"/>
                          <a:cs typeface="Arial"/>
                        </a:rPr>
                        <a:t>below</a:t>
                      </a:r>
                    </a:p>
                  </a:txBody>
                  <a:tcPr marL="57150" marR="57150" marT="28575" marB="28575" anchor="ctr">
                    <a:solidFill>
                      <a:srgbClr val="0B2033"/>
                    </a:solidFill>
                  </a:tcPr>
                </a:tc>
                <a:tc>
                  <a:txBody>
                    <a:bodyPr/>
                    <a:lstStyle/>
                    <a:p>
                      <a:r>
                        <a:rPr sz="863">
                          <a:solidFill>
                            <a:srgbClr val="F4F8FC"/>
                          </a:solidFill>
                          <a:latin typeface="Arial"/>
                          <a:ea typeface="Arial"/>
                          <a:cs typeface="Arial"/>
                        </a:rPr>
                        <a:t>0</a:t>
                      </a:r>
                    </a:p>
                  </a:txBody>
                  <a:tcPr marL="57150" marR="57150" marT="28575" marB="28575" anchor="ctr">
                    <a:solidFill>
                      <a:srgbClr val="0B2033"/>
                    </a:solidFill>
                  </a:tcPr>
                </a:tc>
                <a:tc>
                  <a:txBody>
                    <a:bodyPr/>
                    <a:lstStyle/>
                    <a:p>
                      <a:r>
                        <a:rPr sz="863">
                          <a:solidFill>
                            <a:srgbClr val="F4F8FC"/>
                          </a:solidFill>
                          <a:latin typeface="Arial"/>
                          <a:ea typeface="Arial"/>
                          <a:cs typeface="Arial"/>
                        </a:rPr>
                        <a:t>lower half</a:t>
                      </a:r>
                    </a:p>
                  </a:txBody>
                  <a:tcPr marL="57150" marR="57150" marT="28575" marB="28575" anchor="ctr">
                    <a:solidFill>
                      <a:srgbClr val="0B2033"/>
                    </a:solidFill>
                  </a:tcPr>
                </a:tc>
              </a:tr>
              <a:tr h="385763">
                <a:tc>
                  <a:txBody>
                    <a:bodyPr/>
                    <a:lstStyle/>
                    <a:p>
                      <a:r>
                        <a:rPr sz="863">
                          <a:solidFill>
                            <a:srgbClr val="F4F8FC"/>
                          </a:solidFill>
                          <a:latin typeface="Arial"/>
                          <a:ea typeface="Arial"/>
                          <a:cs typeface="Arial"/>
                        </a:rPr>
                        <a:t>14</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[0.98535156, 0.98547363)</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0.98541260</a:t>
                      </a:r>
                    </a:p>
                  </a:txBody>
                  <a:tcPr marL="57150" marR="57150" marT="28575" marB="28575" anchor="ctr">
                    <a:solidFill>
                      <a:srgbClr val="0B2033"/>
                    </a:solidFill>
                  </a:tcPr>
                </a:tc>
                <a:tc>
                  <a:txBody>
                    <a:bodyPr/>
                    <a:lstStyle/>
                    <a:p>
                      <a:r>
                        <a:rPr sz="863">
                          <a:solidFill>
                            <a:srgbClr val="F4F8FC"/>
                          </a:solidFill>
                          <a:latin typeface="Arial"/>
                          <a:ea typeface="Arial"/>
                          <a:cs typeface="Arial"/>
                        </a:rPr>
                        <a:t>below</a:t>
                      </a:r>
                    </a:p>
                  </a:txBody>
                  <a:tcPr marL="57150" marR="57150" marT="28575" marB="28575" anchor="ctr">
                    <a:solidFill>
                      <a:srgbClr val="0B2033"/>
                    </a:solidFill>
                  </a:tcPr>
                </a:tc>
                <a:tc>
                  <a:txBody>
                    <a:bodyPr/>
                    <a:lstStyle/>
                    <a:p>
                      <a:r>
                        <a:rPr sz="863">
                          <a:solidFill>
                            <a:srgbClr val="F4F8FC"/>
                          </a:solidFill>
                          <a:latin typeface="Arial"/>
                          <a:ea typeface="Arial"/>
                          <a:cs typeface="Arial"/>
                        </a:rPr>
                        <a:t>0</a:t>
                      </a:r>
                    </a:p>
                  </a:txBody>
                  <a:tcPr marL="57150" marR="57150" marT="28575" marB="28575" anchor="ctr">
                    <a:solidFill>
                      <a:srgbClr val="0B2033"/>
                    </a:solidFill>
                  </a:tcPr>
                </a:tc>
                <a:tc>
                  <a:txBody>
                    <a:bodyPr/>
                    <a:lstStyle/>
                    <a:p>
                      <a:r>
                        <a:rPr sz="863">
                          <a:solidFill>
                            <a:srgbClr val="F4F8FC"/>
                          </a:solidFill>
                          <a:latin typeface="Arial"/>
                          <a:ea typeface="Arial"/>
                          <a:cs typeface="Arial"/>
                        </a:rPr>
                        <a:t>lower half</a:t>
                      </a:r>
                    </a:p>
                  </a:txBody>
                  <a:tcPr marL="57150" marR="57150" marT="28575" marB="28575" anchor="ctr">
                    <a:solidFill>
                      <a:srgbClr val="0B2033"/>
                    </a:solidFill>
                  </a:tcPr>
                </a:tc>
              </a:tr>
              <a:tr h="385763">
                <a:tc>
                  <a:txBody>
                    <a:bodyPr/>
                    <a:lstStyle/>
                    <a:p>
                      <a:r>
                        <a:rPr sz="863">
                          <a:solidFill>
                            <a:srgbClr val="F4F8FC"/>
                          </a:solidFill>
                          <a:latin typeface="Arial"/>
                          <a:ea typeface="Arial"/>
                          <a:cs typeface="Arial"/>
                        </a:rPr>
                        <a:t>15</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[0.98535156, 0.98541260)</a:t>
                      </a:r>
                    </a:p>
                  </a:txBody>
                  <a:tcPr marL="57150" marR="57150" marT="28575" marB="28575" anchor="ctr">
                    <a:solidFill>
                      <a:srgbClr val="0B2033"/>
                    </a:solidFill>
                  </a:tcPr>
                </a:tc>
                <a:tc>
                  <a:txBody>
                    <a:bodyPr/>
                    <a:lstStyle/>
                    <a:p>
                      <a:r>
                        <a:rPr sz="863">
                          <a:solidFill>
                            <a:srgbClr val="F4F8FC"/>
                          </a:solidFill>
                          <a:latin typeface="Arial"/>
                          <a:ea typeface="Arial"/>
                          <a:cs typeface="Arial"/>
                        </a:rPr>
                        <a:t>0.98538208</a:t>
                      </a:r>
                    </a:p>
                  </a:txBody>
                  <a:tcPr marL="57150" marR="57150" marT="28575" marB="28575" anchor="ctr">
                    <a:solidFill>
                      <a:srgbClr val="0B2033"/>
                    </a:solidFill>
                  </a:tcPr>
                </a:tc>
                <a:tc>
                  <a:txBody>
                    <a:bodyPr/>
                    <a:lstStyle/>
                    <a:p>
                      <a:r>
                        <a:rPr sz="863">
                          <a:solidFill>
                            <a:srgbClr val="F4F8FC"/>
                          </a:solidFill>
                          <a:latin typeface="Arial"/>
                          <a:ea typeface="Arial"/>
                          <a:cs typeface="Arial"/>
                        </a:rPr>
                        <a:t>below</a:t>
                      </a:r>
                    </a:p>
                  </a:txBody>
                  <a:tcPr marL="57150" marR="57150" marT="28575" marB="28575" anchor="ctr">
                    <a:solidFill>
                      <a:srgbClr val="0B2033"/>
                    </a:solidFill>
                  </a:tcPr>
                </a:tc>
                <a:tc>
                  <a:txBody>
                    <a:bodyPr/>
                    <a:lstStyle/>
                    <a:p>
                      <a:r>
                        <a:rPr sz="863">
                          <a:solidFill>
                            <a:srgbClr val="F4F8FC"/>
                          </a:solidFill>
                          <a:latin typeface="Arial"/>
                          <a:ea typeface="Arial"/>
                          <a:cs typeface="Arial"/>
                        </a:rPr>
                        <a:t>0</a:t>
                      </a:r>
                    </a:p>
                  </a:txBody>
                  <a:tcPr marL="57150" marR="57150" marT="28575" marB="28575" anchor="ctr">
                    <a:solidFill>
                      <a:srgbClr val="0B2033"/>
                    </a:solidFill>
                  </a:tcPr>
                </a:tc>
                <a:tc>
                  <a:txBody>
                    <a:bodyPr/>
                    <a:lstStyle/>
                    <a:p>
                      <a:r>
                        <a:rPr sz="863">
                          <a:solidFill>
                            <a:srgbClr val="F4F8FC"/>
                          </a:solidFill>
                          <a:latin typeface="Arial"/>
                          <a:ea typeface="Arial"/>
                          <a:cs typeface="Arial"/>
                        </a:rPr>
                        <a:t>lower half</a:t>
                      </a:r>
                    </a:p>
                  </a:txBody>
                  <a:tcPr marL="57150" marR="57150" marT="28575" marB="28575" anchor="ctr">
                    <a:solidFill>
                      <a:srgbClr val="0B2033"/>
                    </a:solidFill>
                  </a:tcPr>
                </a:tc>
              </a:tr>
              <a:tr h="385763">
                <a:tc>
                  <a:txBody>
                    <a:bodyPr/>
                    <a:lstStyle/>
                    <a:p>
                      <a:r>
                        <a:rPr sz="863" b="1">
                          <a:solidFill>
                            <a:srgbClr val="FFB84D"/>
                          </a:solidFill>
                          <a:latin typeface="Arial"/>
                          <a:ea typeface="Arial"/>
                          <a:cs typeface="Arial"/>
                        </a:rPr>
                        <a:t>16</a:t>
                      </a:r>
                    </a:p>
                  </a:txBody>
                  <a:tcPr marL="57150" marR="57150" marT="28575" marB="28575" anchor="ctr">
                    <a:solidFill>
                      <a:srgbClr val="1B3238"/>
                    </a:solidFill>
                  </a:tcPr>
                </a:tc>
                <a:tc>
                  <a:txBody>
                    <a:bodyPr/>
                    <a:lstStyle/>
                    <a:p>
                      <a:r>
                        <a:rPr sz="863" b="1">
                          <a:solidFill>
                            <a:srgbClr val="FFB84D"/>
                          </a:solidFill>
                          <a:latin typeface="Arial"/>
                          <a:ea typeface="Arial"/>
                          <a:cs typeface="Arial"/>
                        </a:rPr>
                        <a:t>[0.98535156, 0.98538208)</a:t>
                      </a:r>
                    </a:p>
                  </a:txBody>
                  <a:tcPr marL="57150" marR="57150" marT="28575" marB="28575" anchor="ctr">
                    <a:solidFill>
                      <a:srgbClr val="1B3238"/>
                    </a:solidFill>
                  </a:tcPr>
                </a:tc>
                <a:tc>
                  <a:txBody>
                    <a:bodyPr/>
                    <a:lstStyle/>
                    <a:p>
                      <a:r>
                        <a:rPr sz="863" b="1">
                          <a:solidFill>
                            <a:srgbClr val="FFB84D"/>
                          </a:solidFill>
                          <a:latin typeface="Arial"/>
                          <a:ea typeface="Arial"/>
                          <a:cs typeface="Arial"/>
                        </a:rPr>
                        <a:t>0.98536682</a:t>
                      </a:r>
                    </a:p>
                  </a:txBody>
                  <a:tcPr marL="57150" marR="57150" marT="28575" marB="28575" anchor="ctr">
                    <a:solidFill>
                      <a:srgbClr val="1B3238"/>
                    </a:solidFill>
                  </a:tcPr>
                </a:tc>
                <a:tc>
                  <a:txBody>
                    <a:bodyPr/>
                    <a:lstStyle/>
                    <a:p>
                      <a:r>
                        <a:rPr sz="863" b="1">
                          <a:solidFill>
                            <a:srgbClr val="FFB84D"/>
                          </a:solidFill>
                          <a:latin typeface="Arial"/>
                          <a:ea typeface="Arial"/>
                          <a:cs typeface="Arial"/>
                        </a:rPr>
                        <a:t>midpoint is inside</a:t>
                      </a:r>
                    </a:p>
                  </a:txBody>
                  <a:tcPr marL="57150" marR="57150" marT="28575" marB="28575" anchor="ctr">
                    <a:solidFill>
                      <a:srgbClr val="1B3238"/>
                    </a:solidFill>
                  </a:tcPr>
                </a:tc>
                <a:tc>
                  <a:txBody>
                    <a:bodyPr/>
                    <a:lstStyle/>
                    <a:p>
                      <a:r>
                        <a:rPr sz="863" b="1">
                          <a:solidFill>
                            <a:srgbClr val="FFB84D"/>
                          </a:solidFill>
                          <a:latin typeface="Arial"/>
                          <a:ea typeface="Arial"/>
                          <a:cs typeface="Arial"/>
                        </a:rPr>
                        <a:t>1</a:t>
                      </a:r>
                    </a:p>
                  </a:txBody>
                  <a:tcPr marL="57150" marR="57150" marT="28575" marB="28575" anchor="ctr">
                    <a:solidFill>
                      <a:srgbClr val="1B3238"/>
                    </a:solidFill>
                  </a:tcPr>
                </a:tc>
                <a:tc>
                  <a:txBody>
                    <a:bodyPr/>
                    <a:lstStyle/>
                    <a:p>
                      <a:r>
                        <a:rPr sz="863" b="1">
                          <a:solidFill>
                            <a:srgbClr val="FFB84D"/>
                          </a:solidFill>
                          <a:latin typeface="Arial"/>
                          <a:ea typeface="Arial"/>
                          <a:cs typeface="Arial"/>
                        </a:rPr>
                        <a:t>valid tag point</a:t>
                      </a:r>
                    </a:p>
                  </a:txBody>
                  <a:tcPr marL="57150" marR="57150" marT="28575" marB="28575" anchor="ctr">
                    <a:solidFill>
                      <a:srgbClr val="1B3238"/>
                    </a:solidFill>
                  </a:tcPr>
                </a:tc>
              </a:tr>
              <a:tr h="385763">
                <a:tc>
                  <a:txBody>
                    <a:bodyPr/>
                    <a:lstStyle/>
                    <a:p>
                      <a:r>
                        <a:rPr sz="863" b="1">
                          <a:solidFill>
                            <a:srgbClr val="FFB84D"/>
                          </a:solidFill>
                          <a:latin typeface="Arial"/>
                          <a:ea typeface="Arial"/>
                          <a:cs typeface="Arial"/>
                        </a:rPr>
                        <a:t>17</a:t>
                      </a:r>
                    </a:p>
                  </a:txBody>
                  <a:tcPr marL="57150" marR="57150" marT="28575" marB="28575" anchor="ctr">
                    <a:solidFill>
                      <a:srgbClr val="1B3238"/>
                    </a:solidFill>
                  </a:tcPr>
                </a:tc>
                <a:tc>
                  <a:txBody>
                    <a:bodyPr/>
                    <a:lstStyle/>
                    <a:p>
                      <a:r>
                        <a:rPr sz="863" b="1">
                          <a:solidFill>
                            <a:srgbClr val="FFB84D"/>
                          </a:solidFill>
                          <a:latin typeface="Arial"/>
                          <a:ea typeface="Arial"/>
                          <a:cs typeface="Arial"/>
                        </a:rPr>
                        <a:t>append 0 to the 16-bit tag</a:t>
                      </a:r>
                    </a:p>
                  </a:txBody>
                  <a:tcPr marL="57150" marR="57150" marT="28575" marB="28575" anchor="ctr">
                    <a:solidFill>
                      <a:srgbClr val="1B3238"/>
                    </a:solidFill>
                  </a:tcPr>
                </a:tc>
                <a:tc>
                  <a:txBody>
                    <a:bodyPr/>
                    <a:lstStyle/>
                    <a:p>
                      <a:r>
                        <a:rPr sz="863" b="1">
                          <a:solidFill>
                            <a:srgbClr val="FFB84D"/>
                          </a:solidFill>
                          <a:latin typeface="Arial"/>
                          <a:ea typeface="Arial"/>
                          <a:cs typeface="Arial"/>
                        </a:rPr>
                        <a:t>—</a:t>
                      </a:r>
                    </a:p>
                  </a:txBody>
                  <a:tcPr marL="57150" marR="57150" marT="28575" marB="28575" anchor="ctr">
                    <a:solidFill>
                      <a:srgbClr val="1B3238"/>
                    </a:solidFill>
                  </a:tcPr>
                </a:tc>
                <a:tc>
                  <a:txBody>
                    <a:bodyPr/>
                    <a:lstStyle/>
                    <a:p>
                      <a:r>
                        <a:rPr sz="863" b="1">
                          <a:solidFill>
                            <a:srgbClr val="FFB84D"/>
                          </a:solidFill>
                          <a:latin typeface="Arial"/>
                          <a:ea typeface="Arial"/>
                          <a:cs typeface="Arial"/>
                        </a:rPr>
                        <a:t>contained prefix cell</a:t>
                      </a:r>
                    </a:p>
                  </a:txBody>
                  <a:tcPr marL="57150" marR="57150" marT="28575" marB="28575" anchor="ctr">
                    <a:solidFill>
                      <a:srgbClr val="1B3238"/>
                    </a:solidFill>
                  </a:tcPr>
                </a:tc>
                <a:tc>
                  <a:txBody>
                    <a:bodyPr/>
                    <a:lstStyle/>
                    <a:p>
                      <a:r>
                        <a:rPr sz="863" b="1">
                          <a:solidFill>
                            <a:srgbClr val="FFB84D"/>
                          </a:solidFill>
                          <a:latin typeface="Arial"/>
                          <a:ea typeface="Arial"/>
                          <a:cs typeface="Arial"/>
                        </a:rPr>
                        <a:t>0</a:t>
                      </a:r>
                    </a:p>
                  </a:txBody>
                  <a:tcPr marL="57150" marR="57150" marT="28575" marB="28575" anchor="ctr">
                    <a:solidFill>
                      <a:srgbClr val="1B3238"/>
                    </a:solidFill>
                  </a:tcPr>
                </a:tc>
                <a:tc>
                  <a:txBody>
                    <a:bodyPr/>
                    <a:lstStyle/>
                    <a:p>
                      <a:r>
                        <a:rPr sz="863" b="1">
                          <a:solidFill>
                            <a:srgbClr val="FFB84D"/>
                          </a:solidFill>
                          <a:latin typeface="Arial"/>
                          <a:ea typeface="Arial"/>
                          <a:cs typeface="Arial"/>
                        </a:rPr>
                        <a:t>[0.98536682, 0.98537445)</a:t>
                      </a:r>
                    </a:p>
                  </a:txBody>
                  <a:tcPr marL="57150" marR="57150" marT="28575" marB="28575" anchor="ctr">
                    <a:solidFill>
                      <a:srgbClr val="1B3238"/>
                    </a:solidFill>
                  </a:tcPr>
                </a:tc>
              </a:tr>
            </a:tbl>
          </a:graphicData>
        </a:graphic>
      </p:graphicFrame>
      <p:sp>
        <p:nvSpPr>
          <p:cNvPr id="9" name="">
            <a:extLst xmlns:a="http://schemas.openxmlformats.org/drawingml/2006/main">
              <a:ext uri="{FF2B5EF4-FFF2-40B4-BE49-F238E27FC236}">
                <a16:creationId xmlns:a16="http://schemas.microsoft.com/office/drawing/2014/main" id="{F1C08B1F-035D-4C84-ACEC-72ECC4511AA4}"/>
              </a:ext>
            </a:extLst>
          </p:cNvPr>
          <p:cNvSpPr>
            <a:spLocks xmlns:a="http://schemas.openxmlformats.org/drawingml/2006/main" noGrp="1"/>
          </p:cNvSpPr>
          <p:nvPr/>
        </p:nvSpPr>
        <p:spPr>
          <a:xfrm xmlns:a="http://schemas.openxmlformats.org/drawingml/2006/main">
            <a:off x="1381125" y="5476875"/>
            <a:ext cx="4476750" cy="495300"/>
          </a:xfrm>
          <a:prstGeom xmlns:a="http://schemas.openxmlformats.org/drawingml/2006/main" prst="roundRect">
            <a:avLst>
              <a:gd name="adj" fmla="val 23077"/>
            </a:avLst>
          </a:prstGeom>
          <a:solidFill xmlns:a="http://schemas.openxmlformats.org/drawingml/2006/main">
            <a:srgbClr val="0A2830"/>
          </a:solidFill>
          <a:ln xmlns:a="http://schemas.openxmlformats.org/drawingml/2006/main" w="19050">
            <a:solidFill>
              <a:srgbClr val="47E6A4"/>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defRPr sz="1350" b="1">
                <a:solidFill>
                  <a:srgbClr val="F4F8FC"/>
                </a:solidFill>
                <a:latin typeface="Arial"/>
                <a:ea typeface="Arial"/>
                <a:cs typeface="Arial"/>
              </a:defRPr>
            </a:pPr>
            <a:r>
              <a:rPr sz="1350" b="1">
                <a:solidFill>
                  <a:srgbClr val="F4F8FC"/>
                </a:solidFill>
                <a:latin typeface="Arial"/>
                <a:ea typeface="Arial"/>
                <a:cs typeface="Arial"/>
              </a:rPr>
              <a:t>16-bit tag point: 1111110001000001</a:t>
            </a:r>
          </a:p>
        </p:txBody>
      </p:sp>
      <p:sp>
        <p:nvSpPr>
          <p:cNvPr id="10" name="">
            <a:extLst xmlns:a="http://schemas.openxmlformats.org/drawingml/2006/main">
              <a:ext uri="{FF2B5EF4-FFF2-40B4-BE49-F238E27FC236}">
                <a16:creationId xmlns:a16="http://schemas.microsoft.com/office/drawing/2014/main" id="{145A5A1D-FEBF-42A1-AFF3-4E56C55B51C4}"/>
              </a:ext>
            </a:extLst>
          </p:cNvPr>
          <p:cNvSpPr>
            <a:spLocks xmlns:a="http://schemas.openxmlformats.org/drawingml/2006/main" noGrp="1"/>
          </p:cNvSpPr>
          <p:nvPr/>
        </p:nvSpPr>
        <p:spPr>
          <a:xfrm xmlns:a="http://schemas.openxmlformats.org/drawingml/2006/main">
            <a:off x="6334125" y="5476875"/>
            <a:ext cx="4476750" cy="495300"/>
          </a:xfrm>
          <a:prstGeom xmlns:a="http://schemas.openxmlformats.org/drawingml/2006/main" prst="roundRect">
            <a:avLst>
              <a:gd name="adj" fmla="val 23077"/>
            </a:avLst>
          </a:prstGeom>
          <a:solidFill xmlns:a="http://schemas.openxmlformats.org/drawingml/2006/main">
            <a:srgbClr val="092034"/>
          </a:solidFill>
          <a:ln xmlns:a="http://schemas.openxmlformats.org/drawingml/2006/main" w="19050">
            <a:solidFill>
              <a:srgbClr val="22D3EE"/>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defRPr sz="1350" b="1">
                <a:solidFill>
                  <a:srgbClr val="F4F8FC"/>
                </a:solidFill>
                <a:latin typeface="Arial"/>
                <a:ea typeface="Arial"/>
                <a:cs typeface="Arial"/>
              </a:defRPr>
            </a:pPr>
            <a:r>
              <a:rPr sz="1350" b="1">
                <a:solidFill>
                  <a:srgbClr val="F4F8FC"/>
                </a:solidFill>
                <a:latin typeface="Arial"/>
                <a:ea typeface="Arial"/>
                <a:cs typeface="Arial"/>
              </a:rPr>
              <a:t>17-bit contained prefix: 11111100010000010</a:t>
            </a:r>
          </a:p>
        </p:txBody>
      </p:sp>
      <p:sp>
        <p:nvSpPr>
          <p:cNvPr id="11" name="">
            <a:extLst xmlns:a="http://schemas.openxmlformats.org/drawingml/2006/main">
              <a:ext uri="{FF2B5EF4-FFF2-40B4-BE49-F238E27FC236}">
                <a16:creationId xmlns:a16="http://schemas.microsoft.com/office/drawing/2014/main" id="{B0C49BB0-DC82-4BED-9B9A-6AED1D9EC548}"/>
              </a:ext>
            </a:extLst>
          </p:cNvPr>
          <p:cNvSpPr>
            <a:spLocks xmlns:a="http://schemas.openxmlformats.org/drawingml/2006/main" noGrp="1"/>
          </p:cNvSpPr>
          <p:nvPr/>
        </p:nvSpPr>
        <p:spPr>
          <a:xfrm xmlns:a="http://schemas.openxmlformats.org/drawingml/2006/main">
            <a:off x="1476375" y="6143625"/>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ctr">
              <a:defRPr sz="1050" b="1">
                <a:solidFill>
                  <a:srgbClr val="AFC0D0"/>
                </a:solidFill>
                <a:latin typeface="Arial"/>
                <a:ea typeface="Arial"/>
                <a:cs typeface="Arial"/>
              </a:defRPr>
            </a:pPr>
            <a:r>
              <a:rPr sz="1050" b="1">
                <a:solidFill>
                  <a:srgbClr val="AFC0D0"/>
                </a:solidFill>
                <a:latin typeface="Arial"/>
                <a:ea typeface="Arial"/>
                <a:cs typeface="Arial"/>
              </a:rPr>
              <a:t>Real HEVC CABAC emits integer-coded bits incrementally. This bisection is the teaching model for the supplied interval.</a:t>
            </a:r>
          </a:p>
        </p:txBody>
      </p:sp>
    </p:spTree>
    <p:extLst>
      <p:ext uri="{BB962C8B-B14F-4D97-AF65-F5344CB8AC3E}">
        <p14:creationId xmlns:p14="http://schemas.microsoft.com/office/powerpoint/2010/main" val="1172918492"/>
      </p:ext>
    </p:extLst>
  </p:cSld>
</p:sld>
</file>

<file path=ppt/slides/slide24.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BF478E-F42B-4904-A691-8A771574E73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779A10-DA8A-4E8B-9772-393CA9F8185A}"/>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5DEF7F-A244-4479-ACE3-EB13FFE78D94}"/>
              </a:ext>
            </a:extLst>
          </p:cNvPr>
          <p:cNvSpPr>
            <a:spLocks xmlns:a="http://schemas.openxmlformats.org/drawingml/2006/main" noGrp="1"/>
          </p:cNvSpPr>
          <p:nvPr/>
        </p:nvSpPr>
        <p:spPr>
          <a:xfrm xmlns:a="http://schemas.openxmlformats.org/drawingml/2006/main">
            <a:off x="476250" y="23812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2550" b="1">
                <a:solidFill>
                  <a:srgbClr val="F4F8FC"/>
                </a:solidFill>
                <a:latin typeface="Arial"/>
                <a:ea typeface="Arial"/>
                <a:cs typeface="Arial"/>
              </a:defRPr>
            </a:pPr>
            <a:r>
              <a:rPr sz="2550" b="1">
                <a:solidFill>
                  <a:srgbClr val="F4F8FC"/>
                </a:solidFill>
                <a:latin typeface="Arial"/>
                <a:ea typeface="Arial"/>
                <a:cs typeface="Arial"/>
              </a:rPr>
              <a:t>Inverse arithmetic decoding: bins 1 to 10</a:t>
            </a:r>
          </a:p>
        </p:txBody>
      </p:sp>
      <p:sp>
        <p:nvSpPr>
          <p:cNvPr id="4" name="">
            <a:extLst xmlns:a="http://schemas.openxmlformats.org/drawingml/2006/main">
              <a:ext uri="{FF2B5EF4-FFF2-40B4-BE49-F238E27FC236}">
                <a16:creationId xmlns:a16="http://schemas.microsoft.com/office/drawing/2014/main" id="{04ABC2DA-E706-4843-8101-D1EBD90150CA}"/>
              </a:ext>
            </a:extLst>
          </p:cNvPr>
          <p:cNvSpPr>
            <a:spLocks xmlns:a="http://schemas.openxmlformats.org/drawingml/2006/main" noGrp="1"/>
          </p:cNvSpPr>
          <p:nvPr/>
        </p:nvSpPr>
        <p:spPr>
          <a:xfrm xmlns:a="http://schemas.openxmlformats.org/drawingml/2006/main">
            <a:off x="400050" y="904875"/>
            <a:ext cx="11391900" cy="19050"/>
          </a:xfrm>
          <a:prstGeom xmlns:a="http://schemas.openxmlformats.org/drawingml/2006/main" prst="rect">
            <a:avLst/>
          </a:prstGeom>
          <a:solidFill xmlns:a="http://schemas.openxmlformats.org/drawingml/2006/main">
            <a:srgbClr val="2A587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694F16-2B1C-4EBA-9307-301657372FDF}"/>
              </a:ext>
            </a:extLst>
          </p:cNvPr>
          <p:cNvSpPr>
            <a:spLocks xmlns:a="http://schemas.openxmlformats.org/drawingml/2006/main" noGrp="1"/>
          </p:cNvSpPr>
          <p:nvPr/>
        </p:nvSpPr>
        <p:spPr>
          <a:xfrm xmlns:a="http://schemas.openxmlformats.org/drawingml/2006/main">
            <a:off x="476250" y="990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1200" b="0">
                <a:solidFill>
                  <a:srgbClr val="AFC0D0"/>
                </a:solidFill>
                <a:latin typeface="Arial"/>
                <a:ea typeface="Arial"/>
                <a:cs typeface="Arial"/>
              </a:defRPr>
            </a:pPr>
            <a:r>
              <a:rPr sz="1200" b="0">
                <a:solidFill>
                  <a:srgbClr val="AFC0D0"/>
                </a:solidFill>
                <a:latin typeface="Arial"/>
                <a:ea typeface="Arial"/>
                <a:cs typeface="Arial"/>
              </a:rPr>
              <a:t>Use the same split points. Compare R = 0.9853668 with each split and retrace the encoding path.</a:t>
            </a:r>
          </a:p>
        </p:txBody>
      </p:sp>
      <p:sp>
        <p:nvSpPr>
          <p:cNvPr id="6" name="">
            <a:extLst xmlns:a="http://schemas.openxmlformats.org/drawingml/2006/main">
              <a:ext uri="{FF2B5EF4-FFF2-40B4-BE49-F238E27FC236}">
                <a16:creationId xmlns:a16="http://schemas.microsoft.com/office/drawing/2014/main" id="{60695A8D-4CCF-41A7-9191-7076F5B5DD10}"/>
              </a:ext>
            </a:extLst>
          </p:cNvPr>
          <p:cNvSpPr>
            <a:spLocks xmlns:a="http://schemas.openxmlformats.org/drawingml/2006/main" noGrp="1"/>
          </p:cNvSpPr>
          <p:nvPr/>
        </p:nvSpPr>
        <p:spPr>
          <a:xfrm xmlns:a="http://schemas.openxmlformats.org/drawingml/2006/main">
            <a:off x="1285875" y="64579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600" b="0">
                <a:solidFill>
                  <a:srgbClr val="AFC0D0"/>
                </a:solidFill>
                <a:latin typeface="Arial"/>
                <a:ea typeface="Arial"/>
                <a:cs typeface="Arial"/>
              </a:defRPr>
            </a:pPr>
            <a:r>
              <a:rPr sz="600" b="0">
                <a:solidFill>
                  <a:srgbClr val="AFC0D0"/>
                </a:solidFill>
                <a:latin typeface="Arial"/>
                <a:ea typeface="Arial"/>
                <a:cs typeface="Arial"/>
              </a:rPr>
              <a:t>Sources and evidence: speaker notes</a:t>
            </a:r>
          </a:p>
        </p:txBody>
      </p:sp>
      <p:sp>
        <p:nvSpPr>
          <p:cNvPr id="7" name="">
            <a:extLst xmlns:a="http://schemas.openxmlformats.org/drawingml/2006/main">
              <a:ext uri="{FF2B5EF4-FFF2-40B4-BE49-F238E27FC236}">
                <a16:creationId xmlns:a16="http://schemas.microsoft.com/office/drawing/2014/main" id="{A11B57C4-DD5B-4F40-8994-9839ABF611C4}"/>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r">
              <a:defRPr sz="975" b="1">
                <a:solidFill>
                  <a:srgbClr val="22D3EE"/>
                </a:solidFill>
                <a:latin typeface="Arial"/>
                <a:ea typeface="Arial"/>
                <a:cs typeface="Arial"/>
              </a:defRPr>
            </a:pPr>
            <a:r>
              <a:rPr sz="975" b="1">
                <a:solidFill>
                  <a:srgbClr val="22D3EE"/>
                </a:solidFill>
                <a:latin typeface="Arial"/>
                <a:ea typeface="Arial"/>
                <a:cs typeface="Arial"/>
              </a:rPr>
              <a:t>24 / 49</a:t>
            </a:r>
          </a:p>
        </p:txBody>
      </p:sp>
      <p:graphicFrame>
        <p:nvGraphicFramePr>
          <p:cNvPr id="17" name=""/>
          <p:cNvGraphicFramePr/>
          <p:nvPr/>
        </p:nvGraphicFramePr>
        <p:xfrm>
          <a:off xmlns:a="http://schemas.openxmlformats.org/drawingml/2006/main" x="428625" y="1428750"/>
          <a:ext xmlns:a="http://schemas.openxmlformats.org/drawingml/2006/main" cx="11334750" cy="4429125"/>
        </p:xfrm>
        <a:graphic xmlns:a="http://schemas.openxmlformats.org/drawingml/2006/main">
          <a:graphicData uri="http://schemas.openxmlformats.org/drawingml/2006/table">
            <a:tbl>
              <a:tblPr/>
              <a:tblGrid>
                <a:gridCol w="476250"/>
                <a:gridCol w="2857500"/>
                <a:gridCol w="1333500"/>
                <a:gridCol w="1285875"/>
                <a:gridCol w="1381125"/>
                <a:gridCol w="4000500"/>
              </a:tblGrid>
              <a:tr h="402648">
                <a:tc>
                  <a:txBody>
                    <a:bodyPr/>
                    <a:lstStyle/>
                    <a:p>
                      <a:r>
                        <a:rPr sz="938" b="1">
                          <a:solidFill>
                            <a:srgbClr val="22D3EE"/>
                          </a:solidFill>
                          <a:latin typeface="Arial"/>
                          <a:ea typeface="Arial"/>
                          <a:cs typeface="Arial"/>
                        </a:rPr>
                        <a:t>#</a:t>
                      </a:r>
                    </a:p>
                  </a:txBody>
                  <a:tcPr marL="57150" marR="57150" marT="28575" marB="28575" anchor="ctr">
                    <a:solidFill>
                      <a:srgbClr val="12314A"/>
                    </a:solidFill>
                  </a:tcPr>
                </a:tc>
                <a:tc>
                  <a:txBody>
                    <a:bodyPr/>
                    <a:lstStyle/>
                    <a:p>
                      <a:r>
                        <a:rPr sz="938" b="1">
                          <a:solidFill>
                            <a:srgbClr val="22D3EE"/>
                          </a:solidFill>
                          <a:latin typeface="Arial"/>
                          <a:ea typeface="Arial"/>
                          <a:cs typeface="Arial"/>
                        </a:rPr>
                        <a:t>Meaning</a:t>
                      </a:r>
                    </a:p>
                  </a:txBody>
                  <a:tcPr marL="57150" marR="57150" marT="28575" marB="28575" anchor="ctr">
                    <a:solidFill>
                      <a:srgbClr val="12314A"/>
                    </a:solidFill>
                  </a:tcPr>
                </a:tc>
                <a:tc>
                  <a:txBody>
                    <a:bodyPr/>
                    <a:lstStyle/>
                    <a:p>
                      <a:r>
                        <a:rPr sz="938" b="1">
                          <a:solidFill>
                            <a:srgbClr val="22D3EE"/>
                          </a:solidFill>
                          <a:latin typeface="Arial"/>
                          <a:ea typeface="Arial"/>
                          <a:cs typeface="Arial"/>
                        </a:rPr>
                        <a:t>Split</a:t>
                      </a:r>
                    </a:p>
                  </a:txBody>
                  <a:tcPr marL="57150" marR="57150" marT="28575" marB="28575" anchor="ctr">
                    <a:solidFill>
                      <a:srgbClr val="12314A"/>
                    </a:solidFill>
                  </a:tcPr>
                </a:tc>
                <a:tc>
                  <a:txBody>
                    <a:bodyPr/>
                    <a:lstStyle/>
                    <a:p>
                      <a:r>
                        <a:rPr sz="938" b="1">
                          <a:solidFill>
                            <a:srgbClr val="22D3EE"/>
                          </a:solidFill>
                          <a:latin typeface="Arial"/>
                          <a:ea typeface="Arial"/>
                          <a:cs typeface="Arial"/>
                        </a:rPr>
                        <a:t>R ≥ split?</a:t>
                      </a:r>
                    </a:p>
                  </a:txBody>
                  <a:tcPr marL="57150" marR="57150" marT="28575" marB="28575" anchor="ctr">
                    <a:solidFill>
                      <a:srgbClr val="12314A"/>
                    </a:solidFill>
                  </a:tcPr>
                </a:tc>
                <a:tc>
                  <a:txBody>
                    <a:bodyPr/>
                    <a:lstStyle/>
                    <a:p>
                      <a:r>
                        <a:rPr sz="938" b="1">
                          <a:solidFill>
                            <a:srgbClr val="22D3EE"/>
                          </a:solidFill>
                          <a:latin typeface="Arial"/>
                          <a:ea typeface="Arial"/>
                          <a:cs typeface="Arial"/>
                        </a:rPr>
                        <a:t>Recovered bin</a:t>
                      </a:r>
                    </a:p>
                  </a:txBody>
                  <a:tcPr marL="57150" marR="57150" marT="28575" marB="28575" anchor="ctr">
                    <a:solidFill>
                      <a:srgbClr val="12314A"/>
                    </a:solidFill>
                  </a:tcPr>
                </a:tc>
                <a:tc>
                  <a:txBody>
                    <a:bodyPr/>
                    <a:lstStyle/>
                    <a:p>
                      <a:r>
                        <a:rPr sz="938" b="1">
                          <a:solidFill>
                            <a:srgbClr val="22D3EE"/>
                          </a:solidFill>
                          <a:latin typeface="Arial"/>
                          <a:ea typeface="Arial"/>
                          <a:cs typeface="Arial"/>
                        </a:rPr>
                        <a:t>Narrowed interval</a:t>
                      </a:r>
                    </a:p>
                  </a:txBody>
                  <a:tcPr marL="57150" marR="57150" marT="28575" marB="28575" anchor="ctr">
                    <a:solidFill>
                      <a:srgbClr val="12314A"/>
                    </a:solidFill>
                  </a:tcPr>
                </a:tc>
              </a:tr>
              <a:tr h="402648">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coded-block presence</a:t>
                      </a:r>
                    </a:p>
                  </a:txBody>
                  <a:tcPr marL="57150" marR="57150" marT="28575" marB="28575" anchor="ctr">
                    <a:solidFill>
                      <a:srgbClr val="0B2033"/>
                    </a:solidFill>
                  </a:tcPr>
                </a:tc>
                <a:tc>
                  <a:txBody>
                    <a:bodyPr/>
                    <a:lstStyle/>
                    <a:p>
                      <a:r>
                        <a:rPr sz="825">
                          <a:solidFill>
                            <a:srgbClr val="F4F8FC"/>
                          </a:solidFill>
                          <a:latin typeface="Arial"/>
                          <a:ea typeface="Arial"/>
                          <a:cs typeface="Arial"/>
                        </a:rPr>
                        <a:t>0.15000</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[0.15000,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2</a:t>
                      </a:r>
                    </a:p>
                  </a:txBody>
                  <a:tcPr marL="57150" marR="57150" marT="28575" marB="28575" anchor="ctr">
                    <a:solidFill>
                      <a:srgbClr val="0B2033"/>
                    </a:solidFill>
                  </a:tcPr>
                </a:tc>
                <a:tc>
                  <a:txBody>
                    <a:bodyPr/>
                    <a:lstStyle/>
                    <a:p>
                      <a:r>
                        <a:rPr sz="825">
                          <a:solidFill>
                            <a:srgbClr val="F4F8FC"/>
                          </a:solidFill>
                          <a:latin typeface="Arial"/>
                          <a:ea typeface="Arial"/>
                          <a:cs typeface="Arial"/>
                        </a:rPr>
                        <a:t>significance: position 1</a:t>
                      </a:r>
                    </a:p>
                  </a:txBody>
                  <a:tcPr marL="57150" marR="57150" marT="28575" marB="28575" anchor="ctr">
                    <a:solidFill>
                      <a:srgbClr val="0B2033"/>
                    </a:solidFill>
                  </a:tcPr>
                </a:tc>
                <a:tc>
                  <a:txBody>
                    <a:bodyPr/>
                    <a:lstStyle/>
                    <a:p>
                      <a:r>
                        <a:rPr sz="825">
                          <a:solidFill>
                            <a:srgbClr val="F4F8FC"/>
                          </a:solidFill>
                          <a:latin typeface="Arial"/>
                          <a:ea typeface="Arial"/>
                          <a:cs typeface="Arial"/>
                        </a:rPr>
                        <a:t>0.23500</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[0.23500,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3</a:t>
                      </a:r>
                    </a:p>
                  </a:txBody>
                  <a:tcPr marL="57150" marR="57150" marT="28575" marB="28575" anchor="ctr">
                    <a:solidFill>
                      <a:srgbClr val="0B2033"/>
                    </a:solidFill>
                  </a:tcPr>
                </a:tc>
                <a:tc>
                  <a:txBody>
                    <a:bodyPr/>
                    <a:lstStyle/>
                    <a:p>
                      <a:r>
                        <a:rPr sz="825">
                          <a:solidFill>
                            <a:srgbClr val="F4F8FC"/>
                          </a:solidFill>
                          <a:latin typeface="Arial"/>
                          <a:ea typeface="Arial"/>
                          <a:cs typeface="Arial"/>
                        </a:rPr>
                        <a:t>significance: position 2</a:t>
                      </a:r>
                    </a:p>
                  </a:txBody>
                  <a:tcPr marL="57150" marR="57150" marT="28575" marB="28575" anchor="ctr">
                    <a:solidFill>
                      <a:srgbClr val="0B2033"/>
                    </a:solidFill>
                  </a:tcPr>
                </a:tc>
                <a:tc>
                  <a:txBody>
                    <a:bodyPr/>
                    <a:lstStyle/>
                    <a:p>
                      <a:r>
                        <a:rPr sz="825">
                          <a:solidFill>
                            <a:srgbClr val="F4F8FC"/>
                          </a:solidFill>
                          <a:latin typeface="Arial"/>
                          <a:ea typeface="Arial"/>
                          <a:cs typeface="Arial"/>
                        </a:rPr>
                        <a:t>0.42625</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[0.42625,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4</a:t>
                      </a:r>
                    </a:p>
                  </a:txBody>
                  <a:tcPr marL="57150" marR="57150" marT="28575" marB="28575" anchor="ctr">
                    <a:solidFill>
                      <a:srgbClr val="0B2033"/>
                    </a:solidFill>
                  </a:tcPr>
                </a:tc>
                <a:tc>
                  <a:txBody>
                    <a:bodyPr/>
                    <a:lstStyle/>
                    <a:p>
                      <a:r>
                        <a:rPr sz="825">
                          <a:solidFill>
                            <a:srgbClr val="F4F8FC"/>
                          </a:solidFill>
                          <a:latin typeface="Arial"/>
                          <a:ea typeface="Arial"/>
                          <a:cs typeface="Arial"/>
                        </a:rPr>
                        <a:t>significance: position 3</a:t>
                      </a:r>
                    </a:p>
                  </a:txBody>
                  <a:tcPr marL="57150" marR="57150" marT="28575" marB="28575" anchor="ctr">
                    <a:solidFill>
                      <a:srgbClr val="0B2033"/>
                    </a:solidFill>
                  </a:tcPr>
                </a:tc>
                <a:tc>
                  <a:txBody>
                    <a:bodyPr/>
                    <a:lstStyle/>
                    <a:p>
                      <a:r>
                        <a:rPr sz="825">
                          <a:solidFill>
                            <a:srgbClr val="F4F8FC"/>
                          </a:solidFill>
                          <a:latin typeface="Arial"/>
                          <a:ea typeface="Arial"/>
                          <a:cs typeface="Arial"/>
                        </a:rPr>
                        <a:t>0.68444</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[0.68444,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5</a:t>
                      </a:r>
                    </a:p>
                  </a:txBody>
                  <a:tcPr marL="57150" marR="57150" marT="28575" marB="28575" anchor="ctr">
                    <a:solidFill>
                      <a:srgbClr val="0B2033"/>
                    </a:solidFill>
                  </a:tcPr>
                </a:tc>
                <a:tc>
                  <a:txBody>
                    <a:bodyPr/>
                    <a:lstStyle/>
                    <a:p>
                      <a:r>
                        <a:rPr sz="825">
                          <a:solidFill>
                            <a:srgbClr val="F4F8FC"/>
                          </a:solidFill>
                          <a:latin typeface="Arial"/>
                          <a:ea typeface="Arial"/>
                          <a:cs typeface="Arial"/>
                        </a:rPr>
                        <a:t>significance: position 4</a:t>
                      </a:r>
                    </a:p>
                  </a:txBody>
                  <a:tcPr marL="57150" marR="57150" marT="28575" marB="28575" anchor="ctr">
                    <a:solidFill>
                      <a:srgbClr val="0B2033"/>
                    </a:solidFill>
                  </a:tcPr>
                </a:tc>
                <a:tc>
                  <a:txBody>
                    <a:bodyPr/>
                    <a:lstStyle/>
                    <a:p>
                      <a:r>
                        <a:rPr sz="825">
                          <a:solidFill>
                            <a:srgbClr val="F4F8FC"/>
                          </a:solidFill>
                          <a:latin typeface="Arial"/>
                          <a:ea typeface="Arial"/>
                          <a:cs typeface="Arial"/>
                        </a:rPr>
                        <a:t>0.85800</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[0.85800,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6</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1 magnitude &gt; 1</a:t>
                      </a:r>
                    </a:p>
                  </a:txBody>
                  <a:tcPr marL="57150" marR="57150" marT="28575" marB="28575" anchor="ctr">
                    <a:solidFill>
                      <a:srgbClr val="0B2033"/>
                    </a:solidFill>
                  </a:tcPr>
                </a:tc>
                <a:tc>
                  <a:txBody>
                    <a:bodyPr/>
                    <a:lstStyle/>
                    <a:p>
                      <a:r>
                        <a:rPr sz="825">
                          <a:solidFill>
                            <a:srgbClr val="F4F8FC"/>
                          </a:solidFill>
                          <a:latin typeface="Arial"/>
                          <a:ea typeface="Arial"/>
                          <a:cs typeface="Arial"/>
                        </a:rPr>
                        <a:t>0.92900</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[0.92900,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7</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1 magnitude &gt; 2</a:t>
                      </a:r>
                    </a:p>
                  </a:txBody>
                  <a:tcPr marL="57150" marR="57150" marT="28575" marB="28575" anchor="ctr">
                    <a:solidFill>
                      <a:srgbClr val="0B2033"/>
                    </a:solidFill>
                  </a:tcPr>
                </a:tc>
                <a:tc>
                  <a:txBody>
                    <a:bodyPr/>
                    <a:lstStyle/>
                    <a:p>
                      <a:r>
                        <a:rPr sz="825">
                          <a:solidFill>
                            <a:srgbClr val="F4F8FC"/>
                          </a:solidFill>
                          <a:latin typeface="Arial"/>
                          <a:ea typeface="Arial"/>
                          <a:cs typeface="Arial"/>
                        </a:rPr>
                        <a:t>0.96450</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[0.96450,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8</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1 remainder a</a:t>
                      </a:r>
                    </a:p>
                  </a:txBody>
                  <a:tcPr marL="57150" marR="57150" marT="28575" marB="28575" anchor="ctr">
                    <a:solidFill>
                      <a:srgbClr val="0B2033"/>
                    </a:solidFill>
                  </a:tcPr>
                </a:tc>
                <a:tc>
                  <a:txBody>
                    <a:bodyPr/>
                    <a:lstStyle/>
                    <a:p>
                      <a:r>
                        <a:rPr sz="825">
                          <a:solidFill>
                            <a:srgbClr val="F4F8FC"/>
                          </a:solidFill>
                          <a:latin typeface="Arial"/>
                          <a:ea typeface="Arial"/>
                          <a:cs typeface="Arial"/>
                        </a:rPr>
                        <a:t>0.98225</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[0.98225, 1.00000)</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9</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1 remainder b</a:t>
                      </a:r>
                    </a:p>
                  </a:txBody>
                  <a:tcPr marL="57150" marR="57150" marT="28575" marB="28575" anchor="ctr">
                    <a:solidFill>
                      <a:srgbClr val="0B2033"/>
                    </a:solidFill>
                  </a:tcPr>
                </a:tc>
                <a:tc>
                  <a:txBody>
                    <a:bodyPr/>
                    <a:lstStyle/>
                    <a:p>
                      <a:r>
                        <a:rPr sz="825">
                          <a:solidFill>
                            <a:srgbClr val="F4F8FC"/>
                          </a:solidFill>
                          <a:latin typeface="Arial"/>
                          <a:ea typeface="Arial"/>
                          <a:cs typeface="Arial"/>
                        </a:rPr>
                        <a:t>0.99112</a:t>
                      </a:r>
                    </a:p>
                  </a:txBody>
                  <a:tcPr marL="57150" marR="57150" marT="28575" marB="28575" anchor="ctr">
                    <a:solidFill>
                      <a:srgbClr val="0B2033"/>
                    </a:solidFill>
                  </a:tcPr>
                </a:tc>
                <a:tc>
                  <a:txBody>
                    <a:bodyPr/>
                    <a:lstStyle/>
                    <a:p>
                      <a:r>
                        <a:rPr sz="825">
                          <a:solidFill>
                            <a:srgbClr val="F4F8FC"/>
                          </a:solidFill>
                          <a:latin typeface="Arial"/>
                          <a:ea typeface="Arial"/>
                          <a:cs typeface="Arial"/>
                        </a:rPr>
                        <a:t>no</a:t>
                      </a:r>
                    </a:p>
                  </a:txBody>
                  <a:tcPr marL="57150" marR="57150" marT="28575" marB="28575" anchor="ctr">
                    <a:solidFill>
                      <a:srgbClr val="0B2033"/>
                    </a:solidFill>
                  </a:tcPr>
                </a:tc>
                <a:tc>
                  <a:txBody>
                    <a:bodyPr/>
                    <a:lstStyle/>
                    <a:p>
                      <a:r>
                        <a:rPr sz="825">
                          <a:solidFill>
                            <a:srgbClr val="F4F8FC"/>
                          </a:solidFill>
                          <a:latin typeface="Arial"/>
                          <a:ea typeface="Arial"/>
                          <a:cs typeface="Arial"/>
                        </a:rPr>
                        <a:t>0</a:t>
                      </a:r>
                    </a:p>
                  </a:txBody>
                  <a:tcPr marL="57150" marR="57150" marT="28575" marB="28575" anchor="ctr">
                    <a:solidFill>
                      <a:srgbClr val="0B2033"/>
                    </a:solidFill>
                  </a:tcPr>
                </a:tc>
                <a:tc>
                  <a:txBody>
                    <a:bodyPr/>
                    <a:lstStyle/>
                    <a:p>
                      <a:r>
                        <a:rPr sz="825">
                          <a:solidFill>
                            <a:srgbClr val="F4F8FC"/>
                          </a:solidFill>
                          <a:latin typeface="Arial"/>
                          <a:ea typeface="Arial"/>
                          <a:cs typeface="Arial"/>
                        </a:rPr>
                        <a:t>[0.98225, 0.99112)</a:t>
                      </a:r>
                    </a:p>
                  </a:txBody>
                  <a:tcPr marL="57150" marR="57150" marT="28575" marB="28575" anchor="ctr">
                    <a:solidFill>
                      <a:srgbClr val="0B2033"/>
                    </a:solidFill>
                  </a:tcPr>
                </a:tc>
              </a:tr>
              <a:tr h="402648">
                <a:tc>
                  <a:txBody>
                    <a:bodyPr/>
                    <a:lstStyle/>
                    <a:p>
                      <a:r>
                        <a:rPr sz="825">
                          <a:solidFill>
                            <a:srgbClr val="F4F8FC"/>
                          </a:solidFill>
                          <a:latin typeface="Arial"/>
                          <a:ea typeface="Arial"/>
                          <a:cs typeface="Arial"/>
                        </a:rPr>
                        <a:t>10</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1 sign</a:t>
                      </a:r>
                    </a:p>
                  </a:txBody>
                  <a:tcPr marL="57150" marR="57150" marT="28575" marB="28575" anchor="ctr">
                    <a:solidFill>
                      <a:srgbClr val="0B2033"/>
                    </a:solidFill>
                  </a:tcPr>
                </a:tc>
                <a:tc>
                  <a:txBody>
                    <a:bodyPr/>
                    <a:lstStyle/>
                    <a:p>
                      <a:r>
                        <a:rPr sz="825">
                          <a:solidFill>
                            <a:srgbClr val="F4F8FC"/>
                          </a:solidFill>
                          <a:latin typeface="Arial"/>
                          <a:ea typeface="Arial"/>
                          <a:cs typeface="Arial"/>
                        </a:rPr>
                        <a:t>0.98669</a:t>
                      </a:r>
                    </a:p>
                  </a:txBody>
                  <a:tcPr marL="57150" marR="57150" marT="28575" marB="28575" anchor="ctr">
                    <a:solidFill>
                      <a:srgbClr val="0B2033"/>
                    </a:solidFill>
                  </a:tcPr>
                </a:tc>
                <a:tc>
                  <a:txBody>
                    <a:bodyPr/>
                    <a:lstStyle/>
                    <a:p>
                      <a:r>
                        <a:rPr sz="825">
                          <a:solidFill>
                            <a:srgbClr val="F4F8FC"/>
                          </a:solidFill>
                          <a:latin typeface="Arial"/>
                          <a:ea typeface="Arial"/>
                          <a:cs typeface="Arial"/>
                        </a:rPr>
                        <a:t>no</a:t>
                      </a:r>
                    </a:p>
                  </a:txBody>
                  <a:tcPr marL="57150" marR="57150" marT="28575" marB="28575" anchor="ctr">
                    <a:solidFill>
                      <a:srgbClr val="0B2033"/>
                    </a:solidFill>
                  </a:tcPr>
                </a:tc>
                <a:tc>
                  <a:txBody>
                    <a:bodyPr/>
                    <a:lstStyle/>
                    <a:p>
                      <a:r>
                        <a:rPr sz="825">
                          <a:solidFill>
                            <a:srgbClr val="F4F8FC"/>
                          </a:solidFill>
                          <a:latin typeface="Arial"/>
                          <a:ea typeface="Arial"/>
                          <a:cs typeface="Arial"/>
                        </a:rPr>
                        <a:t>0</a:t>
                      </a:r>
                    </a:p>
                  </a:txBody>
                  <a:tcPr marL="57150" marR="57150" marT="28575" marB="28575" anchor="ctr">
                    <a:solidFill>
                      <a:srgbClr val="0B2033"/>
                    </a:solidFill>
                  </a:tcPr>
                </a:tc>
                <a:tc>
                  <a:txBody>
                    <a:bodyPr/>
                    <a:lstStyle/>
                    <a:p>
                      <a:r>
                        <a:rPr sz="825">
                          <a:solidFill>
                            <a:srgbClr val="F4F8FC"/>
                          </a:solidFill>
                          <a:latin typeface="Arial"/>
                          <a:ea typeface="Arial"/>
                          <a:cs typeface="Arial"/>
                        </a:rPr>
                        <a:t>[0.98225, 0.98669)</a:t>
                      </a:r>
                    </a:p>
                  </a:txBody>
                  <a:tcPr marL="57150" marR="57150" marT="28575" marB="28575" anchor="ctr">
                    <a:solidFill>
                      <a:srgbClr val="0B2033"/>
                    </a:solidFill>
                  </a:tcPr>
                </a:tc>
              </a:tr>
            </a:tbl>
          </a:graphicData>
        </a:graphic>
      </p:graphicFrame>
      <p:sp>
        <p:nvSpPr>
          <p:cNvPr id="9" name="">
            <a:extLst xmlns:a="http://schemas.openxmlformats.org/drawingml/2006/main">
              <a:ext uri="{FF2B5EF4-FFF2-40B4-BE49-F238E27FC236}">
                <a16:creationId xmlns:a16="http://schemas.microsoft.com/office/drawing/2014/main" id="{C8E2C93E-DE25-4729-888B-C958F3B21001}"/>
              </a:ext>
            </a:extLst>
          </p:cNvPr>
          <p:cNvSpPr>
            <a:spLocks xmlns:a="http://schemas.openxmlformats.org/drawingml/2006/main" noGrp="1"/>
          </p:cNvSpPr>
          <p:nvPr/>
        </p:nvSpPr>
        <p:spPr>
          <a:xfrm xmlns:a="http://schemas.openxmlformats.org/drawingml/2006/main">
            <a:off x="2381250" y="6000750"/>
            <a:ext cx="7429500" cy="419100"/>
          </a:xfrm>
          <a:prstGeom xmlns:a="http://schemas.openxmlformats.org/drawingml/2006/main" prst="roundRect">
            <a:avLst>
              <a:gd name="adj" fmla="val 27273"/>
            </a:avLst>
          </a:prstGeom>
          <a:solidFill xmlns:a="http://schemas.openxmlformats.org/drawingml/2006/main">
            <a:srgbClr val="092034"/>
          </a:solidFill>
          <a:ln xmlns:a="http://schemas.openxmlformats.org/drawingml/2006/main" w="19050">
            <a:solidFill>
              <a:srgbClr val="22D3EE"/>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defRPr sz="1275" b="1">
                <a:solidFill>
                  <a:srgbClr val="F4F8FC"/>
                </a:solidFill>
                <a:latin typeface="Arial"/>
                <a:ea typeface="Arial"/>
                <a:cs typeface="Arial"/>
              </a:defRPr>
            </a:pPr>
            <a:r>
              <a:rPr sz="1275" b="1">
                <a:solidFill>
                  <a:srgbClr val="F4F8FC"/>
                </a:solidFill>
                <a:latin typeface="Arial"/>
                <a:ea typeface="Arial"/>
                <a:cs typeface="Arial"/>
              </a:rPr>
              <a:t>Recovered first 10 bins: 1111111100</a:t>
            </a:r>
          </a:p>
        </p:txBody>
      </p:sp>
    </p:spTree>
    <p:extLst>
      <p:ext uri="{BB962C8B-B14F-4D97-AF65-F5344CB8AC3E}">
        <p14:creationId xmlns:p14="http://schemas.microsoft.com/office/powerpoint/2010/main" val="13239079"/>
      </p:ext>
    </p:extLst>
  </p:cSld>
</p:sld>
</file>

<file path=ppt/slides/slide25.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71AC51-79CF-47AA-AF0E-3B81C7260769}"/>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5CAB27-6E50-4229-9B05-F42D361155E6}"/>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01BCC0-FBD1-43EE-B8A8-5A67E29215FC}"/>
              </a:ext>
            </a:extLst>
          </p:cNvPr>
          <p:cNvSpPr>
            <a:spLocks xmlns:a="http://schemas.openxmlformats.org/drawingml/2006/main" noGrp="1"/>
          </p:cNvSpPr>
          <p:nvPr/>
        </p:nvSpPr>
        <p:spPr>
          <a:xfrm xmlns:a="http://schemas.openxmlformats.org/drawingml/2006/main">
            <a:off x="476250" y="23812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2550" b="1">
                <a:solidFill>
                  <a:srgbClr val="F4F8FC"/>
                </a:solidFill>
                <a:latin typeface="Arial"/>
                <a:ea typeface="Arial"/>
                <a:cs typeface="Arial"/>
              </a:defRPr>
            </a:pPr>
            <a:r>
              <a:rPr sz="2550" b="1">
                <a:solidFill>
                  <a:srgbClr val="F4F8FC"/>
                </a:solidFill>
                <a:latin typeface="Arial"/>
                <a:ea typeface="Arial"/>
                <a:cs typeface="Arial"/>
              </a:rPr>
              <a:t>Inverse arithmetic decoding, continued</a:t>
            </a:r>
          </a:p>
        </p:txBody>
      </p:sp>
      <p:sp>
        <p:nvSpPr>
          <p:cNvPr id="4" name="">
            <a:extLst xmlns:a="http://schemas.openxmlformats.org/drawingml/2006/main">
              <a:ext uri="{FF2B5EF4-FFF2-40B4-BE49-F238E27FC236}">
                <a16:creationId xmlns:a16="http://schemas.microsoft.com/office/drawing/2014/main" id="{07D97805-BFE5-4F33-AE00-6A088BA638F8}"/>
              </a:ext>
            </a:extLst>
          </p:cNvPr>
          <p:cNvSpPr>
            <a:spLocks xmlns:a="http://schemas.openxmlformats.org/drawingml/2006/main" noGrp="1"/>
          </p:cNvSpPr>
          <p:nvPr/>
        </p:nvSpPr>
        <p:spPr>
          <a:xfrm xmlns:a="http://schemas.openxmlformats.org/drawingml/2006/main">
            <a:off x="400050" y="904875"/>
            <a:ext cx="11391900" cy="19050"/>
          </a:xfrm>
          <a:prstGeom xmlns:a="http://schemas.openxmlformats.org/drawingml/2006/main" prst="rect">
            <a:avLst/>
          </a:prstGeom>
          <a:solidFill xmlns:a="http://schemas.openxmlformats.org/drawingml/2006/main">
            <a:srgbClr val="2A587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689699-7C10-4415-8B56-E4EB402C8737}"/>
              </a:ext>
            </a:extLst>
          </p:cNvPr>
          <p:cNvSpPr>
            <a:spLocks xmlns:a="http://schemas.openxmlformats.org/drawingml/2006/main" noGrp="1"/>
          </p:cNvSpPr>
          <p:nvPr/>
        </p:nvSpPr>
        <p:spPr>
          <a:xfrm xmlns:a="http://schemas.openxmlformats.org/drawingml/2006/main">
            <a:off x="476250" y="990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1200" b="0">
                <a:solidFill>
                  <a:srgbClr val="AFC0D0"/>
                </a:solidFill>
                <a:latin typeface="Arial"/>
                <a:ea typeface="Arial"/>
                <a:cs typeface="Arial"/>
              </a:defRPr>
            </a:pPr>
            <a:r>
              <a:rPr sz="1200" b="0">
                <a:solidFill>
                  <a:srgbClr val="AFC0D0"/>
                </a:solidFill>
                <a:latin typeface="Arial"/>
                <a:ea typeface="Arial"/>
                <a:cs typeface="Arial"/>
              </a:rPr>
              <a:t>Use the same split points. Compare R = 0.9853668 with each split and retrace the encoding path.</a:t>
            </a:r>
          </a:p>
        </p:txBody>
      </p:sp>
      <p:sp>
        <p:nvSpPr>
          <p:cNvPr id="6" name="">
            <a:extLst xmlns:a="http://schemas.openxmlformats.org/drawingml/2006/main">
              <a:ext uri="{FF2B5EF4-FFF2-40B4-BE49-F238E27FC236}">
                <a16:creationId xmlns:a16="http://schemas.microsoft.com/office/drawing/2014/main" id="{D1E9EEDE-D927-437A-B489-7ABE9F5CB73F}"/>
              </a:ext>
            </a:extLst>
          </p:cNvPr>
          <p:cNvSpPr>
            <a:spLocks xmlns:a="http://schemas.openxmlformats.org/drawingml/2006/main" noGrp="1"/>
          </p:cNvSpPr>
          <p:nvPr/>
        </p:nvSpPr>
        <p:spPr>
          <a:xfrm xmlns:a="http://schemas.openxmlformats.org/drawingml/2006/main">
            <a:off x="1285875" y="64579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l">
              <a:defRPr sz="600" b="0">
                <a:solidFill>
                  <a:srgbClr val="AFC0D0"/>
                </a:solidFill>
                <a:latin typeface="Arial"/>
                <a:ea typeface="Arial"/>
                <a:cs typeface="Arial"/>
              </a:defRPr>
            </a:pPr>
            <a:r>
              <a:rPr sz="600" b="0">
                <a:solidFill>
                  <a:srgbClr val="AFC0D0"/>
                </a:solidFill>
                <a:latin typeface="Arial"/>
                <a:ea typeface="Arial"/>
                <a:cs typeface="Arial"/>
              </a:rPr>
              <a:t>Sources and evidence: speaker notes</a:t>
            </a:r>
          </a:p>
        </p:txBody>
      </p:sp>
      <p:sp>
        <p:nvSpPr>
          <p:cNvPr id="7" name="">
            <a:extLst xmlns:a="http://schemas.openxmlformats.org/drawingml/2006/main">
              <a:ext uri="{FF2B5EF4-FFF2-40B4-BE49-F238E27FC236}">
                <a16:creationId xmlns:a16="http://schemas.microsoft.com/office/drawing/2014/main" id="{D41894CE-2B43-443C-99C0-58D49FB19F4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47625" tIns="19050" rIns="47625" bIns="19050" anchor="ctr">
            <a:normAutofit fontScale="100000"/>
          </a:bodyPr>
          <a:lstStyle xmlns:a="http://schemas.openxmlformats.org/drawingml/2006/main"/>
          <a:p xmlns:a="http://schemas.openxmlformats.org/drawingml/2006/main">
            <a:pPr algn="r">
              <a:defRPr sz="975" b="1">
                <a:solidFill>
                  <a:srgbClr val="22D3EE"/>
                </a:solidFill>
                <a:latin typeface="Arial"/>
                <a:ea typeface="Arial"/>
                <a:cs typeface="Arial"/>
              </a:defRPr>
            </a:pPr>
            <a:r>
              <a:rPr sz="975" b="1">
                <a:solidFill>
                  <a:srgbClr val="22D3EE"/>
                </a:solidFill>
                <a:latin typeface="Arial"/>
                <a:ea typeface="Arial"/>
                <a:cs typeface="Arial"/>
              </a:rPr>
              <a:t>25 / 49</a:t>
            </a:r>
          </a:p>
        </p:txBody>
      </p:sp>
      <p:graphicFrame>
        <p:nvGraphicFramePr>
          <p:cNvPr id="17" name=""/>
          <p:cNvGraphicFramePr/>
          <p:nvPr/>
        </p:nvGraphicFramePr>
        <p:xfrm>
          <a:off xmlns:a="http://schemas.openxmlformats.org/drawingml/2006/main" x="428625" y="1428750"/>
          <a:ext xmlns:a="http://schemas.openxmlformats.org/drawingml/2006/main" cx="11334750" cy="4429125"/>
        </p:xfrm>
        <a:graphic xmlns:a="http://schemas.openxmlformats.org/drawingml/2006/main">
          <a:graphicData uri="http://schemas.openxmlformats.org/drawingml/2006/table">
            <a:tbl>
              <a:tblPr/>
              <a:tblGrid>
                <a:gridCol w="476250"/>
                <a:gridCol w="2857500"/>
                <a:gridCol w="1333500"/>
                <a:gridCol w="1285875"/>
                <a:gridCol w="1381125"/>
                <a:gridCol w="4000500"/>
              </a:tblGrid>
              <a:tr h="442913">
                <a:tc>
                  <a:txBody>
                    <a:bodyPr/>
                    <a:lstStyle/>
                    <a:p>
                      <a:r>
                        <a:rPr sz="938" b="1">
                          <a:solidFill>
                            <a:srgbClr val="22D3EE"/>
                          </a:solidFill>
                          <a:latin typeface="Arial"/>
                          <a:ea typeface="Arial"/>
                          <a:cs typeface="Arial"/>
                        </a:rPr>
                        <a:t>#</a:t>
                      </a:r>
                    </a:p>
                  </a:txBody>
                  <a:tcPr marL="57150" marR="57150" marT="28575" marB="28575" anchor="ctr">
                    <a:solidFill>
                      <a:srgbClr val="12314A"/>
                    </a:solidFill>
                  </a:tcPr>
                </a:tc>
                <a:tc>
                  <a:txBody>
                    <a:bodyPr/>
                    <a:lstStyle/>
                    <a:p>
                      <a:r>
                        <a:rPr sz="938" b="1">
                          <a:solidFill>
                            <a:srgbClr val="22D3EE"/>
                          </a:solidFill>
                          <a:latin typeface="Arial"/>
                          <a:ea typeface="Arial"/>
                          <a:cs typeface="Arial"/>
                        </a:rPr>
                        <a:t>Meaning</a:t>
                      </a:r>
                    </a:p>
                  </a:txBody>
                  <a:tcPr marL="57150" marR="57150" marT="28575" marB="28575" anchor="ctr">
                    <a:solidFill>
                      <a:srgbClr val="12314A"/>
                    </a:solidFill>
                  </a:tcPr>
                </a:tc>
                <a:tc>
                  <a:txBody>
                    <a:bodyPr/>
                    <a:lstStyle/>
                    <a:p>
                      <a:r>
                        <a:rPr sz="938" b="1">
                          <a:solidFill>
                            <a:srgbClr val="22D3EE"/>
                          </a:solidFill>
                          <a:latin typeface="Arial"/>
                          <a:ea typeface="Arial"/>
                          <a:cs typeface="Arial"/>
                        </a:rPr>
                        <a:t>Split</a:t>
                      </a:r>
                    </a:p>
                  </a:txBody>
                  <a:tcPr marL="57150" marR="57150" marT="28575" marB="28575" anchor="ctr">
                    <a:solidFill>
                      <a:srgbClr val="12314A"/>
                    </a:solidFill>
                  </a:tcPr>
                </a:tc>
                <a:tc>
                  <a:txBody>
                    <a:bodyPr/>
                    <a:lstStyle/>
                    <a:p>
                      <a:r>
                        <a:rPr sz="938" b="1">
                          <a:solidFill>
                            <a:srgbClr val="22D3EE"/>
                          </a:solidFill>
                          <a:latin typeface="Arial"/>
                          <a:ea typeface="Arial"/>
                          <a:cs typeface="Arial"/>
                        </a:rPr>
                        <a:t>R ≥ split?</a:t>
                      </a:r>
                    </a:p>
                  </a:txBody>
                  <a:tcPr marL="57150" marR="57150" marT="28575" marB="28575" anchor="ctr">
                    <a:solidFill>
                      <a:srgbClr val="12314A"/>
                    </a:solidFill>
                  </a:tcPr>
                </a:tc>
                <a:tc>
                  <a:txBody>
                    <a:bodyPr/>
                    <a:lstStyle/>
                    <a:p>
                      <a:r>
                        <a:rPr sz="938" b="1">
                          <a:solidFill>
                            <a:srgbClr val="22D3EE"/>
                          </a:solidFill>
                          <a:latin typeface="Arial"/>
                          <a:ea typeface="Arial"/>
                          <a:cs typeface="Arial"/>
                        </a:rPr>
                        <a:t>Recovered bin</a:t>
                      </a:r>
                    </a:p>
                  </a:txBody>
                  <a:tcPr marL="57150" marR="57150" marT="28575" marB="28575" anchor="ctr">
                    <a:solidFill>
                      <a:srgbClr val="12314A"/>
                    </a:solidFill>
                  </a:tcPr>
                </a:tc>
                <a:tc>
                  <a:txBody>
                    <a:bodyPr/>
                    <a:lstStyle/>
                    <a:p>
                      <a:r>
                        <a:rPr sz="938" b="1">
                          <a:solidFill>
                            <a:srgbClr val="22D3EE"/>
                          </a:solidFill>
                          <a:latin typeface="Arial"/>
                          <a:ea typeface="Arial"/>
                          <a:cs typeface="Arial"/>
                        </a:rPr>
                        <a:t>Narrowed interval</a:t>
                      </a:r>
                    </a:p>
                  </a:txBody>
                  <a:tcPr marL="57150" marR="57150" marT="28575" marB="28575" anchor="ctr">
                    <a:solidFill>
                      <a:srgbClr val="12314A"/>
                    </a:solidFill>
                  </a:tcPr>
                </a:tc>
              </a:tr>
              <a:tr h="442913">
                <a:tc>
                  <a:txBody>
                    <a:bodyPr/>
                    <a:lstStyle/>
                    <a:p>
                      <a:r>
                        <a:rPr sz="825">
                          <a:solidFill>
                            <a:srgbClr val="F4F8FC"/>
                          </a:solidFill>
                          <a:latin typeface="Arial"/>
                          <a:ea typeface="Arial"/>
                          <a:cs typeface="Arial"/>
                        </a:rPr>
                        <a:t>11</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2 magnitude &gt; 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0.98469</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[0.98469, 0.98669)</a:t>
                      </a:r>
                    </a:p>
                  </a:txBody>
                  <a:tcPr marL="57150" marR="57150" marT="28575" marB="28575" anchor="ctr">
                    <a:solidFill>
                      <a:srgbClr val="0B2033"/>
                    </a:solidFill>
                  </a:tcPr>
                </a:tc>
              </a:tr>
              <a:tr h="442913">
                <a:tc>
                  <a:txBody>
                    <a:bodyPr/>
                    <a:lstStyle/>
                    <a:p>
                      <a:r>
                        <a:rPr sz="825">
                          <a:solidFill>
                            <a:srgbClr val="F4F8FC"/>
                          </a:solidFill>
                          <a:latin typeface="Arial"/>
                          <a:ea typeface="Arial"/>
                          <a:cs typeface="Arial"/>
                        </a:rPr>
                        <a:t>12</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2 magnitude &gt; 2</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0.98589</a:t>
                      </a:r>
                    </a:p>
                  </a:txBody>
                  <a:tcPr marL="57150" marR="57150" marT="28575" marB="28575" anchor="ctr">
                    <a:solidFill>
                      <a:srgbClr val="0B2033"/>
                    </a:solidFill>
                  </a:tcPr>
                </a:tc>
                <a:tc>
                  <a:txBody>
                    <a:bodyPr/>
                    <a:lstStyle/>
                    <a:p>
                      <a:r>
                        <a:rPr sz="825">
                          <a:solidFill>
                            <a:srgbClr val="F4F8FC"/>
                          </a:solidFill>
                          <a:latin typeface="Arial"/>
                          <a:ea typeface="Arial"/>
                          <a:cs typeface="Arial"/>
                        </a:rPr>
                        <a:t>no</a:t>
                      </a:r>
                    </a:p>
                  </a:txBody>
                  <a:tcPr marL="57150" marR="57150" marT="28575" marB="28575" anchor="ctr">
                    <a:solidFill>
                      <a:srgbClr val="0B2033"/>
                    </a:solidFill>
                  </a:tcPr>
                </a:tc>
                <a:tc>
                  <a:txBody>
                    <a:bodyPr/>
                    <a:lstStyle/>
                    <a:p>
                      <a:r>
                        <a:rPr sz="825">
                          <a:solidFill>
                            <a:srgbClr val="F4F8FC"/>
                          </a:solidFill>
                          <a:latin typeface="Arial"/>
                          <a:ea typeface="Arial"/>
                          <a:cs typeface="Arial"/>
                        </a:rPr>
                        <a:t>0</a:t>
                      </a:r>
                    </a:p>
                  </a:txBody>
                  <a:tcPr marL="57150" marR="57150" marT="28575" marB="28575" anchor="ctr">
                    <a:solidFill>
                      <a:srgbClr val="0B2033"/>
                    </a:solidFill>
                  </a:tcPr>
                </a:tc>
                <a:tc>
                  <a:txBody>
                    <a:bodyPr/>
                    <a:lstStyle/>
                    <a:p>
                      <a:r>
                        <a:rPr sz="825">
                          <a:solidFill>
                            <a:srgbClr val="F4F8FC"/>
                          </a:solidFill>
                          <a:latin typeface="Arial"/>
                          <a:ea typeface="Arial"/>
                          <a:cs typeface="Arial"/>
                        </a:rPr>
                        <a:t>[0.98469, 0.98589)</a:t>
                      </a:r>
                    </a:p>
                  </a:txBody>
                  <a:tcPr marL="57150" marR="57150" marT="28575" marB="28575" anchor="ctr">
                    <a:solidFill>
                      <a:srgbClr val="0B2033"/>
                    </a:solidFill>
                  </a:tcPr>
                </a:tc>
              </a:tr>
              <a:tr h="442913">
                <a:tc>
                  <a:txBody>
                    <a:bodyPr/>
                    <a:lstStyle/>
                    <a:p>
                      <a:r>
                        <a:rPr sz="825">
                          <a:solidFill>
                            <a:srgbClr val="F4F8FC"/>
                          </a:solidFill>
                          <a:latin typeface="Arial"/>
                          <a:ea typeface="Arial"/>
                          <a:cs typeface="Arial"/>
                        </a:rPr>
                        <a:t>13</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2 sign</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0.98529</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[0.98529, 0.98589)</a:t>
                      </a:r>
                    </a:p>
                  </a:txBody>
                  <a:tcPr marL="57150" marR="57150" marT="28575" marB="28575" anchor="ctr">
                    <a:solidFill>
                      <a:srgbClr val="0B2033"/>
                    </a:solidFill>
                  </a:tcPr>
                </a:tc>
              </a:tr>
              <a:tr h="442913">
                <a:tc>
                  <a:txBody>
                    <a:bodyPr/>
                    <a:lstStyle/>
                    <a:p>
                      <a:r>
                        <a:rPr sz="825">
                          <a:solidFill>
                            <a:srgbClr val="F4F8FC"/>
                          </a:solidFill>
                          <a:latin typeface="Arial"/>
                          <a:ea typeface="Arial"/>
                          <a:cs typeface="Arial"/>
                        </a:rPr>
                        <a:t>14</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3 magnitude &gt; 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0.98568</a:t>
                      </a:r>
                    </a:p>
                  </a:txBody>
                  <a:tcPr marL="57150" marR="57150" marT="28575" marB="28575" anchor="ctr">
                    <a:solidFill>
                      <a:srgbClr val="0B2033"/>
                    </a:solidFill>
                  </a:tcPr>
                </a:tc>
                <a:tc>
                  <a:txBody>
                    <a:bodyPr/>
                    <a:lstStyle/>
                    <a:p>
                      <a:r>
                        <a:rPr sz="825">
                          <a:solidFill>
                            <a:srgbClr val="F4F8FC"/>
                          </a:solidFill>
                          <a:latin typeface="Arial"/>
                          <a:ea typeface="Arial"/>
                          <a:cs typeface="Arial"/>
                        </a:rPr>
                        <a:t>no</a:t>
                      </a:r>
                    </a:p>
                  </a:txBody>
                  <a:tcPr marL="57150" marR="57150" marT="28575" marB="28575" anchor="ctr">
                    <a:solidFill>
                      <a:srgbClr val="0B2033"/>
                    </a:solidFill>
                  </a:tcPr>
                </a:tc>
                <a:tc>
                  <a:txBody>
                    <a:bodyPr/>
                    <a:lstStyle/>
                    <a:p>
                      <a:r>
                        <a:rPr sz="825">
                          <a:solidFill>
                            <a:srgbClr val="F4F8FC"/>
                          </a:solidFill>
                          <a:latin typeface="Arial"/>
                          <a:ea typeface="Arial"/>
                          <a:cs typeface="Arial"/>
                        </a:rPr>
                        <a:t>0</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[0.98529, 0.98568)</a:t>
                      </a:r>
                    </a:p>
                  </a:txBody>
                  <a:tcPr marL="57150" marR="57150" marT="28575" marB="28575" anchor="ctr">
                    <a:solidFill>
                      <a:srgbClr val="0B2033"/>
                    </a:solidFill>
                  </a:tcPr>
                </a:tc>
              </a:tr>
              <a:tr h="442913">
                <a:tc>
                  <a:txBody>
                    <a:bodyPr/>
                    <a:lstStyle/>
                    <a:p>
                      <a:r>
                        <a:rPr sz="825">
                          <a:solidFill>
                            <a:srgbClr val="F4F8FC"/>
                          </a:solidFill>
                          <a:latin typeface="Arial"/>
                          <a:ea typeface="Arial"/>
                          <a:cs typeface="Arial"/>
                        </a:rPr>
                        <a:t>15</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3 sign</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0.98548</a:t>
                      </a:r>
                    </a:p>
                  </a:txBody>
                  <a:tcPr marL="57150" marR="57150" marT="28575" marB="28575" anchor="ctr">
                    <a:solidFill>
                      <a:srgbClr val="0B2033"/>
                    </a:solidFill>
                  </a:tcPr>
                </a:tc>
                <a:tc>
                  <a:txBody>
                    <a:bodyPr/>
                    <a:lstStyle/>
                    <a:p>
                      <a:r>
                        <a:rPr sz="825">
                          <a:solidFill>
                            <a:srgbClr val="F4F8FC"/>
                          </a:solidFill>
                          <a:latin typeface="Arial"/>
                          <a:ea typeface="Arial"/>
                          <a:cs typeface="Arial"/>
                        </a:rPr>
                        <a:t>no</a:t>
                      </a:r>
                    </a:p>
                  </a:txBody>
                  <a:tcPr marL="57150" marR="57150" marT="28575" marB="28575" anchor="ctr">
                    <a:solidFill>
                      <a:srgbClr val="0B2033"/>
                    </a:solidFill>
                  </a:tcPr>
                </a:tc>
                <a:tc>
                  <a:txBody>
                    <a:bodyPr/>
                    <a:lstStyle/>
                    <a:p>
                      <a:r>
                        <a:rPr sz="825">
                          <a:solidFill>
                            <a:srgbClr val="F4F8FC"/>
                          </a:solidFill>
                          <a:latin typeface="Arial"/>
                          <a:ea typeface="Arial"/>
                          <a:cs typeface="Arial"/>
                        </a:rPr>
                        <a:t>0</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[0.98529, 0.98548)</a:t>
                      </a:r>
                    </a:p>
                  </a:txBody>
                  <a:tcPr marL="57150" marR="57150" marT="28575" marB="28575" anchor="ctr">
                    <a:solidFill>
                      <a:srgbClr val="0B2033"/>
                    </a:solidFill>
                  </a:tcPr>
                </a:tc>
              </a:tr>
              <a:tr h="442913">
                <a:tc>
                  <a:txBody>
                    <a:bodyPr/>
                    <a:lstStyle/>
                    <a:p>
                      <a:r>
                        <a:rPr sz="825">
                          <a:solidFill>
                            <a:srgbClr val="F4F8FC"/>
                          </a:solidFill>
                          <a:latin typeface="Arial"/>
                          <a:ea typeface="Arial"/>
                          <a:cs typeface="Arial"/>
                        </a:rPr>
                        <a:t>16</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4 magnitude &gt; 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0.98543</a:t>
                      </a:r>
                    </a:p>
                  </a:txBody>
                  <a:tcPr marL="57150" marR="57150" marT="28575" marB="28575" anchor="ctr">
                    <a:solidFill>
                      <a:srgbClr val="0B2033"/>
                    </a:solidFill>
                  </a:tcPr>
                </a:tc>
                <a:tc>
                  <a:txBody>
                    <a:bodyPr/>
                    <a:lstStyle/>
                    <a:p>
                      <a:r>
                        <a:rPr sz="825">
                          <a:solidFill>
                            <a:srgbClr val="F4F8FC"/>
                          </a:solidFill>
                          <a:latin typeface="Arial"/>
                          <a:ea typeface="Arial"/>
                          <a:cs typeface="Arial"/>
                        </a:rPr>
                        <a:t>no</a:t>
                      </a:r>
                    </a:p>
                  </a:txBody>
                  <a:tcPr marL="57150" marR="57150" marT="28575" marB="28575" anchor="ctr">
                    <a:solidFill>
                      <a:srgbClr val="0B2033"/>
                    </a:solidFill>
                  </a:tcPr>
                </a:tc>
                <a:tc>
                  <a:txBody>
                    <a:bodyPr/>
                    <a:lstStyle/>
                    <a:p>
                      <a:r>
                        <a:rPr sz="825">
                          <a:solidFill>
                            <a:srgbClr val="F4F8FC"/>
                          </a:solidFill>
                          <a:latin typeface="Arial"/>
                          <a:ea typeface="Arial"/>
                          <a:cs typeface="Arial"/>
                        </a:rPr>
                        <a:t>0</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[0.98529, 0.98543)</a:t>
                      </a:r>
                    </a:p>
                  </a:txBody>
                  <a:tcPr marL="57150" marR="57150" marT="28575" marB="28575" anchor="ctr">
                    <a:solidFill>
                      <a:srgbClr val="0B2033"/>
                    </a:solidFill>
                  </a:tcPr>
                </a:tc>
              </a:tr>
              <a:tr h="442913">
                <a:tc>
                  <a:txBody>
                    <a:bodyPr/>
                    <a:lstStyle/>
                    <a:p>
                      <a:r>
                        <a:rPr sz="825">
                          <a:solidFill>
                            <a:srgbClr val="F4F8FC"/>
                          </a:solidFill>
                          <a:latin typeface="Arial"/>
                          <a:ea typeface="Arial"/>
                          <a:cs typeface="Arial"/>
                        </a:rPr>
                        <a:t>17</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4 sign</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0.98536</a:t>
                      </a:r>
                    </a:p>
                  </a:txBody>
                  <a:tcPr marL="57150" marR="57150" marT="28575" marB="28575" anchor="ctr">
                    <a:solidFill>
                      <a:srgbClr val="0B2033"/>
                    </a:solidFill>
                  </a:tcPr>
                </a:tc>
                <a:tc>
                  <a:txBody>
                    <a:bodyPr/>
                    <a:lstStyle/>
                    <a:p>
                      <a:r>
                        <a:rPr sz="825">
                          <a:solidFill>
                            <a:srgbClr val="F4F8FC"/>
                          </a:solidFill>
                          <a:latin typeface="Arial"/>
                          <a:ea typeface="Arial"/>
                          <a:cs typeface="Arial"/>
                        </a:rPr>
                        <a:t>yes</a:t>
                      </a:r>
                    </a:p>
                  </a:txBody>
                  <a:tcPr marL="57150" marR="57150" marT="28575" marB="28575" anchor="ctr">
                    <a:solidFill>
                      <a:srgbClr val="0B2033"/>
                    </a:solidFill>
                  </a:tcPr>
                </a:tc>
                <a:tc>
                  <a:txBody>
                    <a:bodyPr/>
                    <a:lstStyle/>
                    <a:p>
                      <a:r>
                        <a:rPr sz="825">
                          <a:solidFill>
                            <a:srgbClr val="F4F8FC"/>
                          </a:solidFill>
                          <a:latin typeface="Arial"/>
                          <a:ea typeface="Arial"/>
                          <a:cs typeface="Arial"/>
                        </a:rPr>
                        <a:t>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[0.98536, 0.98543)</a:t>
                      </a:r>
                    </a:p>
                  </a:txBody>
                  <a:tcPr marL="57150" marR="57150" marT="28575" marB="28575" anchor="ctr">
                    <a:solidFill>
                      <a:srgbClr val="0B2033"/>
                    </a:solidFill>
                  </a:tcPr>
                </a:tc>
              </a:tr>
              <a:tr h="442913">
                <a:tc>
                  <a:txBody>
                    <a:bodyPr/>
                    <a:lstStyle/>
                    <a:p>
                      <a:r>
                        <a:rPr sz="825">
                          <a:solidFill>
                            <a:srgbClr val="F4F8FC"/>
                          </a:solidFill>
                          <a:latin typeface="Arial"/>
                          <a:ea typeface="Arial"/>
                          <a:cs typeface="Arial"/>
                        </a:rPr>
                        <a:t>18</a:t>
                      </a:r>
                    </a:p>
                  </a:txBody>
                  <a:tcPr marL="57150" marR="57150" marT="28575" marB="28575" anchor="ctr">
                    <a:solidFill>
                      <a:srgbClr val="0B2033"/>
                    </a:solidFill>
                  </a:tcPr>
                </a:tc>
                <a:tc>
                  <a:txBody>
                    <a:bodyPr/>
                    <a:lstStyle/>
                    <a:p>
                      <a:r>
                        <a:rPr sz="825">
                          <a:solidFill>
                            <a:srgbClr val="F4F8FC"/>
                          </a:solidFill>
                          <a:latin typeface="Arial"/>
                          <a:ea typeface="Arial"/>
                          <a:cs typeface="Arial"/>
                        </a:rPr>
                        <a:t>position 5 magnitude &gt; 1</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0.98541</a:t>
                      </a:r>
                    </a:p>
                  </a:txBody>
                  <a:tcPr marL="57150" marR="57150" marT="28575" marB="28575" anchor="ctr">
                    <a:solidFill>
                      <a:srgbClr val="0B2033"/>
                    </a:solidFill>
                  </a:tcPr>
                </a:tc>
                <a:tc>
                  <a:txBody>
                    <a:bodyPr/>
                    <a:lstStyle/>
                    <a:p>
                      <a:r>
                        <a:rPr sz="825">
                          <a:solidFill>
                            <a:srgbClr val="F4F8FC"/>
                          </a:solidFill>
                          <a:latin typeface="Arial"/>
                          <a:ea typeface="Arial"/>
                          <a:cs typeface="Arial"/>
                        </a:rPr>
                        <a:t>no</a:t>
                      </a:r>
                    </a:p>
                  </a:txBody>
                  <a:tcPr marL="57150" marR="57150" marT="28575" marB="28575" anchor="ctr">
                    <a:solidFill>
                      <a:srgbClr val="0B2033"/>
                    </a:solidFill>
                  </a:tcPr>
                </a:tc>
                <a:tc>
                  <a:txBody>
                    <a:bodyPr/>
                    <a:lstStyle/>
                    <a:p>
                      <a:r>
                        <a:rPr sz="825">
                          <a:solidFill>
                            <a:srgbClr val="F4F8FC"/>
                          </a:solidFill>
                          <a:latin typeface="Arial"/>
                          <a:ea typeface="Arial"/>
                          <a:cs typeface="Arial"/>
                        </a:rPr>
                        <a:t>0</a:t>
                      </a:r>
                    </a:p>
                  </a:txBody>
                  <a:tcPr marL="57150" marR="57150" marT="28575" marB="28575" anchor="ctr">
                    <a:solidFill>
                      <a:srgbClr val="0B2033"/>
                    </a:solidFill>
                  </a:tcPr>
                </a:tc>
                <a:tc>
                  <a:txBody>
                    <a:bodyPr/>
                    <a:lstStyle/>
                    <a:p>
                      <a:r>
                        <a:rPr sz="825">
                          <a:solidFill>
                            <a:srgbClr val="F4F8FC"/>
                          </a:solidFill>
                          <a:latin typeface="Arial"/>
                          <a:ea typeface="Arial"/>
                          <a:cs typeface="Arial"/>
                        </a:rPr>
                        <a:t>[0.98536, 0.98541)</a:t>
                      </a:r>
                    </a:p>
                  </a:txBody>
                  <a:tcPr marL="57150" marR="57150" marT="28575" marB="28575" anchor="ctr">
                    <a:solidFill>
                      <a:srgbClr val="0B2033"/>
                    </a:solidFill>
                  </a:tcPr>
                </a:tc>
              </a:tr>
              <a:tr h="442913">
                <a:tc>
                  <a:txBody>
                    <a:bodyPr/>
                    <a:lstStyle/>
                    <a:p>
                      <a:r>
                        <a:rPr sz="825" b="1">
                          <a:solidFill>
                            <a:srgbClr val="FFB84D"/>
                          </a:solidFill>
                          <a:latin typeface="Arial"/>
                          <a:ea typeface="Arial"/>
                          <a:cs typeface="Arial"/>
                        </a:rPr>
                        <a:t>19</a:t>
                      </a:r>
                    </a:p>
                  </a:txBody>
                  <a:tcPr marL="57150" marR="57150" marT="28575" marB="28575" anchor="ctr">
                    <a:solidFill>
                      <a:srgbClr val="1B3238"/>
                    </a:solidFill>
                  </a:tcPr>
                </a:tc>
                <a:tc>
                  <a:txBody>
                    <a:bodyPr/>
                    <a:lstStyle/>
                    <a:p>
                      <a:r>
                        <a:rPr sz="825" b="1">
                          <a:solidFill>
                            <a:srgbClr val="FFB84D"/>
                          </a:solidFill>
                          <a:latin typeface="Arial"/>
                          <a:ea typeface="Arial"/>
                          <a:cs typeface="Arial"/>
                        </a:rPr>
                        <a:t>position 5 sign</a:t>
                      </a:r>
                    </a:p>
                  </a:txBody>
                  <a:tcPr marL="57150" marR="57150" marT="28575" marB="28575" anchor="ctr">
                    <a:solidFill>
                      <a:srgbClr val="1B3238"/>
                    </a:solidFill>
                  </a:tcPr>
                </a:tc>
                <a:tc>
                  <a:txBody>
                    <a:bodyPr/>
                    <a:lstStyle/>
                    <a:p>
                      <a:r>
                        <a:rPr sz="825" b="1">
                          <a:solidFill>
                            <a:srgbClr val="FFB84D"/>
                          </a:solidFill>
                          <a:latin typeface="Arial"/>
                          <a:ea typeface="Arial"/>
                          <a:cs typeface="Arial"/>
                        </a:rPr>
                        <a:t>0.98538</a:t>
                      </a:r>
                    </a:p>
                  </a:txBody>
                  <a:tcPr marL="57150" marR="57150" marT="28575" marB="28575" anchor="ctr">
                    <a:solidFill>
                      <a:srgbClr val="1B3238"/>
                    </a:solidFill>
                  </a:tcPr>
                </a:tc>
                <a:tc>
                  <a:txBody>
                    <a:bodyPr/>
                    <a:lstStyle/>
                    <a:p>
                      <a:r>
                        <a:rPr sz="825" b="1">
                          <a:solidFill>
                            <a:srgbClr val="FFB84D"/>
                          </a:solidFill>
                          <a:latin typeface="Arial"/>
                          <a:ea typeface="Arial"/>
                          <a:cs typeface="Arial"/>
                        </a:rPr>
                        <a:t>no</a:t>
                      </a:r>
                    </a:p>
                  </a:txBody>
                  <a:tcPr marL="57150" marR="57150" marT="28575" marB="28575" anchor="ctr">
                    <a:solidFill>
                      <a:srgbClr val="1B3238"/>
                    </a:solidFill>
                  </a:tcPr>
                </a:tc>
                <a:tc>
                  <a:txBody>
                    <a:bodyPr/>
                    <a:lstStyle/>
                    <a:p>
                      <a:r>
                        <a:rPr sz="825" b="1">
                          <a:solidFill>
                            <a:srgbClr val="FFB84D"/>
                          </a:solidFill>
                          <a:latin typeface="Arial"/>
                          <a:ea typeface="Arial"/>
                          <a:cs typeface="Arial"/>
                        </a:rPr>
                        <a:t>0</a:t>
                      </a:r>
                    </a:p>
                  </a:txBody>
                  <a:tcPr marL="57150" marR="57150" marT="28575" marB="28575" anchor="ctr">
                    <a:solidFill>
                      <a:srgbClr val="1B3238"/>
                    </a:solidFill>
                  </a:tcPr>
                </a:tc>
                <a:tc>
                  <a:txBody>
                    <a:bodyPr/>
                    <a:lstStyle/>
                    <a:p>
                      <a:r>
                        <a:rPr sz="825" b="1">
                          <a:solidFill>
                            <a:srgbClr val="FFB84D"/>
                          </a:solidFill>
                          <a:latin typeface="Arial"/>
                          <a:ea typeface="Arial"/>
                          <a:cs typeface="Arial"/>
                        </a:rPr>
                        <a:t>[0.98536, 0.98538)</a:t>
                      </a:r>
                    </a:p>
                  </a:txBody>
                  <a:tcPr marL="57150" marR="57150" marT="28575" marB="28575" anchor="ctr">
                    <a:solidFill>
                      <a:srgbClr val="1B3238"/>
                    </a:solidFill>
                  </a:tcPr>
                </a:tc>
              </a:tr>
            </a:tbl>
          </a:graphicData>
        </a:graphic>
      </p:graphicFrame>
      <p:sp>
        <p:nvSpPr>
          <p:cNvPr id="9" name="">
            <a:extLst xmlns:a="http://schemas.openxmlformats.org/drawingml/2006/main">
              <a:ext uri="{FF2B5EF4-FFF2-40B4-BE49-F238E27FC236}">
                <a16:creationId xmlns:a16="http://schemas.microsoft.com/office/drawing/2014/main" id="{437F6780-1CAD-4C38-82F4-8EDB8DEA42E9}"/>
              </a:ext>
            </a:extLst>
          </p:cNvPr>
          <p:cNvSpPr>
            <a:spLocks xmlns:a="http://schemas.openxmlformats.org/drawingml/2006/main" noGrp="1"/>
          </p:cNvSpPr>
          <p:nvPr/>
        </p:nvSpPr>
        <p:spPr>
          <a:xfrm xmlns:a="http://schemas.openxmlformats.org/drawingml/2006/main">
            <a:off x="2381250" y="6000750"/>
            <a:ext cx="7429500" cy="419100"/>
          </a:xfrm>
          <a:prstGeom xmlns:a="http://schemas.openxmlformats.org/drawingml/2006/main" prst="roundRect">
            <a:avLst>
              <a:gd name="adj" fmla="val 27273"/>
            </a:avLst>
          </a:prstGeom>
          <a:solidFill xmlns:a="http://schemas.openxmlformats.org/drawingml/2006/main">
            <a:srgbClr val="0A2830"/>
          </a:solidFill>
          <a:ln xmlns:a="http://schemas.openxmlformats.org/drawingml/2006/main" w="19050">
            <a:solidFill>
              <a:srgbClr val="47E6A4"/>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defRPr sz="1275" b="1">
                <a:solidFill>
                  <a:srgbClr val="F4F8FC"/>
                </a:solidFill>
                <a:latin typeface="Arial"/>
                <a:ea typeface="Arial"/>
                <a:cs typeface="Arial"/>
              </a:defRPr>
            </a:pPr>
            <a:r>
              <a:rPr sz="1275" b="1">
                <a:solidFill>
                  <a:srgbClr val="F4F8FC"/>
                </a:solidFill>
                <a:latin typeface="Arial"/>
                <a:ea typeface="Arial"/>
                <a:cs typeface="Arial"/>
              </a:rPr>
              <a:t>Recovered all 19 bins: 1111111100101000100</a:t>
            </a:r>
          </a:p>
        </p:txBody>
      </p:sp>
    </p:spTree>
    <p:extLst>
      <p:ext uri="{BB962C8B-B14F-4D97-AF65-F5344CB8AC3E}">
        <p14:creationId xmlns:p14="http://schemas.microsoft.com/office/powerpoint/2010/main" val="1201917188"/>
      </p:ext>
    </p:extLst>
  </p:cSld>
</p:sld>
</file>

<file path=ppt/slides/slide26.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82" name="Oval 81">
            <a:extLst xmlns:a="http://schemas.openxmlformats.org/drawingml/2006/main">
              <a:ext uri="{FF2B5EF4-FFF2-40B4-BE49-F238E27FC236}">
                <a16:creationId xmlns:a16="http://schemas.microsoft.com/office/drawing/2014/main" id="{E5DE3669-3242-4757-91FE-559F00F5BDCC}"/>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B96AE332-0A72-4D4E-87C1-FBB34C58910C}"/>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A7ADCC2D-D1ED-4D08-8AEA-CB63DA6EEC28}"/>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CABAC and reconstruction are separate branches</a:t>
            </a:r>
          </a:p>
        </p:txBody>
      </p:sp>
      <p:sp>
        <p:nvSpPr>
          <p:cNvPr id="4" name="Straight Connector 3">
            <a:extLst xmlns:a="http://schemas.openxmlformats.org/drawingml/2006/main">
              <a:ext uri="{FF2B5EF4-FFF2-40B4-BE49-F238E27FC236}">
                <a16:creationId xmlns:a16="http://schemas.microsoft.com/office/drawing/2014/main" id="{CDB4AE7B-EEF3-4923-B2F4-7EEE7B429029}"/>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8693CF7E-2664-49A2-9BBB-ED025B58E8EF}"/>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Both branches start from the same quantized coefficients and serve different purposes</a:t>
            </a:r>
          </a:p>
        </p:txBody>
      </p:sp>
      <p:sp>
        <p:nvSpPr>
          <p:cNvPr id="6" name="Rectangle 5">
            <a:extLst xmlns:a="http://schemas.openxmlformats.org/drawingml/2006/main">
              <a:ext uri="{FF2B5EF4-FFF2-40B4-BE49-F238E27FC236}">
                <a16:creationId xmlns:a16="http://schemas.microsoft.com/office/drawing/2014/main" id="{3572B9C4-6CB5-4E99-82AC-FB0CC4A48880}"/>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CB883A6-83E1-442F-9DBF-27F5B45F1FDA}"/>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26 / 49</a:t>
            </a:r>
          </a:p>
        </p:txBody>
      </p:sp>
      <p:sp>
        <p:nvSpPr>
          <p:cNvPr id="8" name="Rectangle 7">
            <a:extLst xmlns:a="http://schemas.openxmlformats.org/drawingml/2006/main">
              <a:ext uri="{FF2B5EF4-FFF2-40B4-BE49-F238E27FC236}">
                <a16:creationId xmlns:a16="http://schemas.microsoft.com/office/drawing/2014/main" id="{B09F00E1-7B7B-4364-9897-B1C5132929CB}"/>
              </a:ext>
            </a:extLst>
          </p:cNvPr>
          <p:cNvSpPr>
            <a:spLocks xmlns:a="http://schemas.openxmlformats.org/drawingml/2006/main" noGrp="1"/>
          </p:cNvSpPr>
          <p:nvPr/>
        </p:nvSpPr>
        <p:spPr>
          <a:xfrm xmlns:a="http://schemas.openxmlformats.org/drawingml/2006/main">
            <a:off x="523875" y="14287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22D3EE"/>
                </a:solidFill>
                <a:latin typeface="Arial"/>
                <a:ea typeface="Arial"/>
                <a:cs typeface="Arial"/>
              </a:defRPr>
            </a:pPr>
            <a:r>
              <a:rPr sz="1350" b="1">
                <a:solidFill>
                  <a:srgbClr val="22D3EE"/>
                </a:solidFill>
                <a:latin typeface="Arial"/>
                <a:ea typeface="Arial"/>
                <a:cs typeface="Arial"/>
              </a:rPr>
              <a:t>BLOCK X QUANTIZED COEFFICIENTS</a:t>
            </a:r>
          </a:p>
        </p:txBody>
      </p:sp>
      <p:sp>
        <p:nvSpPr>
          <p:cNvPr id="9" name="Rectangle 8">
            <a:extLst xmlns:a="http://schemas.openxmlformats.org/drawingml/2006/main">
              <a:ext uri="{FF2B5EF4-FFF2-40B4-BE49-F238E27FC236}">
                <a16:creationId xmlns:a16="http://schemas.microsoft.com/office/drawing/2014/main" id="{B792EC96-EF28-4D9B-805A-6B1DF6B9A174}"/>
              </a:ext>
            </a:extLst>
          </p:cNvPr>
          <p:cNvSpPr>
            <a:spLocks xmlns:a="http://schemas.openxmlformats.org/drawingml/2006/main" noGrp="1"/>
          </p:cNvSpPr>
          <p:nvPr/>
        </p:nvSpPr>
        <p:spPr>
          <a:xfrm xmlns:a="http://schemas.openxmlformats.org/drawingml/2006/main">
            <a:off x="1381125" y="1952625"/>
            <a:ext cx="552450" cy="5524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0" name="Rectangle 9">
            <a:extLst xmlns:a="http://schemas.openxmlformats.org/drawingml/2006/main">
              <a:ext uri="{FF2B5EF4-FFF2-40B4-BE49-F238E27FC236}">
                <a16:creationId xmlns:a16="http://schemas.microsoft.com/office/drawing/2014/main" id="{3E7FCF8B-CE79-4147-91D2-00B7FBCB6A26}"/>
              </a:ext>
            </a:extLst>
          </p:cNvPr>
          <p:cNvSpPr>
            <a:spLocks xmlns:a="http://schemas.openxmlformats.org/drawingml/2006/main" noGrp="1"/>
          </p:cNvSpPr>
          <p:nvPr/>
        </p:nvSpPr>
        <p:spPr>
          <a:xfrm xmlns:a="http://schemas.openxmlformats.org/drawingml/2006/main">
            <a:off x="1381125" y="20002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5</a:t>
            </a:r>
          </a:p>
        </p:txBody>
      </p:sp>
      <p:sp>
        <p:nvSpPr>
          <p:cNvPr id="11" name="Rectangle 10">
            <a:extLst xmlns:a="http://schemas.openxmlformats.org/drawingml/2006/main">
              <a:ext uri="{FF2B5EF4-FFF2-40B4-BE49-F238E27FC236}">
                <a16:creationId xmlns:a16="http://schemas.microsoft.com/office/drawing/2014/main" id="{FAF2DEF4-7D08-47E4-9984-7D2D66917403}"/>
              </a:ext>
            </a:extLst>
          </p:cNvPr>
          <p:cNvSpPr>
            <a:spLocks xmlns:a="http://schemas.openxmlformats.org/drawingml/2006/main" noGrp="1"/>
          </p:cNvSpPr>
          <p:nvPr/>
        </p:nvSpPr>
        <p:spPr>
          <a:xfrm xmlns:a="http://schemas.openxmlformats.org/drawingml/2006/main">
            <a:off x="1933575" y="1952625"/>
            <a:ext cx="552450" cy="5524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2" name="Rectangle 11">
            <a:extLst xmlns:a="http://schemas.openxmlformats.org/drawingml/2006/main">
              <a:ext uri="{FF2B5EF4-FFF2-40B4-BE49-F238E27FC236}">
                <a16:creationId xmlns:a16="http://schemas.microsoft.com/office/drawing/2014/main" id="{ED6E22C0-C832-4DCC-A482-121A5C69525D}"/>
              </a:ext>
            </a:extLst>
          </p:cNvPr>
          <p:cNvSpPr>
            <a:spLocks xmlns:a="http://schemas.openxmlformats.org/drawingml/2006/main" noGrp="1"/>
          </p:cNvSpPr>
          <p:nvPr/>
        </p:nvSpPr>
        <p:spPr>
          <a:xfrm xmlns:a="http://schemas.openxmlformats.org/drawingml/2006/main">
            <a:off x="1933575" y="20002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-2</a:t>
            </a:r>
          </a:p>
        </p:txBody>
      </p:sp>
      <p:sp>
        <p:nvSpPr>
          <p:cNvPr id="13" name="Rectangle 12">
            <a:extLst xmlns:a="http://schemas.openxmlformats.org/drawingml/2006/main">
              <a:ext uri="{FF2B5EF4-FFF2-40B4-BE49-F238E27FC236}">
                <a16:creationId xmlns:a16="http://schemas.microsoft.com/office/drawing/2014/main" id="{26A508DE-00D4-493D-A5D5-514B322C6297}"/>
              </a:ext>
            </a:extLst>
          </p:cNvPr>
          <p:cNvSpPr>
            <a:spLocks xmlns:a="http://schemas.openxmlformats.org/drawingml/2006/main" noGrp="1"/>
          </p:cNvSpPr>
          <p:nvPr/>
        </p:nvSpPr>
        <p:spPr>
          <a:xfrm xmlns:a="http://schemas.openxmlformats.org/drawingml/2006/main">
            <a:off x="2486025" y="1952625"/>
            <a:ext cx="552450" cy="5524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4" name="Rectangle 13">
            <a:extLst xmlns:a="http://schemas.openxmlformats.org/drawingml/2006/main">
              <a:ext uri="{FF2B5EF4-FFF2-40B4-BE49-F238E27FC236}">
                <a16:creationId xmlns:a16="http://schemas.microsoft.com/office/drawing/2014/main" id="{7F2A0DFD-785D-4F51-BA03-9DB6CD58B16B}"/>
              </a:ext>
            </a:extLst>
          </p:cNvPr>
          <p:cNvSpPr>
            <a:spLocks xmlns:a="http://schemas.openxmlformats.org/drawingml/2006/main" noGrp="1"/>
          </p:cNvSpPr>
          <p:nvPr/>
        </p:nvSpPr>
        <p:spPr>
          <a:xfrm xmlns:a="http://schemas.openxmlformats.org/drawingml/2006/main">
            <a:off x="2486025" y="20002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15" name="Rectangle 14">
            <a:extLst xmlns:a="http://schemas.openxmlformats.org/drawingml/2006/main">
              <a:ext uri="{FF2B5EF4-FFF2-40B4-BE49-F238E27FC236}">
                <a16:creationId xmlns:a16="http://schemas.microsoft.com/office/drawing/2014/main" id="{C20C5246-2C57-426F-BDEF-5D7A4AEA485A}"/>
              </a:ext>
            </a:extLst>
          </p:cNvPr>
          <p:cNvSpPr>
            <a:spLocks xmlns:a="http://schemas.openxmlformats.org/drawingml/2006/main" noGrp="1"/>
          </p:cNvSpPr>
          <p:nvPr/>
        </p:nvSpPr>
        <p:spPr>
          <a:xfrm xmlns:a="http://schemas.openxmlformats.org/drawingml/2006/main">
            <a:off x="3038475" y="19526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6" name="Rectangle 15">
            <a:extLst xmlns:a="http://schemas.openxmlformats.org/drawingml/2006/main">
              <a:ext uri="{FF2B5EF4-FFF2-40B4-BE49-F238E27FC236}">
                <a16:creationId xmlns:a16="http://schemas.microsoft.com/office/drawing/2014/main" id="{D01D1612-AE62-4791-A20B-507B91DDE1A6}"/>
              </a:ext>
            </a:extLst>
          </p:cNvPr>
          <p:cNvSpPr>
            <a:spLocks xmlns:a="http://schemas.openxmlformats.org/drawingml/2006/main" noGrp="1"/>
          </p:cNvSpPr>
          <p:nvPr/>
        </p:nvSpPr>
        <p:spPr>
          <a:xfrm xmlns:a="http://schemas.openxmlformats.org/drawingml/2006/main">
            <a:off x="3038475" y="20002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7" name="Rectangle 16">
            <a:extLst xmlns:a="http://schemas.openxmlformats.org/drawingml/2006/main">
              <a:ext uri="{FF2B5EF4-FFF2-40B4-BE49-F238E27FC236}">
                <a16:creationId xmlns:a16="http://schemas.microsoft.com/office/drawing/2014/main" id="{3C9CF1F2-041D-4951-8124-E7EBF7F08912}"/>
              </a:ext>
            </a:extLst>
          </p:cNvPr>
          <p:cNvSpPr>
            <a:spLocks xmlns:a="http://schemas.openxmlformats.org/drawingml/2006/main" noGrp="1"/>
          </p:cNvSpPr>
          <p:nvPr/>
        </p:nvSpPr>
        <p:spPr>
          <a:xfrm xmlns:a="http://schemas.openxmlformats.org/drawingml/2006/main">
            <a:off x="1381125" y="2505075"/>
            <a:ext cx="552450" cy="5524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18" name="Rectangle 17">
            <a:extLst xmlns:a="http://schemas.openxmlformats.org/drawingml/2006/main">
              <a:ext uri="{FF2B5EF4-FFF2-40B4-BE49-F238E27FC236}">
                <a16:creationId xmlns:a16="http://schemas.microsoft.com/office/drawing/2014/main" id="{BAD7DF8A-FD1A-4453-BBE5-441D1AC9FBAB}"/>
              </a:ext>
            </a:extLst>
          </p:cNvPr>
          <p:cNvSpPr>
            <a:spLocks xmlns:a="http://schemas.openxmlformats.org/drawingml/2006/main" noGrp="1"/>
          </p:cNvSpPr>
          <p:nvPr/>
        </p:nvSpPr>
        <p:spPr>
          <a:xfrm xmlns:a="http://schemas.openxmlformats.org/drawingml/2006/main">
            <a:off x="1381125" y="25527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19" name="Rectangle 18">
            <a:extLst xmlns:a="http://schemas.openxmlformats.org/drawingml/2006/main">
              <a:ext uri="{FF2B5EF4-FFF2-40B4-BE49-F238E27FC236}">
                <a16:creationId xmlns:a16="http://schemas.microsoft.com/office/drawing/2014/main" id="{58A99BC7-BE97-4D21-AF17-EDB42DBC260F}"/>
              </a:ext>
            </a:extLst>
          </p:cNvPr>
          <p:cNvSpPr>
            <a:spLocks xmlns:a="http://schemas.openxmlformats.org/drawingml/2006/main" noGrp="1"/>
          </p:cNvSpPr>
          <p:nvPr/>
        </p:nvSpPr>
        <p:spPr>
          <a:xfrm xmlns:a="http://schemas.openxmlformats.org/drawingml/2006/main">
            <a:off x="1933575" y="2505075"/>
            <a:ext cx="552450" cy="552450"/>
          </a:xfrm>
          <a:prstGeom xmlns:a="http://schemas.openxmlformats.org/drawingml/2006/main" prst="rect">
            <a:avLst/>
          </a:prstGeom>
          <a:solidFill xmlns:a="http://schemas.openxmlformats.org/drawingml/2006/main">
            <a:srgbClr val="22D3EE"/>
          </a:solidFill>
          <a:ln xmlns:a="http://schemas.openxmlformats.org/drawingml/2006/main" w="9525">
            <a:solidFill>
              <a:srgbClr val="1E4968"/>
            </a:solidFill>
            <a:prstDash val="solid"/>
          </a:ln>
        </p:spPr>
      </p:sp>
      <p:sp>
        <p:nvSpPr>
          <p:cNvPr id="20" name="Rectangle 19">
            <a:extLst xmlns:a="http://schemas.openxmlformats.org/drawingml/2006/main">
              <a:ext uri="{FF2B5EF4-FFF2-40B4-BE49-F238E27FC236}">
                <a16:creationId xmlns:a16="http://schemas.microsoft.com/office/drawing/2014/main" id="{F927BC1C-3849-4F1F-A19D-3D8B8BF5DE45}"/>
              </a:ext>
            </a:extLst>
          </p:cNvPr>
          <p:cNvSpPr>
            <a:spLocks xmlns:a="http://schemas.openxmlformats.org/drawingml/2006/main" noGrp="1"/>
          </p:cNvSpPr>
          <p:nvPr/>
        </p:nvSpPr>
        <p:spPr>
          <a:xfrm xmlns:a="http://schemas.openxmlformats.org/drawingml/2006/main">
            <a:off x="1933575" y="25527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21" name="Rectangle 20">
            <a:extLst xmlns:a="http://schemas.openxmlformats.org/drawingml/2006/main">
              <a:ext uri="{FF2B5EF4-FFF2-40B4-BE49-F238E27FC236}">
                <a16:creationId xmlns:a16="http://schemas.microsoft.com/office/drawing/2014/main" id="{EAE47BA4-1C6B-402C-AD6E-5CC30B9D29BE}"/>
              </a:ext>
            </a:extLst>
          </p:cNvPr>
          <p:cNvSpPr>
            <a:spLocks xmlns:a="http://schemas.openxmlformats.org/drawingml/2006/main" noGrp="1"/>
          </p:cNvSpPr>
          <p:nvPr/>
        </p:nvSpPr>
        <p:spPr>
          <a:xfrm xmlns:a="http://schemas.openxmlformats.org/drawingml/2006/main">
            <a:off x="2486025" y="25050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2" name="Rectangle 21">
            <a:extLst xmlns:a="http://schemas.openxmlformats.org/drawingml/2006/main">
              <a:ext uri="{FF2B5EF4-FFF2-40B4-BE49-F238E27FC236}">
                <a16:creationId xmlns:a16="http://schemas.microsoft.com/office/drawing/2014/main" id="{762D0115-CC76-44EC-BC09-9D26C1809091}"/>
              </a:ext>
            </a:extLst>
          </p:cNvPr>
          <p:cNvSpPr>
            <a:spLocks xmlns:a="http://schemas.openxmlformats.org/drawingml/2006/main" noGrp="1"/>
          </p:cNvSpPr>
          <p:nvPr/>
        </p:nvSpPr>
        <p:spPr>
          <a:xfrm xmlns:a="http://schemas.openxmlformats.org/drawingml/2006/main">
            <a:off x="2486025" y="25527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3" name="Rectangle 22">
            <a:extLst xmlns:a="http://schemas.openxmlformats.org/drawingml/2006/main">
              <a:ext uri="{FF2B5EF4-FFF2-40B4-BE49-F238E27FC236}">
                <a16:creationId xmlns:a16="http://schemas.microsoft.com/office/drawing/2014/main" id="{A52C1862-396D-4617-9780-91BAE3AEFA4E}"/>
              </a:ext>
            </a:extLst>
          </p:cNvPr>
          <p:cNvSpPr>
            <a:spLocks xmlns:a="http://schemas.openxmlformats.org/drawingml/2006/main" noGrp="1"/>
          </p:cNvSpPr>
          <p:nvPr/>
        </p:nvSpPr>
        <p:spPr>
          <a:xfrm xmlns:a="http://schemas.openxmlformats.org/drawingml/2006/main">
            <a:off x="3038475" y="25050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4" name="Rectangle 23">
            <a:extLst xmlns:a="http://schemas.openxmlformats.org/drawingml/2006/main">
              <a:ext uri="{FF2B5EF4-FFF2-40B4-BE49-F238E27FC236}">
                <a16:creationId xmlns:a16="http://schemas.microsoft.com/office/drawing/2014/main" id="{A0D31C96-E915-44C1-9C82-A92075D0F929}"/>
              </a:ext>
            </a:extLst>
          </p:cNvPr>
          <p:cNvSpPr>
            <a:spLocks xmlns:a="http://schemas.openxmlformats.org/drawingml/2006/main" noGrp="1"/>
          </p:cNvSpPr>
          <p:nvPr/>
        </p:nvSpPr>
        <p:spPr>
          <a:xfrm xmlns:a="http://schemas.openxmlformats.org/drawingml/2006/main">
            <a:off x="3038475" y="25527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5" name="Rectangle 24">
            <a:extLst xmlns:a="http://schemas.openxmlformats.org/drawingml/2006/main">
              <a:ext uri="{FF2B5EF4-FFF2-40B4-BE49-F238E27FC236}">
                <a16:creationId xmlns:a16="http://schemas.microsoft.com/office/drawing/2014/main" id="{66AE494F-BD39-488B-8AAD-6948FC0E6435}"/>
              </a:ext>
            </a:extLst>
          </p:cNvPr>
          <p:cNvSpPr>
            <a:spLocks xmlns:a="http://schemas.openxmlformats.org/drawingml/2006/main" noGrp="1"/>
          </p:cNvSpPr>
          <p:nvPr/>
        </p:nvSpPr>
        <p:spPr>
          <a:xfrm xmlns:a="http://schemas.openxmlformats.org/drawingml/2006/main">
            <a:off x="1381125" y="30575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6" name="Rectangle 25">
            <a:extLst xmlns:a="http://schemas.openxmlformats.org/drawingml/2006/main">
              <a:ext uri="{FF2B5EF4-FFF2-40B4-BE49-F238E27FC236}">
                <a16:creationId xmlns:a16="http://schemas.microsoft.com/office/drawing/2014/main" id="{0E3D18BF-15AB-427E-89E7-63FDF4137383}"/>
              </a:ext>
            </a:extLst>
          </p:cNvPr>
          <p:cNvSpPr>
            <a:spLocks xmlns:a="http://schemas.openxmlformats.org/drawingml/2006/main" noGrp="1"/>
          </p:cNvSpPr>
          <p:nvPr/>
        </p:nvSpPr>
        <p:spPr>
          <a:xfrm xmlns:a="http://schemas.openxmlformats.org/drawingml/2006/main">
            <a:off x="1381125" y="31051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7" name="Rectangle 26">
            <a:extLst xmlns:a="http://schemas.openxmlformats.org/drawingml/2006/main">
              <a:ext uri="{FF2B5EF4-FFF2-40B4-BE49-F238E27FC236}">
                <a16:creationId xmlns:a16="http://schemas.microsoft.com/office/drawing/2014/main" id="{2D85CAC9-7A6D-4359-93EB-45B3C83F842D}"/>
              </a:ext>
            </a:extLst>
          </p:cNvPr>
          <p:cNvSpPr>
            <a:spLocks xmlns:a="http://schemas.openxmlformats.org/drawingml/2006/main" noGrp="1"/>
          </p:cNvSpPr>
          <p:nvPr/>
        </p:nvSpPr>
        <p:spPr>
          <a:xfrm xmlns:a="http://schemas.openxmlformats.org/drawingml/2006/main">
            <a:off x="1933575" y="30575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8" name="Rectangle 27">
            <a:extLst xmlns:a="http://schemas.openxmlformats.org/drawingml/2006/main">
              <a:ext uri="{FF2B5EF4-FFF2-40B4-BE49-F238E27FC236}">
                <a16:creationId xmlns:a16="http://schemas.microsoft.com/office/drawing/2014/main" id="{E8F37840-D3BD-47A0-B61D-58DB797439C6}"/>
              </a:ext>
            </a:extLst>
          </p:cNvPr>
          <p:cNvSpPr>
            <a:spLocks xmlns:a="http://schemas.openxmlformats.org/drawingml/2006/main" noGrp="1"/>
          </p:cNvSpPr>
          <p:nvPr/>
        </p:nvSpPr>
        <p:spPr>
          <a:xfrm xmlns:a="http://schemas.openxmlformats.org/drawingml/2006/main">
            <a:off x="1933575" y="31051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9" name="Rectangle 28">
            <a:extLst xmlns:a="http://schemas.openxmlformats.org/drawingml/2006/main">
              <a:ext uri="{FF2B5EF4-FFF2-40B4-BE49-F238E27FC236}">
                <a16:creationId xmlns:a16="http://schemas.microsoft.com/office/drawing/2014/main" id="{075CD7F1-D44C-49BB-A6E0-2D9C127A4FAE}"/>
              </a:ext>
            </a:extLst>
          </p:cNvPr>
          <p:cNvSpPr>
            <a:spLocks xmlns:a="http://schemas.openxmlformats.org/drawingml/2006/main" noGrp="1"/>
          </p:cNvSpPr>
          <p:nvPr/>
        </p:nvSpPr>
        <p:spPr>
          <a:xfrm xmlns:a="http://schemas.openxmlformats.org/drawingml/2006/main">
            <a:off x="2486025" y="30575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0" name="Rectangle 29">
            <a:extLst xmlns:a="http://schemas.openxmlformats.org/drawingml/2006/main">
              <a:ext uri="{FF2B5EF4-FFF2-40B4-BE49-F238E27FC236}">
                <a16:creationId xmlns:a16="http://schemas.microsoft.com/office/drawing/2014/main" id="{D8A6D26E-EA7D-4741-94A2-71B01AE53A70}"/>
              </a:ext>
            </a:extLst>
          </p:cNvPr>
          <p:cNvSpPr>
            <a:spLocks xmlns:a="http://schemas.openxmlformats.org/drawingml/2006/main" noGrp="1"/>
          </p:cNvSpPr>
          <p:nvPr/>
        </p:nvSpPr>
        <p:spPr>
          <a:xfrm xmlns:a="http://schemas.openxmlformats.org/drawingml/2006/main">
            <a:off x="2486025" y="31051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1" name="Rectangle 30">
            <a:extLst xmlns:a="http://schemas.openxmlformats.org/drawingml/2006/main">
              <a:ext uri="{FF2B5EF4-FFF2-40B4-BE49-F238E27FC236}">
                <a16:creationId xmlns:a16="http://schemas.microsoft.com/office/drawing/2014/main" id="{0893B076-93B4-4518-B0F3-B460CF99DAAA}"/>
              </a:ext>
            </a:extLst>
          </p:cNvPr>
          <p:cNvSpPr>
            <a:spLocks xmlns:a="http://schemas.openxmlformats.org/drawingml/2006/main" noGrp="1"/>
          </p:cNvSpPr>
          <p:nvPr/>
        </p:nvSpPr>
        <p:spPr>
          <a:xfrm xmlns:a="http://schemas.openxmlformats.org/drawingml/2006/main">
            <a:off x="3038475" y="30575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2" name="Rectangle 31">
            <a:extLst xmlns:a="http://schemas.openxmlformats.org/drawingml/2006/main">
              <a:ext uri="{FF2B5EF4-FFF2-40B4-BE49-F238E27FC236}">
                <a16:creationId xmlns:a16="http://schemas.microsoft.com/office/drawing/2014/main" id="{7A7397C9-0BFF-4B62-8497-6C007D7DB226}"/>
              </a:ext>
            </a:extLst>
          </p:cNvPr>
          <p:cNvSpPr>
            <a:spLocks xmlns:a="http://schemas.openxmlformats.org/drawingml/2006/main" noGrp="1"/>
          </p:cNvSpPr>
          <p:nvPr/>
        </p:nvSpPr>
        <p:spPr>
          <a:xfrm xmlns:a="http://schemas.openxmlformats.org/drawingml/2006/main">
            <a:off x="3038475" y="31051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3" name="Rectangle 32">
            <a:extLst xmlns:a="http://schemas.openxmlformats.org/drawingml/2006/main">
              <a:ext uri="{FF2B5EF4-FFF2-40B4-BE49-F238E27FC236}">
                <a16:creationId xmlns:a16="http://schemas.microsoft.com/office/drawing/2014/main" id="{D152DF52-FBC3-4FE2-8E04-013BB045D580}"/>
              </a:ext>
            </a:extLst>
          </p:cNvPr>
          <p:cNvSpPr>
            <a:spLocks xmlns:a="http://schemas.openxmlformats.org/drawingml/2006/main" noGrp="1"/>
          </p:cNvSpPr>
          <p:nvPr/>
        </p:nvSpPr>
        <p:spPr>
          <a:xfrm xmlns:a="http://schemas.openxmlformats.org/drawingml/2006/main">
            <a:off x="1381125" y="36099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4" name="Rectangle 33">
            <a:extLst xmlns:a="http://schemas.openxmlformats.org/drawingml/2006/main">
              <a:ext uri="{FF2B5EF4-FFF2-40B4-BE49-F238E27FC236}">
                <a16:creationId xmlns:a16="http://schemas.microsoft.com/office/drawing/2014/main" id="{09B988BE-FC80-4553-95D0-21EF037CB632}"/>
              </a:ext>
            </a:extLst>
          </p:cNvPr>
          <p:cNvSpPr>
            <a:spLocks xmlns:a="http://schemas.openxmlformats.org/drawingml/2006/main" noGrp="1"/>
          </p:cNvSpPr>
          <p:nvPr/>
        </p:nvSpPr>
        <p:spPr>
          <a:xfrm xmlns:a="http://schemas.openxmlformats.org/drawingml/2006/main">
            <a:off x="1381125" y="36576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5" name="Rectangle 34">
            <a:extLst xmlns:a="http://schemas.openxmlformats.org/drawingml/2006/main">
              <a:ext uri="{FF2B5EF4-FFF2-40B4-BE49-F238E27FC236}">
                <a16:creationId xmlns:a16="http://schemas.microsoft.com/office/drawing/2014/main" id="{3199FAF5-4FCF-4094-8091-A139A45C52E6}"/>
              </a:ext>
            </a:extLst>
          </p:cNvPr>
          <p:cNvSpPr>
            <a:spLocks xmlns:a="http://schemas.openxmlformats.org/drawingml/2006/main" noGrp="1"/>
          </p:cNvSpPr>
          <p:nvPr/>
        </p:nvSpPr>
        <p:spPr>
          <a:xfrm xmlns:a="http://schemas.openxmlformats.org/drawingml/2006/main">
            <a:off x="1933575" y="36099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6" name="Rectangle 35">
            <a:extLst xmlns:a="http://schemas.openxmlformats.org/drawingml/2006/main">
              <a:ext uri="{FF2B5EF4-FFF2-40B4-BE49-F238E27FC236}">
                <a16:creationId xmlns:a16="http://schemas.microsoft.com/office/drawing/2014/main" id="{F5C1825C-40AA-484F-AF24-1DEDA5DAC4E0}"/>
              </a:ext>
            </a:extLst>
          </p:cNvPr>
          <p:cNvSpPr>
            <a:spLocks xmlns:a="http://schemas.openxmlformats.org/drawingml/2006/main" noGrp="1"/>
          </p:cNvSpPr>
          <p:nvPr/>
        </p:nvSpPr>
        <p:spPr>
          <a:xfrm xmlns:a="http://schemas.openxmlformats.org/drawingml/2006/main">
            <a:off x="1933575" y="36576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7" name="Rectangle 36">
            <a:extLst xmlns:a="http://schemas.openxmlformats.org/drawingml/2006/main">
              <a:ext uri="{FF2B5EF4-FFF2-40B4-BE49-F238E27FC236}">
                <a16:creationId xmlns:a16="http://schemas.microsoft.com/office/drawing/2014/main" id="{82A3F400-1E13-488C-9946-AF2BA5D65468}"/>
              </a:ext>
            </a:extLst>
          </p:cNvPr>
          <p:cNvSpPr>
            <a:spLocks xmlns:a="http://schemas.openxmlformats.org/drawingml/2006/main" noGrp="1"/>
          </p:cNvSpPr>
          <p:nvPr/>
        </p:nvSpPr>
        <p:spPr>
          <a:xfrm xmlns:a="http://schemas.openxmlformats.org/drawingml/2006/main">
            <a:off x="2486025" y="36099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8" name="Rectangle 37">
            <a:extLst xmlns:a="http://schemas.openxmlformats.org/drawingml/2006/main">
              <a:ext uri="{FF2B5EF4-FFF2-40B4-BE49-F238E27FC236}">
                <a16:creationId xmlns:a16="http://schemas.microsoft.com/office/drawing/2014/main" id="{7D54B818-5D47-46B6-9875-F5880627F370}"/>
              </a:ext>
            </a:extLst>
          </p:cNvPr>
          <p:cNvSpPr>
            <a:spLocks xmlns:a="http://schemas.openxmlformats.org/drawingml/2006/main" noGrp="1"/>
          </p:cNvSpPr>
          <p:nvPr/>
        </p:nvSpPr>
        <p:spPr>
          <a:xfrm xmlns:a="http://schemas.openxmlformats.org/drawingml/2006/main">
            <a:off x="2486025" y="36576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9" name="Rectangle 38">
            <a:extLst xmlns:a="http://schemas.openxmlformats.org/drawingml/2006/main">
              <a:ext uri="{FF2B5EF4-FFF2-40B4-BE49-F238E27FC236}">
                <a16:creationId xmlns:a16="http://schemas.microsoft.com/office/drawing/2014/main" id="{F94854BB-F550-415B-9DA1-13B22E3A5652}"/>
              </a:ext>
            </a:extLst>
          </p:cNvPr>
          <p:cNvSpPr>
            <a:spLocks xmlns:a="http://schemas.openxmlformats.org/drawingml/2006/main" noGrp="1"/>
          </p:cNvSpPr>
          <p:nvPr/>
        </p:nvSpPr>
        <p:spPr>
          <a:xfrm xmlns:a="http://schemas.openxmlformats.org/drawingml/2006/main">
            <a:off x="3038475" y="36099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40" name="Rectangle 39">
            <a:extLst xmlns:a="http://schemas.openxmlformats.org/drawingml/2006/main">
              <a:ext uri="{FF2B5EF4-FFF2-40B4-BE49-F238E27FC236}">
                <a16:creationId xmlns:a16="http://schemas.microsoft.com/office/drawing/2014/main" id="{E2103151-FE7A-4678-B501-B4FB261DB99B}"/>
              </a:ext>
            </a:extLst>
          </p:cNvPr>
          <p:cNvSpPr>
            <a:spLocks xmlns:a="http://schemas.openxmlformats.org/drawingml/2006/main" noGrp="1"/>
          </p:cNvSpPr>
          <p:nvPr/>
        </p:nvSpPr>
        <p:spPr>
          <a:xfrm xmlns:a="http://schemas.openxmlformats.org/drawingml/2006/main">
            <a:off x="3038475" y="36576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41" name="Rectangle 40">
            <a:extLst xmlns:a="http://schemas.openxmlformats.org/drawingml/2006/main">
              <a:ext uri="{FF2B5EF4-FFF2-40B4-BE49-F238E27FC236}">
                <a16:creationId xmlns:a16="http://schemas.microsoft.com/office/drawing/2014/main" id="{45924936-9869-4AF6-9D79-F82634FA544F}"/>
              </a:ext>
            </a:extLst>
          </p:cNvPr>
          <p:cNvSpPr>
            <a:spLocks xmlns:a="http://schemas.openxmlformats.org/drawingml/2006/main" noGrp="1"/>
          </p:cNvSpPr>
          <p:nvPr/>
        </p:nvSpPr>
        <p:spPr>
          <a:xfrm xmlns:a="http://schemas.openxmlformats.org/drawingml/2006/main">
            <a:off x="1143000" y="43338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same starting data</a:t>
            </a:r>
          </a:p>
        </p:txBody>
      </p:sp>
      <p:sp>
        <p:nvSpPr>
          <p:cNvPr id="42" name="Rectangle 41">
            <a:extLst xmlns:a="http://schemas.openxmlformats.org/drawingml/2006/main">
              <a:ext uri="{FF2B5EF4-FFF2-40B4-BE49-F238E27FC236}">
                <a16:creationId xmlns:a16="http://schemas.microsoft.com/office/drawing/2014/main" id="{FD3BA59E-6694-4DE7-A354-225472CB8091}"/>
              </a:ext>
            </a:extLst>
          </p:cNvPr>
          <p:cNvSpPr>
            <a:spLocks xmlns:a="http://schemas.openxmlformats.org/drawingml/2006/main" noGrp="1"/>
          </p:cNvSpPr>
          <p:nvPr/>
        </p:nvSpPr>
        <p:spPr>
          <a:xfrm xmlns:a="http://schemas.openxmlformats.org/drawingml/2006/main">
            <a:off x="4762500" y="2228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3" name="Rectangle 42">
            <a:extLst xmlns:a="http://schemas.openxmlformats.org/drawingml/2006/main">
              <a:ext uri="{FF2B5EF4-FFF2-40B4-BE49-F238E27FC236}">
                <a16:creationId xmlns:a16="http://schemas.microsoft.com/office/drawing/2014/main" id="{5861BEAB-39A1-4C49-8966-4FD3A2EEB7FE}"/>
              </a:ext>
            </a:extLst>
          </p:cNvPr>
          <p:cNvSpPr>
            <a:spLocks xmlns:a="http://schemas.openxmlformats.org/drawingml/2006/main" noGrp="1"/>
          </p:cNvSpPr>
          <p:nvPr/>
        </p:nvSpPr>
        <p:spPr>
          <a:xfrm xmlns:a="http://schemas.openxmlformats.org/drawingml/2006/main">
            <a:off x="4000500" y="2228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02" name="Straight Arrow Connector 124"/>
          <p:cNvCxnSpPr>
            <a:stCxn xmlns:a="http://schemas.openxmlformats.org/drawingml/2006/main" id="42" idx="1"/>
            <a:endCxn xmlns:a="http://schemas.openxmlformats.org/drawingml/2006/main" id="43" idx="3"/>
          </p:cNvCxnSpPr>
          <p:nvPr/>
        </p:nvCxnSpPr>
        <p:spPr>
          <a:xfrm xmlns:a="http://schemas.openxmlformats.org/drawingml/2006/main" flipH="1">
            <a:off x="4019550" y="2238375"/>
            <a:ext cx="742950" cy="0"/>
          </a:xfrm>
          <a:prstGeom xmlns:a="http://schemas.openxmlformats.org/drawingml/2006/main" prst="straightConnector1">
            <a:avLst/>
          </a:prstGeom>
          <a:ln xmlns:a="http://schemas.openxmlformats.org/drawingml/2006/main" w="19050" cap="rnd">
            <a:solidFill>
              <a:srgbClr val="FF6577"/>
            </a:solidFill>
            <a:prstDash val="solid"/>
            <a:headEnd type="triangle" w="sm" len="sm"/>
          </a:ln>
        </p:spPr>
      </p:cxnSp>
      <p:sp>
        <p:nvSpPr>
          <p:cNvPr id="45" name="Rectangle 44">
            <a:extLst xmlns:a="http://schemas.openxmlformats.org/drawingml/2006/main">
              <a:ext uri="{FF2B5EF4-FFF2-40B4-BE49-F238E27FC236}">
                <a16:creationId xmlns:a16="http://schemas.microsoft.com/office/drawing/2014/main" id="{134C2393-FD32-4ADE-A658-1E5A0261B547}"/>
              </a:ext>
            </a:extLst>
          </p:cNvPr>
          <p:cNvSpPr>
            <a:spLocks xmlns:a="http://schemas.openxmlformats.org/drawingml/2006/main" noGrp="1"/>
          </p:cNvSpPr>
          <p:nvPr/>
        </p:nvSpPr>
        <p:spPr>
          <a:xfrm xmlns:a="http://schemas.openxmlformats.org/drawingml/2006/main">
            <a:off x="4953000" y="13811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FF6577"/>
                </a:solidFill>
                <a:latin typeface="Arial"/>
                <a:ea typeface="Arial"/>
                <a:cs typeface="Arial"/>
              </a:defRPr>
            </a:pPr>
            <a:r>
              <a:rPr sz="1425" b="1">
                <a:solidFill>
                  <a:srgbClr val="FF6577"/>
                </a:solidFill>
                <a:latin typeface="Arial"/>
                <a:ea typeface="Arial"/>
                <a:cs typeface="Arial"/>
              </a:rPr>
              <a:t>BITSTREAM BRANCH</a:t>
            </a:r>
          </a:p>
        </p:txBody>
      </p:sp>
      <p:sp>
        <p:nvSpPr>
          <p:cNvPr id="46" name="Rectangle: Rounded Corners 45">
            <a:extLst xmlns:a="http://schemas.openxmlformats.org/drawingml/2006/main">
              <a:ext uri="{FF2B5EF4-FFF2-40B4-BE49-F238E27FC236}">
                <a16:creationId xmlns:a16="http://schemas.microsoft.com/office/drawing/2014/main" id="{DBE48671-AACE-40C1-9713-42F0B5487937}"/>
              </a:ext>
            </a:extLst>
          </p:cNvPr>
          <p:cNvSpPr>
            <a:spLocks xmlns:a="http://schemas.openxmlformats.org/drawingml/2006/main" noGrp="1"/>
          </p:cNvSpPr>
          <p:nvPr/>
        </p:nvSpPr>
        <p:spPr>
          <a:xfrm xmlns:a="http://schemas.openxmlformats.org/drawingml/2006/main">
            <a:off x="4953000" y="1809750"/>
            <a:ext cx="3000375" cy="647700"/>
          </a:xfrm>
          <a:prstGeom xmlns:a="http://schemas.openxmlformats.org/drawingml/2006/main" prst="roundRect">
            <a:avLst>
              <a:gd name="adj" fmla="val 17647"/>
            </a:avLst>
          </a:prstGeom>
          <a:solidFill xmlns:a="http://schemas.openxmlformats.org/drawingml/2006/main">
            <a:srgbClr val="2A1720"/>
          </a:solidFill>
          <a:ln xmlns:a="http://schemas.openxmlformats.org/drawingml/2006/main" w="19050">
            <a:solidFill>
              <a:srgbClr val="FF6577"/>
            </a:solidFill>
            <a:prstDash val="solid"/>
          </a:ln>
        </p:spPr>
      </p:sp>
      <p:sp>
        <p:nvSpPr>
          <p:cNvPr id="47" name="Rectangle 46">
            <a:extLst xmlns:a="http://schemas.openxmlformats.org/drawingml/2006/main">
              <a:ext uri="{FF2B5EF4-FFF2-40B4-BE49-F238E27FC236}">
                <a16:creationId xmlns:a16="http://schemas.microsoft.com/office/drawing/2014/main" id="{F55EE29E-761C-4294-A128-E513058EADB9}"/>
              </a:ext>
            </a:extLst>
          </p:cNvPr>
          <p:cNvSpPr>
            <a:spLocks xmlns:a="http://schemas.openxmlformats.org/drawingml/2006/main" noGrp="1"/>
          </p:cNvSpPr>
          <p:nvPr/>
        </p:nvSpPr>
        <p:spPr>
          <a:xfrm xmlns:a="http://schemas.openxmlformats.org/drawingml/2006/main">
            <a:off x="5067300" y="1905000"/>
            <a:ext cx="27717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Context-Adaptive Binary Arithmetic Coding (CABAC)</a:t>
            </a:r>
          </a:p>
        </p:txBody>
      </p:sp>
      <p:sp>
        <p:nvSpPr>
          <p:cNvPr id="48" name="Rectangle 47">
            <a:extLst xmlns:a="http://schemas.openxmlformats.org/drawingml/2006/main">
              <a:ext uri="{FF2B5EF4-FFF2-40B4-BE49-F238E27FC236}">
                <a16:creationId xmlns:a16="http://schemas.microsoft.com/office/drawing/2014/main" id="{6BFF194C-24E1-4ECA-B99B-20B646B5C3D1}"/>
              </a:ext>
            </a:extLst>
          </p:cNvPr>
          <p:cNvSpPr>
            <a:spLocks xmlns:a="http://schemas.openxmlformats.org/drawingml/2006/main" noGrp="1"/>
          </p:cNvSpPr>
          <p:nvPr/>
        </p:nvSpPr>
        <p:spPr>
          <a:xfrm xmlns:a="http://schemas.openxmlformats.org/drawingml/2006/main">
            <a:off x="8572500" y="21431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9" name="Rectangle 48">
            <a:extLst xmlns:a="http://schemas.openxmlformats.org/drawingml/2006/main">
              <a:ext uri="{FF2B5EF4-FFF2-40B4-BE49-F238E27FC236}">
                <a16:creationId xmlns:a16="http://schemas.microsoft.com/office/drawing/2014/main" id="{537F1E94-5DC2-48E0-81B3-6C8FADC09BA0}"/>
              </a:ext>
            </a:extLst>
          </p:cNvPr>
          <p:cNvSpPr>
            <a:spLocks xmlns:a="http://schemas.openxmlformats.org/drawingml/2006/main" noGrp="1"/>
          </p:cNvSpPr>
          <p:nvPr/>
        </p:nvSpPr>
        <p:spPr>
          <a:xfrm xmlns:a="http://schemas.openxmlformats.org/drawingml/2006/main">
            <a:off x="8048625" y="21431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08" name="Straight Arrow Connector 130"/>
          <p:cNvCxnSpPr>
            <a:stCxn xmlns:a="http://schemas.openxmlformats.org/drawingml/2006/main" id="48" idx="1"/>
            <a:endCxn xmlns:a="http://schemas.openxmlformats.org/drawingml/2006/main" id="49" idx="3"/>
          </p:cNvCxnSpPr>
          <p:nvPr/>
        </p:nvCxnSpPr>
        <p:spPr>
          <a:xfrm xmlns:a="http://schemas.openxmlformats.org/drawingml/2006/main" flipH="1">
            <a:off x="8067675" y="2152650"/>
            <a:ext cx="50482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51" name="Rectangle: Rounded Corners 50">
            <a:extLst xmlns:a="http://schemas.openxmlformats.org/drawingml/2006/main">
              <a:ext uri="{FF2B5EF4-FFF2-40B4-BE49-F238E27FC236}">
                <a16:creationId xmlns:a16="http://schemas.microsoft.com/office/drawing/2014/main" id="{FA60B343-CDA3-4779-BF02-4498117B5F75}"/>
              </a:ext>
            </a:extLst>
          </p:cNvPr>
          <p:cNvSpPr>
            <a:spLocks xmlns:a="http://schemas.openxmlformats.org/drawingml/2006/main" noGrp="1"/>
          </p:cNvSpPr>
          <p:nvPr/>
        </p:nvSpPr>
        <p:spPr>
          <a:xfrm xmlns:a="http://schemas.openxmlformats.org/drawingml/2006/main">
            <a:off x="8667750" y="1809750"/>
            <a:ext cx="2571750" cy="647700"/>
          </a:xfrm>
          <a:prstGeom xmlns:a="http://schemas.openxmlformats.org/drawingml/2006/main" prst="roundRect">
            <a:avLst>
              <a:gd name="adj" fmla="val 17647"/>
            </a:avLst>
          </a:prstGeom>
          <a:solidFill xmlns:a="http://schemas.openxmlformats.org/drawingml/2006/main">
            <a:srgbClr val="0A2830"/>
          </a:solidFill>
          <a:ln xmlns:a="http://schemas.openxmlformats.org/drawingml/2006/main" w="19050">
            <a:solidFill>
              <a:srgbClr val="47E6A4"/>
            </a:solidFill>
            <a:prstDash val="solid"/>
          </a:ln>
        </p:spPr>
      </p:sp>
      <p:sp>
        <p:nvSpPr>
          <p:cNvPr id="52" name="Rectangle 51">
            <a:extLst xmlns:a="http://schemas.openxmlformats.org/drawingml/2006/main">
              <a:ext uri="{FF2B5EF4-FFF2-40B4-BE49-F238E27FC236}">
                <a16:creationId xmlns:a16="http://schemas.microsoft.com/office/drawing/2014/main" id="{D4710836-4D03-46B8-AD28-6EFC364D2FF3}"/>
              </a:ext>
            </a:extLst>
          </p:cNvPr>
          <p:cNvSpPr>
            <a:spLocks xmlns:a="http://schemas.openxmlformats.org/drawingml/2006/main" noGrp="1"/>
          </p:cNvSpPr>
          <p:nvPr/>
        </p:nvSpPr>
        <p:spPr>
          <a:xfrm xmlns:a="http://schemas.openxmlformats.org/drawingml/2006/main">
            <a:off x="8782050" y="1905000"/>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Coded syntax bins</a:t>
            </a:r>
          </a:p>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 bitstream payload</a:t>
            </a:r>
          </a:p>
        </p:txBody>
      </p:sp>
      <p:sp>
        <p:nvSpPr>
          <p:cNvPr id="53" name="Rectangle 52">
            <a:extLst xmlns:a="http://schemas.openxmlformats.org/drawingml/2006/main">
              <a:ext uri="{FF2B5EF4-FFF2-40B4-BE49-F238E27FC236}">
                <a16:creationId xmlns:a16="http://schemas.microsoft.com/office/drawing/2014/main" id="{2ABEB26A-F213-45E2-9CAF-15271E9FCA6D}"/>
              </a:ext>
            </a:extLst>
          </p:cNvPr>
          <p:cNvSpPr>
            <a:spLocks xmlns:a="http://schemas.openxmlformats.org/drawingml/2006/main" noGrp="1"/>
          </p:cNvSpPr>
          <p:nvPr/>
        </p:nvSpPr>
        <p:spPr>
          <a:xfrm xmlns:a="http://schemas.openxmlformats.org/drawingml/2006/main">
            <a:off x="5429250" y="261937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The encoder transmits this branch. It does not feed the filters.</a:t>
            </a:r>
          </a:p>
        </p:txBody>
      </p:sp>
      <p:sp>
        <p:nvSpPr>
          <p:cNvPr id="54" name="Rectangle 53">
            <a:extLst xmlns:a="http://schemas.openxmlformats.org/drawingml/2006/main">
              <a:ext uri="{FF2B5EF4-FFF2-40B4-BE49-F238E27FC236}">
                <a16:creationId xmlns:a16="http://schemas.microsoft.com/office/drawing/2014/main" id="{24409535-DCD1-438B-B8B3-EB82A7C91BB0}"/>
              </a:ext>
            </a:extLst>
          </p:cNvPr>
          <p:cNvSpPr>
            <a:spLocks xmlns:a="http://schemas.openxmlformats.org/drawingml/2006/main" noGrp="1"/>
          </p:cNvSpPr>
          <p:nvPr/>
        </p:nvSpPr>
        <p:spPr>
          <a:xfrm xmlns:a="http://schemas.openxmlformats.org/drawingml/2006/main">
            <a:off x="4762500" y="38957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55" name="Rectangle 54">
            <a:extLst xmlns:a="http://schemas.openxmlformats.org/drawingml/2006/main">
              <a:ext uri="{FF2B5EF4-FFF2-40B4-BE49-F238E27FC236}">
                <a16:creationId xmlns:a16="http://schemas.microsoft.com/office/drawing/2014/main" id="{CFCB0100-453B-4D24-BC9C-D642CE1F524B}"/>
              </a:ext>
            </a:extLst>
          </p:cNvPr>
          <p:cNvSpPr>
            <a:spLocks xmlns:a="http://schemas.openxmlformats.org/drawingml/2006/main" noGrp="1"/>
          </p:cNvSpPr>
          <p:nvPr/>
        </p:nvSpPr>
        <p:spPr>
          <a:xfrm xmlns:a="http://schemas.openxmlformats.org/drawingml/2006/main">
            <a:off x="4000500" y="38957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14" name="Straight Arrow Connector 136"/>
          <p:cNvCxnSpPr>
            <a:stCxn xmlns:a="http://schemas.openxmlformats.org/drawingml/2006/main" id="54" idx="1"/>
            <a:endCxn xmlns:a="http://schemas.openxmlformats.org/drawingml/2006/main" id="55" idx="3"/>
          </p:cNvCxnSpPr>
          <p:nvPr/>
        </p:nvCxnSpPr>
        <p:spPr>
          <a:xfrm xmlns:a="http://schemas.openxmlformats.org/drawingml/2006/main" flipH="1">
            <a:off x="4019550" y="3905250"/>
            <a:ext cx="742950" cy="0"/>
          </a:xfrm>
          <a:prstGeom xmlns:a="http://schemas.openxmlformats.org/drawingml/2006/main" prst="straightConnector1">
            <a:avLst/>
          </a:prstGeom>
          <a:ln xmlns:a="http://schemas.openxmlformats.org/drawingml/2006/main" w="19050" cap="rnd">
            <a:solidFill>
              <a:srgbClr val="2E9BFF"/>
            </a:solidFill>
            <a:prstDash val="solid"/>
            <a:headEnd type="triangle" w="sm" len="sm"/>
          </a:ln>
        </p:spPr>
      </p:cxnSp>
      <p:sp>
        <p:nvSpPr>
          <p:cNvPr id="57" name="Rectangle 56">
            <a:extLst xmlns:a="http://schemas.openxmlformats.org/drawingml/2006/main">
              <a:ext uri="{FF2B5EF4-FFF2-40B4-BE49-F238E27FC236}">
                <a16:creationId xmlns:a16="http://schemas.microsoft.com/office/drawing/2014/main" id="{DFB62F1A-AE7F-4166-B0A8-F45AB7B7A199}"/>
              </a:ext>
            </a:extLst>
          </p:cNvPr>
          <p:cNvSpPr>
            <a:spLocks xmlns:a="http://schemas.openxmlformats.org/drawingml/2006/main" noGrp="1"/>
          </p:cNvSpPr>
          <p:nvPr/>
        </p:nvSpPr>
        <p:spPr>
          <a:xfrm xmlns:a="http://schemas.openxmlformats.org/drawingml/2006/main">
            <a:off x="4953000" y="32385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2E9BFF"/>
                </a:solidFill>
                <a:latin typeface="Arial"/>
                <a:ea typeface="Arial"/>
                <a:cs typeface="Arial"/>
              </a:defRPr>
            </a:pPr>
            <a:r>
              <a:rPr sz="1425" b="1">
                <a:solidFill>
                  <a:srgbClr val="2E9BFF"/>
                </a:solidFill>
                <a:latin typeface="Arial"/>
                <a:ea typeface="Arial"/>
                <a:cs typeface="Arial"/>
              </a:rPr>
              <a:t>RECONSTRUCTION BRANCH</a:t>
            </a:r>
          </a:p>
        </p:txBody>
      </p:sp>
      <p:sp>
        <p:nvSpPr>
          <p:cNvPr id="58" name="Rectangle: Rounded Corners 57">
            <a:extLst xmlns:a="http://schemas.openxmlformats.org/drawingml/2006/main">
              <a:ext uri="{FF2B5EF4-FFF2-40B4-BE49-F238E27FC236}">
                <a16:creationId xmlns:a16="http://schemas.microsoft.com/office/drawing/2014/main" id="{F65383DC-739D-45E7-97F2-7FCE3B15BE02}"/>
              </a:ext>
            </a:extLst>
          </p:cNvPr>
          <p:cNvSpPr>
            <a:spLocks xmlns:a="http://schemas.openxmlformats.org/drawingml/2006/main" noGrp="1"/>
          </p:cNvSpPr>
          <p:nvPr/>
        </p:nvSpPr>
        <p:spPr>
          <a:xfrm xmlns:a="http://schemas.openxmlformats.org/drawingml/2006/main">
            <a:off x="4762500" y="3676650"/>
            <a:ext cx="1190625" cy="723900"/>
          </a:xfrm>
          <a:prstGeom xmlns:a="http://schemas.openxmlformats.org/drawingml/2006/main" prst="roundRect">
            <a:avLst>
              <a:gd name="adj" fmla="val 15789"/>
            </a:avLst>
          </a:prstGeom>
          <a:solidFill xmlns:a="http://schemas.openxmlformats.org/drawingml/2006/main">
            <a:srgbClr val="0B2033"/>
          </a:solidFill>
          <a:ln xmlns:a="http://schemas.openxmlformats.org/drawingml/2006/main" w="19050">
            <a:solidFill>
              <a:srgbClr val="FFB84D"/>
            </a:solidFill>
            <a:prstDash val="solid"/>
          </a:ln>
        </p:spPr>
      </p:sp>
      <p:sp>
        <p:nvSpPr>
          <p:cNvPr id="59" name="Rectangle 58">
            <a:extLst xmlns:a="http://schemas.openxmlformats.org/drawingml/2006/main">
              <a:ext uri="{FF2B5EF4-FFF2-40B4-BE49-F238E27FC236}">
                <a16:creationId xmlns:a16="http://schemas.microsoft.com/office/drawing/2014/main" id="{A6A552D1-C271-47FA-B226-CD9A990FC7E1}"/>
              </a:ext>
            </a:extLst>
          </p:cNvPr>
          <p:cNvSpPr>
            <a:spLocks xmlns:a="http://schemas.openxmlformats.org/drawingml/2006/main" noGrp="1"/>
          </p:cNvSpPr>
          <p:nvPr/>
        </p:nvSpPr>
        <p:spPr>
          <a:xfrm xmlns:a="http://schemas.openxmlformats.org/drawingml/2006/main">
            <a:off x="4876800" y="3771900"/>
            <a:ext cx="9620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DEQUANTIZE</a:t>
            </a:r>
          </a:p>
        </p:txBody>
      </p:sp>
      <p:sp>
        <p:nvSpPr>
          <p:cNvPr id="60" name="Rectangle 59">
            <a:extLst xmlns:a="http://schemas.openxmlformats.org/drawingml/2006/main">
              <a:ext uri="{FF2B5EF4-FFF2-40B4-BE49-F238E27FC236}">
                <a16:creationId xmlns:a16="http://schemas.microsoft.com/office/drawing/2014/main" id="{ADF5C96B-45C6-4F28-8DA8-AF0F8AAFFB28}"/>
              </a:ext>
            </a:extLst>
          </p:cNvPr>
          <p:cNvSpPr>
            <a:spLocks xmlns:a="http://schemas.openxmlformats.org/drawingml/2006/main" noGrp="1"/>
          </p:cNvSpPr>
          <p:nvPr/>
        </p:nvSpPr>
        <p:spPr>
          <a:xfrm xmlns:a="http://schemas.openxmlformats.org/drawingml/2006/main">
            <a:off x="605790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61" name="Rectangle 60">
            <a:extLst xmlns:a="http://schemas.openxmlformats.org/drawingml/2006/main">
              <a:ext uri="{FF2B5EF4-FFF2-40B4-BE49-F238E27FC236}">
                <a16:creationId xmlns:a16="http://schemas.microsoft.com/office/drawing/2014/main" id="{30BFF88D-EB2E-43A5-BFE7-6DD771927C9C}"/>
              </a:ext>
            </a:extLst>
          </p:cNvPr>
          <p:cNvSpPr>
            <a:spLocks xmlns:a="http://schemas.openxmlformats.org/drawingml/2006/main" noGrp="1"/>
          </p:cNvSpPr>
          <p:nvPr/>
        </p:nvSpPr>
        <p:spPr>
          <a:xfrm xmlns:a="http://schemas.openxmlformats.org/drawingml/2006/main">
            <a:off x="596265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20" name="Straight Arrow Connector 142"/>
          <p:cNvCxnSpPr>
            <a:stCxn xmlns:a="http://schemas.openxmlformats.org/drawingml/2006/main" id="60" idx="1"/>
            <a:endCxn xmlns:a="http://schemas.openxmlformats.org/drawingml/2006/main" id="61" idx="3"/>
          </p:cNvCxnSpPr>
          <p:nvPr/>
        </p:nvCxnSpPr>
        <p:spPr>
          <a:xfrm xmlns:a="http://schemas.openxmlformats.org/drawingml/2006/main" flipH="1">
            <a:off x="5981700" y="4048125"/>
            <a:ext cx="762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63" name="Rectangle: Rounded Corners 62">
            <a:extLst xmlns:a="http://schemas.openxmlformats.org/drawingml/2006/main">
              <a:ext uri="{FF2B5EF4-FFF2-40B4-BE49-F238E27FC236}">
                <a16:creationId xmlns:a16="http://schemas.microsoft.com/office/drawing/2014/main" id="{3FC30C53-D8DA-4CDA-8C47-09724CDFD510}"/>
              </a:ext>
            </a:extLst>
          </p:cNvPr>
          <p:cNvSpPr>
            <a:spLocks xmlns:a="http://schemas.openxmlformats.org/drawingml/2006/main" noGrp="1"/>
          </p:cNvSpPr>
          <p:nvPr/>
        </p:nvSpPr>
        <p:spPr>
          <a:xfrm xmlns:a="http://schemas.openxmlformats.org/drawingml/2006/main">
            <a:off x="6057900" y="3676650"/>
            <a:ext cx="1190625" cy="723900"/>
          </a:xfrm>
          <a:prstGeom xmlns:a="http://schemas.openxmlformats.org/drawingml/2006/main" prst="roundRect">
            <a:avLst>
              <a:gd name="adj" fmla="val 15789"/>
            </a:avLst>
          </a:prstGeom>
          <a:solidFill xmlns:a="http://schemas.openxmlformats.org/drawingml/2006/main">
            <a:srgbClr val="0B2033"/>
          </a:solidFill>
          <a:ln xmlns:a="http://schemas.openxmlformats.org/drawingml/2006/main" w="19050">
            <a:solidFill>
              <a:srgbClr val="2E9BFF"/>
            </a:solidFill>
            <a:prstDash val="solid"/>
          </a:ln>
        </p:spPr>
      </p:sp>
      <p:sp>
        <p:nvSpPr>
          <p:cNvPr id="64" name="Rectangle 63">
            <a:extLst xmlns:a="http://schemas.openxmlformats.org/drawingml/2006/main">
              <a:ext uri="{FF2B5EF4-FFF2-40B4-BE49-F238E27FC236}">
                <a16:creationId xmlns:a16="http://schemas.microsoft.com/office/drawing/2014/main" id="{0A60786B-FC70-4777-B251-9956E12DFAC1}"/>
              </a:ext>
            </a:extLst>
          </p:cNvPr>
          <p:cNvSpPr>
            <a:spLocks xmlns:a="http://schemas.openxmlformats.org/drawingml/2006/main" noGrp="1"/>
          </p:cNvSpPr>
          <p:nvPr/>
        </p:nvSpPr>
        <p:spPr>
          <a:xfrm xmlns:a="http://schemas.openxmlformats.org/drawingml/2006/main">
            <a:off x="6172200" y="3771900"/>
            <a:ext cx="9620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INVERSE</a:t>
            </a:r>
          </a:p>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TRANSFORM</a:t>
            </a:r>
          </a:p>
        </p:txBody>
      </p:sp>
      <p:sp>
        <p:nvSpPr>
          <p:cNvPr id="65" name="Rectangle 64">
            <a:extLst xmlns:a="http://schemas.openxmlformats.org/drawingml/2006/main">
              <a:ext uri="{FF2B5EF4-FFF2-40B4-BE49-F238E27FC236}">
                <a16:creationId xmlns:a16="http://schemas.microsoft.com/office/drawing/2014/main" id="{3AC14F22-2630-482E-B556-32F2FA5A34AA}"/>
              </a:ext>
            </a:extLst>
          </p:cNvPr>
          <p:cNvSpPr>
            <a:spLocks xmlns:a="http://schemas.openxmlformats.org/drawingml/2006/main" noGrp="1"/>
          </p:cNvSpPr>
          <p:nvPr/>
        </p:nvSpPr>
        <p:spPr>
          <a:xfrm xmlns:a="http://schemas.openxmlformats.org/drawingml/2006/main">
            <a:off x="735330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66" name="Rectangle 65">
            <a:extLst xmlns:a="http://schemas.openxmlformats.org/drawingml/2006/main">
              <a:ext uri="{FF2B5EF4-FFF2-40B4-BE49-F238E27FC236}">
                <a16:creationId xmlns:a16="http://schemas.microsoft.com/office/drawing/2014/main" id="{91B4C306-2AF7-426C-949C-E74C09134B41}"/>
              </a:ext>
            </a:extLst>
          </p:cNvPr>
          <p:cNvSpPr>
            <a:spLocks xmlns:a="http://schemas.openxmlformats.org/drawingml/2006/main" noGrp="1"/>
          </p:cNvSpPr>
          <p:nvPr/>
        </p:nvSpPr>
        <p:spPr>
          <a:xfrm xmlns:a="http://schemas.openxmlformats.org/drawingml/2006/main">
            <a:off x="725805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25" name="Straight Arrow Connector 147"/>
          <p:cNvCxnSpPr>
            <a:stCxn xmlns:a="http://schemas.openxmlformats.org/drawingml/2006/main" id="65" idx="1"/>
            <a:endCxn xmlns:a="http://schemas.openxmlformats.org/drawingml/2006/main" id="66" idx="3"/>
          </p:cNvCxnSpPr>
          <p:nvPr/>
        </p:nvCxnSpPr>
        <p:spPr>
          <a:xfrm xmlns:a="http://schemas.openxmlformats.org/drawingml/2006/main" flipH="1">
            <a:off x="7277100" y="4048125"/>
            <a:ext cx="762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68" name="Rectangle: Rounded Corners 67">
            <a:extLst xmlns:a="http://schemas.openxmlformats.org/drawingml/2006/main">
              <a:ext uri="{FF2B5EF4-FFF2-40B4-BE49-F238E27FC236}">
                <a16:creationId xmlns:a16="http://schemas.microsoft.com/office/drawing/2014/main" id="{7DA2B920-6F19-4430-BF44-E22AEAC91029}"/>
              </a:ext>
            </a:extLst>
          </p:cNvPr>
          <p:cNvSpPr>
            <a:spLocks xmlns:a="http://schemas.openxmlformats.org/drawingml/2006/main" noGrp="1"/>
          </p:cNvSpPr>
          <p:nvPr/>
        </p:nvSpPr>
        <p:spPr>
          <a:xfrm xmlns:a="http://schemas.openxmlformats.org/drawingml/2006/main">
            <a:off x="7353300" y="3676650"/>
            <a:ext cx="1190625" cy="723900"/>
          </a:xfrm>
          <a:prstGeom xmlns:a="http://schemas.openxmlformats.org/drawingml/2006/main" prst="roundRect">
            <a:avLst>
              <a:gd name="adj" fmla="val 15789"/>
            </a:avLst>
          </a:prstGeom>
          <a:solidFill xmlns:a="http://schemas.openxmlformats.org/drawingml/2006/main">
            <a:srgbClr val="0B2033"/>
          </a:solidFill>
          <a:ln xmlns:a="http://schemas.openxmlformats.org/drawingml/2006/main" w="19050">
            <a:solidFill>
              <a:srgbClr val="47E6A4"/>
            </a:solidFill>
            <a:prstDash val="solid"/>
          </a:ln>
        </p:spPr>
      </p:sp>
      <p:sp>
        <p:nvSpPr>
          <p:cNvPr id="69" name="Rectangle 68">
            <a:extLst xmlns:a="http://schemas.openxmlformats.org/drawingml/2006/main">
              <a:ext uri="{FF2B5EF4-FFF2-40B4-BE49-F238E27FC236}">
                <a16:creationId xmlns:a16="http://schemas.microsoft.com/office/drawing/2014/main" id="{F9610E15-9410-4F0D-AD23-9071EA898830}"/>
              </a:ext>
            </a:extLst>
          </p:cNvPr>
          <p:cNvSpPr>
            <a:spLocks xmlns:a="http://schemas.openxmlformats.org/drawingml/2006/main" noGrp="1"/>
          </p:cNvSpPr>
          <p:nvPr/>
        </p:nvSpPr>
        <p:spPr>
          <a:xfrm xmlns:a="http://schemas.openxmlformats.org/drawingml/2006/main">
            <a:off x="7467600" y="3771900"/>
            <a:ext cx="9620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ADD</a:t>
            </a:r>
          </a:p>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PREDICTION</a:t>
            </a:r>
          </a:p>
        </p:txBody>
      </p:sp>
      <p:sp>
        <p:nvSpPr>
          <p:cNvPr id="70" name="Rectangle 69">
            <a:extLst xmlns:a="http://schemas.openxmlformats.org/drawingml/2006/main">
              <a:ext uri="{FF2B5EF4-FFF2-40B4-BE49-F238E27FC236}">
                <a16:creationId xmlns:a16="http://schemas.microsoft.com/office/drawing/2014/main" id="{C832AA24-AE17-43E2-8A00-3271E395C8D7}"/>
              </a:ext>
            </a:extLst>
          </p:cNvPr>
          <p:cNvSpPr>
            <a:spLocks xmlns:a="http://schemas.openxmlformats.org/drawingml/2006/main" noGrp="1"/>
          </p:cNvSpPr>
          <p:nvPr/>
        </p:nvSpPr>
        <p:spPr>
          <a:xfrm xmlns:a="http://schemas.openxmlformats.org/drawingml/2006/main">
            <a:off x="864870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71" name="Rectangle 70">
            <a:extLst xmlns:a="http://schemas.openxmlformats.org/drawingml/2006/main">
              <a:ext uri="{FF2B5EF4-FFF2-40B4-BE49-F238E27FC236}">
                <a16:creationId xmlns:a16="http://schemas.microsoft.com/office/drawing/2014/main" id="{B2F36C1A-928C-4579-B118-D74BB1D65B12}"/>
              </a:ext>
            </a:extLst>
          </p:cNvPr>
          <p:cNvSpPr>
            <a:spLocks xmlns:a="http://schemas.openxmlformats.org/drawingml/2006/main" noGrp="1"/>
          </p:cNvSpPr>
          <p:nvPr/>
        </p:nvSpPr>
        <p:spPr>
          <a:xfrm xmlns:a="http://schemas.openxmlformats.org/drawingml/2006/main">
            <a:off x="855345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30" name="Straight Arrow Connector 152"/>
          <p:cNvCxnSpPr>
            <a:stCxn xmlns:a="http://schemas.openxmlformats.org/drawingml/2006/main" id="70" idx="1"/>
            <a:endCxn xmlns:a="http://schemas.openxmlformats.org/drawingml/2006/main" id="71" idx="3"/>
          </p:cNvCxnSpPr>
          <p:nvPr/>
        </p:nvCxnSpPr>
        <p:spPr>
          <a:xfrm xmlns:a="http://schemas.openxmlformats.org/drawingml/2006/main" flipH="1">
            <a:off x="8572500" y="4048125"/>
            <a:ext cx="762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73" name="Rectangle: Rounded Corners 72">
            <a:extLst xmlns:a="http://schemas.openxmlformats.org/drawingml/2006/main">
              <a:ext uri="{FF2B5EF4-FFF2-40B4-BE49-F238E27FC236}">
                <a16:creationId xmlns:a16="http://schemas.microsoft.com/office/drawing/2014/main" id="{63F5A1CC-8F15-4A94-8AEE-6097EA31180C}"/>
              </a:ext>
            </a:extLst>
          </p:cNvPr>
          <p:cNvSpPr>
            <a:spLocks xmlns:a="http://schemas.openxmlformats.org/drawingml/2006/main" noGrp="1"/>
          </p:cNvSpPr>
          <p:nvPr/>
        </p:nvSpPr>
        <p:spPr>
          <a:xfrm xmlns:a="http://schemas.openxmlformats.org/drawingml/2006/main">
            <a:off x="8648700" y="3676650"/>
            <a:ext cx="1190625" cy="723900"/>
          </a:xfrm>
          <a:prstGeom xmlns:a="http://schemas.openxmlformats.org/drawingml/2006/main" prst="roundRect">
            <a:avLst>
              <a:gd name="adj" fmla="val 15789"/>
            </a:avLst>
          </a:prstGeom>
          <a:solidFill xmlns:a="http://schemas.openxmlformats.org/drawingml/2006/main">
            <a:srgbClr val="0B2033"/>
          </a:solidFill>
          <a:ln xmlns:a="http://schemas.openxmlformats.org/drawingml/2006/main" w="19050">
            <a:solidFill>
              <a:srgbClr val="22D3EE"/>
            </a:solidFill>
            <a:prstDash val="solid"/>
          </a:ln>
        </p:spPr>
      </p:sp>
      <p:sp>
        <p:nvSpPr>
          <p:cNvPr id="74" name="Rectangle 73">
            <a:extLst xmlns:a="http://schemas.openxmlformats.org/drawingml/2006/main">
              <a:ext uri="{FF2B5EF4-FFF2-40B4-BE49-F238E27FC236}">
                <a16:creationId xmlns:a16="http://schemas.microsoft.com/office/drawing/2014/main" id="{149BA08E-8780-4689-B825-9E9209381D97}"/>
              </a:ext>
            </a:extLst>
          </p:cNvPr>
          <p:cNvSpPr>
            <a:spLocks xmlns:a="http://schemas.openxmlformats.org/drawingml/2006/main" noGrp="1"/>
          </p:cNvSpPr>
          <p:nvPr/>
        </p:nvSpPr>
        <p:spPr>
          <a:xfrm xmlns:a="http://schemas.openxmlformats.org/drawingml/2006/main">
            <a:off x="8763000" y="3771900"/>
            <a:ext cx="9620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p xmlns:a="http://schemas.openxmlformats.org/drawingml/2006/main">
            <a:pPr>
              <a:buNone/>
              <a:defRPr sz="750" b="1">
                <a:solidFill>
                  <a:srgbClr val="F4F8FC"/>
                </a:solidFill>
                <a:latin typeface="Arial"/>
                <a:ea typeface="Arial"/>
                <a:cs typeface="Arial"/>
              </a:defRPr>
            </a:pPr>
            <a:r>
              <a:rPr sz="750" b="1">
                <a:solidFill>
                  <a:srgbClr val="F4F8FC"/>
                </a:solidFill>
                <a:latin typeface="Arial"/>
                <a:ea typeface="Arial"/>
                <a:cs typeface="Arial"/>
              </a:rPr>
              <a:t>DEBLOCK +</a:t>
            </a:r>
          </a:p>
          <a:p xmlns:a="http://schemas.openxmlformats.org/drawingml/2006/main">
            <a:pPr>
              <a:buNone/>
              <a:defRPr sz="750" b="1">
                <a:solidFill>
                  <a:srgbClr val="F4F8FC"/>
                </a:solidFill>
                <a:latin typeface="Arial"/>
                <a:ea typeface="Arial"/>
                <a:cs typeface="Arial"/>
              </a:defRPr>
            </a:pPr>
            <a:r>
              <a:rPr sz="750" b="1">
                <a:solidFill>
                  <a:srgbClr val="F4F8FC"/>
                </a:solidFill>
                <a:latin typeface="Arial"/>
                <a:ea typeface="Arial"/>
                <a:cs typeface="Arial"/>
              </a:rPr>
              <a:t>SAMPLE ADAPTIVE</a:t>
            </a:r>
          </a:p>
          <a:p xmlns:a="http://schemas.openxmlformats.org/drawingml/2006/main">
            <a:pPr>
              <a:buNone/>
              <a:defRPr sz="750" b="1">
                <a:solidFill>
                  <a:srgbClr val="F4F8FC"/>
                </a:solidFill>
                <a:latin typeface="Arial"/>
                <a:ea typeface="Arial"/>
                <a:cs typeface="Arial"/>
              </a:defRPr>
            </a:pPr>
            <a:r>
              <a:rPr sz="750" b="1">
                <a:solidFill>
                  <a:srgbClr val="F4F8FC"/>
                </a:solidFill>
                <a:latin typeface="Arial"/>
                <a:ea typeface="Arial"/>
                <a:cs typeface="Arial"/>
              </a:rPr>
              <a:t>OFFSET (SAO)</a:t>
            </a:r>
          </a:p>
        </p:txBody>
      </p:sp>
      <p:sp>
        <p:nvSpPr>
          <p:cNvPr id="75" name="Rectangle 74">
            <a:extLst xmlns:a="http://schemas.openxmlformats.org/drawingml/2006/main">
              <a:ext uri="{FF2B5EF4-FFF2-40B4-BE49-F238E27FC236}">
                <a16:creationId xmlns:a16="http://schemas.microsoft.com/office/drawing/2014/main" id="{DB5C6DE3-23E6-4E6D-BF9F-6AF28215B90F}"/>
              </a:ext>
            </a:extLst>
          </p:cNvPr>
          <p:cNvSpPr>
            <a:spLocks xmlns:a="http://schemas.openxmlformats.org/drawingml/2006/main" noGrp="1"/>
          </p:cNvSpPr>
          <p:nvPr/>
        </p:nvSpPr>
        <p:spPr>
          <a:xfrm xmlns:a="http://schemas.openxmlformats.org/drawingml/2006/main">
            <a:off x="994410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76" name="Rectangle 75">
            <a:extLst xmlns:a="http://schemas.openxmlformats.org/drawingml/2006/main">
              <a:ext uri="{FF2B5EF4-FFF2-40B4-BE49-F238E27FC236}">
                <a16:creationId xmlns:a16="http://schemas.microsoft.com/office/drawing/2014/main" id="{2CD51B14-BEB6-492E-9DBB-A725A64750F2}"/>
              </a:ext>
            </a:extLst>
          </p:cNvPr>
          <p:cNvSpPr>
            <a:spLocks xmlns:a="http://schemas.openxmlformats.org/drawingml/2006/main" noGrp="1"/>
          </p:cNvSpPr>
          <p:nvPr/>
        </p:nvSpPr>
        <p:spPr>
          <a:xfrm xmlns:a="http://schemas.openxmlformats.org/drawingml/2006/main">
            <a:off x="9848850" y="4038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35" name="Straight Arrow Connector 157"/>
          <p:cNvCxnSpPr>
            <a:stCxn xmlns:a="http://schemas.openxmlformats.org/drawingml/2006/main" id="75" idx="1"/>
            <a:endCxn xmlns:a="http://schemas.openxmlformats.org/drawingml/2006/main" id="76" idx="3"/>
          </p:cNvCxnSpPr>
          <p:nvPr/>
        </p:nvCxnSpPr>
        <p:spPr>
          <a:xfrm xmlns:a="http://schemas.openxmlformats.org/drawingml/2006/main" flipH="1">
            <a:off x="9867900" y="4048125"/>
            <a:ext cx="762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78" name="Rectangle: Rounded Corners 77">
            <a:extLst xmlns:a="http://schemas.openxmlformats.org/drawingml/2006/main">
              <a:ext uri="{FF2B5EF4-FFF2-40B4-BE49-F238E27FC236}">
                <a16:creationId xmlns:a16="http://schemas.microsoft.com/office/drawing/2014/main" id="{553626ED-62C4-4FAD-AD7B-FAF92B695C5E}"/>
              </a:ext>
            </a:extLst>
          </p:cNvPr>
          <p:cNvSpPr>
            <a:spLocks xmlns:a="http://schemas.openxmlformats.org/drawingml/2006/main" noGrp="1"/>
          </p:cNvSpPr>
          <p:nvPr/>
        </p:nvSpPr>
        <p:spPr>
          <a:xfrm xmlns:a="http://schemas.openxmlformats.org/drawingml/2006/main">
            <a:off x="9944100" y="3676650"/>
            <a:ext cx="1190625" cy="723900"/>
          </a:xfrm>
          <a:prstGeom xmlns:a="http://schemas.openxmlformats.org/drawingml/2006/main" prst="roundRect">
            <a:avLst>
              <a:gd name="adj" fmla="val 15789"/>
            </a:avLst>
          </a:prstGeom>
          <a:solidFill xmlns:a="http://schemas.openxmlformats.org/drawingml/2006/main">
            <a:srgbClr val="0B2033"/>
          </a:solidFill>
          <a:ln xmlns:a="http://schemas.openxmlformats.org/drawingml/2006/main" w="19050">
            <a:solidFill>
              <a:srgbClr val="47E6A4"/>
            </a:solidFill>
            <a:prstDash val="solid"/>
          </a:ln>
        </p:spPr>
      </p:sp>
      <p:sp>
        <p:nvSpPr>
          <p:cNvPr id="79" name="Rectangle 78">
            <a:extLst xmlns:a="http://schemas.openxmlformats.org/drawingml/2006/main">
              <a:ext uri="{FF2B5EF4-FFF2-40B4-BE49-F238E27FC236}">
                <a16:creationId xmlns:a16="http://schemas.microsoft.com/office/drawing/2014/main" id="{6BBEA012-D40E-464D-9169-713689D274B3}"/>
              </a:ext>
            </a:extLst>
          </p:cNvPr>
          <p:cNvSpPr>
            <a:spLocks xmlns:a="http://schemas.openxmlformats.org/drawingml/2006/main" noGrp="1"/>
          </p:cNvSpPr>
          <p:nvPr/>
        </p:nvSpPr>
        <p:spPr>
          <a:xfrm xmlns:a="http://schemas.openxmlformats.org/drawingml/2006/main">
            <a:off x="10058400" y="3771900"/>
            <a:ext cx="9620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STORE</a:t>
            </a:r>
          </a:p>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REFERENCE</a:t>
            </a:r>
          </a:p>
        </p:txBody>
      </p:sp>
      <p:sp>
        <p:nvSpPr>
          <p:cNvPr id="80" name="Rectangle: Rounded Corners 79">
            <a:extLst xmlns:a="http://schemas.openxmlformats.org/drawingml/2006/main">
              <a:ext uri="{FF2B5EF4-FFF2-40B4-BE49-F238E27FC236}">
                <a16:creationId xmlns:a16="http://schemas.microsoft.com/office/drawing/2014/main" id="{B7E40D1D-B690-4475-BBFC-EE56E97C9923}"/>
              </a:ext>
            </a:extLst>
          </p:cNvPr>
          <p:cNvSpPr>
            <a:spLocks xmlns:a="http://schemas.openxmlformats.org/drawingml/2006/main" noGrp="1"/>
          </p:cNvSpPr>
          <p:nvPr/>
        </p:nvSpPr>
        <p:spPr>
          <a:xfrm xmlns:a="http://schemas.openxmlformats.org/drawingml/2006/main">
            <a:off x="1952625" y="5476875"/>
            <a:ext cx="8286750" cy="628650"/>
          </a:xfrm>
          <a:prstGeom xmlns:a="http://schemas.openxmlformats.org/drawingml/2006/main" prst="roundRect">
            <a:avLst>
              <a:gd name="adj" fmla="val 18182"/>
            </a:avLst>
          </a:prstGeom>
          <a:solidFill xmlns:a="http://schemas.openxmlformats.org/drawingml/2006/main">
            <a:srgbClr val="132536"/>
          </a:solidFill>
          <a:ln xmlns:a="http://schemas.openxmlformats.org/drawingml/2006/main" w="19050">
            <a:solidFill>
              <a:srgbClr val="FFB84D"/>
            </a:solidFill>
            <a:prstDash val="solid"/>
          </a:ln>
        </p:spPr>
      </p:sp>
      <p:sp>
        <p:nvSpPr>
          <p:cNvPr id="81" name="Rectangle 80">
            <a:extLst xmlns:a="http://schemas.openxmlformats.org/drawingml/2006/main">
              <a:ext uri="{FF2B5EF4-FFF2-40B4-BE49-F238E27FC236}">
                <a16:creationId xmlns:a16="http://schemas.microsoft.com/office/drawing/2014/main" id="{B944EA02-C9F7-4F7C-B79B-97A15D6CC12F}"/>
              </a:ext>
            </a:extLst>
          </p:cNvPr>
          <p:cNvSpPr>
            <a:spLocks xmlns:a="http://schemas.openxmlformats.org/drawingml/2006/main" noGrp="1"/>
          </p:cNvSpPr>
          <p:nvPr/>
        </p:nvSpPr>
        <p:spPr>
          <a:xfrm xmlns:a="http://schemas.openxmlformats.org/drawingml/2006/main">
            <a:off x="2066925" y="5572125"/>
            <a:ext cx="805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057"/>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No arrow connects CABAC to filtering. The branches only share the quantized coefficients and syntax decisions.</a:t>
            </a:r>
          </a:p>
        </p:txBody>
      </p:sp>
    </p:spTree>
    <p:extLst>
      <p:ext uri="{BB962C8B-B14F-4D97-AF65-F5344CB8AC3E}">
        <p14:creationId xmlns:p14="http://schemas.microsoft.com/office/powerpoint/2010/main" val="240995254"/>
      </p:ext>
    </p:extLst>
  </p:cSld>
</p:sld>
</file>

<file path=ppt/slides/slide27.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18" name="Oval 117">
            <a:extLst xmlns:a="http://schemas.openxmlformats.org/drawingml/2006/main">
              <a:ext uri="{FF2B5EF4-FFF2-40B4-BE49-F238E27FC236}">
                <a16:creationId xmlns:a16="http://schemas.microsoft.com/office/drawing/2014/main" id="{F6AD20A1-BE89-483F-A10D-B4C653CD0E31}"/>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EAE1CC47-2C81-4A9B-B091-00EC80A18705}"/>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7920A9A4-5F80-4FF3-9DF3-3B74F8A6D2E1}"/>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Block X dequantization restores coefficient scale, not lost detail</a:t>
            </a:r>
          </a:p>
        </p:txBody>
      </p:sp>
      <p:sp>
        <p:nvSpPr>
          <p:cNvPr id="4" name="Straight Connector 3">
            <a:extLst xmlns:a="http://schemas.openxmlformats.org/drawingml/2006/main">
              <a:ext uri="{FF2B5EF4-FFF2-40B4-BE49-F238E27FC236}">
                <a16:creationId xmlns:a16="http://schemas.microsoft.com/office/drawing/2014/main" id="{F0497A1A-5DCC-4D92-8E78-B40C4F41653C}"/>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DBA9AB47-7C48-45AE-B064-5D7225D7E003}"/>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Quantization used step size 8. Dequantization multiplies every transmitted level by 8.</a:t>
            </a:r>
          </a:p>
        </p:txBody>
      </p:sp>
      <p:sp>
        <p:nvSpPr>
          <p:cNvPr id="6" name="Rectangle 5">
            <a:extLst xmlns:a="http://schemas.openxmlformats.org/drawingml/2006/main">
              <a:ext uri="{FF2B5EF4-FFF2-40B4-BE49-F238E27FC236}">
                <a16:creationId xmlns:a16="http://schemas.microsoft.com/office/drawing/2014/main" id="{C6FBDA38-9B36-4E82-9805-D9A0C0430B42}"/>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E2F51201-FCF6-485C-A299-70131E54D827}"/>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27 / 49</a:t>
            </a:r>
          </a:p>
        </p:txBody>
      </p:sp>
      <p:sp>
        <p:nvSpPr>
          <p:cNvPr id="8" name="Rectangle 7">
            <a:extLst xmlns:a="http://schemas.openxmlformats.org/drawingml/2006/main">
              <a:ext uri="{FF2B5EF4-FFF2-40B4-BE49-F238E27FC236}">
                <a16:creationId xmlns:a16="http://schemas.microsoft.com/office/drawing/2014/main" id="{FF743406-3BAD-4269-A86D-381B08B973FB}"/>
              </a:ext>
            </a:extLst>
          </p:cNvPr>
          <p:cNvSpPr>
            <a:spLocks xmlns:a="http://schemas.openxmlformats.org/drawingml/2006/main" noGrp="1"/>
          </p:cNvSpPr>
          <p:nvPr/>
        </p:nvSpPr>
        <p:spPr>
          <a:xfrm xmlns:a="http://schemas.openxmlformats.org/drawingml/2006/main">
            <a:off x="523875" y="1428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75"/>
          </a:bodyPr>
          <a:lstStyle xmlns:a="http://schemas.openxmlformats.org/drawingml/2006/main"/>
          <a:p xmlns:a="http://schemas.openxmlformats.org/drawingml/2006/main">
            <a:pPr>
              <a:buNone/>
              <a:defRPr sz="1350" b="1">
                <a:solidFill>
                  <a:srgbClr val="22D3EE"/>
                </a:solidFill>
                <a:latin typeface="Arial"/>
                <a:ea typeface="Arial"/>
                <a:cs typeface="Arial"/>
              </a:defRPr>
            </a:pPr>
            <a:r>
              <a:rPr sz="1350" b="1">
                <a:solidFill>
                  <a:srgbClr val="22D3EE"/>
                </a:solidFill>
                <a:latin typeface="Arial"/>
                <a:ea typeface="Arial"/>
                <a:cs typeface="Arial"/>
              </a:rPr>
              <a:t>ORIGINAL TRANSFORM COEFFICIENTS</a:t>
            </a:r>
          </a:p>
        </p:txBody>
      </p:sp>
      <p:sp>
        <p:nvSpPr>
          <p:cNvPr id="9" name="Rectangle 8">
            <a:extLst xmlns:a="http://schemas.openxmlformats.org/drawingml/2006/main">
              <a:ext uri="{FF2B5EF4-FFF2-40B4-BE49-F238E27FC236}">
                <a16:creationId xmlns:a16="http://schemas.microsoft.com/office/drawing/2014/main" id="{50306CF3-E663-4912-A5A7-186B847E893B}"/>
              </a:ext>
            </a:extLst>
          </p:cNvPr>
          <p:cNvSpPr>
            <a:spLocks xmlns:a="http://schemas.openxmlformats.org/drawingml/2006/main" noGrp="1"/>
          </p:cNvSpPr>
          <p:nvPr/>
        </p:nvSpPr>
        <p:spPr>
          <a:xfrm xmlns:a="http://schemas.openxmlformats.org/drawingml/2006/main">
            <a:off x="1000125" y="20478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 name="Rectangle 9">
            <a:extLst xmlns:a="http://schemas.openxmlformats.org/drawingml/2006/main">
              <a:ext uri="{FF2B5EF4-FFF2-40B4-BE49-F238E27FC236}">
                <a16:creationId xmlns:a16="http://schemas.microsoft.com/office/drawing/2014/main" id="{42ACAA20-C326-4AFD-99FE-88D71C4C8469}"/>
              </a:ext>
            </a:extLst>
          </p:cNvPr>
          <p:cNvSpPr>
            <a:spLocks xmlns:a="http://schemas.openxmlformats.org/drawingml/2006/main" noGrp="1"/>
          </p:cNvSpPr>
          <p:nvPr/>
        </p:nvSpPr>
        <p:spPr>
          <a:xfrm xmlns:a="http://schemas.openxmlformats.org/drawingml/2006/main">
            <a:off x="100012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42</a:t>
            </a:r>
          </a:p>
        </p:txBody>
      </p:sp>
      <p:sp>
        <p:nvSpPr>
          <p:cNvPr id="11" name="Rectangle 10">
            <a:extLst xmlns:a="http://schemas.openxmlformats.org/drawingml/2006/main">
              <a:ext uri="{FF2B5EF4-FFF2-40B4-BE49-F238E27FC236}">
                <a16:creationId xmlns:a16="http://schemas.microsoft.com/office/drawing/2014/main" id="{1085B811-FFA4-45F8-AC5D-963129747ED8}"/>
              </a:ext>
            </a:extLst>
          </p:cNvPr>
          <p:cNvSpPr>
            <a:spLocks xmlns:a="http://schemas.openxmlformats.org/drawingml/2006/main" noGrp="1"/>
          </p:cNvSpPr>
          <p:nvPr/>
        </p:nvSpPr>
        <p:spPr>
          <a:xfrm xmlns:a="http://schemas.openxmlformats.org/drawingml/2006/main">
            <a:off x="1552575" y="20478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2" name="Rectangle 11">
            <a:extLst xmlns:a="http://schemas.openxmlformats.org/drawingml/2006/main">
              <a:ext uri="{FF2B5EF4-FFF2-40B4-BE49-F238E27FC236}">
                <a16:creationId xmlns:a16="http://schemas.microsoft.com/office/drawing/2014/main" id="{05BCDF32-309B-463A-961A-2305E30FA130}"/>
              </a:ext>
            </a:extLst>
          </p:cNvPr>
          <p:cNvSpPr>
            <a:spLocks xmlns:a="http://schemas.openxmlformats.org/drawingml/2006/main" noGrp="1"/>
          </p:cNvSpPr>
          <p:nvPr/>
        </p:nvSpPr>
        <p:spPr>
          <a:xfrm xmlns:a="http://schemas.openxmlformats.org/drawingml/2006/main">
            <a:off x="155257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-12</a:t>
            </a:r>
          </a:p>
        </p:txBody>
      </p:sp>
      <p:sp>
        <p:nvSpPr>
          <p:cNvPr id="13" name="Rectangle 12">
            <a:extLst xmlns:a="http://schemas.openxmlformats.org/drawingml/2006/main">
              <a:ext uri="{FF2B5EF4-FFF2-40B4-BE49-F238E27FC236}">
                <a16:creationId xmlns:a16="http://schemas.microsoft.com/office/drawing/2014/main" id="{16C4FDF9-ED4E-4AA8-9E12-B7A3591DE2C6}"/>
              </a:ext>
            </a:extLst>
          </p:cNvPr>
          <p:cNvSpPr>
            <a:spLocks xmlns:a="http://schemas.openxmlformats.org/drawingml/2006/main" noGrp="1"/>
          </p:cNvSpPr>
          <p:nvPr/>
        </p:nvSpPr>
        <p:spPr>
          <a:xfrm xmlns:a="http://schemas.openxmlformats.org/drawingml/2006/main">
            <a:off x="2105025" y="20478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4" name="Rectangle 13">
            <a:extLst xmlns:a="http://schemas.openxmlformats.org/drawingml/2006/main">
              <a:ext uri="{FF2B5EF4-FFF2-40B4-BE49-F238E27FC236}">
                <a16:creationId xmlns:a16="http://schemas.microsoft.com/office/drawing/2014/main" id="{4E8139C5-C36C-4C90-A418-BC2C3CCFF2DE}"/>
              </a:ext>
            </a:extLst>
          </p:cNvPr>
          <p:cNvSpPr>
            <a:spLocks xmlns:a="http://schemas.openxmlformats.org/drawingml/2006/main" noGrp="1"/>
          </p:cNvSpPr>
          <p:nvPr/>
        </p:nvSpPr>
        <p:spPr>
          <a:xfrm xmlns:a="http://schemas.openxmlformats.org/drawingml/2006/main">
            <a:off x="210502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4</a:t>
            </a:r>
          </a:p>
        </p:txBody>
      </p:sp>
      <p:sp>
        <p:nvSpPr>
          <p:cNvPr id="15" name="Rectangle 14">
            <a:extLst xmlns:a="http://schemas.openxmlformats.org/drawingml/2006/main">
              <a:ext uri="{FF2B5EF4-FFF2-40B4-BE49-F238E27FC236}">
                <a16:creationId xmlns:a16="http://schemas.microsoft.com/office/drawing/2014/main" id="{5B503233-8A6B-4FAD-9CB1-6FC0F0548485}"/>
              </a:ext>
            </a:extLst>
          </p:cNvPr>
          <p:cNvSpPr>
            <a:spLocks xmlns:a="http://schemas.openxmlformats.org/drawingml/2006/main" noGrp="1"/>
          </p:cNvSpPr>
          <p:nvPr/>
        </p:nvSpPr>
        <p:spPr>
          <a:xfrm xmlns:a="http://schemas.openxmlformats.org/drawingml/2006/main">
            <a:off x="2657475" y="20478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6" name="Rectangle 15">
            <a:extLst xmlns:a="http://schemas.openxmlformats.org/drawingml/2006/main">
              <a:ext uri="{FF2B5EF4-FFF2-40B4-BE49-F238E27FC236}">
                <a16:creationId xmlns:a16="http://schemas.microsoft.com/office/drawing/2014/main" id="{CE6D94FB-15B0-4C4D-8CFD-D7C9C6E5B56E}"/>
              </a:ext>
            </a:extLst>
          </p:cNvPr>
          <p:cNvSpPr>
            <a:spLocks xmlns:a="http://schemas.openxmlformats.org/drawingml/2006/main" noGrp="1"/>
          </p:cNvSpPr>
          <p:nvPr/>
        </p:nvSpPr>
        <p:spPr>
          <a:xfrm xmlns:a="http://schemas.openxmlformats.org/drawingml/2006/main">
            <a:off x="265747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17" name="Rectangle 16">
            <a:extLst xmlns:a="http://schemas.openxmlformats.org/drawingml/2006/main">
              <a:ext uri="{FF2B5EF4-FFF2-40B4-BE49-F238E27FC236}">
                <a16:creationId xmlns:a16="http://schemas.microsoft.com/office/drawing/2014/main" id="{31E98979-A282-48B3-BC6D-0D3987E9E0F5}"/>
              </a:ext>
            </a:extLst>
          </p:cNvPr>
          <p:cNvSpPr>
            <a:spLocks xmlns:a="http://schemas.openxmlformats.org/drawingml/2006/main" noGrp="1"/>
          </p:cNvSpPr>
          <p:nvPr/>
        </p:nvSpPr>
        <p:spPr>
          <a:xfrm xmlns:a="http://schemas.openxmlformats.org/drawingml/2006/main">
            <a:off x="1000125"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8" name="Rectangle 17">
            <a:extLst xmlns:a="http://schemas.openxmlformats.org/drawingml/2006/main">
              <a:ext uri="{FF2B5EF4-FFF2-40B4-BE49-F238E27FC236}">
                <a16:creationId xmlns:a16="http://schemas.microsoft.com/office/drawing/2014/main" id="{C36BE481-7FBA-420A-A639-A87E648E1D6E}"/>
              </a:ext>
            </a:extLst>
          </p:cNvPr>
          <p:cNvSpPr>
            <a:spLocks xmlns:a="http://schemas.openxmlformats.org/drawingml/2006/main" noGrp="1"/>
          </p:cNvSpPr>
          <p:nvPr/>
        </p:nvSpPr>
        <p:spPr>
          <a:xfrm xmlns:a="http://schemas.openxmlformats.org/drawingml/2006/main">
            <a:off x="100012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-9</a:t>
            </a:r>
          </a:p>
        </p:txBody>
      </p:sp>
      <p:sp>
        <p:nvSpPr>
          <p:cNvPr id="19" name="Rectangle 18">
            <a:extLst xmlns:a="http://schemas.openxmlformats.org/drawingml/2006/main">
              <a:ext uri="{FF2B5EF4-FFF2-40B4-BE49-F238E27FC236}">
                <a16:creationId xmlns:a16="http://schemas.microsoft.com/office/drawing/2014/main" id="{D3E8A272-9C50-47F1-82AD-661CB9CB839C}"/>
              </a:ext>
            </a:extLst>
          </p:cNvPr>
          <p:cNvSpPr>
            <a:spLocks xmlns:a="http://schemas.openxmlformats.org/drawingml/2006/main" noGrp="1"/>
          </p:cNvSpPr>
          <p:nvPr/>
        </p:nvSpPr>
        <p:spPr>
          <a:xfrm xmlns:a="http://schemas.openxmlformats.org/drawingml/2006/main">
            <a:off x="1552575"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0" name="Rectangle 19">
            <a:extLst xmlns:a="http://schemas.openxmlformats.org/drawingml/2006/main">
              <a:ext uri="{FF2B5EF4-FFF2-40B4-BE49-F238E27FC236}">
                <a16:creationId xmlns:a16="http://schemas.microsoft.com/office/drawing/2014/main" id="{F33967F8-81B9-4B58-8B04-520ABF64BDA5}"/>
              </a:ext>
            </a:extLst>
          </p:cNvPr>
          <p:cNvSpPr>
            <a:spLocks xmlns:a="http://schemas.openxmlformats.org/drawingml/2006/main" noGrp="1"/>
          </p:cNvSpPr>
          <p:nvPr/>
        </p:nvSpPr>
        <p:spPr>
          <a:xfrm xmlns:a="http://schemas.openxmlformats.org/drawingml/2006/main">
            <a:off x="155257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5</a:t>
            </a:r>
          </a:p>
        </p:txBody>
      </p:sp>
      <p:sp>
        <p:nvSpPr>
          <p:cNvPr id="21" name="Rectangle 20">
            <a:extLst xmlns:a="http://schemas.openxmlformats.org/drawingml/2006/main">
              <a:ext uri="{FF2B5EF4-FFF2-40B4-BE49-F238E27FC236}">
                <a16:creationId xmlns:a16="http://schemas.microsoft.com/office/drawing/2014/main" id="{C5B52BC8-ACFA-4DBF-93F0-011E5DD3F01A}"/>
              </a:ext>
            </a:extLst>
          </p:cNvPr>
          <p:cNvSpPr>
            <a:spLocks xmlns:a="http://schemas.openxmlformats.org/drawingml/2006/main" noGrp="1"/>
          </p:cNvSpPr>
          <p:nvPr/>
        </p:nvSpPr>
        <p:spPr>
          <a:xfrm xmlns:a="http://schemas.openxmlformats.org/drawingml/2006/main">
            <a:off x="2105025"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2" name="Rectangle 21">
            <a:extLst xmlns:a="http://schemas.openxmlformats.org/drawingml/2006/main">
              <a:ext uri="{FF2B5EF4-FFF2-40B4-BE49-F238E27FC236}">
                <a16:creationId xmlns:a16="http://schemas.microsoft.com/office/drawing/2014/main" id="{59297A53-540D-4CAB-A308-4528CD518DB3}"/>
              </a:ext>
            </a:extLst>
          </p:cNvPr>
          <p:cNvSpPr>
            <a:spLocks xmlns:a="http://schemas.openxmlformats.org/drawingml/2006/main" noGrp="1"/>
          </p:cNvSpPr>
          <p:nvPr/>
        </p:nvSpPr>
        <p:spPr>
          <a:xfrm xmlns:a="http://schemas.openxmlformats.org/drawingml/2006/main">
            <a:off x="210502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-2</a:t>
            </a:r>
          </a:p>
        </p:txBody>
      </p:sp>
      <p:sp>
        <p:nvSpPr>
          <p:cNvPr id="23" name="Rectangle 22">
            <a:extLst xmlns:a="http://schemas.openxmlformats.org/drawingml/2006/main">
              <a:ext uri="{FF2B5EF4-FFF2-40B4-BE49-F238E27FC236}">
                <a16:creationId xmlns:a16="http://schemas.microsoft.com/office/drawing/2014/main" id="{5089134D-92D1-4915-BBDC-5681040BA274}"/>
              </a:ext>
            </a:extLst>
          </p:cNvPr>
          <p:cNvSpPr>
            <a:spLocks xmlns:a="http://schemas.openxmlformats.org/drawingml/2006/main" noGrp="1"/>
          </p:cNvSpPr>
          <p:nvPr/>
        </p:nvSpPr>
        <p:spPr>
          <a:xfrm xmlns:a="http://schemas.openxmlformats.org/drawingml/2006/main">
            <a:off x="2657475"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4" name="Rectangle 23">
            <a:extLst xmlns:a="http://schemas.openxmlformats.org/drawingml/2006/main">
              <a:ext uri="{FF2B5EF4-FFF2-40B4-BE49-F238E27FC236}">
                <a16:creationId xmlns:a16="http://schemas.microsoft.com/office/drawing/2014/main" id="{BDCDA396-BED1-495C-9873-22EB670EB48F}"/>
              </a:ext>
            </a:extLst>
          </p:cNvPr>
          <p:cNvSpPr>
            <a:spLocks xmlns:a="http://schemas.openxmlformats.org/drawingml/2006/main" noGrp="1"/>
          </p:cNvSpPr>
          <p:nvPr/>
        </p:nvSpPr>
        <p:spPr>
          <a:xfrm xmlns:a="http://schemas.openxmlformats.org/drawingml/2006/main">
            <a:off x="265747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5" name="Rectangle 24">
            <a:extLst xmlns:a="http://schemas.openxmlformats.org/drawingml/2006/main">
              <a:ext uri="{FF2B5EF4-FFF2-40B4-BE49-F238E27FC236}">
                <a16:creationId xmlns:a16="http://schemas.microsoft.com/office/drawing/2014/main" id="{E92956EE-3B0D-43F3-95A0-E65840C19910}"/>
              </a:ext>
            </a:extLst>
          </p:cNvPr>
          <p:cNvSpPr>
            <a:spLocks xmlns:a="http://schemas.openxmlformats.org/drawingml/2006/main" noGrp="1"/>
          </p:cNvSpPr>
          <p:nvPr/>
        </p:nvSpPr>
        <p:spPr>
          <a:xfrm xmlns:a="http://schemas.openxmlformats.org/drawingml/2006/main">
            <a:off x="100012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6" name="Rectangle 25">
            <a:extLst xmlns:a="http://schemas.openxmlformats.org/drawingml/2006/main">
              <a:ext uri="{FF2B5EF4-FFF2-40B4-BE49-F238E27FC236}">
                <a16:creationId xmlns:a16="http://schemas.microsoft.com/office/drawing/2014/main" id="{F292C9BB-D57B-4C75-A37B-5C60EF634453}"/>
              </a:ext>
            </a:extLst>
          </p:cNvPr>
          <p:cNvSpPr>
            <a:spLocks xmlns:a="http://schemas.openxmlformats.org/drawingml/2006/main" noGrp="1"/>
          </p:cNvSpPr>
          <p:nvPr/>
        </p:nvSpPr>
        <p:spPr>
          <a:xfrm xmlns:a="http://schemas.openxmlformats.org/drawingml/2006/main">
            <a:off x="100012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3</a:t>
            </a:r>
          </a:p>
        </p:txBody>
      </p:sp>
      <p:sp>
        <p:nvSpPr>
          <p:cNvPr id="27" name="Rectangle 26">
            <a:extLst xmlns:a="http://schemas.openxmlformats.org/drawingml/2006/main">
              <a:ext uri="{FF2B5EF4-FFF2-40B4-BE49-F238E27FC236}">
                <a16:creationId xmlns:a16="http://schemas.microsoft.com/office/drawing/2014/main" id="{C30C7206-899D-4EF3-856B-9DC7AA8AB16E}"/>
              </a:ext>
            </a:extLst>
          </p:cNvPr>
          <p:cNvSpPr>
            <a:spLocks xmlns:a="http://schemas.openxmlformats.org/drawingml/2006/main" noGrp="1"/>
          </p:cNvSpPr>
          <p:nvPr/>
        </p:nvSpPr>
        <p:spPr>
          <a:xfrm xmlns:a="http://schemas.openxmlformats.org/drawingml/2006/main">
            <a:off x="155257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8" name="Rectangle 27">
            <a:extLst xmlns:a="http://schemas.openxmlformats.org/drawingml/2006/main">
              <a:ext uri="{FF2B5EF4-FFF2-40B4-BE49-F238E27FC236}">
                <a16:creationId xmlns:a16="http://schemas.microsoft.com/office/drawing/2014/main" id="{353E20B3-191D-4803-88EC-6BAD2EC7E2D7}"/>
              </a:ext>
            </a:extLst>
          </p:cNvPr>
          <p:cNvSpPr>
            <a:spLocks xmlns:a="http://schemas.openxmlformats.org/drawingml/2006/main" noGrp="1"/>
          </p:cNvSpPr>
          <p:nvPr/>
        </p:nvSpPr>
        <p:spPr>
          <a:xfrm xmlns:a="http://schemas.openxmlformats.org/drawingml/2006/main">
            <a:off x="155257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29" name="Rectangle 28">
            <a:extLst xmlns:a="http://schemas.openxmlformats.org/drawingml/2006/main">
              <a:ext uri="{FF2B5EF4-FFF2-40B4-BE49-F238E27FC236}">
                <a16:creationId xmlns:a16="http://schemas.microsoft.com/office/drawing/2014/main" id="{A0B13755-DE02-45A4-84F3-FF9ED2C0E500}"/>
              </a:ext>
            </a:extLst>
          </p:cNvPr>
          <p:cNvSpPr>
            <a:spLocks xmlns:a="http://schemas.openxmlformats.org/drawingml/2006/main" noGrp="1"/>
          </p:cNvSpPr>
          <p:nvPr/>
        </p:nvSpPr>
        <p:spPr>
          <a:xfrm xmlns:a="http://schemas.openxmlformats.org/drawingml/2006/main">
            <a:off x="210502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0" name="Rectangle 29">
            <a:extLst xmlns:a="http://schemas.openxmlformats.org/drawingml/2006/main">
              <a:ext uri="{FF2B5EF4-FFF2-40B4-BE49-F238E27FC236}">
                <a16:creationId xmlns:a16="http://schemas.microsoft.com/office/drawing/2014/main" id="{3CF2D7D2-1DE0-4F83-BFF8-B3715A7A6C2B}"/>
              </a:ext>
            </a:extLst>
          </p:cNvPr>
          <p:cNvSpPr>
            <a:spLocks xmlns:a="http://schemas.openxmlformats.org/drawingml/2006/main" noGrp="1"/>
          </p:cNvSpPr>
          <p:nvPr/>
        </p:nvSpPr>
        <p:spPr>
          <a:xfrm xmlns:a="http://schemas.openxmlformats.org/drawingml/2006/main">
            <a:off x="210502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31" name="Rectangle 30">
            <a:extLst xmlns:a="http://schemas.openxmlformats.org/drawingml/2006/main">
              <a:ext uri="{FF2B5EF4-FFF2-40B4-BE49-F238E27FC236}">
                <a16:creationId xmlns:a16="http://schemas.microsoft.com/office/drawing/2014/main" id="{7EC67467-DB98-4093-88AC-786C84418F23}"/>
              </a:ext>
            </a:extLst>
          </p:cNvPr>
          <p:cNvSpPr>
            <a:spLocks xmlns:a="http://schemas.openxmlformats.org/drawingml/2006/main" noGrp="1"/>
          </p:cNvSpPr>
          <p:nvPr/>
        </p:nvSpPr>
        <p:spPr>
          <a:xfrm xmlns:a="http://schemas.openxmlformats.org/drawingml/2006/main">
            <a:off x="265747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2" name="Rectangle 31">
            <a:extLst xmlns:a="http://schemas.openxmlformats.org/drawingml/2006/main">
              <a:ext uri="{FF2B5EF4-FFF2-40B4-BE49-F238E27FC236}">
                <a16:creationId xmlns:a16="http://schemas.microsoft.com/office/drawing/2014/main" id="{EE9F12B4-83EE-44D0-BE4D-98C7079E858D}"/>
              </a:ext>
            </a:extLst>
          </p:cNvPr>
          <p:cNvSpPr>
            <a:spLocks xmlns:a="http://schemas.openxmlformats.org/drawingml/2006/main" noGrp="1"/>
          </p:cNvSpPr>
          <p:nvPr/>
        </p:nvSpPr>
        <p:spPr>
          <a:xfrm xmlns:a="http://schemas.openxmlformats.org/drawingml/2006/main">
            <a:off x="265747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3" name="Rectangle 32">
            <a:extLst xmlns:a="http://schemas.openxmlformats.org/drawingml/2006/main">
              <a:ext uri="{FF2B5EF4-FFF2-40B4-BE49-F238E27FC236}">
                <a16:creationId xmlns:a16="http://schemas.microsoft.com/office/drawing/2014/main" id="{4EAD53C3-7BF4-4D9E-B2D3-24F7AA85ABC7}"/>
              </a:ext>
            </a:extLst>
          </p:cNvPr>
          <p:cNvSpPr>
            <a:spLocks xmlns:a="http://schemas.openxmlformats.org/drawingml/2006/main" noGrp="1"/>
          </p:cNvSpPr>
          <p:nvPr/>
        </p:nvSpPr>
        <p:spPr>
          <a:xfrm xmlns:a="http://schemas.openxmlformats.org/drawingml/2006/main">
            <a:off x="100012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4" name="Rectangle 33">
            <a:extLst xmlns:a="http://schemas.openxmlformats.org/drawingml/2006/main">
              <a:ext uri="{FF2B5EF4-FFF2-40B4-BE49-F238E27FC236}">
                <a16:creationId xmlns:a16="http://schemas.microsoft.com/office/drawing/2014/main" id="{C40DB502-F8F4-4410-ACA2-E8F50EFFCC63}"/>
              </a:ext>
            </a:extLst>
          </p:cNvPr>
          <p:cNvSpPr>
            <a:spLocks xmlns:a="http://schemas.openxmlformats.org/drawingml/2006/main" noGrp="1"/>
          </p:cNvSpPr>
          <p:nvPr/>
        </p:nvSpPr>
        <p:spPr>
          <a:xfrm xmlns:a="http://schemas.openxmlformats.org/drawingml/2006/main">
            <a:off x="100012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35" name="Rectangle 34">
            <a:extLst xmlns:a="http://schemas.openxmlformats.org/drawingml/2006/main">
              <a:ext uri="{FF2B5EF4-FFF2-40B4-BE49-F238E27FC236}">
                <a16:creationId xmlns:a16="http://schemas.microsoft.com/office/drawing/2014/main" id="{A1CB06BF-B2EA-4918-B33D-2797EC92D41A}"/>
              </a:ext>
            </a:extLst>
          </p:cNvPr>
          <p:cNvSpPr>
            <a:spLocks xmlns:a="http://schemas.openxmlformats.org/drawingml/2006/main" noGrp="1"/>
          </p:cNvSpPr>
          <p:nvPr/>
        </p:nvSpPr>
        <p:spPr>
          <a:xfrm xmlns:a="http://schemas.openxmlformats.org/drawingml/2006/main">
            <a:off x="155257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6" name="Rectangle 35">
            <a:extLst xmlns:a="http://schemas.openxmlformats.org/drawingml/2006/main">
              <a:ext uri="{FF2B5EF4-FFF2-40B4-BE49-F238E27FC236}">
                <a16:creationId xmlns:a16="http://schemas.microsoft.com/office/drawing/2014/main" id="{9B90BB41-0078-43E4-BB08-EF0A0A9FA192}"/>
              </a:ext>
            </a:extLst>
          </p:cNvPr>
          <p:cNvSpPr>
            <a:spLocks xmlns:a="http://schemas.openxmlformats.org/drawingml/2006/main" noGrp="1"/>
          </p:cNvSpPr>
          <p:nvPr/>
        </p:nvSpPr>
        <p:spPr>
          <a:xfrm xmlns:a="http://schemas.openxmlformats.org/drawingml/2006/main">
            <a:off x="155257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7" name="Rectangle 36">
            <a:extLst xmlns:a="http://schemas.openxmlformats.org/drawingml/2006/main">
              <a:ext uri="{FF2B5EF4-FFF2-40B4-BE49-F238E27FC236}">
                <a16:creationId xmlns:a16="http://schemas.microsoft.com/office/drawing/2014/main" id="{838359E5-E4D7-4358-AB24-72BB161EC886}"/>
              </a:ext>
            </a:extLst>
          </p:cNvPr>
          <p:cNvSpPr>
            <a:spLocks xmlns:a="http://schemas.openxmlformats.org/drawingml/2006/main" noGrp="1"/>
          </p:cNvSpPr>
          <p:nvPr/>
        </p:nvSpPr>
        <p:spPr>
          <a:xfrm xmlns:a="http://schemas.openxmlformats.org/drawingml/2006/main">
            <a:off x="210502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8" name="Rectangle 37">
            <a:extLst xmlns:a="http://schemas.openxmlformats.org/drawingml/2006/main">
              <a:ext uri="{FF2B5EF4-FFF2-40B4-BE49-F238E27FC236}">
                <a16:creationId xmlns:a16="http://schemas.microsoft.com/office/drawing/2014/main" id="{63C11DC1-BA4A-49E7-BDD1-BC8425B19CF8}"/>
              </a:ext>
            </a:extLst>
          </p:cNvPr>
          <p:cNvSpPr>
            <a:spLocks xmlns:a="http://schemas.openxmlformats.org/drawingml/2006/main" noGrp="1"/>
          </p:cNvSpPr>
          <p:nvPr/>
        </p:nvSpPr>
        <p:spPr>
          <a:xfrm xmlns:a="http://schemas.openxmlformats.org/drawingml/2006/main">
            <a:off x="210502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9" name="Rectangle 38">
            <a:extLst xmlns:a="http://schemas.openxmlformats.org/drawingml/2006/main">
              <a:ext uri="{FF2B5EF4-FFF2-40B4-BE49-F238E27FC236}">
                <a16:creationId xmlns:a16="http://schemas.microsoft.com/office/drawing/2014/main" id="{FD7C34E8-0AB1-45D9-B0BA-43DE72CC065F}"/>
              </a:ext>
            </a:extLst>
          </p:cNvPr>
          <p:cNvSpPr>
            <a:spLocks xmlns:a="http://schemas.openxmlformats.org/drawingml/2006/main" noGrp="1"/>
          </p:cNvSpPr>
          <p:nvPr/>
        </p:nvSpPr>
        <p:spPr>
          <a:xfrm xmlns:a="http://schemas.openxmlformats.org/drawingml/2006/main">
            <a:off x="265747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40" name="Rectangle 39">
            <a:extLst xmlns:a="http://schemas.openxmlformats.org/drawingml/2006/main">
              <a:ext uri="{FF2B5EF4-FFF2-40B4-BE49-F238E27FC236}">
                <a16:creationId xmlns:a16="http://schemas.microsoft.com/office/drawing/2014/main" id="{8C6F7AAC-163E-4F0B-86FB-A6803EB0E54F}"/>
              </a:ext>
            </a:extLst>
          </p:cNvPr>
          <p:cNvSpPr>
            <a:spLocks xmlns:a="http://schemas.openxmlformats.org/drawingml/2006/main" noGrp="1"/>
          </p:cNvSpPr>
          <p:nvPr/>
        </p:nvSpPr>
        <p:spPr>
          <a:xfrm xmlns:a="http://schemas.openxmlformats.org/drawingml/2006/main">
            <a:off x="265747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41" name="Rectangle 40">
            <a:extLst xmlns:a="http://schemas.openxmlformats.org/drawingml/2006/main">
              <a:ext uri="{FF2B5EF4-FFF2-40B4-BE49-F238E27FC236}">
                <a16:creationId xmlns:a16="http://schemas.microsoft.com/office/drawing/2014/main" id="{2C1D19C0-0285-48EE-9D47-8AE788B725DF}"/>
              </a:ext>
            </a:extLst>
          </p:cNvPr>
          <p:cNvSpPr>
            <a:spLocks xmlns:a="http://schemas.openxmlformats.org/drawingml/2006/main" noGrp="1"/>
          </p:cNvSpPr>
          <p:nvPr/>
        </p:nvSpPr>
        <p:spPr>
          <a:xfrm xmlns:a="http://schemas.openxmlformats.org/drawingml/2006/main">
            <a:off x="3810000" y="2667000"/>
            <a:ext cx="1381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556"/>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QUANTIZE</a:t>
            </a:r>
          </a:p>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 8 AND ROUND</a:t>
            </a:r>
          </a:p>
        </p:txBody>
      </p:sp>
      <p:sp>
        <p:nvSpPr>
          <p:cNvPr id="42" name="Rectangle 41">
            <a:extLst xmlns:a="http://schemas.openxmlformats.org/drawingml/2006/main">
              <a:ext uri="{FF2B5EF4-FFF2-40B4-BE49-F238E27FC236}">
                <a16:creationId xmlns:a16="http://schemas.microsoft.com/office/drawing/2014/main" id="{4A06B40D-EBAA-48B8-9AFB-CB0878AD4A48}"/>
              </a:ext>
            </a:extLst>
          </p:cNvPr>
          <p:cNvSpPr>
            <a:spLocks xmlns:a="http://schemas.openxmlformats.org/drawingml/2006/main" noGrp="1"/>
          </p:cNvSpPr>
          <p:nvPr/>
        </p:nvSpPr>
        <p:spPr>
          <a:xfrm xmlns:a="http://schemas.openxmlformats.org/drawingml/2006/main">
            <a:off x="4953000" y="3333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3" name="Rectangle 42">
            <a:extLst xmlns:a="http://schemas.openxmlformats.org/drawingml/2006/main">
              <a:ext uri="{FF2B5EF4-FFF2-40B4-BE49-F238E27FC236}">
                <a16:creationId xmlns:a16="http://schemas.microsoft.com/office/drawing/2014/main" id="{CDCF908B-8518-4006-B516-3DD5FFC34AA4}"/>
              </a:ext>
            </a:extLst>
          </p:cNvPr>
          <p:cNvSpPr>
            <a:spLocks xmlns:a="http://schemas.openxmlformats.org/drawingml/2006/main" noGrp="1"/>
          </p:cNvSpPr>
          <p:nvPr/>
        </p:nvSpPr>
        <p:spPr>
          <a:xfrm xmlns:a="http://schemas.openxmlformats.org/drawingml/2006/main">
            <a:off x="3429000" y="3333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42" name="Straight Arrow Connector 160"/>
          <p:cNvCxnSpPr>
            <a:stCxn xmlns:a="http://schemas.openxmlformats.org/drawingml/2006/main" id="42" idx="1"/>
            <a:endCxn xmlns:a="http://schemas.openxmlformats.org/drawingml/2006/main" id="43" idx="3"/>
          </p:cNvCxnSpPr>
          <p:nvPr/>
        </p:nvCxnSpPr>
        <p:spPr>
          <a:xfrm xmlns:a="http://schemas.openxmlformats.org/drawingml/2006/main" flipH="1">
            <a:off x="3448050" y="3343275"/>
            <a:ext cx="1504950" cy="0"/>
          </a:xfrm>
          <a:prstGeom xmlns:a="http://schemas.openxmlformats.org/drawingml/2006/main" prst="straightConnector1">
            <a:avLst/>
          </a:prstGeom>
          <a:ln xmlns:a="http://schemas.openxmlformats.org/drawingml/2006/main" w="19050" cap="rnd">
            <a:solidFill>
              <a:srgbClr val="FFB84D"/>
            </a:solidFill>
            <a:prstDash val="solid"/>
            <a:headEnd type="triangle" w="sm" len="sm"/>
          </a:ln>
        </p:spPr>
      </p:cxnSp>
      <p:sp>
        <p:nvSpPr>
          <p:cNvPr id="45" name="Rectangle 44">
            <a:extLst xmlns:a="http://schemas.openxmlformats.org/drawingml/2006/main">
              <a:ext uri="{FF2B5EF4-FFF2-40B4-BE49-F238E27FC236}">
                <a16:creationId xmlns:a16="http://schemas.microsoft.com/office/drawing/2014/main" id="{ABF56BF0-8EAB-4D69-ADF3-E63AD3A1551A}"/>
              </a:ext>
            </a:extLst>
          </p:cNvPr>
          <p:cNvSpPr>
            <a:spLocks xmlns:a="http://schemas.openxmlformats.org/drawingml/2006/main" noGrp="1"/>
          </p:cNvSpPr>
          <p:nvPr/>
        </p:nvSpPr>
        <p:spPr>
          <a:xfrm xmlns:a="http://schemas.openxmlformats.org/drawingml/2006/main">
            <a:off x="4762500" y="14287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2E9BFF"/>
                </a:solidFill>
                <a:latin typeface="Arial"/>
                <a:ea typeface="Arial"/>
                <a:cs typeface="Arial"/>
              </a:defRPr>
            </a:pPr>
            <a:r>
              <a:rPr sz="1350" b="1">
                <a:solidFill>
                  <a:srgbClr val="2E9BFF"/>
                </a:solidFill>
                <a:latin typeface="Arial"/>
                <a:ea typeface="Arial"/>
                <a:cs typeface="Arial"/>
              </a:rPr>
              <a:t>QUANTIZED LEVELS</a:t>
            </a:r>
          </a:p>
        </p:txBody>
      </p:sp>
      <p:sp>
        <p:nvSpPr>
          <p:cNvPr id="46" name="Rectangle 45">
            <a:extLst xmlns:a="http://schemas.openxmlformats.org/drawingml/2006/main">
              <a:ext uri="{FF2B5EF4-FFF2-40B4-BE49-F238E27FC236}">
                <a16:creationId xmlns:a16="http://schemas.microsoft.com/office/drawing/2014/main" id="{1977FBA4-8EC9-4548-A31D-CF6DCBAFCB24}"/>
              </a:ext>
            </a:extLst>
          </p:cNvPr>
          <p:cNvSpPr>
            <a:spLocks xmlns:a="http://schemas.openxmlformats.org/drawingml/2006/main" noGrp="1"/>
          </p:cNvSpPr>
          <p:nvPr/>
        </p:nvSpPr>
        <p:spPr>
          <a:xfrm xmlns:a="http://schemas.openxmlformats.org/drawingml/2006/main">
            <a:off x="5095875" y="2047875"/>
            <a:ext cx="552450" cy="552450"/>
          </a:xfrm>
          <a:prstGeom xmlns:a="http://schemas.openxmlformats.org/drawingml/2006/main" prst="rect">
            <a:avLst/>
          </a:prstGeom>
          <a:solidFill xmlns:a="http://schemas.openxmlformats.org/drawingml/2006/main">
            <a:srgbClr val="2E9BFF"/>
          </a:solidFill>
          <a:ln xmlns:a="http://schemas.openxmlformats.org/drawingml/2006/main" w="9525">
            <a:solidFill>
              <a:srgbClr val="1E4968"/>
            </a:solidFill>
            <a:prstDash val="solid"/>
          </a:ln>
        </p:spPr>
      </p:sp>
      <p:sp>
        <p:nvSpPr>
          <p:cNvPr id="47" name="Rectangle 46">
            <a:extLst xmlns:a="http://schemas.openxmlformats.org/drawingml/2006/main">
              <a:ext uri="{FF2B5EF4-FFF2-40B4-BE49-F238E27FC236}">
                <a16:creationId xmlns:a16="http://schemas.microsoft.com/office/drawing/2014/main" id="{6D2C93BE-38B8-4871-BBB1-99E3448BE27A}"/>
              </a:ext>
            </a:extLst>
          </p:cNvPr>
          <p:cNvSpPr>
            <a:spLocks xmlns:a="http://schemas.openxmlformats.org/drawingml/2006/main" noGrp="1"/>
          </p:cNvSpPr>
          <p:nvPr/>
        </p:nvSpPr>
        <p:spPr>
          <a:xfrm xmlns:a="http://schemas.openxmlformats.org/drawingml/2006/main">
            <a:off x="509587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5</a:t>
            </a:r>
          </a:p>
        </p:txBody>
      </p:sp>
      <p:sp>
        <p:nvSpPr>
          <p:cNvPr id="48" name="Rectangle 47">
            <a:extLst xmlns:a="http://schemas.openxmlformats.org/drawingml/2006/main">
              <a:ext uri="{FF2B5EF4-FFF2-40B4-BE49-F238E27FC236}">
                <a16:creationId xmlns:a16="http://schemas.microsoft.com/office/drawing/2014/main" id="{62E09A17-BE16-4910-8B80-84030D8B2A58}"/>
              </a:ext>
            </a:extLst>
          </p:cNvPr>
          <p:cNvSpPr>
            <a:spLocks xmlns:a="http://schemas.openxmlformats.org/drawingml/2006/main" noGrp="1"/>
          </p:cNvSpPr>
          <p:nvPr/>
        </p:nvSpPr>
        <p:spPr>
          <a:xfrm xmlns:a="http://schemas.openxmlformats.org/drawingml/2006/main">
            <a:off x="5648325" y="2047875"/>
            <a:ext cx="552450" cy="552450"/>
          </a:xfrm>
          <a:prstGeom xmlns:a="http://schemas.openxmlformats.org/drawingml/2006/main" prst="rect">
            <a:avLst/>
          </a:prstGeom>
          <a:solidFill xmlns:a="http://schemas.openxmlformats.org/drawingml/2006/main">
            <a:srgbClr val="2E9BFF"/>
          </a:solidFill>
          <a:ln xmlns:a="http://schemas.openxmlformats.org/drawingml/2006/main" w="9525">
            <a:solidFill>
              <a:srgbClr val="1E4968"/>
            </a:solidFill>
            <a:prstDash val="solid"/>
          </a:ln>
        </p:spPr>
      </p:sp>
      <p:sp>
        <p:nvSpPr>
          <p:cNvPr id="49" name="Rectangle 48">
            <a:extLst xmlns:a="http://schemas.openxmlformats.org/drawingml/2006/main">
              <a:ext uri="{FF2B5EF4-FFF2-40B4-BE49-F238E27FC236}">
                <a16:creationId xmlns:a16="http://schemas.microsoft.com/office/drawing/2014/main" id="{0F9ADC90-562D-49E9-8E81-73E1A64BD264}"/>
              </a:ext>
            </a:extLst>
          </p:cNvPr>
          <p:cNvSpPr>
            <a:spLocks xmlns:a="http://schemas.openxmlformats.org/drawingml/2006/main" noGrp="1"/>
          </p:cNvSpPr>
          <p:nvPr/>
        </p:nvSpPr>
        <p:spPr>
          <a:xfrm xmlns:a="http://schemas.openxmlformats.org/drawingml/2006/main">
            <a:off x="564832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-2</a:t>
            </a:r>
          </a:p>
        </p:txBody>
      </p:sp>
      <p:sp>
        <p:nvSpPr>
          <p:cNvPr id="50" name="Rectangle 49">
            <a:extLst xmlns:a="http://schemas.openxmlformats.org/drawingml/2006/main">
              <a:ext uri="{FF2B5EF4-FFF2-40B4-BE49-F238E27FC236}">
                <a16:creationId xmlns:a16="http://schemas.microsoft.com/office/drawing/2014/main" id="{E2769272-41DF-4D47-BC3A-90A75B25AF99}"/>
              </a:ext>
            </a:extLst>
          </p:cNvPr>
          <p:cNvSpPr>
            <a:spLocks xmlns:a="http://schemas.openxmlformats.org/drawingml/2006/main" noGrp="1"/>
          </p:cNvSpPr>
          <p:nvPr/>
        </p:nvSpPr>
        <p:spPr>
          <a:xfrm xmlns:a="http://schemas.openxmlformats.org/drawingml/2006/main">
            <a:off x="6200775" y="2047875"/>
            <a:ext cx="552450" cy="552450"/>
          </a:xfrm>
          <a:prstGeom xmlns:a="http://schemas.openxmlformats.org/drawingml/2006/main" prst="rect">
            <a:avLst/>
          </a:prstGeom>
          <a:solidFill xmlns:a="http://schemas.openxmlformats.org/drawingml/2006/main">
            <a:srgbClr val="2E9BFF"/>
          </a:solidFill>
          <a:ln xmlns:a="http://schemas.openxmlformats.org/drawingml/2006/main" w="9525">
            <a:solidFill>
              <a:srgbClr val="1E4968"/>
            </a:solidFill>
            <a:prstDash val="solid"/>
          </a:ln>
        </p:spPr>
      </p:sp>
      <p:sp>
        <p:nvSpPr>
          <p:cNvPr id="51" name="Rectangle 50">
            <a:extLst xmlns:a="http://schemas.openxmlformats.org/drawingml/2006/main">
              <a:ext uri="{FF2B5EF4-FFF2-40B4-BE49-F238E27FC236}">
                <a16:creationId xmlns:a16="http://schemas.microsoft.com/office/drawing/2014/main" id="{3D47AB2B-31BD-48E4-9EA8-27C88249393B}"/>
              </a:ext>
            </a:extLst>
          </p:cNvPr>
          <p:cNvSpPr>
            <a:spLocks xmlns:a="http://schemas.openxmlformats.org/drawingml/2006/main" noGrp="1"/>
          </p:cNvSpPr>
          <p:nvPr/>
        </p:nvSpPr>
        <p:spPr>
          <a:xfrm xmlns:a="http://schemas.openxmlformats.org/drawingml/2006/main">
            <a:off x="620077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52" name="Rectangle 51">
            <a:extLst xmlns:a="http://schemas.openxmlformats.org/drawingml/2006/main">
              <a:ext uri="{FF2B5EF4-FFF2-40B4-BE49-F238E27FC236}">
                <a16:creationId xmlns:a16="http://schemas.microsoft.com/office/drawing/2014/main" id="{A3946165-A8EC-4258-831C-51BEAB09FADA}"/>
              </a:ext>
            </a:extLst>
          </p:cNvPr>
          <p:cNvSpPr>
            <a:spLocks xmlns:a="http://schemas.openxmlformats.org/drawingml/2006/main" noGrp="1"/>
          </p:cNvSpPr>
          <p:nvPr/>
        </p:nvSpPr>
        <p:spPr>
          <a:xfrm xmlns:a="http://schemas.openxmlformats.org/drawingml/2006/main">
            <a:off x="6753225" y="20478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53" name="Rectangle 52">
            <a:extLst xmlns:a="http://schemas.openxmlformats.org/drawingml/2006/main">
              <a:ext uri="{FF2B5EF4-FFF2-40B4-BE49-F238E27FC236}">
                <a16:creationId xmlns:a16="http://schemas.microsoft.com/office/drawing/2014/main" id="{E353F3C7-49D1-401C-B801-516ADDD73551}"/>
              </a:ext>
            </a:extLst>
          </p:cNvPr>
          <p:cNvSpPr>
            <a:spLocks xmlns:a="http://schemas.openxmlformats.org/drawingml/2006/main" noGrp="1"/>
          </p:cNvSpPr>
          <p:nvPr/>
        </p:nvSpPr>
        <p:spPr>
          <a:xfrm xmlns:a="http://schemas.openxmlformats.org/drawingml/2006/main">
            <a:off x="6753225"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54" name="Rectangle 53">
            <a:extLst xmlns:a="http://schemas.openxmlformats.org/drawingml/2006/main">
              <a:ext uri="{FF2B5EF4-FFF2-40B4-BE49-F238E27FC236}">
                <a16:creationId xmlns:a16="http://schemas.microsoft.com/office/drawing/2014/main" id="{FE0F88D8-35D6-449D-8EB4-C837794773C6}"/>
              </a:ext>
            </a:extLst>
          </p:cNvPr>
          <p:cNvSpPr>
            <a:spLocks xmlns:a="http://schemas.openxmlformats.org/drawingml/2006/main" noGrp="1"/>
          </p:cNvSpPr>
          <p:nvPr/>
        </p:nvSpPr>
        <p:spPr>
          <a:xfrm xmlns:a="http://schemas.openxmlformats.org/drawingml/2006/main">
            <a:off x="5095875" y="2600325"/>
            <a:ext cx="552450" cy="552450"/>
          </a:xfrm>
          <a:prstGeom xmlns:a="http://schemas.openxmlformats.org/drawingml/2006/main" prst="rect">
            <a:avLst/>
          </a:prstGeom>
          <a:solidFill xmlns:a="http://schemas.openxmlformats.org/drawingml/2006/main">
            <a:srgbClr val="2E9BFF"/>
          </a:solidFill>
          <a:ln xmlns:a="http://schemas.openxmlformats.org/drawingml/2006/main" w="9525">
            <a:solidFill>
              <a:srgbClr val="1E4968"/>
            </a:solidFill>
            <a:prstDash val="solid"/>
          </a:ln>
        </p:spPr>
      </p:sp>
      <p:sp>
        <p:nvSpPr>
          <p:cNvPr id="55" name="Rectangle 54">
            <a:extLst xmlns:a="http://schemas.openxmlformats.org/drawingml/2006/main">
              <a:ext uri="{FF2B5EF4-FFF2-40B4-BE49-F238E27FC236}">
                <a16:creationId xmlns:a16="http://schemas.microsoft.com/office/drawing/2014/main" id="{99FFFD75-29C2-48D7-B880-3E4D17031E38}"/>
              </a:ext>
            </a:extLst>
          </p:cNvPr>
          <p:cNvSpPr>
            <a:spLocks xmlns:a="http://schemas.openxmlformats.org/drawingml/2006/main" noGrp="1"/>
          </p:cNvSpPr>
          <p:nvPr/>
        </p:nvSpPr>
        <p:spPr>
          <a:xfrm xmlns:a="http://schemas.openxmlformats.org/drawingml/2006/main">
            <a:off x="509587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56" name="Rectangle 55">
            <a:extLst xmlns:a="http://schemas.openxmlformats.org/drawingml/2006/main">
              <a:ext uri="{FF2B5EF4-FFF2-40B4-BE49-F238E27FC236}">
                <a16:creationId xmlns:a16="http://schemas.microsoft.com/office/drawing/2014/main" id="{5E7F5ACB-7872-49BE-8E73-51F8A7B9030E}"/>
              </a:ext>
            </a:extLst>
          </p:cNvPr>
          <p:cNvSpPr>
            <a:spLocks xmlns:a="http://schemas.openxmlformats.org/drawingml/2006/main" noGrp="1"/>
          </p:cNvSpPr>
          <p:nvPr/>
        </p:nvSpPr>
        <p:spPr>
          <a:xfrm xmlns:a="http://schemas.openxmlformats.org/drawingml/2006/main">
            <a:off x="5648325" y="2600325"/>
            <a:ext cx="552450" cy="552450"/>
          </a:xfrm>
          <a:prstGeom xmlns:a="http://schemas.openxmlformats.org/drawingml/2006/main" prst="rect">
            <a:avLst/>
          </a:prstGeom>
          <a:solidFill xmlns:a="http://schemas.openxmlformats.org/drawingml/2006/main">
            <a:srgbClr val="2E9BFF"/>
          </a:solidFill>
          <a:ln xmlns:a="http://schemas.openxmlformats.org/drawingml/2006/main" w="9525">
            <a:solidFill>
              <a:srgbClr val="1E4968"/>
            </a:solidFill>
            <a:prstDash val="solid"/>
          </a:ln>
        </p:spPr>
      </p:sp>
      <p:sp>
        <p:nvSpPr>
          <p:cNvPr id="57" name="Rectangle 56">
            <a:extLst xmlns:a="http://schemas.openxmlformats.org/drawingml/2006/main">
              <a:ext uri="{FF2B5EF4-FFF2-40B4-BE49-F238E27FC236}">
                <a16:creationId xmlns:a16="http://schemas.microsoft.com/office/drawing/2014/main" id="{62D455B2-00E5-4464-B875-0C7F8300600F}"/>
              </a:ext>
            </a:extLst>
          </p:cNvPr>
          <p:cNvSpPr>
            <a:spLocks xmlns:a="http://schemas.openxmlformats.org/drawingml/2006/main" noGrp="1"/>
          </p:cNvSpPr>
          <p:nvPr/>
        </p:nvSpPr>
        <p:spPr>
          <a:xfrm xmlns:a="http://schemas.openxmlformats.org/drawingml/2006/main">
            <a:off x="564832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a:t>
            </a:r>
          </a:p>
        </p:txBody>
      </p:sp>
      <p:sp>
        <p:nvSpPr>
          <p:cNvPr id="58" name="Rectangle 57">
            <a:extLst xmlns:a="http://schemas.openxmlformats.org/drawingml/2006/main">
              <a:ext uri="{FF2B5EF4-FFF2-40B4-BE49-F238E27FC236}">
                <a16:creationId xmlns:a16="http://schemas.microsoft.com/office/drawing/2014/main" id="{B6797C18-F141-4809-81DF-6A6024B1180E}"/>
              </a:ext>
            </a:extLst>
          </p:cNvPr>
          <p:cNvSpPr>
            <a:spLocks xmlns:a="http://schemas.openxmlformats.org/drawingml/2006/main" noGrp="1"/>
          </p:cNvSpPr>
          <p:nvPr/>
        </p:nvSpPr>
        <p:spPr>
          <a:xfrm xmlns:a="http://schemas.openxmlformats.org/drawingml/2006/main">
            <a:off x="6200775"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59" name="Rectangle 58">
            <a:extLst xmlns:a="http://schemas.openxmlformats.org/drawingml/2006/main">
              <a:ext uri="{FF2B5EF4-FFF2-40B4-BE49-F238E27FC236}">
                <a16:creationId xmlns:a16="http://schemas.microsoft.com/office/drawing/2014/main" id="{0ECEBDB2-4464-46A9-A1BE-49773805AFDA}"/>
              </a:ext>
            </a:extLst>
          </p:cNvPr>
          <p:cNvSpPr>
            <a:spLocks xmlns:a="http://schemas.openxmlformats.org/drawingml/2006/main" noGrp="1"/>
          </p:cNvSpPr>
          <p:nvPr/>
        </p:nvSpPr>
        <p:spPr>
          <a:xfrm xmlns:a="http://schemas.openxmlformats.org/drawingml/2006/main">
            <a:off x="620077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0" name="Rectangle 59">
            <a:extLst xmlns:a="http://schemas.openxmlformats.org/drawingml/2006/main">
              <a:ext uri="{FF2B5EF4-FFF2-40B4-BE49-F238E27FC236}">
                <a16:creationId xmlns:a16="http://schemas.microsoft.com/office/drawing/2014/main" id="{7788BBFF-2BB2-44E5-81C5-1B88B2D0BC51}"/>
              </a:ext>
            </a:extLst>
          </p:cNvPr>
          <p:cNvSpPr>
            <a:spLocks xmlns:a="http://schemas.openxmlformats.org/drawingml/2006/main" noGrp="1"/>
          </p:cNvSpPr>
          <p:nvPr/>
        </p:nvSpPr>
        <p:spPr>
          <a:xfrm xmlns:a="http://schemas.openxmlformats.org/drawingml/2006/main">
            <a:off x="6753225"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1" name="Rectangle 60">
            <a:extLst xmlns:a="http://schemas.openxmlformats.org/drawingml/2006/main">
              <a:ext uri="{FF2B5EF4-FFF2-40B4-BE49-F238E27FC236}">
                <a16:creationId xmlns:a16="http://schemas.microsoft.com/office/drawing/2014/main" id="{FE19B1D0-1A9F-4B78-AB0A-4D035B69E65F}"/>
              </a:ext>
            </a:extLst>
          </p:cNvPr>
          <p:cNvSpPr>
            <a:spLocks xmlns:a="http://schemas.openxmlformats.org/drawingml/2006/main" noGrp="1"/>
          </p:cNvSpPr>
          <p:nvPr/>
        </p:nvSpPr>
        <p:spPr>
          <a:xfrm xmlns:a="http://schemas.openxmlformats.org/drawingml/2006/main">
            <a:off x="6753225"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2" name="Rectangle 61">
            <a:extLst xmlns:a="http://schemas.openxmlformats.org/drawingml/2006/main">
              <a:ext uri="{FF2B5EF4-FFF2-40B4-BE49-F238E27FC236}">
                <a16:creationId xmlns:a16="http://schemas.microsoft.com/office/drawing/2014/main" id="{687FBA0C-93DD-44C0-957A-689F5308EE1D}"/>
              </a:ext>
            </a:extLst>
          </p:cNvPr>
          <p:cNvSpPr>
            <a:spLocks xmlns:a="http://schemas.openxmlformats.org/drawingml/2006/main" noGrp="1"/>
          </p:cNvSpPr>
          <p:nvPr/>
        </p:nvSpPr>
        <p:spPr>
          <a:xfrm xmlns:a="http://schemas.openxmlformats.org/drawingml/2006/main">
            <a:off x="509587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3" name="Rectangle 62">
            <a:extLst xmlns:a="http://schemas.openxmlformats.org/drawingml/2006/main">
              <a:ext uri="{FF2B5EF4-FFF2-40B4-BE49-F238E27FC236}">
                <a16:creationId xmlns:a16="http://schemas.microsoft.com/office/drawing/2014/main" id="{4B921EC9-1A5A-4640-A360-B89995374C79}"/>
              </a:ext>
            </a:extLst>
          </p:cNvPr>
          <p:cNvSpPr>
            <a:spLocks xmlns:a="http://schemas.openxmlformats.org/drawingml/2006/main" noGrp="1"/>
          </p:cNvSpPr>
          <p:nvPr/>
        </p:nvSpPr>
        <p:spPr>
          <a:xfrm xmlns:a="http://schemas.openxmlformats.org/drawingml/2006/main">
            <a:off x="509587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4" name="Rectangle 63">
            <a:extLst xmlns:a="http://schemas.openxmlformats.org/drawingml/2006/main">
              <a:ext uri="{FF2B5EF4-FFF2-40B4-BE49-F238E27FC236}">
                <a16:creationId xmlns:a16="http://schemas.microsoft.com/office/drawing/2014/main" id="{6904442C-6818-4713-BD31-5729638B92B9}"/>
              </a:ext>
            </a:extLst>
          </p:cNvPr>
          <p:cNvSpPr>
            <a:spLocks xmlns:a="http://schemas.openxmlformats.org/drawingml/2006/main" noGrp="1"/>
          </p:cNvSpPr>
          <p:nvPr/>
        </p:nvSpPr>
        <p:spPr>
          <a:xfrm xmlns:a="http://schemas.openxmlformats.org/drawingml/2006/main">
            <a:off x="564832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5" name="Rectangle 64">
            <a:extLst xmlns:a="http://schemas.openxmlformats.org/drawingml/2006/main">
              <a:ext uri="{FF2B5EF4-FFF2-40B4-BE49-F238E27FC236}">
                <a16:creationId xmlns:a16="http://schemas.microsoft.com/office/drawing/2014/main" id="{CD856054-950D-4F8F-AD69-D217593BCF7C}"/>
              </a:ext>
            </a:extLst>
          </p:cNvPr>
          <p:cNvSpPr>
            <a:spLocks xmlns:a="http://schemas.openxmlformats.org/drawingml/2006/main" noGrp="1"/>
          </p:cNvSpPr>
          <p:nvPr/>
        </p:nvSpPr>
        <p:spPr>
          <a:xfrm xmlns:a="http://schemas.openxmlformats.org/drawingml/2006/main">
            <a:off x="564832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6" name="Rectangle 65">
            <a:extLst xmlns:a="http://schemas.openxmlformats.org/drawingml/2006/main">
              <a:ext uri="{FF2B5EF4-FFF2-40B4-BE49-F238E27FC236}">
                <a16:creationId xmlns:a16="http://schemas.microsoft.com/office/drawing/2014/main" id="{3F902B3D-2863-4FDB-B64F-05D91F078188}"/>
              </a:ext>
            </a:extLst>
          </p:cNvPr>
          <p:cNvSpPr>
            <a:spLocks xmlns:a="http://schemas.openxmlformats.org/drawingml/2006/main" noGrp="1"/>
          </p:cNvSpPr>
          <p:nvPr/>
        </p:nvSpPr>
        <p:spPr>
          <a:xfrm xmlns:a="http://schemas.openxmlformats.org/drawingml/2006/main">
            <a:off x="620077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7" name="Rectangle 66">
            <a:extLst xmlns:a="http://schemas.openxmlformats.org/drawingml/2006/main">
              <a:ext uri="{FF2B5EF4-FFF2-40B4-BE49-F238E27FC236}">
                <a16:creationId xmlns:a16="http://schemas.microsoft.com/office/drawing/2014/main" id="{DA61982D-D13E-4A5B-B924-4DC0D4257DCD}"/>
              </a:ext>
            </a:extLst>
          </p:cNvPr>
          <p:cNvSpPr>
            <a:spLocks xmlns:a="http://schemas.openxmlformats.org/drawingml/2006/main" noGrp="1"/>
          </p:cNvSpPr>
          <p:nvPr/>
        </p:nvSpPr>
        <p:spPr>
          <a:xfrm xmlns:a="http://schemas.openxmlformats.org/drawingml/2006/main">
            <a:off x="620077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8" name="Rectangle 67">
            <a:extLst xmlns:a="http://schemas.openxmlformats.org/drawingml/2006/main">
              <a:ext uri="{FF2B5EF4-FFF2-40B4-BE49-F238E27FC236}">
                <a16:creationId xmlns:a16="http://schemas.microsoft.com/office/drawing/2014/main" id="{F78A4E15-29B0-47AE-95E2-22330DE98475}"/>
              </a:ext>
            </a:extLst>
          </p:cNvPr>
          <p:cNvSpPr>
            <a:spLocks xmlns:a="http://schemas.openxmlformats.org/drawingml/2006/main" noGrp="1"/>
          </p:cNvSpPr>
          <p:nvPr/>
        </p:nvSpPr>
        <p:spPr>
          <a:xfrm xmlns:a="http://schemas.openxmlformats.org/drawingml/2006/main">
            <a:off x="6753225"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9" name="Rectangle 68">
            <a:extLst xmlns:a="http://schemas.openxmlformats.org/drawingml/2006/main">
              <a:ext uri="{FF2B5EF4-FFF2-40B4-BE49-F238E27FC236}">
                <a16:creationId xmlns:a16="http://schemas.microsoft.com/office/drawing/2014/main" id="{9AA88156-D3CF-432B-AE7B-8A7A31EC7748}"/>
              </a:ext>
            </a:extLst>
          </p:cNvPr>
          <p:cNvSpPr>
            <a:spLocks xmlns:a="http://schemas.openxmlformats.org/drawingml/2006/main" noGrp="1"/>
          </p:cNvSpPr>
          <p:nvPr/>
        </p:nvSpPr>
        <p:spPr>
          <a:xfrm xmlns:a="http://schemas.openxmlformats.org/drawingml/2006/main">
            <a:off x="6753225"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0" name="Rectangle 69">
            <a:extLst xmlns:a="http://schemas.openxmlformats.org/drawingml/2006/main">
              <a:ext uri="{FF2B5EF4-FFF2-40B4-BE49-F238E27FC236}">
                <a16:creationId xmlns:a16="http://schemas.microsoft.com/office/drawing/2014/main" id="{C81A0E16-5F06-4E50-8E81-BDAB007C1AF8}"/>
              </a:ext>
            </a:extLst>
          </p:cNvPr>
          <p:cNvSpPr>
            <a:spLocks xmlns:a="http://schemas.openxmlformats.org/drawingml/2006/main" noGrp="1"/>
          </p:cNvSpPr>
          <p:nvPr/>
        </p:nvSpPr>
        <p:spPr>
          <a:xfrm xmlns:a="http://schemas.openxmlformats.org/drawingml/2006/main">
            <a:off x="509587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1" name="Rectangle 70">
            <a:extLst xmlns:a="http://schemas.openxmlformats.org/drawingml/2006/main">
              <a:ext uri="{FF2B5EF4-FFF2-40B4-BE49-F238E27FC236}">
                <a16:creationId xmlns:a16="http://schemas.microsoft.com/office/drawing/2014/main" id="{B8055392-008F-4447-8D17-EE9610037077}"/>
              </a:ext>
            </a:extLst>
          </p:cNvPr>
          <p:cNvSpPr>
            <a:spLocks xmlns:a="http://schemas.openxmlformats.org/drawingml/2006/main" noGrp="1"/>
          </p:cNvSpPr>
          <p:nvPr/>
        </p:nvSpPr>
        <p:spPr>
          <a:xfrm xmlns:a="http://schemas.openxmlformats.org/drawingml/2006/main">
            <a:off x="509587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2" name="Rectangle 71">
            <a:extLst xmlns:a="http://schemas.openxmlformats.org/drawingml/2006/main">
              <a:ext uri="{FF2B5EF4-FFF2-40B4-BE49-F238E27FC236}">
                <a16:creationId xmlns:a16="http://schemas.microsoft.com/office/drawing/2014/main" id="{67C92EF2-5118-44D0-A2DC-F3A5079EDF3E}"/>
              </a:ext>
            </a:extLst>
          </p:cNvPr>
          <p:cNvSpPr>
            <a:spLocks xmlns:a="http://schemas.openxmlformats.org/drawingml/2006/main" noGrp="1"/>
          </p:cNvSpPr>
          <p:nvPr/>
        </p:nvSpPr>
        <p:spPr>
          <a:xfrm xmlns:a="http://schemas.openxmlformats.org/drawingml/2006/main">
            <a:off x="564832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3" name="Rectangle 72">
            <a:extLst xmlns:a="http://schemas.openxmlformats.org/drawingml/2006/main">
              <a:ext uri="{FF2B5EF4-FFF2-40B4-BE49-F238E27FC236}">
                <a16:creationId xmlns:a16="http://schemas.microsoft.com/office/drawing/2014/main" id="{1004344A-92B9-4A8A-B8B9-4758FBABA7B5}"/>
              </a:ext>
            </a:extLst>
          </p:cNvPr>
          <p:cNvSpPr>
            <a:spLocks xmlns:a="http://schemas.openxmlformats.org/drawingml/2006/main" noGrp="1"/>
          </p:cNvSpPr>
          <p:nvPr/>
        </p:nvSpPr>
        <p:spPr>
          <a:xfrm xmlns:a="http://schemas.openxmlformats.org/drawingml/2006/main">
            <a:off x="564832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4" name="Rectangle 73">
            <a:extLst xmlns:a="http://schemas.openxmlformats.org/drawingml/2006/main">
              <a:ext uri="{FF2B5EF4-FFF2-40B4-BE49-F238E27FC236}">
                <a16:creationId xmlns:a16="http://schemas.microsoft.com/office/drawing/2014/main" id="{A963B6BF-5E3A-45DD-B939-3CD9B69EE8E3}"/>
              </a:ext>
            </a:extLst>
          </p:cNvPr>
          <p:cNvSpPr>
            <a:spLocks xmlns:a="http://schemas.openxmlformats.org/drawingml/2006/main" noGrp="1"/>
          </p:cNvSpPr>
          <p:nvPr/>
        </p:nvSpPr>
        <p:spPr>
          <a:xfrm xmlns:a="http://schemas.openxmlformats.org/drawingml/2006/main">
            <a:off x="620077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5" name="Rectangle 74">
            <a:extLst xmlns:a="http://schemas.openxmlformats.org/drawingml/2006/main">
              <a:ext uri="{FF2B5EF4-FFF2-40B4-BE49-F238E27FC236}">
                <a16:creationId xmlns:a16="http://schemas.microsoft.com/office/drawing/2014/main" id="{EC7BF7B8-FE47-499E-9E34-52352136FAA9}"/>
              </a:ext>
            </a:extLst>
          </p:cNvPr>
          <p:cNvSpPr>
            <a:spLocks xmlns:a="http://schemas.openxmlformats.org/drawingml/2006/main" noGrp="1"/>
          </p:cNvSpPr>
          <p:nvPr/>
        </p:nvSpPr>
        <p:spPr>
          <a:xfrm xmlns:a="http://schemas.openxmlformats.org/drawingml/2006/main">
            <a:off x="620077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6" name="Rectangle 75">
            <a:extLst xmlns:a="http://schemas.openxmlformats.org/drawingml/2006/main">
              <a:ext uri="{FF2B5EF4-FFF2-40B4-BE49-F238E27FC236}">
                <a16:creationId xmlns:a16="http://schemas.microsoft.com/office/drawing/2014/main" id="{3697D7D0-443E-498D-9810-8FD1BEBAD313}"/>
              </a:ext>
            </a:extLst>
          </p:cNvPr>
          <p:cNvSpPr>
            <a:spLocks xmlns:a="http://schemas.openxmlformats.org/drawingml/2006/main" noGrp="1"/>
          </p:cNvSpPr>
          <p:nvPr/>
        </p:nvSpPr>
        <p:spPr>
          <a:xfrm xmlns:a="http://schemas.openxmlformats.org/drawingml/2006/main">
            <a:off x="6753225"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7" name="Rectangle 76">
            <a:extLst xmlns:a="http://schemas.openxmlformats.org/drawingml/2006/main">
              <a:ext uri="{FF2B5EF4-FFF2-40B4-BE49-F238E27FC236}">
                <a16:creationId xmlns:a16="http://schemas.microsoft.com/office/drawing/2014/main" id="{DD69B569-FA08-4DFC-AC26-90BC47E2C95F}"/>
              </a:ext>
            </a:extLst>
          </p:cNvPr>
          <p:cNvSpPr>
            <a:spLocks xmlns:a="http://schemas.openxmlformats.org/drawingml/2006/main" noGrp="1"/>
          </p:cNvSpPr>
          <p:nvPr/>
        </p:nvSpPr>
        <p:spPr>
          <a:xfrm xmlns:a="http://schemas.openxmlformats.org/drawingml/2006/main">
            <a:off x="6753225"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8" name="Rectangle 77">
            <a:extLst xmlns:a="http://schemas.openxmlformats.org/drawingml/2006/main">
              <a:ext uri="{FF2B5EF4-FFF2-40B4-BE49-F238E27FC236}">
                <a16:creationId xmlns:a16="http://schemas.microsoft.com/office/drawing/2014/main" id="{DC1DA568-1374-4789-96BD-8A1BAB304D4D}"/>
              </a:ext>
            </a:extLst>
          </p:cNvPr>
          <p:cNvSpPr>
            <a:spLocks xmlns:a="http://schemas.openxmlformats.org/drawingml/2006/main" noGrp="1"/>
          </p:cNvSpPr>
          <p:nvPr/>
        </p:nvSpPr>
        <p:spPr>
          <a:xfrm xmlns:a="http://schemas.openxmlformats.org/drawingml/2006/main">
            <a:off x="7858125" y="2667000"/>
            <a:ext cx="114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397"/>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DEQUANTIZE</a:t>
            </a:r>
          </a:p>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 8</a:t>
            </a:r>
          </a:p>
        </p:txBody>
      </p:sp>
      <p:sp>
        <p:nvSpPr>
          <p:cNvPr id="79" name="Rectangle 78">
            <a:extLst xmlns:a="http://schemas.openxmlformats.org/drawingml/2006/main">
              <a:ext uri="{FF2B5EF4-FFF2-40B4-BE49-F238E27FC236}">
                <a16:creationId xmlns:a16="http://schemas.microsoft.com/office/drawing/2014/main" id="{B13AD881-AEC4-45D6-ACAB-1F534FB313C2}"/>
              </a:ext>
            </a:extLst>
          </p:cNvPr>
          <p:cNvSpPr>
            <a:spLocks xmlns:a="http://schemas.openxmlformats.org/drawingml/2006/main" noGrp="1"/>
          </p:cNvSpPr>
          <p:nvPr/>
        </p:nvSpPr>
        <p:spPr>
          <a:xfrm xmlns:a="http://schemas.openxmlformats.org/drawingml/2006/main">
            <a:off x="8905875" y="3333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80" name="Rectangle 79">
            <a:extLst xmlns:a="http://schemas.openxmlformats.org/drawingml/2006/main">
              <a:ext uri="{FF2B5EF4-FFF2-40B4-BE49-F238E27FC236}">
                <a16:creationId xmlns:a16="http://schemas.microsoft.com/office/drawing/2014/main" id="{BC208721-4742-4FD2-AB42-96D32E33D2AA}"/>
              </a:ext>
            </a:extLst>
          </p:cNvPr>
          <p:cNvSpPr>
            <a:spLocks xmlns:a="http://schemas.openxmlformats.org/drawingml/2006/main" noGrp="1"/>
          </p:cNvSpPr>
          <p:nvPr/>
        </p:nvSpPr>
        <p:spPr>
          <a:xfrm xmlns:a="http://schemas.openxmlformats.org/drawingml/2006/main">
            <a:off x="7572375" y="3333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79" name="Straight Arrow Connector 197"/>
          <p:cNvCxnSpPr>
            <a:stCxn xmlns:a="http://schemas.openxmlformats.org/drawingml/2006/main" id="79" idx="1"/>
            <a:endCxn xmlns:a="http://schemas.openxmlformats.org/drawingml/2006/main" id="80" idx="3"/>
          </p:cNvCxnSpPr>
          <p:nvPr/>
        </p:nvCxnSpPr>
        <p:spPr>
          <a:xfrm xmlns:a="http://schemas.openxmlformats.org/drawingml/2006/main" flipH="1">
            <a:off x="7591425" y="3343275"/>
            <a:ext cx="1314450" cy="0"/>
          </a:xfrm>
          <a:prstGeom xmlns:a="http://schemas.openxmlformats.org/drawingml/2006/main" prst="straightConnector1">
            <a:avLst/>
          </a:prstGeom>
          <a:ln xmlns:a="http://schemas.openxmlformats.org/drawingml/2006/main" w="19050" cap="rnd">
            <a:solidFill>
              <a:srgbClr val="47E6A4"/>
            </a:solidFill>
            <a:prstDash val="solid"/>
            <a:headEnd type="triangle" w="sm" len="sm"/>
          </a:ln>
        </p:spPr>
      </p:cxnSp>
      <p:sp>
        <p:nvSpPr>
          <p:cNvPr id="82" name="Rectangle 81">
            <a:extLst xmlns:a="http://schemas.openxmlformats.org/drawingml/2006/main">
              <a:ext uri="{FF2B5EF4-FFF2-40B4-BE49-F238E27FC236}">
                <a16:creationId xmlns:a16="http://schemas.microsoft.com/office/drawing/2014/main" id="{6E5E3C74-6A10-4AF2-BF7A-B704613A633C}"/>
              </a:ext>
            </a:extLst>
          </p:cNvPr>
          <p:cNvSpPr>
            <a:spLocks xmlns:a="http://schemas.openxmlformats.org/drawingml/2006/main" noGrp="1"/>
          </p:cNvSpPr>
          <p:nvPr/>
        </p:nvSpPr>
        <p:spPr>
          <a:xfrm xmlns:a="http://schemas.openxmlformats.org/drawingml/2006/main">
            <a:off x="8572500" y="1428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47E6A4"/>
                </a:solidFill>
                <a:latin typeface="Arial"/>
                <a:ea typeface="Arial"/>
                <a:cs typeface="Arial"/>
              </a:defRPr>
            </a:pPr>
            <a:r>
              <a:rPr sz="1350" b="1">
                <a:solidFill>
                  <a:srgbClr val="47E6A4"/>
                </a:solidFill>
                <a:latin typeface="Arial"/>
                <a:ea typeface="Arial"/>
                <a:cs typeface="Arial"/>
              </a:rPr>
              <a:t>DEQUANTIZED COEFFICIENTS</a:t>
            </a:r>
          </a:p>
        </p:txBody>
      </p:sp>
      <p:sp>
        <p:nvSpPr>
          <p:cNvPr id="83" name="Rectangle 82">
            <a:extLst xmlns:a="http://schemas.openxmlformats.org/drawingml/2006/main">
              <a:ext uri="{FF2B5EF4-FFF2-40B4-BE49-F238E27FC236}">
                <a16:creationId xmlns:a16="http://schemas.microsoft.com/office/drawing/2014/main" id="{87625F81-B05C-43F3-B9F2-F7F64FD4F106}"/>
              </a:ext>
            </a:extLst>
          </p:cNvPr>
          <p:cNvSpPr>
            <a:spLocks xmlns:a="http://schemas.openxmlformats.org/drawingml/2006/main" noGrp="1"/>
          </p:cNvSpPr>
          <p:nvPr/>
        </p:nvSpPr>
        <p:spPr>
          <a:xfrm xmlns:a="http://schemas.openxmlformats.org/drawingml/2006/main">
            <a:off x="9048750" y="2047875"/>
            <a:ext cx="552450" cy="552450"/>
          </a:xfrm>
          <a:prstGeom xmlns:a="http://schemas.openxmlformats.org/drawingml/2006/main" prst="rect">
            <a:avLst/>
          </a:prstGeom>
          <a:solidFill xmlns:a="http://schemas.openxmlformats.org/drawingml/2006/main">
            <a:srgbClr val="47E6A4"/>
          </a:solidFill>
          <a:ln xmlns:a="http://schemas.openxmlformats.org/drawingml/2006/main" w="9525">
            <a:solidFill>
              <a:srgbClr val="1E4968"/>
            </a:solidFill>
            <a:prstDash val="solid"/>
          </a:ln>
        </p:spPr>
      </p:sp>
      <p:sp>
        <p:nvSpPr>
          <p:cNvPr id="84" name="Rectangle 83">
            <a:extLst xmlns:a="http://schemas.openxmlformats.org/drawingml/2006/main">
              <a:ext uri="{FF2B5EF4-FFF2-40B4-BE49-F238E27FC236}">
                <a16:creationId xmlns:a16="http://schemas.microsoft.com/office/drawing/2014/main" id="{82DDDD9B-646B-447B-BBF4-8FD77BE07945}"/>
              </a:ext>
            </a:extLst>
          </p:cNvPr>
          <p:cNvSpPr>
            <a:spLocks xmlns:a="http://schemas.openxmlformats.org/drawingml/2006/main" noGrp="1"/>
          </p:cNvSpPr>
          <p:nvPr/>
        </p:nvSpPr>
        <p:spPr>
          <a:xfrm xmlns:a="http://schemas.openxmlformats.org/drawingml/2006/main">
            <a:off x="9048750"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40</a:t>
            </a:r>
          </a:p>
        </p:txBody>
      </p:sp>
      <p:sp>
        <p:nvSpPr>
          <p:cNvPr id="85" name="Rectangle 84">
            <a:extLst xmlns:a="http://schemas.openxmlformats.org/drawingml/2006/main">
              <a:ext uri="{FF2B5EF4-FFF2-40B4-BE49-F238E27FC236}">
                <a16:creationId xmlns:a16="http://schemas.microsoft.com/office/drawing/2014/main" id="{1933F335-2374-4493-93CE-0B2E5ACD994E}"/>
              </a:ext>
            </a:extLst>
          </p:cNvPr>
          <p:cNvSpPr>
            <a:spLocks xmlns:a="http://schemas.openxmlformats.org/drawingml/2006/main" noGrp="1"/>
          </p:cNvSpPr>
          <p:nvPr/>
        </p:nvSpPr>
        <p:spPr>
          <a:xfrm xmlns:a="http://schemas.openxmlformats.org/drawingml/2006/main">
            <a:off x="9601200" y="2047875"/>
            <a:ext cx="552450" cy="552450"/>
          </a:xfrm>
          <a:prstGeom xmlns:a="http://schemas.openxmlformats.org/drawingml/2006/main" prst="rect">
            <a:avLst/>
          </a:prstGeom>
          <a:solidFill xmlns:a="http://schemas.openxmlformats.org/drawingml/2006/main">
            <a:srgbClr val="47E6A4"/>
          </a:solidFill>
          <a:ln xmlns:a="http://schemas.openxmlformats.org/drawingml/2006/main" w="9525">
            <a:solidFill>
              <a:srgbClr val="1E4968"/>
            </a:solidFill>
            <a:prstDash val="solid"/>
          </a:ln>
        </p:spPr>
      </p:sp>
      <p:sp>
        <p:nvSpPr>
          <p:cNvPr id="86" name="Rectangle 85">
            <a:extLst xmlns:a="http://schemas.openxmlformats.org/drawingml/2006/main">
              <a:ext uri="{FF2B5EF4-FFF2-40B4-BE49-F238E27FC236}">
                <a16:creationId xmlns:a16="http://schemas.microsoft.com/office/drawing/2014/main" id="{195F7D07-AC31-4AB5-877D-643CACF854BF}"/>
              </a:ext>
            </a:extLst>
          </p:cNvPr>
          <p:cNvSpPr>
            <a:spLocks xmlns:a="http://schemas.openxmlformats.org/drawingml/2006/main" noGrp="1"/>
          </p:cNvSpPr>
          <p:nvPr/>
        </p:nvSpPr>
        <p:spPr>
          <a:xfrm xmlns:a="http://schemas.openxmlformats.org/drawingml/2006/main">
            <a:off x="9601200"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-16</a:t>
            </a:r>
          </a:p>
        </p:txBody>
      </p:sp>
      <p:sp>
        <p:nvSpPr>
          <p:cNvPr id="87" name="Rectangle 86">
            <a:extLst xmlns:a="http://schemas.openxmlformats.org/drawingml/2006/main">
              <a:ext uri="{FF2B5EF4-FFF2-40B4-BE49-F238E27FC236}">
                <a16:creationId xmlns:a16="http://schemas.microsoft.com/office/drawing/2014/main" id="{154E617C-ABE9-446F-AED3-70E6CB6F0362}"/>
              </a:ext>
            </a:extLst>
          </p:cNvPr>
          <p:cNvSpPr>
            <a:spLocks xmlns:a="http://schemas.openxmlformats.org/drawingml/2006/main" noGrp="1"/>
          </p:cNvSpPr>
          <p:nvPr/>
        </p:nvSpPr>
        <p:spPr>
          <a:xfrm xmlns:a="http://schemas.openxmlformats.org/drawingml/2006/main">
            <a:off x="10153650" y="2047875"/>
            <a:ext cx="552450" cy="552450"/>
          </a:xfrm>
          <a:prstGeom xmlns:a="http://schemas.openxmlformats.org/drawingml/2006/main" prst="rect">
            <a:avLst/>
          </a:prstGeom>
          <a:solidFill xmlns:a="http://schemas.openxmlformats.org/drawingml/2006/main">
            <a:srgbClr val="47E6A4"/>
          </a:solidFill>
          <a:ln xmlns:a="http://schemas.openxmlformats.org/drawingml/2006/main" w="9525">
            <a:solidFill>
              <a:srgbClr val="1E4968"/>
            </a:solidFill>
            <a:prstDash val="solid"/>
          </a:ln>
        </p:spPr>
      </p:sp>
      <p:sp>
        <p:nvSpPr>
          <p:cNvPr id="88" name="Rectangle 87">
            <a:extLst xmlns:a="http://schemas.openxmlformats.org/drawingml/2006/main">
              <a:ext uri="{FF2B5EF4-FFF2-40B4-BE49-F238E27FC236}">
                <a16:creationId xmlns:a16="http://schemas.microsoft.com/office/drawing/2014/main" id="{1DF3DA23-0F56-4EBD-AFE3-8106031D94E8}"/>
              </a:ext>
            </a:extLst>
          </p:cNvPr>
          <p:cNvSpPr>
            <a:spLocks xmlns:a="http://schemas.openxmlformats.org/drawingml/2006/main" noGrp="1"/>
          </p:cNvSpPr>
          <p:nvPr/>
        </p:nvSpPr>
        <p:spPr>
          <a:xfrm xmlns:a="http://schemas.openxmlformats.org/drawingml/2006/main">
            <a:off x="10153650"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8</a:t>
            </a:r>
          </a:p>
        </p:txBody>
      </p:sp>
      <p:sp>
        <p:nvSpPr>
          <p:cNvPr id="89" name="Rectangle 88">
            <a:extLst xmlns:a="http://schemas.openxmlformats.org/drawingml/2006/main">
              <a:ext uri="{FF2B5EF4-FFF2-40B4-BE49-F238E27FC236}">
                <a16:creationId xmlns:a16="http://schemas.microsoft.com/office/drawing/2014/main" id="{8140C4C9-A96B-4B5E-820E-DBB98833F319}"/>
              </a:ext>
            </a:extLst>
          </p:cNvPr>
          <p:cNvSpPr>
            <a:spLocks xmlns:a="http://schemas.openxmlformats.org/drawingml/2006/main" noGrp="1"/>
          </p:cNvSpPr>
          <p:nvPr/>
        </p:nvSpPr>
        <p:spPr>
          <a:xfrm xmlns:a="http://schemas.openxmlformats.org/drawingml/2006/main">
            <a:off x="10706100" y="20478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0" name="Rectangle 89">
            <a:extLst xmlns:a="http://schemas.openxmlformats.org/drawingml/2006/main">
              <a:ext uri="{FF2B5EF4-FFF2-40B4-BE49-F238E27FC236}">
                <a16:creationId xmlns:a16="http://schemas.microsoft.com/office/drawing/2014/main" id="{4C0E1E59-C56A-4B79-BF29-C345DD97FD14}"/>
              </a:ext>
            </a:extLst>
          </p:cNvPr>
          <p:cNvSpPr>
            <a:spLocks xmlns:a="http://schemas.openxmlformats.org/drawingml/2006/main" noGrp="1"/>
          </p:cNvSpPr>
          <p:nvPr/>
        </p:nvSpPr>
        <p:spPr>
          <a:xfrm xmlns:a="http://schemas.openxmlformats.org/drawingml/2006/main">
            <a:off x="10706100" y="20955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91" name="Rectangle 90">
            <a:extLst xmlns:a="http://schemas.openxmlformats.org/drawingml/2006/main">
              <a:ext uri="{FF2B5EF4-FFF2-40B4-BE49-F238E27FC236}">
                <a16:creationId xmlns:a16="http://schemas.microsoft.com/office/drawing/2014/main" id="{B9ED867D-6330-4B75-BB74-D7C767B85090}"/>
              </a:ext>
            </a:extLst>
          </p:cNvPr>
          <p:cNvSpPr>
            <a:spLocks xmlns:a="http://schemas.openxmlformats.org/drawingml/2006/main" noGrp="1"/>
          </p:cNvSpPr>
          <p:nvPr/>
        </p:nvSpPr>
        <p:spPr>
          <a:xfrm xmlns:a="http://schemas.openxmlformats.org/drawingml/2006/main">
            <a:off x="9048750" y="2600325"/>
            <a:ext cx="552450" cy="552450"/>
          </a:xfrm>
          <a:prstGeom xmlns:a="http://schemas.openxmlformats.org/drawingml/2006/main" prst="rect">
            <a:avLst/>
          </a:prstGeom>
          <a:solidFill xmlns:a="http://schemas.openxmlformats.org/drawingml/2006/main">
            <a:srgbClr val="47E6A4"/>
          </a:solidFill>
          <a:ln xmlns:a="http://schemas.openxmlformats.org/drawingml/2006/main" w="9525">
            <a:solidFill>
              <a:srgbClr val="1E4968"/>
            </a:solidFill>
            <a:prstDash val="solid"/>
          </a:ln>
        </p:spPr>
      </p:sp>
      <p:sp>
        <p:nvSpPr>
          <p:cNvPr id="92" name="Rectangle 91">
            <a:extLst xmlns:a="http://schemas.openxmlformats.org/drawingml/2006/main">
              <a:ext uri="{FF2B5EF4-FFF2-40B4-BE49-F238E27FC236}">
                <a16:creationId xmlns:a16="http://schemas.microsoft.com/office/drawing/2014/main" id="{2EF2B414-85CE-460C-8577-3D12A20771FB}"/>
              </a:ext>
            </a:extLst>
          </p:cNvPr>
          <p:cNvSpPr>
            <a:spLocks xmlns:a="http://schemas.openxmlformats.org/drawingml/2006/main" noGrp="1"/>
          </p:cNvSpPr>
          <p:nvPr/>
        </p:nvSpPr>
        <p:spPr>
          <a:xfrm xmlns:a="http://schemas.openxmlformats.org/drawingml/2006/main">
            <a:off x="9048750"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-8</a:t>
            </a:r>
          </a:p>
        </p:txBody>
      </p:sp>
      <p:sp>
        <p:nvSpPr>
          <p:cNvPr id="93" name="Rectangle 92">
            <a:extLst xmlns:a="http://schemas.openxmlformats.org/drawingml/2006/main">
              <a:ext uri="{FF2B5EF4-FFF2-40B4-BE49-F238E27FC236}">
                <a16:creationId xmlns:a16="http://schemas.microsoft.com/office/drawing/2014/main" id="{BE4306CA-02F2-484B-8BFE-F22D8B686581}"/>
              </a:ext>
            </a:extLst>
          </p:cNvPr>
          <p:cNvSpPr>
            <a:spLocks xmlns:a="http://schemas.openxmlformats.org/drawingml/2006/main" noGrp="1"/>
          </p:cNvSpPr>
          <p:nvPr/>
        </p:nvSpPr>
        <p:spPr>
          <a:xfrm xmlns:a="http://schemas.openxmlformats.org/drawingml/2006/main">
            <a:off x="9601200" y="2600325"/>
            <a:ext cx="552450" cy="552450"/>
          </a:xfrm>
          <a:prstGeom xmlns:a="http://schemas.openxmlformats.org/drawingml/2006/main" prst="rect">
            <a:avLst/>
          </a:prstGeom>
          <a:solidFill xmlns:a="http://schemas.openxmlformats.org/drawingml/2006/main">
            <a:srgbClr val="47E6A4"/>
          </a:solidFill>
          <a:ln xmlns:a="http://schemas.openxmlformats.org/drawingml/2006/main" w="9525">
            <a:solidFill>
              <a:srgbClr val="1E4968"/>
            </a:solidFill>
            <a:prstDash val="solid"/>
          </a:ln>
        </p:spPr>
      </p:sp>
      <p:sp>
        <p:nvSpPr>
          <p:cNvPr id="94" name="Rectangle 93">
            <a:extLst xmlns:a="http://schemas.openxmlformats.org/drawingml/2006/main">
              <a:ext uri="{FF2B5EF4-FFF2-40B4-BE49-F238E27FC236}">
                <a16:creationId xmlns:a16="http://schemas.microsoft.com/office/drawing/2014/main" id="{88BA6E68-FC38-49CC-A66B-A1BE48EA8B0C}"/>
              </a:ext>
            </a:extLst>
          </p:cNvPr>
          <p:cNvSpPr>
            <a:spLocks xmlns:a="http://schemas.openxmlformats.org/drawingml/2006/main" noGrp="1"/>
          </p:cNvSpPr>
          <p:nvPr/>
        </p:nvSpPr>
        <p:spPr>
          <a:xfrm xmlns:a="http://schemas.openxmlformats.org/drawingml/2006/main">
            <a:off x="9601200"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06131F"/>
                </a:solidFill>
                <a:latin typeface="Arial"/>
                <a:ea typeface="Arial"/>
                <a:cs typeface="Arial"/>
              </a:defRPr>
            </a:pPr>
            <a:r>
              <a:rPr sz="900" b="1">
                <a:solidFill>
                  <a:srgbClr val="06131F"/>
                </a:solidFill>
                <a:latin typeface="Arial"/>
                <a:ea typeface="Arial"/>
                <a:cs typeface="Arial"/>
              </a:rPr>
              <a:t>8</a:t>
            </a:r>
          </a:p>
        </p:txBody>
      </p:sp>
      <p:sp>
        <p:nvSpPr>
          <p:cNvPr id="95" name="Rectangle 94">
            <a:extLst xmlns:a="http://schemas.openxmlformats.org/drawingml/2006/main">
              <a:ext uri="{FF2B5EF4-FFF2-40B4-BE49-F238E27FC236}">
                <a16:creationId xmlns:a16="http://schemas.microsoft.com/office/drawing/2014/main" id="{5B70C74E-763B-4BA4-87B8-8BF48155FA1B}"/>
              </a:ext>
            </a:extLst>
          </p:cNvPr>
          <p:cNvSpPr>
            <a:spLocks xmlns:a="http://schemas.openxmlformats.org/drawingml/2006/main" noGrp="1"/>
          </p:cNvSpPr>
          <p:nvPr/>
        </p:nvSpPr>
        <p:spPr>
          <a:xfrm xmlns:a="http://schemas.openxmlformats.org/drawingml/2006/main">
            <a:off x="10153650"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6" name="Rectangle 95">
            <a:extLst xmlns:a="http://schemas.openxmlformats.org/drawingml/2006/main">
              <a:ext uri="{FF2B5EF4-FFF2-40B4-BE49-F238E27FC236}">
                <a16:creationId xmlns:a16="http://schemas.microsoft.com/office/drawing/2014/main" id="{E4352934-CF51-424E-9C12-3733C964F654}"/>
              </a:ext>
            </a:extLst>
          </p:cNvPr>
          <p:cNvSpPr>
            <a:spLocks xmlns:a="http://schemas.openxmlformats.org/drawingml/2006/main" noGrp="1"/>
          </p:cNvSpPr>
          <p:nvPr/>
        </p:nvSpPr>
        <p:spPr>
          <a:xfrm xmlns:a="http://schemas.openxmlformats.org/drawingml/2006/main">
            <a:off x="10153650"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97" name="Rectangle 96">
            <a:extLst xmlns:a="http://schemas.openxmlformats.org/drawingml/2006/main">
              <a:ext uri="{FF2B5EF4-FFF2-40B4-BE49-F238E27FC236}">
                <a16:creationId xmlns:a16="http://schemas.microsoft.com/office/drawing/2014/main" id="{891FB22F-5A29-49A9-A523-5A55A093C326}"/>
              </a:ext>
            </a:extLst>
          </p:cNvPr>
          <p:cNvSpPr>
            <a:spLocks xmlns:a="http://schemas.openxmlformats.org/drawingml/2006/main" noGrp="1"/>
          </p:cNvSpPr>
          <p:nvPr/>
        </p:nvSpPr>
        <p:spPr>
          <a:xfrm xmlns:a="http://schemas.openxmlformats.org/drawingml/2006/main">
            <a:off x="10706100" y="26003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8" name="Rectangle 97">
            <a:extLst xmlns:a="http://schemas.openxmlformats.org/drawingml/2006/main">
              <a:ext uri="{FF2B5EF4-FFF2-40B4-BE49-F238E27FC236}">
                <a16:creationId xmlns:a16="http://schemas.microsoft.com/office/drawing/2014/main" id="{79D298C0-A49A-4FBA-90CB-926898964056}"/>
              </a:ext>
            </a:extLst>
          </p:cNvPr>
          <p:cNvSpPr>
            <a:spLocks xmlns:a="http://schemas.openxmlformats.org/drawingml/2006/main" noGrp="1"/>
          </p:cNvSpPr>
          <p:nvPr/>
        </p:nvSpPr>
        <p:spPr>
          <a:xfrm xmlns:a="http://schemas.openxmlformats.org/drawingml/2006/main">
            <a:off x="10706100" y="26479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99" name="Rectangle 98">
            <a:extLst xmlns:a="http://schemas.openxmlformats.org/drawingml/2006/main">
              <a:ext uri="{FF2B5EF4-FFF2-40B4-BE49-F238E27FC236}">
                <a16:creationId xmlns:a16="http://schemas.microsoft.com/office/drawing/2014/main" id="{1E2D82DA-ABC1-4AC6-B585-D12D724325F8}"/>
              </a:ext>
            </a:extLst>
          </p:cNvPr>
          <p:cNvSpPr>
            <a:spLocks xmlns:a="http://schemas.openxmlformats.org/drawingml/2006/main" noGrp="1"/>
          </p:cNvSpPr>
          <p:nvPr/>
        </p:nvSpPr>
        <p:spPr>
          <a:xfrm xmlns:a="http://schemas.openxmlformats.org/drawingml/2006/main">
            <a:off x="9048750"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0" name="Rectangle 99">
            <a:extLst xmlns:a="http://schemas.openxmlformats.org/drawingml/2006/main">
              <a:ext uri="{FF2B5EF4-FFF2-40B4-BE49-F238E27FC236}">
                <a16:creationId xmlns:a16="http://schemas.microsoft.com/office/drawing/2014/main" id="{0D58C355-FA59-4D89-AFAE-098F94464024}"/>
              </a:ext>
            </a:extLst>
          </p:cNvPr>
          <p:cNvSpPr>
            <a:spLocks xmlns:a="http://schemas.openxmlformats.org/drawingml/2006/main" noGrp="1"/>
          </p:cNvSpPr>
          <p:nvPr/>
        </p:nvSpPr>
        <p:spPr>
          <a:xfrm xmlns:a="http://schemas.openxmlformats.org/drawingml/2006/main">
            <a:off x="9048750"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1" name="Rectangle 100">
            <a:extLst xmlns:a="http://schemas.openxmlformats.org/drawingml/2006/main">
              <a:ext uri="{FF2B5EF4-FFF2-40B4-BE49-F238E27FC236}">
                <a16:creationId xmlns:a16="http://schemas.microsoft.com/office/drawing/2014/main" id="{83476142-A402-4818-8C97-9B477572958A}"/>
              </a:ext>
            </a:extLst>
          </p:cNvPr>
          <p:cNvSpPr>
            <a:spLocks xmlns:a="http://schemas.openxmlformats.org/drawingml/2006/main" noGrp="1"/>
          </p:cNvSpPr>
          <p:nvPr/>
        </p:nvSpPr>
        <p:spPr>
          <a:xfrm xmlns:a="http://schemas.openxmlformats.org/drawingml/2006/main">
            <a:off x="9601200"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2" name="Rectangle 101">
            <a:extLst xmlns:a="http://schemas.openxmlformats.org/drawingml/2006/main">
              <a:ext uri="{FF2B5EF4-FFF2-40B4-BE49-F238E27FC236}">
                <a16:creationId xmlns:a16="http://schemas.microsoft.com/office/drawing/2014/main" id="{C4F1C5AB-4C4C-4D22-83D7-160EB154B458}"/>
              </a:ext>
            </a:extLst>
          </p:cNvPr>
          <p:cNvSpPr>
            <a:spLocks xmlns:a="http://schemas.openxmlformats.org/drawingml/2006/main" noGrp="1"/>
          </p:cNvSpPr>
          <p:nvPr/>
        </p:nvSpPr>
        <p:spPr>
          <a:xfrm xmlns:a="http://schemas.openxmlformats.org/drawingml/2006/main">
            <a:off x="9601200"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3" name="Rectangle 102">
            <a:extLst xmlns:a="http://schemas.openxmlformats.org/drawingml/2006/main">
              <a:ext uri="{FF2B5EF4-FFF2-40B4-BE49-F238E27FC236}">
                <a16:creationId xmlns:a16="http://schemas.microsoft.com/office/drawing/2014/main" id="{A8FFCB53-949B-4FCF-89F5-8ADFEF2CB8A6}"/>
              </a:ext>
            </a:extLst>
          </p:cNvPr>
          <p:cNvSpPr>
            <a:spLocks xmlns:a="http://schemas.openxmlformats.org/drawingml/2006/main" noGrp="1"/>
          </p:cNvSpPr>
          <p:nvPr/>
        </p:nvSpPr>
        <p:spPr>
          <a:xfrm xmlns:a="http://schemas.openxmlformats.org/drawingml/2006/main">
            <a:off x="10153650"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4" name="Rectangle 103">
            <a:extLst xmlns:a="http://schemas.openxmlformats.org/drawingml/2006/main">
              <a:ext uri="{FF2B5EF4-FFF2-40B4-BE49-F238E27FC236}">
                <a16:creationId xmlns:a16="http://schemas.microsoft.com/office/drawing/2014/main" id="{1932A3E1-1F05-444D-83E1-3B864D626E6B}"/>
              </a:ext>
            </a:extLst>
          </p:cNvPr>
          <p:cNvSpPr>
            <a:spLocks xmlns:a="http://schemas.openxmlformats.org/drawingml/2006/main" noGrp="1"/>
          </p:cNvSpPr>
          <p:nvPr/>
        </p:nvSpPr>
        <p:spPr>
          <a:xfrm xmlns:a="http://schemas.openxmlformats.org/drawingml/2006/main">
            <a:off x="10153650"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5" name="Rectangle 104">
            <a:extLst xmlns:a="http://schemas.openxmlformats.org/drawingml/2006/main">
              <a:ext uri="{FF2B5EF4-FFF2-40B4-BE49-F238E27FC236}">
                <a16:creationId xmlns:a16="http://schemas.microsoft.com/office/drawing/2014/main" id="{37E3B6E8-2F1A-4AA7-A954-B93974EA3B25}"/>
              </a:ext>
            </a:extLst>
          </p:cNvPr>
          <p:cNvSpPr>
            <a:spLocks xmlns:a="http://schemas.openxmlformats.org/drawingml/2006/main" noGrp="1"/>
          </p:cNvSpPr>
          <p:nvPr/>
        </p:nvSpPr>
        <p:spPr>
          <a:xfrm xmlns:a="http://schemas.openxmlformats.org/drawingml/2006/main">
            <a:off x="10706100" y="315277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6" name="Rectangle 105">
            <a:extLst xmlns:a="http://schemas.openxmlformats.org/drawingml/2006/main">
              <a:ext uri="{FF2B5EF4-FFF2-40B4-BE49-F238E27FC236}">
                <a16:creationId xmlns:a16="http://schemas.microsoft.com/office/drawing/2014/main" id="{7CD87655-5A92-4B79-B8F7-43FF13D923F9}"/>
              </a:ext>
            </a:extLst>
          </p:cNvPr>
          <p:cNvSpPr>
            <a:spLocks xmlns:a="http://schemas.openxmlformats.org/drawingml/2006/main" noGrp="1"/>
          </p:cNvSpPr>
          <p:nvPr/>
        </p:nvSpPr>
        <p:spPr>
          <a:xfrm xmlns:a="http://schemas.openxmlformats.org/drawingml/2006/main">
            <a:off x="10706100" y="320040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7" name="Rectangle 106">
            <a:extLst xmlns:a="http://schemas.openxmlformats.org/drawingml/2006/main">
              <a:ext uri="{FF2B5EF4-FFF2-40B4-BE49-F238E27FC236}">
                <a16:creationId xmlns:a16="http://schemas.microsoft.com/office/drawing/2014/main" id="{11334DDA-938C-4DF3-ADC1-F704BB5A93C8}"/>
              </a:ext>
            </a:extLst>
          </p:cNvPr>
          <p:cNvSpPr>
            <a:spLocks xmlns:a="http://schemas.openxmlformats.org/drawingml/2006/main" noGrp="1"/>
          </p:cNvSpPr>
          <p:nvPr/>
        </p:nvSpPr>
        <p:spPr>
          <a:xfrm xmlns:a="http://schemas.openxmlformats.org/drawingml/2006/main">
            <a:off x="9048750"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8" name="Rectangle 107">
            <a:extLst xmlns:a="http://schemas.openxmlformats.org/drawingml/2006/main">
              <a:ext uri="{FF2B5EF4-FFF2-40B4-BE49-F238E27FC236}">
                <a16:creationId xmlns:a16="http://schemas.microsoft.com/office/drawing/2014/main" id="{FDA87FC4-09BE-4C2F-9C8F-5D31E69F2558}"/>
              </a:ext>
            </a:extLst>
          </p:cNvPr>
          <p:cNvSpPr>
            <a:spLocks xmlns:a="http://schemas.openxmlformats.org/drawingml/2006/main" noGrp="1"/>
          </p:cNvSpPr>
          <p:nvPr/>
        </p:nvSpPr>
        <p:spPr>
          <a:xfrm xmlns:a="http://schemas.openxmlformats.org/drawingml/2006/main">
            <a:off x="9048750"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9" name="Rectangle 108">
            <a:extLst xmlns:a="http://schemas.openxmlformats.org/drawingml/2006/main">
              <a:ext uri="{FF2B5EF4-FFF2-40B4-BE49-F238E27FC236}">
                <a16:creationId xmlns:a16="http://schemas.microsoft.com/office/drawing/2014/main" id="{51CAA50E-34F0-472F-AC42-765F2392CCE0}"/>
              </a:ext>
            </a:extLst>
          </p:cNvPr>
          <p:cNvSpPr>
            <a:spLocks xmlns:a="http://schemas.openxmlformats.org/drawingml/2006/main" noGrp="1"/>
          </p:cNvSpPr>
          <p:nvPr/>
        </p:nvSpPr>
        <p:spPr>
          <a:xfrm xmlns:a="http://schemas.openxmlformats.org/drawingml/2006/main">
            <a:off x="9601200"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10" name="Rectangle 109">
            <a:extLst xmlns:a="http://schemas.openxmlformats.org/drawingml/2006/main">
              <a:ext uri="{FF2B5EF4-FFF2-40B4-BE49-F238E27FC236}">
                <a16:creationId xmlns:a16="http://schemas.microsoft.com/office/drawing/2014/main" id="{22352077-6727-4102-A6C5-E7F1C250BBCE}"/>
              </a:ext>
            </a:extLst>
          </p:cNvPr>
          <p:cNvSpPr>
            <a:spLocks xmlns:a="http://schemas.openxmlformats.org/drawingml/2006/main" noGrp="1"/>
          </p:cNvSpPr>
          <p:nvPr/>
        </p:nvSpPr>
        <p:spPr>
          <a:xfrm xmlns:a="http://schemas.openxmlformats.org/drawingml/2006/main">
            <a:off x="9601200"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11" name="Rectangle 110">
            <a:extLst xmlns:a="http://schemas.openxmlformats.org/drawingml/2006/main">
              <a:ext uri="{FF2B5EF4-FFF2-40B4-BE49-F238E27FC236}">
                <a16:creationId xmlns:a16="http://schemas.microsoft.com/office/drawing/2014/main" id="{2D1FBE74-1E99-4ADB-8965-469A914D28EB}"/>
              </a:ext>
            </a:extLst>
          </p:cNvPr>
          <p:cNvSpPr>
            <a:spLocks xmlns:a="http://schemas.openxmlformats.org/drawingml/2006/main" noGrp="1"/>
          </p:cNvSpPr>
          <p:nvPr/>
        </p:nvSpPr>
        <p:spPr>
          <a:xfrm xmlns:a="http://schemas.openxmlformats.org/drawingml/2006/main">
            <a:off x="10153650"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12" name="Rectangle 111">
            <a:extLst xmlns:a="http://schemas.openxmlformats.org/drawingml/2006/main">
              <a:ext uri="{FF2B5EF4-FFF2-40B4-BE49-F238E27FC236}">
                <a16:creationId xmlns:a16="http://schemas.microsoft.com/office/drawing/2014/main" id="{7D21054A-F8AE-4DE1-BA7A-3D587FBC2491}"/>
              </a:ext>
            </a:extLst>
          </p:cNvPr>
          <p:cNvSpPr>
            <a:spLocks xmlns:a="http://schemas.openxmlformats.org/drawingml/2006/main" noGrp="1"/>
          </p:cNvSpPr>
          <p:nvPr/>
        </p:nvSpPr>
        <p:spPr>
          <a:xfrm xmlns:a="http://schemas.openxmlformats.org/drawingml/2006/main">
            <a:off x="10153650"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13" name="Rectangle 112">
            <a:extLst xmlns:a="http://schemas.openxmlformats.org/drawingml/2006/main">
              <a:ext uri="{FF2B5EF4-FFF2-40B4-BE49-F238E27FC236}">
                <a16:creationId xmlns:a16="http://schemas.microsoft.com/office/drawing/2014/main" id="{70DE2F2C-0B60-4984-96AB-4155B34ABC8E}"/>
              </a:ext>
            </a:extLst>
          </p:cNvPr>
          <p:cNvSpPr>
            <a:spLocks xmlns:a="http://schemas.openxmlformats.org/drawingml/2006/main" noGrp="1"/>
          </p:cNvSpPr>
          <p:nvPr/>
        </p:nvSpPr>
        <p:spPr>
          <a:xfrm xmlns:a="http://schemas.openxmlformats.org/drawingml/2006/main">
            <a:off x="10706100" y="3705225"/>
            <a:ext cx="552450" cy="5524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14" name="Rectangle 113">
            <a:extLst xmlns:a="http://schemas.openxmlformats.org/drawingml/2006/main">
              <a:ext uri="{FF2B5EF4-FFF2-40B4-BE49-F238E27FC236}">
                <a16:creationId xmlns:a16="http://schemas.microsoft.com/office/drawing/2014/main" id="{15263F40-A816-423A-B363-0C5335C56FCF}"/>
              </a:ext>
            </a:extLst>
          </p:cNvPr>
          <p:cNvSpPr>
            <a:spLocks xmlns:a="http://schemas.openxmlformats.org/drawingml/2006/main" noGrp="1"/>
          </p:cNvSpPr>
          <p:nvPr/>
        </p:nvSpPr>
        <p:spPr>
          <a:xfrm xmlns:a="http://schemas.openxmlformats.org/drawingml/2006/main">
            <a:off x="10706100" y="3752850"/>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15" name="Rectangle: Rounded Corners 114">
            <a:extLst xmlns:a="http://schemas.openxmlformats.org/drawingml/2006/main">
              <a:ext uri="{FF2B5EF4-FFF2-40B4-BE49-F238E27FC236}">
                <a16:creationId xmlns:a16="http://schemas.microsoft.com/office/drawing/2014/main" id="{212F92CF-66CC-405C-9B16-82DAF3005427}"/>
              </a:ext>
            </a:extLst>
          </p:cNvPr>
          <p:cNvSpPr>
            <a:spLocks xmlns:a="http://schemas.openxmlformats.org/drawingml/2006/main" noGrp="1"/>
          </p:cNvSpPr>
          <p:nvPr/>
        </p:nvSpPr>
        <p:spPr>
          <a:xfrm xmlns:a="http://schemas.openxmlformats.org/drawingml/2006/main">
            <a:off x="1714500" y="4810125"/>
            <a:ext cx="8763000" cy="609600"/>
          </a:xfrm>
          <a:prstGeom xmlns:a="http://schemas.openxmlformats.org/drawingml/2006/main" prst="roundRect">
            <a:avLst>
              <a:gd name="adj" fmla="val 18750"/>
            </a:avLst>
          </a:prstGeom>
          <a:solidFill xmlns:a="http://schemas.openxmlformats.org/drawingml/2006/main">
            <a:srgbClr val="2A1720"/>
          </a:solidFill>
          <a:ln xmlns:a="http://schemas.openxmlformats.org/drawingml/2006/main" w="19050">
            <a:solidFill>
              <a:srgbClr val="FF6577"/>
            </a:solidFill>
            <a:prstDash val="solid"/>
          </a:ln>
        </p:spPr>
      </p:sp>
      <p:sp>
        <p:nvSpPr>
          <p:cNvPr id="116" name="Rectangle 115">
            <a:extLst xmlns:a="http://schemas.openxmlformats.org/drawingml/2006/main">
              <a:ext uri="{FF2B5EF4-FFF2-40B4-BE49-F238E27FC236}">
                <a16:creationId xmlns:a16="http://schemas.microsoft.com/office/drawing/2014/main" id="{FE810C23-DDE7-49C4-9CC0-FE70269717C5}"/>
              </a:ext>
            </a:extLst>
          </p:cNvPr>
          <p:cNvSpPr>
            <a:spLocks xmlns:a="http://schemas.openxmlformats.org/drawingml/2006/main" noGrp="1"/>
          </p:cNvSpPr>
          <p:nvPr/>
        </p:nvSpPr>
        <p:spPr>
          <a:xfrm xmlns:a="http://schemas.openxmlformats.org/drawingml/2006/main">
            <a:off x="1828800" y="4905375"/>
            <a:ext cx="8534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42 became 40     −12 became −16     4 became 8     Small coefficients became 0</a:t>
            </a:r>
          </a:p>
        </p:txBody>
      </p:sp>
      <p:sp>
        <p:nvSpPr>
          <p:cNvPr id="117" name="Rectangle 116">
            <a:extLst xmlns:a="http://schemas.openxmlformats.org/drawingml/2006/main">
              <a:ext uri="{FF2B5EF4-FFF2-40B4-BE49-F238E27FC236}">
                <a16:creationId xmlns:a16="http://schemas.microsoft.com/office/drawing/2014/main" id="{BD6FF366-E8B2-42E9-B8A0-8424D23DE815}"/>
              </a:ext>
            </a:extLst>
          </p:cNvPr>
          <p:cNvSpPr>
            <a:spLocks xmlns:a="http://schemas.openxmlformats.org/drawingml/2006/main" noGrp="1"/>
          </p:cNvSpPr>
          <p:nvPr/>
        </p:nvSpPr>
        <p:spPr>
          <a:xfrm xmlns:a="http://schemas.openxmlformats.org/drawingml/2006/main">
            <a:off x="2095500" y="57150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Dequantization recovers scale. It cannot recover values discarded by rounding.</a:t>
            </a:r>
          </a:p>
        </p:txBody>
      </p:sp>
    </p:spTree>
    <p:extLst>
      <p:ext uri="{BB962C8B-B14F-4D97-AF65-F5344CB8AC3E}">
        <p14:creationId xmlns:p14="http://schemas.microsoft.com/office/powerpoint/2010/main" val="546800389"/>
      </p:ext>
    </p:extLst>
  </p:cSld>
</p:sld>
</file>

<file path=ppt/slides/slide28.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4" name="Oval 33">
            <a:extLst xmlns:a="http://schemas.openxmlformats.org/drawingml/2006/main">
              <a:ext uri="{FF2B5EF4-FFF2-40B4-BE49-F238E27FC236}">
                <a16:creationId xmlns:a16="http://schemas.microsoft.com/office/drawing/2014/main" id="{C851E96B-1123-4A8A-9155-6925348521DB}"/>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7C9E27E8-87EB-4AF1-975E-1E7AAAB76BDE}"/>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30845D83-5E01-4397-9944-942EC37084D0}"/>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Inverse transform and prediction reconstruct Block X pixels</a:t>
            </a:r>
          </a:p>
        </p:txBody>
      </p:sp>
      <p:sp>
        <p:nvSpPr>
          <p:cNvPr id="4" name="Straight Connector 3">
            <a:extLst xmlns:a="http://schemas.openxmlformats.org/drawingml/2006/main">
              <a:ext uri="{FF2B5EF4-FFF2-40B4-BE49-F238E27FC236}">
                <a16:creationId xmlns:a16="http://schemas.microsoft.com/office/drawing/2014/main" id="{6285034A-E106-497A-BD3D-883E4CF54B72}"/>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DA5B3D35-8CAB-4F00-9CD5-14AB60ACF3A5}"/>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decoder performs the same inverse operations and obtains the same reconstructed block</a:t>
            </a:r>
          </a:p>
        </p:txBody>
      </p:sp>
      <p:sp>
        <p:nvSpPr>
          <p:cNvPr id="6" name="Rectangle 5">
            <a:extLst xmlns:a="http://schemas.openxmlformats.org/drawingml/2006/main">
              <a:ext uri="{FF2B5EF4-FFF2-40B4-BE49-F238E27FC236}">
                <a16:creationId xmlns:a16="http://schemas.microsoft.com/office/drawing/2014/main" id="{1DE71690-AA97-4791-AD22-C416235F50F9}"/>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AE4AED5E-5D9F-408F-B276-A6F34A23541B}"/>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28 / 49</a:t>
            </a:r>
          </a:p>
        </p:txBody>
      </p:sp>
      <p:sp>
        <p:nvSpPr>
          <p:cNvPr id="8" name="Rectangle 7">
            <a:extLst xmlns:a="http://schemas.openxmlformats.org/drawingml/2006/main">
              <a:ext uri="{FF2B5EF4-FFF2-40B4-BE49-F238E27FC236}">
                <a16:creationId xmlns:a16="http://schemas.microsoft.com/office/drawing/2014/main" id="{4FB512BA-9F1F-4A4A-A774-461A37DAB858}"/>
              </a:ext>
            </a:extLst>
          </p:cNvPr>
          <p:cNvSpPr>
            <a:spLocks xmlns:a="http://schemas.openxmlformats.org/drawingml/2006/main" noGrp="1"/>
          </p:cNvSpPr>
          <p:nvPr/>
        </p:nvSpPr>
        <p:spPr>
          <a:xfrm xmlns:a="http://schemas.openxmlformats.org/drawingml/2006/main">
            <a:off x="523875" y="1381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DEQUANTIZED COEFFICIENTS</a:t>
            </a:r>
          </a:p>
        </p:txBody>
      </p:sp>
      <p:sp>
        <p:nvSpPr>
          <p:cNvPr id="9" name="Rectangle: Rounded Corners 8">
            <a:extLst xmlns:a="http://schemas.openxmlformats.org/drawingml/2006/main">
              <a:ext uri="{FF2B5EF4-FFF2-40B4-BE49-F238E27FC236}">
                <a16:creationId xmlns:a16="http://schemas.microsoft.com/office/drawing/2014/main" id="{D22BBBF9-EA59-4253-ACAB-516865AD0848}"/>
              </a:ext>
            </a:extLst>
          </p:cNvPr>
          <p:cNvSpPr>
            <a:spLocks xmlns:a="http://schemas.openxmlformats.org/drawingml/2006/main" noGrp="1"/>
          </p:cNvSpPr>
          <p:nvPr/>
        </p:nvSpPr>
        <p:spPr>
          <a:xfrm xmlns:a="http://schemas.openxmlformats.org/drawingml/2006/main">
            <a:off x="523875" y="1762125"/>
            <a:ext cx="2667000" cy="1000125"/>
          </a:xfrm>
          <a:prstGeom xmlns:a="http://schemas.openxmlformats.org/drawingml/2006/main" prst="roundRect">
            <a:avLst>
              <a:gd name="adj" fmla="val 11429"/>
            </a:avLst>
          </a:prstGeom>
          <a:solidFill xmlns:a="http://schemas.openxmlformats.org/drawingml/2006/main">
            <a:srgbClr val="0B2033"/>
          </a:solidFill>
          <a:ln xmlns:a="http://schemas.openxmlformats.org/drawingml/2006/main" w="19050">
            <a:solidFill>
              <a:srgbClr val="FFB84D"/>
            </a:solidFill>
            <a:prstDash val="solid"/>
          </a:ln>
        </p:spPr>
      </p:sp>
      <p:sp>
        <p:nvSpPr>
          <p:cNvPr id="10" name="Rectangle 9">
            <a:extLst xmlns:a="http://schemas.openxmlformats.org/drawingml/2006/main">
              <a:ext uri="{FF2B5EF4-FFF2-40B4-BE49-F238E27FC236}">
                <a16:creationId xmlns:a16="http://schemas.microsoft.com/office/drawing/2014/main" id="{D5F82D9F-6AA9-49B0-A4AF-389B136CF915}"/>
              </a:ext>
            </a:extLst>
          </p:cNvPr>
          <p:cNvSpPr>
            <a:spLocks xmlns:a="http://schemas.openxmlformats.org/drawingml/2006/main" noGrp="1"/>
          </p:cNvSpPr>
          <p:nvPr/>
        </p:nvSpPr>
        <p:spPr>
          <a:xfrm xmlns:a="http://schemas.openxmlformats.org/drawingml/2006/main">
            <a:off x="638175" y="1857375"/>
            <a:ext cx="2438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40  −16   8   0</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−8    8   0   0</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remaining values = 0</a:t>
            </a:r>
          </a:p>
        </p:txBody>
      </p:sp>
      <p:sp>
        <p:nvSpPr>
          <p:cNvPr id="11" name="Rectangle 10">
            <a:extLst xmlns:a="http://schemas.openxmlformats.org/drawingml/2006/main">
              <a:ext uri="{FF2B5EF4-FFF2-40B4-BE49-F238E27FC236}">
                <a16:creationId xmlns:a16="http://schemas.microsoft.com/office/drawing/2014/main" id="{C06CAD99-EDDE-4CEC-89AE-ADBD634D267B}"/>
              </a:ext>
            </a:extLst>
          </p:cNvPr>
          <p:cNvSpPr>
            <a:spLocks xmlns:a="http://schemas.openxmlformats.org/drawingml/2006/main" noGrp="1"/>
          </p:cNvSpPr>
          <p:nvPr/>
        </p:nvSpPr>
        <p:spPr>
          <a:xfrm xmlns:a="http://schemas.openxmlformats.org/drawingml/2006/main">
            <a:off x="3952875"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Rectangle 11">
            <a:extLst xmlns:a="http://schemas.openxmlformats.org/drawingml/2006/main">
              <a:ext uri="{FF2B5EF4-FFF2-40B4-BE49-F238E27FC236}">
                <a16:creationId xmlns:a16="http://schemas.microsoft.com/office/drawing/2014/main" id="{C57F44D0-2ADB-439C-BA78-F6AEFA480205}"/>
              </a:ext>
            </a:extLst>
          </p:cNvPr>
          <p:cNvSpPr>
            <a:spLocks xmlns:a="http://schemas.openxmlformats.org/drawingml/2006/main" noGrp="1"/>
          </p:cNvSpPr>
          <p:nvPr/>
        </p:nvSpPr>
        <p:spPr>
          <a:xfrm xmlns:a="http://schemas.openxmlformats.org/drawingml/2006/main">
            <a:off x="3286125"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8" name="Straight Arrow Connector 45"/>
          <p:cNvCxnSpPr>
            <a:stCxn xmlns:a="http://schemas.openxmlformats.org/drawingml/2006/main" id="11" idx="1"/>
            <a:endCxn xmlns:a="http://schemas.openxmlformats.org/drawingml/2006/main" id="12" idx="3"/>
          </p:cNvCxnSpPr>
          <p:nvPr/>
        </p:nvCxnSpPr>
        <p:spPr>
          <a:xfrm xmlns:a="http://schemas.openxmlformats.org/drawingml/2006/main" flipH="1">
            <a:off x="3305175" y="2247900"/>
            <a:ext cx="6477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4" name="Rectangle: Rounded Corners 13">
            <a:extLst xmlns:a="http://schemas.openxmlformats.org/drawingml/2006/main">
              <a:ext uri="{FF2B5EF4-FFF2-40B4-BE49-F238E27FC236}">
                <a16:creationId xmlns:a16="http://schemas.microsoft.com/office/drawing/2014/main" id="{928A400A-9E46-46D5-B9D2-9AD5325D8D4B}"/>
              </a:ext>
            </a:extLst>
          </p:cNvPr>
          <p:cNvSpPr>
            <a:spLocks xmlns:a="http://schemas.openxmlformats.org/drawingml/2006/main" noGrp="1"/>
          </p:cNvSpPr>
          <p:nvPr/>
        </p:nvSpPr>
        <p:spPr>
          <a:xfrm xmlns:a="http://schemas.openxmlformats.org/drawingml/2006/main">
            <a:off x="4048125" y="1857375"/>
            <a:ext cx="2333625" cy="723900"/>
          </a:xfrm>
          <a:prstGeom xmlns:a="http://schemas.openxmlformats.org/drawingml/2006/main" prst="roundRect">
            <a:avLst>
              <a:gd name="adj" fmla="val 15789"/>
            </a:avLst>
          </a:prstGeom>
          <a:solidFill xmlns:a="http://schemas.openxmlformats.org/drawingml/2006/main">
            <a:srgbClr val="0B2033"/>
          </a:solidFill>
          <a:ln xmlns:a="http://schemas.openxmlformats.org/drawingml/2006/main" w="19050">
            <a:solidFill>
              <a:srgbClr val="2E9BFF"/>
            </a:solidFill>
            <a:prstDash val="solid"/>
          </a:ln>
        </p:spPr>
      </p:sp>
      <p:sp>
        <p:nvSpPr>
          <p:cNvPr id="15" name="Rectangle 14">
            <a:extLst xmlns:a="http://schemas.openxmlformats.org/drawingml/2006/main">
              <a:ext uri="{FF2B5EF4-FFF2-40B4-BE49-F238E27FC236}">
                <a16:creationId xmlns:a16="http://schemas.microsoft.com/office/drawing/2014/main" id="{E65F8FA8-F028-4D54-9423-DB97C8D40C30}"/>
              </a:ext>
            </a:extLst>
          </p:cNvPr>
          <p:cNvSpPr>
            <a:spLocks xmlns:a="http://schemas.openxmlformats.org/drawingml/2006/main" noGrp="1"/>
          </p:cNvSpPr>
          <p:nvPr/>
        </p:nvSpPr>
        <p:spPr>
          <a:xfrm xmlns:a="http://schemas.openxmlformats.org/drawingml/2006/main">
            <a:off x="4162425" y="1952625"/>
            <a:ext cx="21050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INVERSE TRANSFORM</a:t>
            </a:r>
          </a:p>
        </p:txBody>
      </p:sp>
      <p:sp>
        <p:nvSpPr>
          <p:cNvPr id="16" name="Rectangle 15">
            <a:extLst xmlns:a="http://schemas.openxmlformats.org/drawingml/2006/main">
              <a:ext uri="{FF2B5EF4-FFF2-40B4-BE49-F238E27FC236}">
                <a16:creationId xmlns:a16="http://schemas.microsoft.com/office/drawing/2014/main" id="{CE1EB900-EA99-47DF-89E1-9DE7FF639766}"/>
              </a:ext>
            </a:extLst>
          </p:cNvPr>
          <p:cNvSpPr>
            <a:spLocks xmlns:a="http://schemas.openxmlformats.org/drawingml/2006/main" noGrp="1"/>
          </p:cNvSpPr>
          <p:nvPr/>
        </p:nvSpPr>
        <p:spPr>
          <a:xfrm xmlns:a="http://schemas.openxmlformats.org/drawingml/2006/main">
            <a:off x="7143750"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457349F1-9A9E-485A-BDE5-D00192700F6F}"/>
              </a:ext>
            </a:extLst>
          </p:cNvPr>
          <p:cNvSpPr>
            <a:spLocks xmlns:a="http://schemas.openxmlformats.org/drawingml/2006/main" noGrp="1"/>
          </p:cNvSpPr>
          <p:nvPr/>
        </p:nvSpPr>
        <p:spPr>
          <a:xfrm xmlns:a="http://schemas.openxmlformats.org/drawingml/2006/main">
            <a:off x="6477000" y="2238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73" name="Straight Arrow Connector 50"/>
          <p:cNvCxnSpPr>
            <a:stCxn xmlns:a="http://schemas.openxmlformats.org/drawingml/2006/main" id="16" idx="1"/>
            <a:endCxn xmlns:a="http://schemas.openxmlformats.org/drawingml/2006/main" id="17" idx="3"/>
          </p:cNvCxnSpPr>
          <p:nvPr/>
        </p:nvCxnSpPr>
        <p:spPr>
          <a:xfrm xmlns:a="http://schemas.openxmlformats.org/drawingml/2006/main" flipH="1">
            <a:off x="6496050" y="2247900"/>
            <a:ext cx="6477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pic>
        <p:nvPicPr>
          <p:cNvPr id="74" name="Picture 51"/>
          <p:cNvPicPr>
            <a:picLocks xmlns:a="http://schemas.openxmlformats.org/drawingml/2006/main" noChangeAspect="1"/>
          </p:cNvPicPr>
          <p:nvPr/>
        </p:nvPicPr>
        <p:blipFill>
          <a:blip xmlns:r="http://schemas.openxmlformats.org/officeDocument/2006/relationships" xmlns:a="http://schemas.openxmlformats.org/drawingml/2006/main" r:embed="R457a10bf3fa84ab4"/>
          <a:srcRect xmlns:a="http://schemas.openxmlformats.org/drawingml/2006/main" l="0" t="22500" r="0" b="22500"/>
          <a:stretch xmlns:a="http://schemas.openxmlformats.org/drawingml/2006/main">
            <a:fillRect l="0" t="0" r="0" b="0"/>
          </a:stretch>
        </p:blipFill>
        <p:spPr>
          <a:xfrm xmlns:a="http://schemas.openxmlformats.org/drawingml/2006/main">
            <a:off x="7239000" y="1476375"/>
            <a:ext cx="2857500" cy="1571625"/>
          </a:xfrm>
          <a:prstGeom xmlns:a="http://schemas.openxmlformats.org/drawingml/2006/main" prst="roundRect">
            <a:avLst>
              <a:gd name="adj" fmla="val 7273"/>
            </a:avLst>
          </a:prstGeom>
        </p:spPr>
      </p:pic>
      <p:sp>
        <p:nvSpPr>
          <p:cNvPr id="20" name="Rectangle 19">
            <a:extLst xmlns:a="http://schemas.openxmlformats.org/drawingml/2006/main">
              <a:ext uri="{FF2B5EF4-FFF2-40B4-BE49-F238E27FC236}">
                <a16:creationId xmlns:a16="http://schemas.microsoft.com/office/drawing/2014/main" id="{794EE615-2DDE-44D8-9DB2-A349588563CA}"/>
              </a:ext>
            </a:extLst>
          </p:cNvPr>
          <p:cNvSpPr>
            <a:spLocks xmlns:a="http://schemas.openxmlformats.org/drawingml/2006/main" noGrp="1"/>
          </p:cNvSpPr>
          <p:nvPr/>
        </p:nvSpPr>
        <p:spPr>
          <a:xfrm xmlns:a="http://schemas.openxmlformats.org/drawingml/2006/main">
            <a:off x="7239000" y="1476375"/>
            <a:ext cx="2857500" cy="1571625"/>
          </a:xfrm>
          <a:prstGeom xmlns:a="http://schemas.openxmlformats.org/drawingml/2006/main" prst="rect">
            <a:avLst/>
          </a:prstGeom>
          <a:noFill xmlns:a="http://schemas.openxmlformats.org/drawingml/2006/main"/>
          <a:ln xmlns:a="http://schemas.openxmlformats.org/drawingml/2006/main" w="28575">
            <a:solidFill>
              <a:srgbClr val="2E9BFF"/>
            </a:solidFill>
            <a:prstDash val="solid"/>
          </a:ln>
        </p:spPr>
      </p:sp>
      <p:sp>
        <p:nvSpPr>
          <p:cNvPr id="21" name="Rectangle 20">
            <a:extLst xmlns:a="http://schemas.openxmlformats.org/drawingml/2006/main">
              <a:ext uri="{FF2B5EF4-FFF2-40B4-BE49-F238E27FC236}">
                <a16:creationId xmlns:a16="http://schemas.microsoft.com/office/drawing/2014/main" id="{0A336A42-0171-4AA6-A2B3-DF4265C2A44B}"/>
              </a:ext>
            </a:extLst>
          </p:cNvPr>
          <p:cNvSpPr>
            <a:spLocks xmlns:a="http://schemas.openxmlformats.org/drawingml/2006/main" noGrp="1"/>
          </p:cNvSpPr>
          <p:nvPr/>
        </p:nvSpPr>
        <p:spPr>
          <a:xfrm xmlns:a="http://schemas.openxmlformats.org/drawingml/2006/main">
            <a:off x="7096125" y="3143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2E9BFF"/>
                </a:solidFill>
                <a:latin typeface="Arial"/>
                <a:ea typeface="Arial"/>
                <a:cs typeface="Arial"/>
              </a:defRPr>
            </a:pPr>
            <a:r>
              <a:rPr sz="1200" b="1">
                <a:solidFill>
                  <a:srgbClr val="2E9BFF"/>
                </a:solidFill>
                <a:latin typeface="Arial"/>
                <a:ea typeface="Arial"/>
                <a:cs typeface="Arial"/>
              </a:rPr>
              <a:t>SIGNED RECONSTRUCTED RESIDUAL*</a:t>
            </a:r>
          </a:p>
        </p:txBody>
      </p:sp>
      <p:pic>
        <p:nvPicPr>
          <p:cNvPr id="77" name="Picture 54"/>
          <p:cNvPicPr>
            <a:picLocks xmlns:a="http://schemas.openxmlformats.org/drawingml/2006/main" noChangeAspect="1"/>
          </p:cNvPicPr>
          <p:nvPr/>
        </p:nvPicPr>
        <p:blipFill>
          <a:blip xmlns:r="http://schemas.openxmlformats.org/officeDocument/2006/relationships" xmlns:a="http://schemas.openxmlformats.org/drawingml/2006/main" r:embed="R6e0528eb53024855"/>
          <a:srcRect xmlns:a="http://schemas.openxmlformats.org/drawingml/2006/main" l="0" t="18333" r="0" b="18333"/>
          <a:stretch xmlns:a="http://schemas.openxmlformats.org/drawingml/2006/main">
            <a:fillRect l="0" t="0" r="0" b="0"/>
          </a:stretch>
        </p:blipFill>
        <p:spPr>
          <a:xfrm xmlns:a="http://schemas.openxmlformats.org/drawingml/2006/main">
            <a:off x="952500" y="3857625"/>
            <a:ext cx="2857500" cy="1809750"/>
          </a:xfrm>
          <a:prstGeom xmlns:a="http://schemas.openxmlformats.org/drawingml/2006/main" prst="roundRect">
            <a:avLst>
              <a:gd name="adj" fmla="val 6316"/>
            </a:avLst>
          </a:prstGeom>
        </p:spPr>
      </p:pic>
      <p:pic>
        <p:nvPicPr>
          <p:cNvPr id="78" name="Picture 55"/>
          <p:cNvPicPr>
            <a:picLocks xmlns:a="http://schemas.openxmlformats.org/drawingml/2006/main" noChangeAspect="1"/>
          </p:cNvPicPr>
          <p:nvPr/>
        </p:nvPicPr>
        <p:blipFill>
          <a:blip xmlns:r="http://schemas.openxmlformats.org/officeDocument/2006/relationships" xmlns:a="http://schemas.openxmlformats.org/drawingml/2006/main" r:embed="R457a10bf3fa84ab4"/>
          <a:srcRect xmlns:a="http://schemas.openxmlformats.org/drawingml/2006/main" l="0" t="18333" r="0" b="18333"/>
          <a:stretch xmlns:a="http://schemas.openxmlformats.org/drawingml/2006/main">
            <a:fillRect l="0" t="0" r="0" b="0"/>
          </a:stretch>
        </p:blipFill>
        <p:spPr>
          <a:xfrm xmlns:a="http://schemas.openxmlformats.org/drawingml/2006/main">
            <a:off x="4667250" y="3857625"/>
            <a:ext cx="2857500" cy="1809750"/>
          </a:xfrm>
          <a:prstGeom xmlns:a="http://schemas.openxmlformats.org/drawingml/2006/main" prst="roundRect">
            <a:avLst>
              <a:gd name="adj" fmla="val 6316"/>
            </a:avLst>
          </a:prstGeom>
        </p:spPr>
      </p:pic>
      <p:pic>
        <p:nvPicPr>
          <p:cNvPr id="79" name="Picture 56"/>
          <p:cNvPicPr>
            <a:picLocks xmlns:a="http://schemas.openxmlformats.org/drawingml/2006/main" noChangeAspect="1"/>
          </p:cNvPicPr>
          <p:nvPr/>
        </p:nvPicPr>
        <p:blipFill>
          <a:blip xmlns:r="http://schemas.openxmlformats.org/officeDocument/2006/relationships" xmlns:a="http://schemas.openxmlformats.org/drawingml/2006/main" r:embed="Rd5e30eb3894d4c25"/>
          <a:srcRect xmlns:a="http://schemas.openxmlformats.org/drawingml/2006/main" l="0" t="18333" r="0" b="18333"/>
          <a:stretch xmlns:a="http://schemas.openxmlformats.org/drawingml/2006/main">
            <a:fillRect l="0" t="0" r="0" b="0"/>
          </a:stretch>
        </p:blipFill>
        <p:spPr>
          <a:xfrm xmlns:a="http://schemas.openxmlformats.org/drawingml/2006/main">
            <a:off x="8382000" y="3857625"/>
            <a:ext cx="2857500" cy="1809750"/>
          </a:xfrm>
          <a:prstGeom xmlns:a="http://schemas.openxmlformats.org/drawingml/2006/main" prst="roundRect">
            <a:avLst>
              <a:gd name="adj" fmla="val 6316"/>
            </a:avLst>
          </a:prstGeom>
        </p:spPr>
      </p:pic>
      <p:sp>
        <p:nvSpPr>
          <p:cNvPr id="25" name="Rectangle 24">
            <a:extLst xmlns:a="http://schemas.openxmlformats.org/drawingml/2006/main">
              <a:ext uri="{FF2B5EF4-FFF2-40B4-BE49-F238E27FC236}">
                <a16:creationId xmlns:a16="http://schemas.microsoft.com/office/drawing/2014/main" id="{C1C9B690-DBB4-4895-A1E6-68C744CEBC36}"/>
              </a:ext>
            </a:extLst>
          </p:cNvPr>
          <p:cNvSpPr>
            <a:spLocks xmlns:a="http://schemas.openxmlformats.org/drawingml/2006/main" noGrp="1"/>
          </p:cNvSpPr>
          <p:nvPr/>
        </p:nvSpPr>
        <p:spPr>
          <a:xfrm xmlns:a="http://schemas.openxmlformats.org/drawingml/2006/main">
            <a:off x="952500" y="3857625"/>
            <a:ext cx="2857500" cy="1809750"/>
          </a:xfrm>
          <a:prstGeom xmlns:a="http://schemas.openxmlformats.org/drawingml/2006/main" prst="rect">
            <a:avLst/>
          </a:prstGeom>
          <a:noFill xmlns:a="http://schemas.openxmlformats.org/drawingml/2006/main"/>
          <a:ln xmlns:a="http://schemas.openxmlformats.org/drawingml/2006/main" w="28575">
            <a:solidFill>
              <a:srgbClr val="47E6A4"/>
            </a:solidFill>
            <a:prstDash val="solid"/>
          </a:ln>
        </p:spPr>
      </p:sp>
      <p:sp>
        <p:nvSpPr>
          <p:cNvPr id="26" name="Rectangle 25">
            <a:extLst xmlns:a="http://schemas.openxmlformats.org/drawingml/2006/main">
              <a:ext uri="{FF2B5EF4-FFF2-40B4-BE49-F238E27FC236}">
                <a16:creationId xmlns:a16="http://schemas.microsoft.com/office/drawing/2014/main" id="{793E10F1-9C16-46A3-93F9-66E3A4B0BE8F}"/>
              </a:ext>
            </a:extLst>
          </p:cNvPr>
          <p:cNvSpPr>
            <a:spLocks xmlns:a="http://schemas.openxmlformats.org/drawingml/2006/main" noGrp="1"/>
          </p:cNvSpPr>
          <p:nvPr/>
        </p:nvSpPr>
        <p:spPr>
          <a:xfrm xmlns:a="http://schemas.openxmlformats.org/drawingml/2006/main">
            <a:off x="4667250" y="3857625"/>
            <a:ext cx="2857500" cy="1809750"/>
          </a:xfrm>
          <a:prstGeom xmlns:a="http://schemas.openxmlformats.org/drawingml/2006/main" prst="rect">
            <a:avLst/>
          </a:prstGeom>
          <a:noFill xmlns:a="http://schemas.openxmlformats.org/drawingml/2006/main"/>
          <a:ln xmlns:a="http://schemas.openxmlformats.org/drawingml/2006/main" w="28575">
            <a:solidFill>
              <a:srgbClr val="2E9BFF"/>
            </a:solidFill>
            <a:prstDash val="solid"/>
          </a:ln>
        </p:spPr>
      </p:sp>
      <p:sp>
        <p:nvSpPr>
          <p:cNvPr id="27" name="Rectangle 26">
            <a:extLst xmlns:a="http://schemas.openxmlformats.org/drawingml/2006/main">
              <a:ext uri="{FF2B5EF4-FFF2-40B4-BE49-F238E27FC236}">
                <a16:creationId xmlns:a16="http://schemas.microsoft.com/office/drawing/2014/main" id="{A1B02E8E-668F-4747-837A-7762DB8802A4}"/>
              </a:ext>
            </a:extLst>
          </p:cNvPr>
          <p:cNvSpPr>
            <a:spLocks xmlns:a="http://schemas.openxmlformats.org/drawingml/2006/main" noGrp="1"/>
          </p:cNvSpPr>
          <p:nvPr/>
        </p:nvSpPr>
        <p:spPr>
          <a:xfrm xmlns:a="http://schemas.openxmlformats.org/drawingml/2006/main">
            <a:off x="8382000" y="3857625"/>
            <a:ext cx="2857500" cy="1809750"/>
          </a:xfrm>
          <a:prstGeom xmlns:a="http://schemas.openxmlformats.org/drawingml/2006/main" prst="rect">
            <a:avLst/>
          </a:prstGeom>
          <a:noFill xmlns:a="http://schemas.openxmlformats.org/drawingml/2006/main"/>
          <a:ln xmlns:a="http://schemas.openxmlformats.org/drawingml/2006/main" w="28575">
            <a:solidFill>
              <a:srgbClr val="47E6A4"/>
            </a:solidFill>
            <a:prstDash val="solid"/>
          </a:ln>
        </p:spPr>
      </p:sp>
      <p:sp>
        <p:nvSpPr>
          <p:cNvPr id="28" name="Rectangle 27">
            <a:extLst xmlns:a="http://schemas.openxmlformats.org/drawingml/2006/main">
              <a:ext uri="{FF2B5EF4-FFF2-40B4-BE49-F238E27FC236}">
                <a16:creationId xmlns:a16="http://schemas.microsoft.com/office/drawing/2014/main" id="{8FCA0AFC-CDE4-43BE-B00B-DB9E042BC047}"/>
              </a:ext>
            </a:extLst>
          </p:cNvPr>
          <p:cNvSpPr>
            <a:spLocks xmlns:a="http://schemas.openxmlformats.org/drawingml/2006/main" noGrp="1"/>
          </p:cNvSpPr>
          <p:nvPr/>
        </p:nvSpPr>
        <p:spPr>
          <a:xfrm xmlns:a="http://schemas.openxmlformats.org/drawingml/2006/main">
            <a:off x="4000500" y="45243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596"/>
          </a:bodyPr>
          <a:lstStyle xmlns:a="http://schemas.openxmlformats.org/drawingml/2006/main"/>
          <a:p xmlns:a="http://schemas.openxmlformats.org/drawingml/2006/main">
            <a:pPr>
              <a:buNone/>
              <a:defRPr sz="2850" b="1">
                <a:solidFill>
                  <a:srgbClr val="F4F8FC"/>
                </a:solidFill>
                <a:latin typeface="Arial"/>
                <a:ea typeface="Arial"/>
                <a:cs typeface="Arial"/>
              </a:defRPr>
            </a:pPr>
            <a:r>
              <a:rPr sz="2850" b="1">
                <a:solidFill>
                  <a:srgbClr val="F4F8FC"/>
                </a:solidFill>
                <a:latin typeface="Arial"/>
                <a:ea typeface="Arial"/>
                <a:cs typeface="Arial"/>
              </a:rPr>
              <a:t>+</a:t>
            </a:r>
          </a:p>
        </p:txBody>
      </p:sp>
      <p:sp>
        <p:nvSpPr>
          <p:cNvPr id="29" name="Rectangle 28">
            <a:extLst xmlns:a="http://schemas.openxmlformats.org/drawingml/2006/main">
              <a:ext uri="{FF2B5EF4-FFF2-40B4-BE49-F238E27FC236}">
                <a16:creationId xmlns:a16="http://schemas.microsoft.com/office/drawing/2014/main" id="{5A3DD20D-4149-476A-B7A3-5A8567297849}"/>
              </a:ext>
            </a:extLst>
          </p:cNvPr>
          <p:cNvSpPr>
            <a:spLocks xmlns:a="http://schemas.openxmlformats.org/drawingml/2006/main" noGrp="1"/>
          </p:cNvSpPr>
          <p:nvPr/>
        </p:nvSpPr>
        <p:spPr>
          <a:xfrm xmlns:a="http://schemas.openxmlformats.org/drawingml/2006/main">
            <a:off x="7715250" y="45243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596"/>
          </a:bodyPr>
          <a:lstStyle xmlns:a="http://schemas.openxmlformats.org/drawingml/2006/main"/>
          <a:p xmlns:a="http://schemas.openxmlformats.org/drawingml/2006/main">
            <a:pPr>
              <a:buNone/>
              <a:defRPr sz="2850" b="1">
                <a:solidFill>
                  <a:srgbClr val="F4F8FC"/>
                </a:solidFill>
                <a:latin typeface="Arial"/>
                <a:ea typeface="Arial"/>
                <a:cs typeface="Arial"/>
              </a:defRPr>
            </a:pPr>
            <a:r>
              <a:rPr sz="2850" b="1">
                <a:solidFill>
                  <a:srgbClr val="F4F8FC"/>
                </a:solidFill>
                <a:latin typeface="Arial"/>
                <a:ea typeface="Arial"/>
                <a:cs typeface="Arial"/>
              </a:rPr>
              <a:t>=</a:t>
            </a:r>
          </a:p>
        </p:txBody>
      </p:sp>
      <p:sp>
        <p:nvSpPr>
          <p:cNvPr id="30" name="Rectangle 29">
            <a:extLst xmlns:a="http://schemas.openxmlformats.org/drawingml/2006/main">
              <a:ext uri="{FF2B5EF4-FFF2-40B4-BE49-F238E27FC236}">
                <a16:creationId xmlns:a16="http://schemas.microsoft.com/office/drawing/2014/main" id="{EFE828EE-2C27-4D3A-A588-A1B07D0D21E4}"/>
              </a:ext>
            </a:extLst>
          </p:cNvPr>
          <p:cNvSpPr>
            <a:spLocks xmlns:a="http://schemas.openxmlformats.org/drawingml/2006/main" noGrp="1"/>
          </p:cNvSpPr>
          <p:nvPr/>
        </p:nvSpPr>
        <p:spPr>
          <a:xfrm xmlns:a="http://schemas.openxmlformats.org/drawingml/2006/main">
            <a:off x="9525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PREDICTION</a:t>
            </a:r>
          </a:p>
        </p:txBody>
      </p:sp>
      <p:sp>
        <p:nvSpPr>
          <p:cNvPr id="31" name="Rectangle 30">
            <a:extLst xmlns:a="http://schemas.openxmlformats.org/drawingml/2006/main">
              <a:ext uri="{FF2B5EF4-FFF2-40B4-BE49-F238E27FC236}">
                <a16:creationId xmlns:a16="http://schemas.microsoft.com/office/drawing/2014/main" id="{B7896956-6B91-4447-AF49-75359105F1B8}"/>
              </a:ext>
            </a:extLst>
          </p:cNvPr>
          <p:cNvSpPr>
            <a:spLocks xmlns:a="http://schemas.openxmlformats.org/drawingml/2006/main" noGrp="1"/>
          </p:cNvSpPr>
          <p:nvPr/>
        </p:nvSpPr>
        <p:spPr>
          <a:xfrm xmlns:a="http://schemas.openxmlformats.org/drawingml/2006/main">
            <a:off x="466725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2E9BFF"/>
                </a:solidFill>
                <a:latin typeface="Arial"/>
                <a:ea typeface="Arial"/>
                <a:cs typeface="Arial"/>
              </a:defRPr>
            </a:pPr>
            <a:r>
              <a:rPr sz="1200" b="1">
                <a:solidFill>
                  <a:srgbClr val="2E9BFF"/>
                </a:solidFill>
                <a:latin typeface="Arial"/>
                <a:ea typeface="Arial"/>
                <a:cs typeface="Arial"/>
              </a:rPr>
              <a:t>SIGNED RESIDUAL*</a:t>
            </a:r>
          </a:p>
        </p:txBody>
      </p:sp>
      <p:sp>
        <p:nvSpPr>
          <p:cNvPr id="32" name="Rectangle 31">
            <a:extLst xmlns:a="http://schemas.openxmlformats.org/drawingml/2006/main">
              <a:ext uri="{FF2B5EF4-FFF2-40B4-BE49-F238E27FC236}">
                <a16:creationId xmlns:a16="http://schemas.microsoft.com/office/drawing/2014/main" id="{DA0B83F3-DF26-432C-9B1E-849669F48326}"/>
              </a:ext>
            </a:extLst>
          </p:cNvPr>
          <p:cNvSpPr>
            <a:spLocks xmlns:a="http://schemas.openxmlformats.org/drawingml/2006/main" noGrp="1"/>
          </p:cNvSpPr>
          <p:nvPr/>
        </p:nvSpPr>
        <p:spPr>
          <a:xfrm xmlns:a="http://schemas.openxmlformats.org/drawingml/2006/main">
            <a:off x="83820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RECONSTRUCTED PIXELS</a:t>
            </a:r>
          </a:p>
        </p:txBody>
      </p:sp>
      <p:sp>
        <p:nvSpPr>
          <p:cNvPr id="33" name="Rectangle 32">
            <a:extLst xmlns:a="http://schemas.openxmlformats.org/drawingml/2006/main">
              <a:ext uri="{FF2B5EF4-FFF2-40B4-BE49-F238E27FC236}">
                <a16:creationId xmlns:a16="http://schemas.microsoft.com/office/drawing/2014/main" id="{1F5217DA-5BE8-4FCC-9B13-18E29DFBF596}"/>
              </a:ext>
            </a:extLst>
          </p:cNvPr>
          <p:cNvSpPr>
            <a:spLocks xmlns:a="http://schemas.openxmlformats.org/drawingml/2006/main" noGrp="1"/>
          </p:cNvSpPr>
          <p:nvPr/>
        </p:nvSpPr>
        <p:spPr>
          <a:xfrm xmlns:a="http://schemas.openxmlformats.org/drawingml/2006/main">
            <a:off x="2762250" y="62388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*Residual images display magnitude for visibility. The addition uses signed sample values.</a:t>
            </a:r>
          </a:p>
        </p:txBody>
      </p:sp>
    </p:spTree>
    <p:extLst>
      <p:ext uri="{BB962C8B-B14F-4D97-AF65-F5344CB8AC3E}">
        <p14:creationId xmlns:p14="http://schemas.microsoft.com/office/powerpoint/2010/main" val="349869683"/>
      </p:ext>
    </p:extLst>
  </p:cSld>
</p:sld>
</file>

<file path=ppt/slides/slide29.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9" name="Oval 48">
            <a:extLst xmlns:a="http://schemas.openxmlformats.org/drawingml/2006/main">
              <a:ext uri="{FF2B5EF4-FFF2-40B4-BE49-F238E27FC236}">
                <a16:creationId xmlns:a16="http://schemas.microsoft.com/office/drawing/2014/main" id="{99D490A4-845A-404D-99A6-DF0E710ABDA7}"/>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9EF845A9-EF5B-4F26-8DFE-63050A016C40}"/>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A970DD7F-5440-4BDF-A1D9-C3343699E8C8}"/>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Deblocking distinguishes coding seams from real image edges</a:t>
            </a:r>
          </a:p>
        </p:txBody>
      </p:sp>
      <p:sp>
        <p:nvSpPr>
          <p:cNvPr id="4" name="Straight Connector 3">
            <a:extLst xmlns:a="http://schemas.openxmlformats.org/drawingml/2006/main">
              <a:ext uri="{FF2B5EF4-FFF2-40B4-BE49-F238E27FC236}">
                <a16:creationId xmlns:a16="http://schemas.microsoft.com/office/drawing/2014/main" id="{4C517481-D4E5-4C64-B96E-24D6B80D8D5B}"/>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AF0FFE08-AA26-4404-A155-421F3BB4C0E1}"/>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A large sample jump does not automatically mean that the filter should smooth it</a:t>
            </a:r>
          </a:p>
        </p:txBody>
      </p:sp>
      <p:sp>
        <p:nvSpPr>
          <p:cNvPr id="6" name="Rectangle 5">
            <a:extLst xmlns:a="http://schemas.openxmlformats.org/drawingml/2006/main">
              <a:ext uri="{FF2B5EF4-FFF2-40B4-BE49-F238E27FC236}">
                <a16:creationId xmlns:a16="http://schemas.microsoft.com/office/drawing/2014/main" id="{DD262EC4-BFC8-4485-A3E4-0D63447144C8}"/>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AC8AC3F4-E96E-4F8D-88C0-CCFD658FFA19}"/>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29 / 49</a:t>
            </a:r>
          </a:p>
        </p:txBody>
      </p:sp>
      <p:pic>
        <p:nvPicPr>
          <p:cNvPr id="58" name="Picture 55"/>
          <p:cNvPicPr>
            <a:picLocks xmlns:a="http://schemas.openxmlformats.org/drawingml/2006/main" noChangeAspect="1"/>
          </p:cNvPicPr>
          <p:nvPr/>
        </p:nvPicPr>
        <p:blipFill>
          <a:blip xmlns:r="http://schemas.openxmlformats.org/officeDocument/2006/relationships" xmlns:a="http://schemas.openxmlformats.org/drawingml/2006/main" r:embed="R7309e0cbb65f49e8"/>
          <a:srcRect xmlns:a="http://schemas.openxmlformats.org/drawingml/2006/main" l="0" t="14851" r="0" b="14851"/>
          <a:stretch xmlns:a="http://schemas.openxmlformats.org/drawingml/2006/main">
            <a:fillRect l="0" t="0" r="0" b="0"/>
          </a:stretch>
        </p:blipFill>
        <p:spPr>
          <a:xfrm xmlns:a="http://schemas.openxmlformats.org/drawingml/2006/main">
            <a:off x="571500" y="1524000"/>
            <a:ext cx="4810125" cy="3381375"/>
          </a:xfrm>
          <a:prstGeom xmlns:a="http://schemas.openxmlformats.org/drawingml/2006/main" prst="roundRect">
            <a:avLst>
              <a:gd name="adj" fmla="val 3380"/>
            </a:avLst>
          </a:prstGeom>
        </p:spPr>
      </p:pic>
      <p:sp>
        <p:nvSpPr>
          <p:cNvPr id="9" name="Rectangle 8">
            <a:extLst xmlns:a="http://schemas.openxmlformats.org/drawingml/2006/main">
              <a:ext uri="{FF2B5EF4-FFF2-40B4-BE49-F238E27FC236}">
                <a16:creationId xmlns:a16="http://schemas.microsoft.com/office/drawing/2014/main" id="{5CE40EB4-C79F-4D15-856A-898EF4AD2CC4}"/>
              </a:ext>
            </a:extLst>
          </p:cNvPr>
          <p:cNvSpPr>
            <a:spLocks xmlns:a="http://schemas.openxmlformats.org/drawingml/2006/main" noGrp="1"/>
          </p:cNvSpPr>
          <p:nvPr/>
        </p:nvSpPr>
        <p:spPr>
          <a:xfrm xmlns:a="http://schemas.openxmlformats.org/drawingml/2006/main">
            <a:off x="571500" y="1524000"/>
            <a:ext cx="4810125" cy="3381375"/>
          </a:xfrm>
          <a:prstGeom xmlns:a="http://schemas.openxmlformats.org/drawingml/2006/main" prst="rect">
            <a:avLst/>
          </a:prstGeom>
          <a:noFill xmlns:a="http://schemas.openxmlformats.org/drawingml/2006/main"/>
          <a:ln xmlns:a="http://schemas.openxmlformats.org/drawingml/2006/main" w="28575">
            <a:solidFill>
              <a:srgbClr val="22D3EE"/>
            </a:solidFill>
            <a:prstDash val="solid"/>
          </a:ln>
        </p:spPr>
      </p:sp>
      <p:sp>
        <p:nvSpPr>
          <p:cNvPr id="10" name="Straight Connector 9">
            <a:extLst xmlns:a="http://schemas.openxmlformats.org/drawingml/2006/main">
              <a:ext uri="{FF2B5EF4-FFF2-40B4-BE49-F238E27FC236}">
                <a16:creationId xmlns:a16="http://schemas.microsoft.com/office/drawing/2014/main" id="{1492E045-AF14-4E92-9477-022171A00BE1}"/>
              </a:ext>
            </a:extLst>
          </p:cNvPr>
          <p:cNvSpPr>
            <a:spLocks xmlns:a="http://schemas.openxmlformats.org/drawingml/2006/main" noGrp="1"/>
          </p:cNvSpPr>
          <p:nvPr/>
        </p:nvSpPr>
        <p:spPr>
          <a:xfrm xmlns:a="http://schemas.openxmlformats.org/drawingml/2006/main">
            <a:off x="1774031" y="1524000"/>
            <a:ext cx="9525" cy="3381375"/>
          </a:xfrm>
          <a:prstGeom xmlns:a="http://schemas.openxmlformats.org/drawingml/2006/main" prst="line">
            <a:avLst/>
          </a:prstGeom>
          <a:noFill xmlns:a="http://schemas.openxmlformats.org/drawingml/2006/main"/>
          <a:ln xmlns:a="http://schemas.openxmlformats.org/drawingml/2006/main" w="19050">
            <a:solidFill>
              <a:srgbClr val="FFFFFF">
                <a:alpha val="33333"/>
              </a:srgbClr>
            </a:solidFill>
            <a:prstDash val="solid"/>
          </a:ln>
        </p:spPr>
      </p:sp>
      <p:sp>
        <p:nvSpPr>
          <p:cNvPr id="11" name="Straight Connector 10">
            <a:extLst xmlns:a="http://schemas.openxmlformats.org/drawingml/2006/main">
              <a:ext uri="{FF2B5EF4-FFF2-40B4-BE49-F238E27FC236}">
                <a16:creationId xmlns:a16="http://schemas.microsoft.com/office/drawing/2014/main" id="{43AEC1B4-A493-4837-9CA4-7AD45F6D01E2}"/>
              </a:ext>
            </a:extLst>
          </p:cNvPr>
          <p:cNvSpPr>
            <a:spLocks xmlns:a="http://schemas.openxmlformats.org/drawingml/2006/main" noGrp="1"/>
          </p:cNvSpPr>
          <p:nvPr/>
        </p:nvSpPr>
        <p:spPr>
          <a:xfrm xmlns:a="http://schemas.openxmlformats.org/drawingml/2006/main">
            <a:off x="571500" y="2369344"/>
            <a:ext cx="4810125" cy="9525"/>
          </a:xfrm>
          <a:prstGeom xmlns:a="http://schemas.openxmlformats.org/drawingml/2006/main" prst="line">
            <a:avLst/>
          </a:prstGeom>
          <a:noFill xmlns:a="http://schemas.openxmlformats.org/drawingml/2006/main"/>
          <a:ln xmlns:a="http://schemas.openxmlformats.org/drawingml/2006/main" w="19050">
            <a:solidFill>
              <a:srgbClr val="FFFFFF">
                <a:alpha val="33333"/>
              </a:srgbClr>
            </a:solidFill>
            <a:prstDash val="solid"/>
          </a:ln>
        </p:spPr>
      </p:sp>
      <p:sp>
        <p:nvSpPr>
          <p:cNvPr id="12" name="Straight Connector 11">
            <a:extLst xmlns:a="http://schemas.openxmlformats.org/drawingml/2006/main">
              <a:ext uri="{FF2B5EF4-FFF2-40B4-BE49-F238E27FC236}">
                <a16:creationId xmlns:a16="http://schemas.microsoft.com/office/drawing/2014/main" id="{D076185B-4C93-4534-9272-5A52C3EDBFE4}"/>
              </a:ext>
            </a:extLst>
          </p:cNvPr>
          <p:cNvSpPr>
            <a:spLocks xmlns:a="http://schemas.openxmlformats.org/drawingml/2006/main" noGrp="1"/>
          </p:cNvSpPr>
          <p:nvPr/>
        </p:nvSpPr>
        <p:spPr>
          <a:xfrm xmlns:a="http://schemas.openxmlformats.org/drawingml/2006/main">
            <a:off x="2976563" y="1524000"/>
            <a:ext cx="9525" cy="3381375"/>
          </a:xfrm>
          <a:prstGeom xmlns:a="http://schemas.openxmlformats.org/drawingml/2006/main" prst="line">
            <a:avLst/>
          </a:prstGeom>
          <a:noFill xmlns:a="http://schemas.openxmlformats.org/drawingml/2006/main"/>
          <a:ln xmlns:a="http://schemas.openxmlformats.org/drawingml/2006/main" w="19050">
            <a:solidFill>
              <a:srgbClr val="FFFFFF">
                <a:alpha val="33333"/>
              </a:srgbClr>
            </a:solidFill>
            <a:prstDash val="solid"/>
          </a:ln>
        </p:spPr>
      </p:sp>
      <p:sp>
        <p:nvSpPr>
          <p:cNvPr id="13" name="Straight Connector 12">
            <a:extLst xmlns:a="http://schemas.openxmlformats.org/drawingml/2006/main">
              <a:ext uri="{FF2B5EF4-FFF2-40B4-BE49-F238E27FC236}">
                <a16:creationId xmlns:a16="http://schemas.microsoft.com/office/drawing/2014/main" id="{2326B534-6220-453D-A30B-533F24BAC857}"/>
              </a:ext>
            </a:extLst>
          </p:cNvPr>
          <p:cNvSpPr>
            <a:spLocks xmlns:a="http://schemas.openxmlformats.org/drawingml/2006/main" noGrp="1"/>
          </p:cNvSpPr>
          <p:nvPr/>
        </p:nvSpPr>
        <p:spPr>
          <a:xfrm xmlns:a="http://schemas.openxmlformats.org/drawingml/2006/main">
            <a:off x="571500" y="3214688"/>
            <a:ext cx="4810125" cy="9525"/>
          </a:xfrm>
          <a:prstGeom xmlns:a="http://schemas.openxmlformats.org/drawingml/2006/main" prst="line">
            <a:avLst/>
          </a:prstGeom>
          <a:noFill xmlns:a="http://schemas.openxmlformats.org/drawingml/2006/main"/>
          <a:ln xmlns:a="http://schemas.openxmlformats.org/drawingml/2006/main" w="19050">
            <a:solidFill>
              <a:srgbClr val="FFFFFF">
                <a:alpha val="33333"/>
              </a:srgbClr>
            </a:solidFill>
            <a:prstDash val="solid"/>
          </a:ln>
        </p:spPr>
      </p:sp>
      <p:sp>
        <p:nvSpPr>
          <p:cNvPr id="14" name="Straight Connector 13">
            <a:extLst xmlns:a="http://schemas.openxmlformats.org/drawingml/2006/main">
              <a:ext uri="{FF2B5EF4-FFF2-40B4-BE49-F238E27FC236}">
                <a16:creationId xmlns:a16="http://schemas.microsoft.com/office/drawing/2014/main" id="{E5A74663-9110-4EDA-BBEA-2A5D18E28273}"/>
              </a:ext>
            </a:extLst>
          </p:cNvPr>
          <p:cNvSpPr>
            <a:spLocks xmlns:a="http://schemas.openxmlformats.org/drawingml/2006/main" noGrp="1"/>
          </p:cNvSpPr>
          <p:nvPr/>
        </p:nvSpPr>
        <p:spPr>
          <a:xfrm xmlns:a="http://schemas.openxmlformats.org/drawingml/2006/main">
            <a:off x="4179094" y="1524000"/>
            <a:ext cx="9525" cy="3381375"/>
          </a:xfrm>
          <a:prstGeom xmlns:a="http://schemas.openxmlformats.org/drawingml/2006/main" prst="line">
            <a:avLst/>
          </a:prstGeom>
          <a:noFill xmlns:a="http://schemas.openxmlformats.org/drawingml/2006/main"/>
          <a:ln xmlns:a="http://schemas.openxmlformats.org/drawingml/2006/main" w="19050">
            <a:solidFill>
              <a:srgbClr val="FFFFFF">
                <a:alpha val="33333"/>
              </a:srgbClr>
            </a:solidFill>
            <a:prstDash val="solid"/>
          </a:ln>
        </p:spPr>
      </p:sp>
      <p:sp>
        <p:nvSpPr>
          <p:cNvPr id="15" name="Straight Connector 14">
            <a:extLst xmlns:a="http://schemas.openxmlformats.org/drawingml/2006/main">
              <a:ext uri="{FF2B5EF4-FFF2-40B4-BE49-F238E27FC236}">
                <a16:creationId xmlns:a16="http://schemas.microsoft.com/office/drawing/2014/main" id="{B48CEEBD-9354-4490-88BF-AA749E689F1B}"/>
              </a:ext>
            </a:extLst>
          </p:cNvPr>
          <p:cNvSpPr>
            <a:spLocks xmlns:a="http://schemas.openxmlformats.org/drawingml/2006/main" noGrp="1"/>
          </p:cNvSpPr>
          <p:nvPr/>
        </p:nvSpPr>
        <p:spPr>
          <a:xfrm xmlns:a="http://schemas.openxmlformats.org/drawingml/2006/main">
            <a:off x="571500" y="4060031"/>
            <a:ext cx="4810125" cy="9525"/>
          </a:xfrm>
          <a:prstGeom xmlns:a="http://schemas.openxmlformats.org/drawingml/2006/main" prst="line">
            <a:avLst/>
          </a:prstGeom>
          <a:noFill xmlns:a="http://schemas.openxmlformats.org/drawingml/2006/main"/>
          <a:ln xmlns:a="http://schemas.openxmlformats.org/drawingml/2006/main" w="19050">
            <a:solidFill>
              <a:srgbClr val="FFFFFF">
                <a:alpha val="33333"/>
              </a:srgbClr>
            </a:solidFill>
            <a:prstDash val="solid"/>
          </a:ln>
        </p:spPr>
      </p:sp>
      <p:sp>
        <p:nvSpPr>
          <p:cNvPr id="16" name="Straight Connector 15">
            <a:extLst xmlns:a="http://schemas.openxmlformats.org/drawingml/2006/main">
              <a:ext uri="{FF2B5EF4-FFF2-40B4-BE49-F238E27FC236}">
                <a16:creationId xmlns:a16="http://schemas.microsoft.com/office/drawing/2014/main" id="{B33FDB4E-D333-4930-8BC1-77700E6FDBF1}"/>
              </a:ext>
            </a:extLst>
          </p:cNvPr>
          <p:cNvSpPr>
            <a:spLocks xmlns:a="http://schemas.openxmlformats.org/drawingml/2006/main" noGrp="1"/>
          </p:cNvSpPr>
          <p:nvPr/>
        </p:nvSpPr>
        <p:spPr>
          <a:xfrm xmlns:a="http://schemas.openxmlformats.org/drawingml/2006/main">
            <a:off x="2971800" y="1524000"/>
            <a:ext cx="9525" cy="3381375"/>
          </a:xfrm>
          <a:prstGeom xmlns:a="http://schemas.openxmlformats.org/drawingml/2006/main" prst="line">
            <a:avLst/>
          </a:prstGeom>
          <a:noFill xmlns:a="http://schemas.openxmlformats.org/drawingml/2006/main"/>
          <a:ln xmlns:a="http://schemas.openxmlformats.org/drawingml/2006/main" w="57150">
            <a:solidFill>
              <a:srgbClr val="FF6577"/>
            </a:solidFill>
            <a:prstDash val="solid"/>
          </a:ln>
        </p:spPr>
      </p:sp>
      <p:sp>
        <p:nvSpPr>
          <p:cNvPr id="17" name="Rectangle 16">
            <a:extLst xmlns:a="http://schemas.openxmlformats.org/drawingml/2006/main">
              <a:ext uri="{FF2B5EF4-FFF2-40B4-BE49-F238E27FC236}">
                <a16:creationId xmlns:a16="http://schemas.microsoft.com/office/drawing/2014/main" id="{A068B251-5554-430A-9C8B-A59F2BC1554D}"/>
              </a:ext>
            </a:extLst>
          </p:cNvPr>
          <p:cNvSpPr>
            <a:spLocks xmlns:a="http://schemas.openxmlformats.org/drawingml/2006/main" noGrp="1"/>
          </p:cNvSpPr>
          <p:nvPr/>
        </p:nvSpPr>
        <p:spPr>
          <a:xfrm xmlns:a="http://schemas.openxmlformats.org/drawingml/2006/main">
            <a:off x="2076450" y="50006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247"/>
          </a:bodyPr>
          <a:lstStyle xmlns:a="http://schemas.openxmlformats.org/drawingml/2006/main"/>
          <a:p xmlns:a="http://schemas.openxmlformats.org/drawingml/2006/main">
            <a:pPr>
              <a:buNone/>
              <a:defRPr sz="1200" b="1">
                <a:solidFill>
                  <a:srgbClr val="FF6577"/>
                </a:solidFill>
                <a:latin typeface="Arial"/>
                <a:ea typeface="Arial"/>
                <a:cs typeface="Arial"/>
              </a:defRPr>
            </a:pPr>
            <a:r>
              <a:rPr sz="1200" b="1">
                <a:solidFill>
                  <a:srgbClr val="FF6577"/>
                </a:solidFill>
                <a:latin typeface="Arial"/>
                <a:ea typeface="Arial"/>
                <a:cs typeface="Arial"/>
              </a:rPr>
              <a:t>candidate coded boundary</a:t>
            </a:r>
          </a:p>
        </p:txBody>
      </p:sp>
      <p:sp>
        <p:nvSpPr>
          <p:cNvPr id="18" name="Rectangle 17">
            <a:extLst xmlns:a="http://schemas.openxmlformats.org/drawingml/2006/main">
              <a:ext uri="{FF2B5EF4-FFF2-40B4-BE49-F238E27FC236}">
                <a16:creationId xmlns:a16="http://schemas.microsoft.com/office/drawing/2014/main" id="{E234785F-B433-4C3D-BEFA-2BFF83CDD012}"/>
              </a:ext>
            </a:extLst>
          </p:cNvPr>
          <p:cNvSpPr>
            <a:spLocks xmlns:a="http://schemas.openxmlformats.org/drawingml/2006/main" noGrp="1"/>
          </p:cNvSpPr>
          <p:nvPr/>
        </p:nvSpPr>
        <p:spPr>
          <a:xfrm xmlns:a="http://schemas.openxmlformats.org/drawingml/2006/main">
            <a:off x="6191250" y="14763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FF6577"/>
                </a:solidFill>
                <a:latin typeface="Arial"/>
                <a:ea typeface="Arial"/>
                <a:cs typeface="Arial"/>
              </a:defRPr>
            </a:pPr>
            <a:r>
              <a:rPr sz="1575" b="1">
                <a:solidFill>
                  <a:srgbClr val="FF6577"/>
                </a:solidFill>
                <a:latin typeface="Arial"/>
                <a:ea typeface="Arial"/>
                <a:cs typeface="Arial"/>
              </a:rPr>
              <a:t>ARTIFICIAL CODING SEAM</a:t>
            </a:r>
          </a:p>
        </p:txBody>
      </p:sp>
      <p:sp>
        <p:nvSpPr>
          <p:cNvPr id="19" name="Rectangle 18">
            <a:extLst xmlns:a="http://schemas.openxmlformats.org/drawingml/2006/main">
              <a:ext uri="{FF2B5EF4-FFF2-40B4-BE49-F238E27FC236}">
                <a16:creationId xmlns:a16="http://schemas.microsoft.com/office/drawing/2014/main" id="{F088CD78-D355-4235-B640-73036DE5A7C5}"/>
              </a:ext>
            </a:extLst>
          </p:cNvPr>
          <p:cNvSpPr>
            <a:spLocks xmlns:a="http://schemas.openxmlformats.org/drawingml/2006/main" noGrp="1"/>
          </p:cNvSpPr>
          <p:nvPr/>
        </p:nvSpPr>
        <p:spPr>
          <a:xfrm xmlns:a="http://schemas.openxmlformats.org/drawingml/2006/main">
            <a:off x="6191250" y="1857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0">
                <a:solidFill>
                  <a:srgbClr val="AFC0D0"/>
                </a:solidFill>
                <a:latin typeface="Arial"/>
                <a:ea typeface="Arial"/>
                <a:cs typeface="Arial"/>
              </a:defRPr>
            </a:pPr>
            <a:r>
              <a:rPr sz="1275" b="0">
                <a:solidFill>
                  <a:srgbClr val="AFC0D0"/>
                </a:solidFill>
                <a:latin typeface="Arial"/>
                <a:ea typeface="Arial"/>
                <a:cs typeface="Arial"/>
              </a:rPr>
              <a:t>Independent blocks reconstruct slightly different levels</a:t>
            </a:r>
          </a:p>
        </p:txBody>
      </p:sp>
      <p:sp>
        <p:nvSpPr>
          <p:cNvPr id="20" name="Rectangle 19">
            <a:extLst xmlns:a="http://schemas.openxmlformats.org/drawingml/2006/main">
              <a:ext uri="{FF2B5EF4-FFF2-40B4-BE49-F238E27FC236}">
                <a16:creationId xmlns:a16="http://schemas.microsoft.com/office/drawing/2014/main" id="{10B72DF5-F167-43DE-AB50-5A82CA9E7CC9}"/>
              </a:ext>
            </a:extLst>
          </p:cNvPr>
          <p:cNvSpPr>
            <a:spLocks xmlns:a="http://schemas.openxmlformats.org/drawingml/2006/main" noGrp="1"/>
          </p:cNvSpPr>
          <p:nvPr/>
        </p:nvSpPr>
        <p:spPr>
          <a:xfrm xmlns:a="http://schemas.openxmlformats.org/drawingml/2006/main">
            <a:off x="6191250" y="2333625"/>
            <a:ext cx="80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before</a:t>
            </a:r>
          </a:p>
        </p:txBody>
      </p:sp>
      <p:sp>
        <p:nvSpPr>
          <p:cNvPr id="21" name="Rectangle: Rounded Corners 20">
            <a:extLst xmlns:a="http://schemas.openxmlformats.org/drawingml/2006/main">
              <a:ext uri="{FF2B5EF4-FFF2-40B4-BE49-F238E27FC236}">
                <a16:creationId xmlns:a16="http://schemas.microsoft.com/office/drawing/2014/main" id="{56720218-924E-4C9F-9461-0BF2F1D8F2EF}"/>
              </a:ext>
            </a:extLst>
          </p:cNvPr>
          <p:cNvSpPr>
            <a:spLocks xmlns:a="http://schemas.openxmlformats.org/drawingml/2006/main" noGrp="1"/>
          </p:cNvSpPr>
          <p:nvPr/>
        </p:nvSpPr>
        <p:spPr>
          <a:xfrm xmlns:a="http://schemas.openxmlformats.org/drawingml/2006/main">
            <a:off x="6858000" y="2209800"/>
            <a:ext cx="762000" cy="495300"/>
          </a:xfrm>
          <a:prstGeom xmlns:a="http://schemas.openxmlformats.org/drawingml/2006/main" prst="roundRect">
            <a:avLst>
              <a:gd name="adj" fmla="val 23077"/>
            </a:avLst>
          </a:prstGeom>
          <a:solidFill xmlns:a="http://schemas.openxmlformats.org/drawingml/2006/main">
            <a:srgbClr val="0B2033"/>
          </a:solidFill>
          <a:ln xmlns:a="http://schemas.openxmlformats.org/drawingml/2006/main" w="19050">
            <a:solidFill>
              <a:srgbClr val="2E9BFF"/>
            </a:solidFill>
            <a:prstDash val="solid"/>
          </a:ln>
        </p:spPr>
      </p:sp>
      <p:sp>
        <p:nvSpPr>
          <p:cNvPr id="22" name="Rectangle 21">
            <a:extLst xmlns:a="http://schemas.openxmlformats.org/drawingml/2006/main">
              <a:ext uri="{FF2B5EF4-FFF2-40B4-BE49-F238E27FC236}">
                <a16:creationId xmlns:a16="http://schemas.microsoft.com/office/drawing/2014/main" id="{5D31F3B4-26E8-4749-BD9E-87FEE1BB16AC}"/>
              </a:ext>
            </a:extLst>
          </p:cNvPr>
          <p:cNvSpPr>
            <a:spLocks xmlns:a="http://schemas.openxmlformats.org/drawingml/2006/main" noGrp="1"/>
          </p:cNvSpPr>
          <p:nvPr/>
        </p:nvSpPr>
        <p:spPr>
          <a:xfrm xmlns:a="http://schemas.openxmlformats.org/drawingml/2006/main">
            <a:off x="6972300" y="23050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96</a:t>
            </a:r>
          </a:p>
        </p:txBody>
      </p:sp>
      <p:sp>
        <p:nvSpPr>
          <p:cNvPr id="23" name="Rectangle: Rounded Corners 22">
            <a:extLst xmlns:a="http://schemas.openxmlformats.org/drawingml/2006/main">
              <a:ext uri="{FF2B5EF4-FFF2-40B4-BE49-F238E27FC236}">
                <a16:creationId xmlns:a16="http://schemas.microsoft.com/office/drawing/2014/main" id="{C7C63D05-5261-4E59-9DC3-B4D304DF650E}"/>
              </a:ext>
            </a:extLst>
          </p:cNvPr>
          <p:cNvSpPr>
            <a:spLocks xmlns:a="http://schemas.openxmlformats.org/drawingml/2006/main" noGrp="1"/>
          </p:cNvSpPr>
          <p:nvPr/>
        </p:nvSpPr>
        <p:spPr>
          <a:xfrm xmlns:a="http://schemas.openxmlformats.org/drawingml/2006/main">
            <a:off x="7810500" y="2209800"/>
            <a:ext cx="762000" cy="495300"/>
          </a:xfrm>
          <a:prstGeom xmlns:a="http://schemas.openxmlformats.org/drawingml/2006/main" prst="roundRect">
            <a:avLst>
              <a:gd name="adj" fmla="val 23077"/>
            </a:avLst>
          </a:prstGeom>
          <a:solidFill xmlns:a="http://schemas.openxmlformats.org/drawingml/2006/main">
            <a:srgbClr val="0B2033"/>
          </a:solidFill>
          <a:ln xmlns:a="http://schemas.openxmlformats.org/drawingml/2006/main" w="19050">
            <a:solidFill>
              <a:srgbClr val="2E9BFF"/>
            </a:solidFill>
            <a:prstDash val="solid"/>
          </a:ln>
        </p:spPr>
      </p:sp>
      <p:sp>
        <p:nvSpPr>
          <p:cNvPr id="24" name="Rectangle 23">
            <a:extLst xmlns:a="http://schemas.openxmlformats.org/drawingml/2006/main">
              <a:ext uri="{FF2B5EF4-FFF2-40B4-BE49-F238E27FC236}">
                <a16:creationId xmlns:a16="http://schemas.microsoft.com/office/drawing/2014/main" id="{D4D2CA71-137E-410B-B19B-7FA3818027F8}"/>
              </a:ext>
            </a:extLst>
          </p:cNvPr>
          <p:cNvSpPr>
            <a:spLocks xmlns:a="http://schemas.openxmlformats.org/drawingml/2006/main" noGrp="1"/>
          </p:cNvSpPr>
          <p:nvPr/>
        </p:nvSpPr>
        <p:spPr>
          <a:xfrm xmlns:a="http://schemas.openxmlformats.org/drawingml/2006/main">
            <a:off x="7924800" y="23050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98</a:t>
            </a:r>
          </a:p>
        </p:txBody>
      </p:sp>
      <p:sp>
        <p:nvSpPr>
          <p:cNvPr id="25" name="Rectangle: Rounded Corners 24">
            <a:extLst xmlns:a="http://schemas.openxmlformats.org/drawingml/2006/main">
              <a:ext uri="{FF2B5EF4-FFF2-40B4-BE49-F238E27FC236}">
                <a16:creationId xmlns:a16="http://schemas.microsoft.com/office/drawing/2014/main" id="{31CBC147-06CD-47AB-8187-4279CE1B9DB2}"/>
              </a:ext>
            </a:extLst>
          </p:cNvPr>
          <p:cNvSpPr>
            <a:spLocks xmlns:a="http://schemas.openxmlformats.org/drawingml/2006/main" noGrp="1"/>
          </p:cNvSpPr>
          <p:nvPr/>
        </p:nvSpPr>
        <p:spPr>
          <a:xfrm xmlns:a="http://schemas.openxmlformats.org/drawingml/2006/main">
            <a:off x="8763000" y="2209800"/>
            <a:ext cx="762000" cy="495300"/>
          </a:xfrm>
          <a:prstGeom xmlns:a="http://schemas.openxmlformats.org/drawingml/2006/main" prst="roundRect">
            <a:avLst>
              <a:gd name="adj" fmla="val 23077"/>
            </a:avLst>
          </a:prstGeom>
          <a:solidFill xmlns:a="http://schemas.openxmlformats.org/drawingml/2006/main">
            <a:srgbClr val="0B2033"/>
          </a:solidFill>
          <a:ln xmlns:a="http://schemas.openxmlformats.org/drawingml/2006/main" w="19050">
            <a:solidFill>
              <a:srgbClr val="FF6577"/>
            </a:solidFill>
            <a:prstDash val="solid"/>
          </a:ln>
        </p:spPr>
      </p:sp>
      <p:sp>
        <p:nvSpPr>
          <p:cNvPr id="26" name="Rectangle 25">
            <a:extLst xmlns:a="http://schemas.openxmlformats.org/drawingml/2006/main">
              <a:ext uri="{FF2B5EF4-FFF2-40B4-BE49-F238E27FC236}">
                <a16:creationId xmlns:a16="http://schemas.microsoft.com/office/drawing/2014/main" id="{5515C13D-1171-4F2F-A685-6F9040530599}"/>
              </a:ext>
            </a:extLst>
          </p:cNvPr>
          <p:cNvSpPr>
            <a:spLocks xmlns:a="http://schemas.openxmlformats.org/drawingml/2006/main" noGrp="1"/>
          </p:cNvSpPr>
          <p:nvPr/>
        </p:nvSpPr>
        <p:spPr>
          <a:xfrm xmlns:a="http://schemas.openxmlformats.org/drawingml/2006/main">
            <a:off x="8877300" y="23050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111</a:t>
            </a:r>
          </a:p>
        </p:txBody>
      </p:sp>
      <p:sp>
        <p:nvSpPr>
          <p:cNvPr id="27" name="Rectangle: Rounded Corners 26">
            <a:extLst xmlns:a="http://schemas.openxmlformats.org/drawingml/2006/main">
              <a:ext uri="{FF2B5EF4-FFF2-40B4-BE49-F238E27FC236}">
                <a16:creationId xmlns:a16="http://schemas.microsoft.com/office/drawing/2014/main" id="{AC1790C1-7D26-45A0-8332-C996D7B88CD1}"/>
              </a:ext>
            </a:extLst>
          </p:cNvPr>
          <p:cNvSpPr>
            <a:spLocks xmlns:a="http://schemas.openxmlformats.org/drawingml/2006/main" noGrp="1"/>
          </p:cNvSpPr>
          <p:nvPr/>
        </p:nvSpPr>
        <p:spPr>
          <a:xfrm xmlns:a="http://schemas.openxmlformats.org/drawingml/2006/main">
            <a:off x="9715500" y="2209800"/>
            <a:ext cx="762000" cy="495300"/>
          </a:xfrm>
          <a:prstGeom xmlns:a="http://schemas.openxmlformats.org/drawingml/2006/main" prst="roundRect">
            <a:avLst>
              <a:gd name="adj" fmla="val 23077"/>
            </a:avLst>
          </a:prstGeom>
          <a:solidFill xmlns:a="http://schemas.openxmlformats.org/drawingml/2006/main">
            <a:srgbClr val="0B2033"/>
          </a:solidFill>
          <a:ln xmlns:a="http://schemas.openxmlformats.org/drawingml/2006/main" w="19050">
            <a:solidFill>
              <a:srgbClr val="FF6577"/>
            </a:solidFill>
            <a:prstDash val="solid"/>
          </a:ln>
        </p:spPr>
      </p:sp>
      <p:sp>
        <p:nvSpPr>
          <p:cNvPr id="28" name="Rectangle 27">
            <a:extLst xmlns:a="http://schemas.openxmlformats.org/drawingml/2006/main">
              <a:ext uri="{FF2B5EF4-FFF2-40B4-BE49-F238E27FC236}">
                <a16:creationId xmlns:a16="http://schemas.microsoft.com/office/drawing/2014/main" id="{2AA47E56-2A12-4995-86F4-1C4D9E59EA6E}"/>
              </a:ext>
            </a:extLst>
          </p:cNvPr>
          <p:cNvSpPr>
            <a:spLocks xmlns:a="http://schemas.openxmlformats.org/drawingml/2006/main" noGrp="1"/>
          </p:cNvSpPr>
          <p:nvPr/>
        </p:nvSpPr>
        <p:spPr>
          <a:xfrm xmlns:a="http://schemas.openxmlformats.org/drawingml/2006/main">
            <a:off x="9829800" y="23050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109</a:t>
            </a:r>
          </a:p>
        </p:txBody>
      </p:sp>
      <p:sp>
        <p:nvSpPr>
          <p:cNvPr id="29" name="Straight Connector 28">
            <a:extLst xmlns:a="http://schemas.openxmlformats.org/drawingml/2006/main">
              <a:ext uri="{FF2B5EF4-FFF2-40B4-BE49-F238E27FC236}">
                <a16:creationId xmlns:a16="http://schemas.microsoft.com/office/drawing/2014/main" id="{9CF88B7D-B3EC-4C30-B772-9197CB77E0C8}"/>
              </a:ext>
            </a:extLst>
          </p:cNvPr>
          <p:cNvSpPr>
            <a:spLocks xmlns:a="http://schemas.openxmlformats.org/drawingml/2006/main" noGrp="1"/>
          </p:cNvSpPr>
          <p:nvPr/>
        </p:nvSpPr>
        <p:spPr>
          <a:xfrm xmlns:a="http://schemas.openxmlformats.org/drawingml/2006/main">
            <a:off x="8667750" y="2143125"/>
            <a:ext cx="9525" cy="657225"/>
          </a:xfrm>
          <a:prstGeom xmlns:a="http://schemas.openxmlformats.org/drawingml/2006/main" prst="line">
            <a:avLst/>
          </a:prstGeom>
          <a:noFill xmlns:a="http://schemas.openxmlformats.org/drawingml/2006/main"/>
          <a:ln xmlns:a="http://schemas.openxmlformats.org/drawingml/2006/main" w="47625">
            <a:solidFill>
              <a:srgbClr val="FF6577"/>
            </a:solidFill>
            <a:prstDash val="solid"/>
          </a:ln>
        </p:spPr>
      </p:sp>
      <p:sp>
        <p:nvSpPr>
          <p:cNvPr id="30" name="Rectangle 29">
            <a:extLst xmlns:a="http://schemas.openxmlformats.org/drawingml/2006/main">
              <a:ext uri="{FF2B5EF4-FFF2-40B4-BE49-F238E27FC236}">
                <a16:creationId xmlns:a16="http://schemas.microsoft.com/office/drawing/2014/main" id="{08002EDF-B20F-40DF-AA7D-CACA5EBA9DE4}"/>
              </a:ext>
            </a:extLst>
          </p:cNvPr>
          <p:cNvSpPr>
            <a:spLocks xmlns:a="http://schemas.openxmlformats.org/drawingml/2006/main" noGrp="1"/>
          </p:cNvSpPr>
          <p:nvPr/>
        </p:nvSpPr>
        <p:spPr>
          <a:xfrm xmlns:a="http://schemas.openxmlformats.org/drawingml/2006/main">
            <a:off x="9382125" y="28575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FF6577"/>
                </a:solidFill>
                <a:latin typeface="Arial"/>
                <a:ea typeface="Arial"/>
                <a:cs typeface="Arial"/>
              </a:defRPr>
            </a:pPr>
            <a:r>
              <a:rPr sz="1275" b="1">
                <a:solidFill>
                  <a:srgbClr val="FF6577"/>
                </a:solidFill>
                <a:latin typeface="Arial"/>
                <a:ea typeface="Arial"/>
                <a:cs typeface="Arial"/>
              </a:rPr>
              <a:t>jump = 13</a:t>
            </a:r>
          </a:p>
        </p:txBody>
      </p:sp>
      <p:sp>
        <p:nvSpPr>
          <p:cNvPr id="31" name="Rectangle 30">
            <a:extLst xmlns:a="http://schemas.openxmlformats.org/drawingml/2006/main">
              <a:ext uri="{FF2B5EF4-FFF2-40B4-BE49-F238E27FC236}">
                <a16:creationId xmlns:a16="http://schemas.microsoft.com/office/drawing/2014/main" id="{C768E0A6-803C-463A-A5ED-B45AAC2568C0}"/>
              </a:ext>
            </a:extLst>
          </p:cNvPr>
          <p:cNvSpPr>
            <a:spLocks xmlns:a="http://schemas.openxmlformats.org/drawingml/2006/main" noGrp="1"/>
          </p:cNvSpPr>
          <p:nvPr/>
        </p:nvSpPr>
        <p:spPr>
          <a:xfrm xmlns:a="http://schemas.openxmlformats.org/drawingml/2006/main">
            <a:off x="6191250" y="3333750"/>
            <a:ext cx="80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after</a:t>
            </a:r>
          </a:p>
        </p:txBody>
      </p:sp>
      <p:sp>
        <p:nvSpPr>
          <p:cNvPr id="32" name="Rectangle: Rounded Corners 31">
            <a:extLst xmlns:a="http://schemas.openxmlformats.org/drawingml/2006/main">
              <a:ext uri="{FF2B5EF4-FFF2-40B4-BE49-F238E27FC236}">
                <a16:creationId xmlns:a16="http://schemas.microsoft.com/office/drawing/2014/main" id="{B1E2EFEE-671C-41FE-B012-01B91A934D25}"/>
              </a:ext>
            </a:extLst>
          </p:cNvPr>
          <p:cNvSpPr>
            <a:spLocks xmlns:a="http://schemas.openxmlformats.org/drawingml/2006/main" noGrp="1"/>
          </p:cNvSpPr>
          <p:nvPr/>
        </p:nvSpPr>
        <p:spPr>
          <a:xfrm xmlns:a="http://schemas.openxmlformats.org/drawingml/2006/main">
            <a:off x="6858000" y="3209925"/>
            <a:ext cx="762000" cy="495300"/>
          </a:xfrm>
          <a:prstGeom xmlns:a="http://schemas.openxmlformats.org/drawingml/2006/main" prst="roundRect">
            <a:avLst>
              <a:gd name="adj" fmla="val 23077"/>
            </a:avLst>
          </a:prstGeom>
          <a:solidFill xmlns:a="http://schemas.openxmlformats.org/drawingml/2006/main">
            <a:srgbClr val="0A2830"/>
          </a:solidFill>
          <a:ln xmlns:a="http://schemas.openxmlformats.org/drawingml/2006/main" w="19050">
            <a:solidFill>
              <a:srgbClr val="47E6A4"/>
            </a:solidFill>
            <a:prstDash val="solid"/>
          </a:ln>
        </p:spPr>
      </p:sp>
      <p:sp>
        <p:nvSpPr>
          <p:cNvPr id="33" name="Rectangle 32">
            <a:extLst xmlns:a="http://schemas.openxmlformats.org/drawingml/2006/main">
              <a:ext uri="{FF2B5EF4-FFF2-40B4-BE49-F238E27FC236}">
                <a16:creationId xmlns:a16="http://schemas.microsoft.com/office/drawing/2014/main" id="{A22542C3-C2D2-4BC7-AC61-AC9EB946721D}"/>
              </a:ext>
            </a:extLst>
          </p:cNvPr>
          <p:cNvSpPr>
            <a:spLocks xmlns:a="http://schemas.openxmlformats.org/drawingml/2006/main" noGrp="1"/>
          </p:cNvSpPr>
          <p:nvPr/>
        </p:nvSpPr>
        <p:spPr>
          <a:xfrm xmlns:a="http://schemas.openxmlformats.org/drawingml/2006/main">
            <a:off x="6972300" y="330517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96</a:t>
            </a:r>
          </a:p>
        </p:txBody>
      </p:sp>
      <p:sp>
        <p:nvSpPr>
          <p:cNvPr id="34" name="Rectangle: Rounded Corners 33">
            <a:extLst xmlns:a="http://schemas.openxmlformats.org/drawingml/2006/main">
              <a:ext uri="{FF2B5EF4-FFF2-40B4-BE49-F238E27FC236}">
                <a16:creationId xmlns:a16="http://schemas.microsoft.com/office/drawing/2014/main" id="{ABBD6B02-0603-4960-851D-5C93CB5F2665}"/>
              </a:ext>
            </a:extLst>
          </p:cNvPr>
          <p:cNvSpPr>
            <a:spLocks xmlns:a="http://schemas.openxmlformats.org/drawingml/2006/main" noGrp="1"/>
          </p:cNvSpPr>
          <p:nvPr/>
        </p:nvSpPr>
        <p:spPr>
          <a:xfrm xmlns:a="http://schemas.openxmlformats.org/drawingml/2006/main">
            <a:off x="7810500" y="3209925"/>
            <a:ext cx="762000" cy="495300"/>
          </a:xfrm>
          <a:prstGeom xmlns:a="http://schemas.openxmlformats.org/drawingml/2006/main" prst="roundRect">
            <a:avLst>
              <a:gd name="adj" fmla="val 23077"/>
            </a:avLst>
          </a:prstGeom>
          <a:solidFill xmlns:a="http://schemas.openxmlformats.org/drawingml/2006/main">
            <a:srgbClr val="0A2830"/>
          </a:solidFill>
          <a:ln xmlns:a="http://schemas.openxmlformats.org/drawingml/2006/main" w="19050">
            <a:solidFill>
              <a:srgbClr val="47E6A4"/>
            </a:solidFill>
            <a:prstDash val="solid"/>
          </a:ln>
        </p:spPr>
      </p:sp>
      <p:sp>
        <p:nvSpPr>
          <p:cNvPr id="35" name="Rectangle 34">
            <a:extLst xmlns:a="http://schemas.openxmlformats.org/drawingml/2006/main">
              <a:ext uri="{FF2B5EF4-FFF2-40B4-BE49-F238E27FC236}">
                <a16:creationId xmlns:a16="http://schemas.microsoft.com/office/drawing/2014/main" id="{8DCCFE12-A4B0-49F8-8C34-EB9651D30CF6}"/>
              </a:ext>
            </a:extLst>
          </p:cNvPr>
          <p:cNvSpPr>
            <a:spLocks xmlns:a="http://schemas.openxmlformats.org/drawingml/2006/main" noGrp="1"/>
          </p:cNvSpPr>
          <p:nvPr/>
        </p:nvSpPr>
        <p:spPr>
          <a:xfrm xmlns:a="http://schemas.openxmlformats.org/drawingml/2006/main">
            <a:off x="7924800" y="330517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101</a:t>
            </a:r>
          </a:p>
        </p:txBody>
      </p:sp>
      <p:sp>
        <p:nvSpPr>
          <p:cNvPr id="36" name="Rectangle: Rounded Corners 35">
            <a:extLst xmlns:a="http://schemas.openxmlformats.org/drawingml/2006/main">
              <a:ext uri="{FF2B5EF4-FFF2-40B4-BE49-F238E27FC236}">
                <a16:creationId xmlns:a16="http://schemas.microsoft.com/office/drawing/2014/main" id="{F7017480-B44E-44ED-8CF7-4E74D1CDE7C7}"/>
              </a:ext>
            </a:extLst>
          </p:cNvPr>
          <p:cNvSpPr>
            <a:spLocks xmlns:a="http://schemas.openxmlformats.org/drawingml/2006/main" noGrp="1"/>
          </p:cNvSpPr>
          <p:nvPr/>
        </p:nvSpPr>
        <p:spPr>
          <a:xfrm xmlns:a="http://schemas.openxmlformats.org/drawingml/2006/main">
            <a:off x="8763000" y="3209925"/>
            <a:ext cx="762000" cy="495300"/>
          </a:xfrm>
          <a:prstGeom xmlns:a="http://schemas.openxmlformats.org/drawingml/2006/main" prst="roundRect">
            <a:avLst>
              <a:gd name="adj" fmla="val 23077"/>
            </a:avLst>
          </a:prstGeom>
          <a:solidFill xmlns:a="http://schemas.openxmlformats.org/drawingml/2006/main">
            <a:srgbClr val="0A2830"/>
          </a:solidFill>
          <a:ln xmlns:a="http://schemas.openxmlformats.org/drawingml/2006/main" w="19050">
            <a:solidFill>
              <a:srgbClr val="47E6A4"/>
            </a:solidFill>
            <a:prstDash val="solid"/>
          </a:ln>
        </p:spPr>
      </p:sp>
      <p:sp>
        <p:nvSpPr>
          <p:cNvPr id="37" name="Rectangle 36">
            <a:extLst xmlns:a="http://schemas.openxmlformats.org/drawingml/2006/main">
              <a:ext uri="{FF2B5EF4-FFF2-40B4-BE49-F238E27FC236}">
                <a16:creationId xmlns:a16="http://schemas.microsoft.com/office/drawing/2014/main" id="{17075FA0-D715-479C-B6EC-9C00770C6832}"/>
              </a:ext>
            </a:extLst>
          </p:cNvPr>
          <p:cNvSpPr>
            <a:spLocks xmlns:a="http://schemas.openxmlformats.org/drawingml/2006/main" noGrp="1"/>
          </p:cNvSpPr>
          <p:nvPr/>
        </p:nvSpPr>
        <p:spPr>
          <a:xfrm xmlns:a="http://schemas.openxmlformats.org/drawingml/2006/main">
            <a:off x="8877300" y="330517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106</a:t>
            </a:r>
          </a:p>
        </p:txBody>
      </p:sp>
      <p:sp>
        <p:nvSpPr>
          <p:cNvPr id="38" name="Rectangle: Rounded Corners 37">
            <a:extLst xmlns:a="http://schemas.openxmlformats.org/drawingml/2006/main">
              <a:ext uri="{FF2B5EF4-FFF2-40B4-BE49-F238E27FC236}">
                <a16:creationId xmlns:a16="http://schemas.microsoft.com/office/drawing/2014/main" id="{289B0CCF-73EB-47C5-B958-CCD2CBB4786C}"/>
              </a:ext>
            </a:extLst>
          </p:cNvPr>
          <p:cNvSpPr>
            <a:spLocks xmlns:a="http://schemas.openxmlformats.org/drawingml/2006/main" noGrp="1"/>
          </p:cNvSpPr>
          <p:nvPr/>
        </p:nvSpPr>
        <p:spPr>
          <a:xfrm xmlns:a="http://schemas.openxmlformats.org/drawingml/2006/main">
            <a:off x="9715500" y="3209925"/>
            <a:ext cx="762000" cy="495300"/>
          </a:xfrm>
          <a:prstGeom xmlns:a="http://schemas.openxmlformats.org/drawingml/2006/main" prst="roundRect">
            <a:avLst>
              <a:gd name="adj" fmla="val 23077"/>
            </a:avLst>
          </a:prstGeom>
          <a:solidFill xmlns:a="http://schemas.openxmlformats.org/drawingml/2006/main">
            <a:srgbClr val="0A2830"/>
          </a:solidFill>
          <a:ln xmlns:a="http://schemas.openxmlformats.org/drawingml/2006/main" w="19050">
            <a:solidFill>
              <a:srgbClr val="47E6A4"/>
            </a:solidFill>
            <a:prstDash val="solid"/>
          </a:ln>
        </p:spPr>
      </p:sp>
      <p:sp>
        <p:nvSpPr>
          <p:cNvPr id="39" name="Rectangle 38">
            <a:extLst xmlns:a="http://schemas.openxmlformats.org/drawingml/2006/main">
              <a:ext uri="{FF2B5EF4-FFF2-40B4-BE49-F238E27FC236}">
                <a16:creationId xmlns:a16="http://schemas.microsoft.com/office/drawing/2014/main" id="{8A2818BA-7ECB-42D3-B092-68CA8E9F2D38}"/>
              </a:ext>
            </a:extLst>
          </p:cNvPr>
          <p:cNvSpPr>
            <a:spLocks xmlns:a="http://schemas.openxmlformats.org/drawingml/2006/main" noGrp="1"/>
          </p:cNvSpPr>
          <p:nvPr/>
        </p:nvSpPr>
        <p:spPr>
          <a:xfrm xmlns:a="http://schemas.openxmlformats.org/drawingml/2006/main">
            <a:off x="9829800" y="330517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109</a:t>
            </a:r>
          </a:p>
        </p:txBody>
      </p:sp>
      <p:sp>
        <p:nvSpPr>
          <p:cNvPr id="40" name="Straight Connector 39">
            <a:extLst xmlns:a="http://schemas.openxmlformats.org/drawingml/2006/main">
              <a:ext uri="{FF2B5EF4-FFF2-40B4-BE49-F238E27FC236}">
                <a16:creationId xmlns:a16="http://schemas.microsoft.com/office/drawing/2014/main" id="{3917744B-742F-4F15-8FD6-F3FF53B717D3}"/>
              </a:ext>
            </a:extLst>
          </p:cNvPr>
          <p:cNvSpPr>
            <a:spLocks xmlns:a="http://schemas.openxmlformats.org/drawingml/2006/main" noGrp="1"/>
          </p:cNvSpPr>
          <p:nvPr/>
        </p:nvSpPr>
        <p:spPr>
          <a:xfrm xmlns:a="http://schemas.openxmlformats.org/drawingml/2006/main">
            <a:off x="8667750" y="3143250"/>
            <a:ext cx="9525" cy="657225"/>
          </a:xfrm>
          <a:prstGeom xmlns:a="http://schemas.openxmlformats.org/drawingml/2006/main" prst="line">
            <a:avLst/>
          </a:prstGeom>
          <a:noFill xmlns:a="http://schemas.openxmlformats.org/drawingml/2006/main"/>
          <a:ln xmlns:a="http://schemas.openxmlformats.org/drawingml/2006/main" w="28575">
            <a:solidFill>
              <a:srgbClr val="47E6A4"/>
            </a:solidFill>
            <a:prstDash val="solid"/>
          </a:ln>
        </p:spPr>
      </p:sp>
      <p:sp>
        <p:nvSpPr>
          <p:cNvPr id="41" name="Rectangle 40">
            <a:extLst xmlns:a="http://schemas.openxmlformats.org/drawingml/2006/main">
              <a:ext uri="{FF2B5EF4-FFF2-40B4-BE49-F238E27FC236}">
                <a16:creationId xmlns:a16="http://schemas.microsoft.com/office/drawing/2014/main" id="{F23B5C7A-3AAD-40DD-BED5-CA7B73A23C2E}"/>
              </a:ext>
            </a:extLst>
          </p:cNvPr>
          <p:cNvSpPr>
            <a:spLocks xmlns:a="http://schemas.openxmlformats.org/drawingml/2006/main" noGrp="1"/>
          </p:cNvSpPr>
          <p:nvPr/>
        </p:nvSpPr>
        <p:spPr>
          <a:xfrm xmlns:a="http://schemas.openxmlformats.org/drawingml/2006/main">
            <a:off x="9382125" y="38576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jump = 5</a:t>
            </a:r>
          </a:p>
        </p:txBody>
      </p:sp>
      <p:sp>
        <p:nvSpPr>
          <p:cNvPr id="42" name="Rectangle 41">
            <a:extLst xmlns:a="http://schemas.openxmlformats.org/drawingml/2006/main">
              <a:ext uri="{FF2B5EF4-FFF2-40B4-BE49-F238E27FC236}">
                <a16:creationId xmlns:a16="http://schemas.microsoft.com/office/drawing/2014/main" id="{94755714-738E-4F95-9C9E-506F7839000F}"/>
              </a:ext>
            </a:extLst>
          </p:cNvPr>
          <p:cNvSpPr>
            <a:spLocks xmlns:a="http://schemas.openxmlformats.org/drawingml/2006/main" noGrp="1"/>
          </p:cNvSpPr>
          <p:nvPr/>
        </p:nvSpPr>
        <p:spPr>
          <a:xfrm xmlns:a="http://schemas.openxmlformats.org/drawingml/2006/main">
            <a:off x="6191250" y="43338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2E9BFF"/>
                </a:solidFill>
                <a:latin typeface="Arial"/>
                <a:ea typeface="Arial"/>
                <a:cs typeface="Arial"/>
              </a:defRPr>
            </a:pPr>
            <a:r>
              <a:rPr sz="1575" b="1">
                <a:solidFill>
                  <a:srgbClr val="2E9BFF"/>
                </a:solidFill>
                <a:latin typeface="Arial"/>
                <a:ea typeface="Arial"/>
                <a:cs typeface="Arial"/>
              </a:rPr>
              <a:t>GENUINE SCENE EDGE</a:t>
            </a:r>
          </a:p>
        </p:txBody>
      </p:sp>
      <p:sp>
        <p:nvSpPr>
          <p:cNvPr id="43" name="Rectangle 42">
            <a:extLst xmlns:a="http://schemas.openxmlformats.org/drawingml/2006/main">
              <a:ext uri="{FF2B5EF4-FFF2-40B4-BE49-F238E27FC236}">
                <a16:creationId xmlns:a16="http://schemas.microsoft.com/office/drawing/2014/main" id="{D2441A95-4326-417B-AF13-A184F9C5804D}"/>
              </a:ext>
            </a:extLst>
          </p:cNvPr>
          <p:cNvSpPr>
            <a:spLocks xmlns:a="http://schemas.openxmlformats.org/drawingml/2006/main" noGrp="1"/>
          </p:cNvSpPr>
          <p:nvPr/>
        </p:nvSpPr>
        <p:spPr>
          <a:xfrm xmlns:a="http://schemas.openxmlformats.org/drawingml/2006/main">
            <a:off x="6858000" y="47625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52   55</a:t>
            </a:r>
          </a:p>
        </p:txBody>
      </p:sp>
      <p:sp>
        <p:nvSpPr>
          <p:cNvPr id="44" name="Straight Connector 43">
            <a:extLst xmlns:a="http://schemas.openxmlformats.org/drawingml/2006/main">
              <a:ext uri="{FF2B5EF4-FFF2-40B4-BE49-F238E27FC236}">
                <a16:creationId xmlns:a16="http://schemas.microsoft.com/office/drawing/2014/main" id="{E426647E-8DEC-45DC-A617-B560FA454B0F}"/>
              </a:ext>
            </a:extLst>
          </p:cNvPr>
          <p:cNvSpPr>
            <a:spLocks xmlns:a="http://schemas.openxmlformats.org/drawingml/2006/main" noGrp="1"/>
          </p:cNvSpPr>
          <p:nvPr/>
        </p:nvSpPr>
        <p:spPr>
          <a:xfrm xmlns:a="http://schemas.openxmlformats.org/drawingml/2006/main">
            <a:off x="8705850" y="4686300"/>
            <a:ext cx="9525" cy="457200"/>
          </a:xfrm>
          <a:prstGeom xmlns:a="http://schemas.openxmlformats.org/drawingml/2006/main" prst="line">
            <a:avLst/>
          </a:prstGeom>
          <a:noFill xmlns:a="http://schemas.openxmlformats.org/drawingml/2006/main"/>
          <a:ln xmlns:a="http://schemas.openxmlformats.org/drawingml/2006/main" w="47625">
            <a:solidFill>
              <a:srgbClr val="2E9BFF"/>
            </a:solidFill>
            <a:prstDash val="solid"/>
          </a:ln>
        </p:spPr>
      </p:sp>
      <p:sp>
        <p:nvSpPr>
          <p:cNvPr id="45" name="Rectangle 44">
            <a:extLst xmlns:a="http://schemas.openxmlformats.org/drawingml/2006/main">
              <a:ext uri="{FF2B5EF4-FFF2-40B4-BE49-F238E27FC236}">
                <a16:creationId xmlns:a16="http://schemas.microsoft.com/office/drawing/2014/main" id="{FC66EEBA-E6BC-4CB6-AB6C-59BB30AB2A61}"/>
              </a:ext>
            </a:extLst>
          </p:cNvPr>
          <p:cNvSpPr>
            <a:spLocks xmlns:a="http://schemas.openxmlformats.org/drawingml/2006/main" noGrp="1"/>
          </p:cNvSpPr>
          <p:nvPr/>
        </p:nvSpPr>
        <p:spPr>
          <a:xfrm xmlns:a="http://schemas.openxmlformats.org/drawingml/2006/main">
            <a:off x="9001125" y="4762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172   176</a:t>
            </a:r>
          </a:p>
        </p:txBody>
      </p:sp>
      <p:sp>
        <p:nvSpPr>
          <p:cNvPr id="46" name="Rectangle 45">
            <a:extLst xmlns:a="http://schemas.openxmlformats.org/drawingml/2006/main">
              <a:ext uri="{FF2B5EF4-FFF2-40B4-BE49-F238E27FC236}">
                <a16:creationId xmlns:a16="http://schemas.microsoft.com/office/drawing/2014/main" id="{2093506C-DA31-49C2-B580-FE7747937A58}"/>
              </a:ext>
            </a:extLst>
          </p:cNvPr>
          <p:cNvSpPr>
            <a:spLocks xmlns:a="http://schemas.openxmlformats.org/drawingml/2006/main" noGrp="1"/>
          </p:cNvSpPr>
          <p:nvPr/>
        </p:nvSpPr>
        <p:spPr>
          <a:xfrm xmlns:a="http://schemas.openxmlformats.org/drawingml/2006/main">
            <a:off x="6334125" y="5219700"/>
            <a:ext cx="4619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0">
                <a:solidFill>
                  <a:srgbClr val="AFC0D0"/>
                </a:solidFill>
                <a:latin typeface="Arial"/>
                <a:ea typeface="Arial"/>
                <a:cs typeface="Arial"/>
              </a:defRPr>
            </a:pPr>
            <a:r>
              <a:rPr sz="1275" b="0">
                <a:solidFill>
                  <a:srgbClr val="AFC0D0"/>
                </a:solidFill>
                <a:latin typeface="Arial"/>
                <a:ea typeface="Arial"/>
                <a:cs typeface="Arial"/>
              </a:rPr>
              <a:t>The building edge explains this jump, so filtering stays weak or turns off.</a:t>
            </a:r>
          </a:p>
        </p:txBody>
      </p:sp>
      <p:sp>
        <p:nvSpPr>
          <p:cNvPr id="47" name="Rectangle: Rounded Corners 46">
            <a:extLst xmlns:a="http://schemas.openxmlformats.org/drawingml/2006/main">
              <a:ext uri="{FF2B5EF4-FFF2-40B4-BE49-F238E27FC236}">
                <a16:creationId xmlns:a16="http://schemas.microsoft.com/office/drawing/2014/main" id="{76EADDF7-35EE-4948-9AE7-55B50C1A4DC8}"/>
              </a:ext>
            </a:extLst>
          </p:cNvPr>
          <p:cNvSpPr>
            <a:spLocks xmlns:a="http://schemas.openxmlformats.org/drawingml/2006/main" noGrp="1"/>
          </p:cNvSpPr>
          <p:nvPr/>
        </p:nvSpPr>
        <p:spPr>
          <a:xfrm xmlns:a="http://schemas.openxmlformats.org/drawingml/2006/main">
            <a:off x="1476375" y="5953125"/>
            <a:ext cx="9239250" cy="495300"/>
          </a:xfrm>
          <a:prstGeom xmlns:a="http://schemas.openxmlformats.org/drawingml/2006/main" prst="roundRect">
            <a:avLst>
              <a:gd name="adj" fmla="val 23077"/>
            </a:avLst>
          </a:prstGeom>
          <a:solidFill xmlns:a="http://schemas.openxmlformats.org/drawingml/2006/main">
            <a:srgbClr val="092034"/>
          </a:solidFill>
          <a:ln xmlns:a="http://schemas.openxmlformats.org/drawingml/2006/main" w="19050">
            <a:solidFill>
              <a:srgbClr val="22D3EE"/>
            </a:solidFill>
            <a:prstDash val="solid"/>
          </a:ln>
        </p:spPr>
      </p:sp>
      <p:sp>
        <p:nvSpPr>
          <p:cNvPr id="48" name="Rectangle 47">
            <a:extLst xmlns:a="http://schemas.openxmlformats.org/drawingml/2006/main">
              <a:ext uri="{FF2B5EF4-FFF2-40B4-BE49-F238E27FC236}">
                <a16:creationId xmlns:a16="http://schemas.microsoft.com/office/drawing/2014/main" id="{01A670C0-3BA6-4C4F-A91E-89F93698AE03}"/>
              </a:ext>
            </a:extLst>
          </p:cNvPr>
          <p:cNvSpPr>
            <a:spLocks xmlns:a="http://schemas.openxmlformats.org/drawingml/2006/main" noGrp="1"/>
          </p:cNvSpPr>
          <p:nvPr/>
        </p:nvSpPr>
        <p:spPr>
          <a:xfrm xmlns:a="http://schemas.openxmlformats.org/drawingml/2006/main">
            <a:off x="1590675" y="6048375"/>
            <a:ext cx="901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Deblocking smooths an artificial seam at a coded boundary while preserving a real edge in the scene.</a:t>
            </a:r>
          </a:p>
        </p:txBody>
      </p:sp>
    </p:spTree>
    <p:extLst>
      <p:ext uri="{BB962C8B-B14F-4D97-AF65-F5344CB8AC3E}">
        <p14:creationId xmlns:p14="http://schemas.microsoft.com/office/powerpoint/2010/main" val="1054427156"/>
      </p:ext>
    </p:extLst>
  </p:cSld>
</p:sld>
</file>

<file path=ppt/slides/slide30.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6" name="Oval 45">
            <a:extLst xmlns:a="http://schemas.openxmlformats.org/drawingml/2006/main">
              <a:ext uri="{FF2B5EF4-FFF2-40B4-BE49-F238E27FC236}">
                <a16:creationId xmlns:a16="http://schemas.microsoft.com/office/drawing/2014/main" id="{2F7DA565-45E4-4F59-8253-E14E79B72329}"/>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60AFB44F-CD2E-4C02-8F35-F3E5C9CFD40A}"/>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CE3D8D16-B2A7-4987-A57D-5456EE5D25ED}"/>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SAO corrects reconstruction error away from block boundaries</a:t>
            </a:r>
          </a:p>
        </p:txBody>
      </p:sp>
      <p:sp>
        <p:nvSpPr>
          <p:cNvPr id="4" name="Straight Connector 3">
            <a:extLst xmlns:a="http://schemas.openxmlformats.org/drawingml/2006/main">
              <a:ext uri="{FF2B5EF4-FFF2-40B4-BE49-F238E27FC236}">
                <a16:creationId xmlns:a16="http://schemas.microsoft.com/office/drawing/2014/main" id="{5DA01157-08F6-44FE-91E1-C07ED8FEC8FE}"/>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A2B52C92-6292-4151-863F-6110E98471A4}"/>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Deblocking removes coding seams. Sample Adaptive Offset (SAO) corrects sample bias that remains inside a region.</a:t>
            </a:r>
          </a:p>
        </p:txBody>
      </p:sp>
      <p:sp>
        <p:nvSpPr>
          <p:cNvPr id="6" name="Rectangle 5">
            <a:extLst xmlns:a="http://schemas.openxmlformats.org/drawingml/2006/main">
              <a:ext uri="{FF2B5EF4-FFF2-40B4-BE49-F238E27FC236}">
                <a16:creationId xmlns:a16="http://schemas.microsoft.com/office/drawing/2014/main" id="{A22C0322-AF32-46AB-8083-A0179EC375FD}"/>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D7625397-61A8-452D-B2C8-87513C886F51}"/>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30 / 49</a:t>
            </a:r>
          </a:p>
        </p:txBody>
      </p:sp>
      <p:pic>
        <p:nvPicPr>
          <p:cNvPr id="55" name="Picture 52"/>
          <p:cNvPicPr>
            <a:picLocks xmlns:a="http://schemas.openxmlformats.org/drawingml/2006/main" noChangeAspect="1"/>
          </p:cNvPicPr>
          <p:nvPr/>
        </p:nvPicPr>
        <p:blipFill>
          <a:blip xmlns:r="http://schemas.openxmlformats.org/officeDocument/2006/relationships" xmlns:a="http://schemas.openxmlformats.org/drawingml/2006/main" r:embed="R1b04e0dcfe304ee6"/>
          <a:srcRect xmlns:a="http://schemas.openxmlformats.org/drawingml/2006/main" l="0" t="12500" r="0" b="12500"/>
          <a:stretch xmlns:a="http://schemas.openxmlformats.org/drawingml/2006/main">
            <a:fillRect l="0" t="0" r="0" b="0"/>
          </a:stretch>
        </p:blipFill>
        <p:spPr>
          <a:xfrm xmlns:a="http://schemas.openxmlformats.org/drawingml/2006/main">
            <a:off x="619125" y="1524000"/>
            <a:ext cx="3810000" cy="2857500"/>
          </a:xfrm>
          <a:prstGeom xmlns:a="http://schemas.openxmlformats.org/drawingml/2006/main" prst="roundRect">
            <a:avLst>
              <a:gd name="adj" fmla="val 4000"/>
            </a:avLst>
          </a:prstGeom>
        </p:spPr>
      </p:pic>
      <p:sp>
        <p:nvSpPr>
          <p:cNvPr id="9" name="Rectangle 8">
            <a:extLst xmlns:a="http://schemas.openxmlformats.org/drawingml/2006/main">
              <a:ext uri="{FF2B5EF4-FFF2-40B4-BE49-F238E27FC236}">
                <a16:creationId xmlns:a16="http://schemas.microsoft.com/office/drawing/2014/main" id="{FBEF502E-0AAA-4BC1-9C26-A98848235951}"/>
              </a:ext>
            </a:extLst>
          </p:cNvPr>
          <p:cNvSpPr>
            <a:spLocks xmlns:a="http://schemas.openxmlformats.org/drawingml/2006/main" noGrp="1"/>
          </p:cNvSpPr>
          <p:nvPr/>
        </p:nvSpPr>
        <p:spPr>
          <a:xfrm xmlns:a="http://schemas.openxmlformats.org/drawingml/2006/main">
            <a:off x="619125" y="1524000"/>
            <a:ext cx="3810000" cy="2857500"/>
          </a:xfrm>
          <a:prstGeom xmlns:a="http://schemas.openxmlformats.org/drawingml/2006/main" prst="rect">
            <a:avLst/>
          </a:prstGeom>
          <a:noFill xmlns:a="http://schemas.openxmlformats.org/drawingml/2006/main"/>
          <a:ln xmlns:a="http://schemas.openxmlformats.org/drawingml/2006/main" w="28575">
            <a:solidFill>
              <a:srgbClr val="22D3EE"/>
            </a:solidFill>
            <a:prstDash val="solid"/>
          </a:ln>
        </p:spPr>
      </p:sp>
      <p:sp>
        <p:nvSpPr>
          <p:cNvPr id="10" name="Rectangle 9">
            <a:extLst xmlns:a="http://schemas.openxmlformats.org/drawingml/2006/main">
              <a:ext uri="{FF2B5EF4-FFF2-40B4-BE49-F238E27FC236}">
                <a16:creationId xmlns:a16="http://schemas.microsoft.com/office/drawing/2014/main" id="{B4BAED95-D557-434C-820E-899C0FFB0421}"/>
              </a:ext>
            </a:extLst>
          </p:cNvPr>
          <p:cNvSpPr>
            <a:spLocks xmlns:a="http://schemas.openxmlformats.org/drawingml/2006/main" noGrp="1"/>
          </p:cNvSpPr>
          <p:nvPr/>
        </p:nvSpPr>
        <p:spPr>
          <a:xfrm xmlns:a="http://schemas.openxmlformats.org/drawingml/2006/main">
            <a:off x="1952625" y="2571750"/>
            <a:ext cx="1143000" cy="742950"/>
          </a:xfrm>
          <a:prstGeom xmlns:a="http://schemas.openxmlformats.org/drawingml/2006/main" prst="rect">
            <a:avLst/>
          </a:prstGeom>
          <a:noFill xmlns:a="http://schemas.openxmlformats.org/drawingml/2006/main"/>
          <a:ln xmlns:a="http://schemas.openxmlformats.org/drawingml/2006/main" w="38100">
            <a:solidFill>
              <a:srgbClr val="FFB84D"/>
            </a:solidFill>
            <a:prstDash val="solid"/>
          </a:ln>
        </p:spPr>
      </p:sp>
      <p:sp>
        <p:nvSpPr>
          <p:cNvPr id="11" name="Rectangle: Rounded Corners 10">
            <a:extLst xmlns:a="http://schemas.openxmlformats.org/drawingml/2006/main">
              <a:ext uri="{FF2B5EF4-FFF2-40B4-BE49-F238E27FC236}">
                <a16:creationId xmlns:a16="http://schemas.microsoft.com/office/drawing/2014/main" id="{2A199DED-862D-4ED0-82B5-AE176CC50817}"/>
              </a:ext>
            </a:extLst>
          </p:cNvPr>
          <p:cNvSpPr>
            <a:spLocks xmlns:a="http://schemas.openxmlformats.org/drawingml/2006/main" noGrp="1"/>
          </p:cNvSpPr>
          <p:nvPr/>
        </p:nvSpPr>
        <p:spPr>
          <a:xfrm xmlns:a="http://schemas.openxmlformats.org/drawingml/2006/main">
            <a:off x="1809750" y="2190750"/>
            <a:ext cx="1428750"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FFB84D"/>
            </a:solidFill>
            <a:prstDash val="solid"/>
          </a:ln>
        </p:spPr>
      </p:sp>
      <p:sp>
        <p:nvSpPr>
          <p:cNvPr id="12" name="Rectangle 11">
            <a:extLst xmlns:a="http://schemas.openxmlformats.org/drawingml/2006/main">
              <a:ext uri="{FF2B5EF4-FFF2-40B4-BE49-F238E27FC236}">
                <a16:creationId xmlns:a16="http://schemas.microsoft.com/office/drawing/2014/main" id="{E5AF6160-9D22-4888-80D1-B15D702DA92B}"/>
              </a:ext>
            </a:extLst>
          </p:cNvPr>
          <p:cNvSpPr>
            <a:spLocks xmlns:a="http://schemas.openxmlformats.org/drawingml/2006/main" noGrp="1"/>
          </p:cNvSpPr>
          <p:nvPr/>
        </p:nvSpPr>
        <p:spPr>
          <a:xfrm xmlns:a="http://schemas.openxmlformats.org/drawingml/2006/main">
            <a:off x="1857375" y="22288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FFB84D"/>
                </a:solidFill>
                <a:latin typeface="Arial"/>
                <a:ea typeface="Arial"/>
                <a:cs typeface="Arial"/>
              </a:defRPr>
            </a:pPr>
            <a:r>
              <a:rPr sz="975" b="1">
                <a:solidFill>
                  <a:srgbClr val="FFB84D"/>
                </a:solidFill>
                <a:latin typeface="Arial"/>
                <a:ea typeface="Arial"/>
                <a:cs typeface="Arial"/>
              </a:rPr>
              <a:t>INTERIOR SAMPLES</a:t>
            </a:r>
          </a:p>
        </p:txBody>
      </p:sp>
      <p:sp>
        <p:nvSpPr>
          <p:cNvPr id="13" name="Rectangle 12">
            <a:extLst xmlns:a="http://schemas.openxmlformats.org/drawingml/2006/main">
              <a:ext uri="{FF2B5EF4-FFF2-40B4-BE49-F238E27FC236}">
                <a16:creationId xmlns:a16="http://schemas.microsoft.com/office/drawing/2014/main" id="{5853A9E5-5F31-455B-BC7C-EAAB02816AB9}"/>
              </a:ext>
            </a:extLst>
          </p:cNvPr>
          <p:cNvSpPr>
            <a:spLocks xmlns:a="http://schemas.openxmlformats.org/drawingml/2006/main" noGrp="1"/>
          </p:cNvSpPr>
          <p:nvPr/>
        </p:nvSpPr>
        <p:spPr>
          <a:xfrm xmlns:a="http://schemas.openxmlformats.org/drawingml/2006/main">
            <a:off x="619125" y="45243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22D3EE"/>
                </a:solidFill>
                <a:latin typeface="Arial"/>
                <a:ea typeface="Arial"/>
                <a:cs typeface="Arial"/>
              </a:defRPr>
            </a:pPr>
            <a:r>
              <a:rPr sz="1275" b="1">
                <a:solidFill>
                  <a:srgbClr val="22D3EE"/>
                </a:solidFill>
                <a:latin typeface="Arial"/>
                <a:ea typeface="Arial"/>
                <a:cs typeface="Arial"/>
              </a:rPr>
              <a:t>AFTER DEBLOCKING</a:t>
            </a:r>
          </a:p>
        </p:txBody>
      </p:sp>
      <p:sp>
        <p:nvSpPr>
          <p:cNvPr id="14" name="Rectangle 13">
            <a:extLst xmlns:a="http://schemas.openxmlformats.org/drawingml/2006/main">
              <a:ext uri="{FF2B5EF4-FFF2-40B4-BE49-F238E27FC236}">
                <a16:creationId xmlns:a16="http://schemas.microsoft.com/office/drawing/2014/main" id="{BC553D6D-1C41-4BE6-AE84-6F2370DF73E9}"/>
              </a:ext>
            </a:extLst>
          </p:cNvPr>
          <p:cNvSpPr>
            <a:spLocks xmlns:a="http://schemas.openxmlformats.org/drawingml/2006/main" noGrp="1"/>
          </p:cNvSpPr>
          <p:nvPr/>
        </p:nvSpPr>
        <p:spPr>
          <a:xfrm xmlns:a="http://schemas.openxmlformats.org/drawingml/2006/main">
            <a:off x="619125" y="48577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0">
                <a:solidFill>
                  <a:srgbClr val="AFC0D0"/>
                </a:solidFill>
                <a:latin typeface="Arial"/>
                <a:ea typeface="Arial"/>
                <a:cs typeface="Arial"/>
              </a:defRPr>
            </a:pPr>
            <a:r>
              <a:rPr sz="1275" b="0">
                <a:solidFill>
                  <a:srgbClr val="AFC0D0"/>
                </a:solidFill>
                <a:latin typeface="Arial"/>
                <a:ea typeface="Arial"/>
                <a:cs typeface="Arial"/>
              </a:rPr>
              <a:t>No coded boundary passes through the highlighted samples</a:t>
            </a:r>
          </a:p>
        </p:txBody>
      </p:sp>
      <p:sp>
        <p:nvSpPr>
          <p:cNvPr id="15" name="Rectangle 14">
            <a:extLst xmlns:a="http://schemas.openxmlformats.org/drawingml/2006/main">
              <a:ext uri="{FF2B5EF4-FFF2-40B4-BE49-F238E27FC236}">
                <a16:creationId xmlns:a16="http://schemas.microsoft.com/office/drawing/2014/main" id="{291000AA-A06C-49C0-AF76-FA3983F65DA9}"/>
              </a:ext>
            </a:extLst>
          </p:cNvPr>
          <p:cNvSpPr>
            <a:spLocks xmlns:a="http://schemas.openxmlformats.org/drawingml/2006/main" noGrp="1"/>
          </p:cNvSpPr>
          <p:nvPr/>
        </p:nvSpPr>
        <p:spPr>
          <a:xfrm xmlns:a="http://schemas.openxmlformats.org/drawingml/2006/main">
            <a:off x="5143500" y="1476375"/>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p xmlns:a="http://schemas.openxmlformats.org/drawingml/2006/main">
            <a:pPr>
              <a:buNone/>
              <a:defRPr sz="1650" b="1">
                <a:solidFill>
                  <a:srgbClr val="FFB84D"/>
                </a:solidFill>
                <a:latin typeface="Arial"/>
                <a:ea typeface="Arial"/>
                <a:cs typeface="Arial"/>
              </a:defRPr>
            </a:pPr>
            <a:r>
              <a:rPr sz="1650" b="1">
                <a:solidFill>
                  <a:srgbClr val="FFB84D"/>
                </a:solidFill>
                <a:latin typeface="Arial"/>
                <a:ea typeface="Arial"/>
                <a:cs typeface="Arial"/>
              </a:rPr>
              <a:t>ERRORS STILL REMAIN INSIDE THE BLOCK</a:t>
            </a:r>
          </a:p>
        </p:txBody>
      </p:sp>
      <p:sp>
        <p:nvSpPr>
          <p:cNvPr id="16" name="Rectangle 15">
            <a:extLst xmlns:a="http://schemas.openxmlformats.org/drawingml/2006/main">
              <a:ext uri="{FF2B5EF4-FFF2-40B4-BE49-F238E27FC236}">
                <a16:creationId xmlns:a16="http://schemas.microsoft.com/office/drawing/2014/main" id="{2A52911B-CFF1-4CDC-B42B-93A3E66EF61D}"/>
              </a:ext>
            </a:extLst>
          </p:cNvPr>
          <p:cNvSpPr>
            <a:spLocks xmlns:a="http://schemas.openxmlformats.org/drawingml/2006/main" noGrp="1"/>
          </p:cNvSpPr>
          <p:nvPr/>
        </p:nvSpPr>
        <p:spPr>
          <a:xfrm xmlns:a="http://schemas.openxmlformats.org/drawingml/2006/main">
            <a:off x="5095875" y="2076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Original</a:t>
            </a:r>
          </a:p>
        </p:txBody>
      </p:sp>
      <p:sp>
        <p:nvSpPr>
          <p:cNvPr id="17" name="Rectangle 16">
            <a:extLst xmlns:a="http://schemas.openxmlformats.org/drawingml/2006/main">
              <a:ext uri="{FF2B5EF4-FFF2-40B4-BE49-F238E27FC236}">
                <a16:creationId xmlns:a16="http://schemas.microsoft.com/office/drawing/2014/main" id="{10D4A03B-11F2-429A-B676-B62BA18314B6}"/>
              </a:ext>
            </a:extLst>
          </p:cNvPr>
          <p:cNvSpPr>
            <a:spLocks xmlns:a="http://schemas.openxmlformats.org/drawingml/2006/main" noGrp="1"/>
          </p:cNvSpPr>
          <p:nvPr/>
        </p:nvSpPr>
        <p:spPr>
          <a:xfrm xmlns:a="http://schemas.openxmlformats.org/drawingml/2006/main">
            <a:off x="5095875" y="26479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After deblocking</a:t>
            </a:r>
          </a:p>
        </p:txBody>
      </p:sp>
      <p:sp>
        <p:nvSpPr>
          <p:cNvPr id="18" name="Rectangle 17">
            <a:extLst xmlns:a="http://schemas.openxmlformats.org/drawingml/2006/main">
              <a:ext uri="{FF2B5EF4-FFF2-40B4-BE49-F238E27FC236}">
                <a16:creationId xmlns:a16="http://schemas.microsoft.com/office/drawing/2014/main" id="{5788319F-511D-4E31-A8CD-9C47522AFA97}"/>
              </a:ext>
            </a:extLst>
          </p:cNvPr>
          <p:cNvSpPr>
            <a:spLocks xmlns:a="http://schemas.openxmlformats.org/drawingml/2006/main" noGrp="1"/>
          </p:cNvSpPr>
          <p:nvPr/>
        </p:nvSpPr>
        <p:spPr>
          <a:xfrm xmlns:a="http://schemas.openxmlformats.org/drawingml/2006/main">
            <a:off x="5095875" y="3219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Error</a:t>
            </a:r>
          </a:p>
        </p:txBody>
      </p:sp>
      <p:sp>
        <p:nvSpPr>
          <p:cNvPr id="19" name="Rectangle 18">
            <a:extLst xmlns:a="http://schemas.openxmlformats.org/drawingml/2006/main">
              <a:ext uri="{FF2B5EF4-FFF2-40B4-BE49-F238E27FC236}">
                <a16:creationId xmlns:a16="http://schemas.microsoft.com/office/drawing/2014/main" id="{15D1CD01-93D4-45C1-A994-DB496975A074}"/>
              </a:ext>
            </a:extLst>
          </p:cNvPr>
          <p:cNvSpPr>
            <a:spLocks xmlns:a="http://schemas.openxmlformats.org/drawingml/2006/main" noGrp="1"/>
          </p:cNvSpPr>
          <p:nvPr/>
        </p:nvSpPr>
        <p:spPr>
          <a:xfrm xmlns:a="http://schemas.openxmlformats.org/drawingml/2006/main">
            <a:off x="66675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140</a:t>
            </a:r>
          </a:p>
        </p:txBody>
      </p:sp>
      <p:sp>
        <p:nvSpPr>
          <p:cNvPr id="20" name="Rectangle 19">
            <a:extLst xmlns:a="http://schemas.openxmlformats.org/drawingml/2006/main">
              <a:ext uri="{FF2B5EF4-FFF2-40B4-BE49-F238E27FC236}">
                <a16:creationId xmlns:a16="http://schemas.microsoft.com/office/drawing/2014/main" id="{11C7C78F-8382-46C2-90B1-5E1625242742}"/>
              </a:ext>
            </a:extLst>
          </p:cNvPr>
          <p:cNvSpPr>
            <a:spLocks xmlns:a="http://schemas.openxmlformats.org/drawingml/2006/main" noGrp="1"/>
          </p:cNvSpPr>
          <p:nvPr/>
        </p:nvSpPr>
        <p:spPr>
          <a:xfrm xmlns:a="http://schemas.openxmlformats.org/drawingml/2006/main">
            <a:off x="75057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150</a:t>
            </a:r>
          </a:p>
        </p:txBody>
      </p:sp>
      <p:sp>
        <p:nvSpPr>
          <p:cNvPr id="21" name="Rectangle 20">
            <a:extLst xmlns:a="http://schemas.openxmlformats.org/drawingml/2006/main">
              <a:ext uri="{FF2B5EF4-FFF2-40B4-BE49-F238E27FC236}">
                <a16:creationId xmlns:a16="http://schemas.microsoft.com/office/drawing/2014/main" id="{AB20E1D9-3AB2-46AD-A3AA-6AF88ABD14B7}"/>
              </a:ext>
            </a:extLst>
          </p:cNvPr>
          <p:cNvSpPr>
            <a:spLocks xmlns:a="http://schemas.openxmlformats.org/drawingml/2006/main" noGrp="1"/>
          </p:cNvSpPr>
          <p:nvPr/>
        </p:nvSpPr>
        <p:spPr>
          <a:xfrm xmlns:a="http://schemas.openxmlformats.org/drawingml/2006/main">
            <a:off x="83439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140</a:t>
            </a:r>
          </a:p>
        </p:txBody>
      </p:sp>
      <p:sp>
        <p:nvSpPr>
          <p:cNvPr id="22" name="Rectangle 21">
            <a:extLst xmlns:a="http://schemas.openxmlformats.org/drawingml/2006/main">
              <a:ext uri="{FF2B5EF4-FFF2-40B4-BE49-F238E27FC236}">
                <a16:creationId xmlns:a16="http://schemas.microsoft.com/office/drawing/2014/main" id="{9CB7FB55-C907-4B15-8296-E6254409E79D}"/>
              </a:ext>
            </a:extLst>
          </p:cNvPr>
          <p:cNvSpPr>
            <a:spLocks xmlns:a="http://schemas.openxmlformats.org/drawingml/2006/main" noGrp="1"/>
          </p:cNvSpPr>
          <p:nvPr/>
        </p:nvSpPr>
        <p:spPr>
          <a:xfrm xmlns:a="http://schemas.openxmlformats.org/drawingml/2006/main">
            <a:off x="91821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135</a:t>
            </a:r>
          </a:p>
        </p:txBody>
      </p:sp>
      <p:sp>
        <p:nvSpPr>
          <p:cNvPr id="23" name="Rectangle 22">
            <a:extLst xmlns:a="http://schemas.openxmlformats.org/drawingml/2006/main">
              <a:ext uri="{FF2B5EF4-FFF2-40B4-BE49-F238E27FC236}">
                <a16:creationId xmlns:a16="http://schemas.microsoft.com/office/drawing/2014/main" id="{06CCAB44-FFB2-4527-B1D1-EB0B57BBB522}"/>
              </a:ext>
            </a:extLst>
          </p:cNvPr>
          <p:cNvSpPr>
            <a:spLocks xmlns:a="http://schemas.openxmlformats.org/drawingml/2006/main" noGrp="1"/>
          </p:cNvSpPr>
          <p:nvPr/>
        </p:nvSpPr>
        <p:spPr>
          <a:xfrm xmlns:a="http://schemas.openxmlformats.org/drawingml/2006/main">
            <a:off x="10020300" y="2038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145</a:t>
            </a:r>
          </a:p>
        </p:txBody>
      </p:sp>
      <p:sp>
        <p:nvSpPr>
          <p:cNvPr id="24" name="Rectangle 23">
            <a:extLst xmlns:a="http://schemas.openxmlformats.org/drawingml/2006/main">
              <a:ext uri="{FF2B5EF4-FFF2-40B4-BE49-F238E27FC236}">
                <a16:creationId xmlns:a16="http://schemas.microsoft.com/office/drawing/2014/main" id="{9C84EF5E-6292-4827-B468-333213A5DF58}"/>
              </a:ext>
            </a:extLst>
          </p:cNvPr>
          <p:cNvSpPr>
            <a:spLocks xmlns:a="http://schemas.openxmlformats.org/drawingml/2006/main" noGrp="1"/>
          </p:cNvSpPr>
          <p:nvPr/>
        </p:nvSpPr>
        <p:spPr>
          <a:xfrm xmlns:a="http://schemas.openxmlformats.org/drawingml/2006/main">
            <a:off x="6667500" y="2609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141</a:t>
            </a:r>
          </a:p>
        </p:txBody>
      </p:sp>
      <p:sp>
        <p:nvSpPr>
          <p:cNvPr id="25" name="Rectangle 24">
            <a:extLst xmlns:a="http://schemas.openxmlformats.org/drawingml/2006/main">
              <a:ext uri="{FF2B5EF4-FFF2-40B4-BE49-F238E27FC236}">
                <a16:creationId xmlns:a16="http://schemas.microsoft.com/office/drawing/2014/main" id="{D55AE948-8C6F-48B1-B31A-544E0E626237}"/>
              </a:ext>
            </a:extLst>
          </p:cNvPr>
          <p:cNvSpPr>
            <a:spLocks xmlns:a="http://schemas.openxmlformats.org/drawingml/2006/main" noGrp="1"/>
          </p:cNvSpPr>
          <p:nvPr/>
        </p:nvSpPr>
        <p:spPr>
          <a:xfrm xmlns:a="http://schemas.openxmlformats.org/drawingml/2006/main">
            <a:off x="7505700" y="2609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F6577"/>
                </a:solidFill>
                <a:latin typeface="Arial"/>
                <a:ea typeface="Arial"/>
                <a:cs typeface="Arial"/>
              </a:defRPr>
            </a:pPr>
            <a:r>
              <a:rPr sz="1725" b="1">
                <a:solidFill>
                  <a:srgbClr val="FF6577"/>
                </a:solidFill>
                <a:latin typeface="Arial"/>
                <a:ea typeface="Arial"/>
                <a:cs typeface="Arial"/>
              </a:rPr>
              <a:t>154</a:t>
            </a:r>
          </a:p>
        </p:txBody>
      </p:sp>
      <p:sp>
        <p:nvSpPr>
          <p:cNvPr id="26" name="Rectangle 25">
            <a:extLst xmlns:a="http://schemas.openxmlformats.org/drawingml/2006/main">
              <a:ext uri="{FF2B5EF4-FFF2-40B4-BE49-F238E27FC236}">
                <a16:creationId xmlns:a16="http://schemas.microsoft.com/office/drawing/2014/main" id="{1EAEE968-590B-41A0-B149-78C86A75FAD4}"/>
              </a:ext>
            </a:extLst>
          </p:cNvPr>
          <p:cNvSpPr>
            <a:spLocks xmlns:a="http://schemas.openxmlformats.org/drawingml/2006/main" noGrp="1"/>
          </p:cNvSpPr>
          <p:nvPr/>
        </p:nvSpPr>
        <p:spPr>
          <a:xfrm xmlns:a="http://schemas.openxmlformats.org/drawingml/2006/main">
            <a:off x="8343900" y="2609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139</a:t>
            </a:r>
          </a:p>
        </p:txBody>
      </p:sp>
      <p:sp>
        <p:nvSpPr>
          <p:cNvPr id="27" name="Rectangle 26">
            <a:extLst xmlns:a="http://schemas.openxmlformats.org/drawingml/2006/main">
              <a:ext uri="{FF2B5EF4-FFF2-40B4-BE49-F238E27FC236}">
                <a16:creationId xmlns:a16="http://schemas.microsoft.com/office/drawing/2014/main" id="{2C0F9D8E-D782-42B0-9BD4-CFFD7257D916}"/>
              </a:ext>
            </a:extLst>
          </p:cNvPr>
          <p:cNvSpPr>
            <a:spLocks xmlns:a="http://schemas.openxmlformats.org/drawingml/2006/main" noGrp="1"/>
          </p:cNvSpPr>
          <p:nvPr/>
        </p:nvSpPr>
        <p:spPr>
          <a:xfrm xmlns:a="http://schemas.openxmlformats.org/drawingml/2006/main">
            <a:off x="9182100" y="2609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2E9BFF"/>
                </a:solidFill>
                <a:latin typeface="Arial"/>
                <a:ea typeface="Arial"/>
                <a:cs typeface="Arial"/>
              </a:defRPr>
            </a:pPr>
            <a:r>
              <a:rPr sz="1725" b="1">
                <a:solidFill>
                  <a:srgbClr val="2E9BFF"/>
                </a:solidFill>
                <a:latin typeface="Arial"/>
                <a:ea typeface="Arial"/>
                <a:cs typeface="Arial"/>
              </a:rPr>
              <a:t>131</a:t>
            </a:r>
          </a:p>
        </p:txBody>
      </p:sp>
      <p:sp>
        <p:nvSpPr>
          <p:cNvPr id="28" name="Rectangle 27">
            <a:extLst xmlns:a="http://schemas.openxmlformats.org/drawingml/2006/main">
              <a:ext uri="{FF2B5EF4-FFF2-40B4-BE49-F238E27FC236}">
                <a16:creationId xmlns:a16="http://schemas.microsoft.com/office/drawing/2014/main" id="{4A8EC235-8033-4DE6-B3FE-1116FB947D16}"/>
              </a:ext>
            </a:extLst>
          </p:cNvPr>
          <p:cNvSpPr>
            <a:spLocks xmlns:a="http://schemas.openxmlformats.org/drawingml/2006/main" noGrp="1"/>
          </p:cNvSpPr>
          <p:nvPr/>
        </p:nvSpPr>
        <p:spPr>
          <a:xfrm xmlns:a="http://schemas.openxmlformats.org/drawingml/2006/main">
            <a:off x="10020300" y="2609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144</a:t>
            </a:r>
          </a:p>
        </p:txBody>
      </p:sp>
      <p:sp>
        <p:nvSpPr>
          <p:cNvPr id="29" name="Rectangle 28">
            <a:extLst xmlns:a="http://schemas.openxmlformats.org/drawingml/2006/main">
              <a:ext uri="{FF2B5EF4-FFF2-40B4-BE49-F238E27FC236}">
                <a16:creationId xmlns:a16="http://schemas.microsoft.com/office/drawing/2014/main" id="{1EFB3C77-D984-45D2-ACC5-3E2E76CEEF05}"/>
              </a:ext>
            </a:extLst>
          </p:cNvPr>
          <p:cNvSpPr>
            <a:spLocks xmlns:a="http://schemas.openxmlformats.org/drawingml/2006/main" noGrp="1"/>
          </p:cNvSpPr>
          <p:nvPr/>
        </p:nvSpPr>
        <p:spPr>
          <a:xfrm xmlns:a="http://schemas.openxmlformats.org/drawingml/2006/main">
            <a:off x="6667500" y="3181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AFC0D0"/>
                </a:solidFill>
                <a:latin typeface="Arial"/>
                <a:ea typeface="Arial"/>
                <a:cs typeface="Arial"/>
              </a:defRPr>
            </a:pPr>
            <a:r>
              <a:rPr sz="1575" b="1">
                <a:solidFill>
                  <a:srgbClr val="AFC0D0"/>
                </a:solidFill>
                <a:latin typeface="Arial"/>
                <a:ea typeface="Arial"/>
                <a:cs typeface="Arial"/>
              </a:rPr>
              <a:t>+1</a:t>
            </a:r>
          </a:p>
        </p:txBody>
      </p:sp>
      <p:sp>
        <p:nvSpPr>
          <p:cNvPr id="30" name="Rectangle 29">
            <a:extLst xmlns:a="http://schemas.openxmlformats.org/drawingml/2006/main">
              <a:ext uri="{FF2B5EF4-FFF2-40B4-BE49-F238E27FC236}">
                <a16:creationId xmlns:a16="http://schemas.microsoft.com/office/drawing/2014/main" id="{7BA5F2AD-F13F-4929-8DD2-9F53D6272CB9}"/>
              </a:ext>
            </a:extLst>
          </p:cNvPr>
          <p:cNvSpPr>
            <a:spLocks xmlns:a="http://schemas.openxmlformats.org/drawingml/2006/main" noGrp="1"/>
          </p:cNvSpPr>
          <p:nvPr/>
        </p:nvSpPr>
        <p:spPr>
          <a:xfrm xmlns:a="http://schemas.openxmlformats.org/drawingml/2006/main">
            <a:off x="7505700" y="3181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FF6577"/>
                </a:solidFill>
                <a:latin typeface="Arial"/>
                <a:ea typeface="Arial"/>
                <a:cs typeface="Arial"/>
              </a:defRPr>
            </a:pPr>
            <a:r>
              <a:rPr sz="1575" b="1">
                <a:solidFill>
                  <a:srgbClr val="FF6577"/>
                </a:solidFill>
                <a:latin typeface="Arial"/>
                <a:ea typeface="Arial"/>
                <a:cs typeface="Arial"/>
              </a:rPr>
              <a:t>+4</a:t>
            </a:r>
          </a:p>
        </p:txBody>
      </p:sp>
      <p:sp>
        <p:nvSpPr>
          <p:cNvPr id="31" name="Rectangle 30">
            <a:extLst xmlns:a="http://schemas.openxmlformats.org/drawingml/2006/main">
              <a:ext uri="{FF2B5EF4-FFF2-40B4-BE49-F238E27FC236}">
                <a16:creationId xmlns:a16="http://schemas.microsoft.com/office/drawing/2014/main" id="{3C9D56B0-2E50-478C-BEF5-8756D6C2CE1D}"/>
              </a:ext>
            </a:extLst>
          </p:cNvPr>
          <p:cNvSpPr>
            <a:spLocks xmlns:a="http://schemas.openxmlformats.org/drawingml/2006/main" noGrp="1"/>
          </p:cNvSpPr>
          <p:nvPr/>
        </p:nvSpPr>
        <p:spPr>
          <a:xfrm xmlns:a="http://schemas.openxmlformats.org/drawingml/2006/main">
            <a:off x="8343900" y="3181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AFC0D0"/>
                </a:solidFill>
                <a:latin typeface="Arial"/>
                <a:ea typeface="Arial"/>
                <a:cs typeface="Arial"/>
              </a:defRPr>
            </a:pPr>
            <a:r>
              <a:rPr sz="1575" b="1">
                <a:solidFill>
                  <a:srgbClr val="AFC0D0"/>
                </a:solidFill>
                <a:latin typeface="Arial"/>
                <a:ea typeface="Arial"/>
                <a:cs typeface="Arial"/>
              </a:rPr>
              <a:t>-1</a:t>
            </a:r>
          </a:p>
        </p:txBody>
      </p:sp>
      <p:sp>
        <p:nvSpPr>
          <p:cNvPr id="32" name="Rectangle 31">
            <a:extLst xmlns:a="http://schemas.openxmlformats.org/drawingml/2006/main">
              <a:ext uri="{FF2B5EF4-FFF2-40B4-BE49-F238E27FC236}">
                <a16:creationId xmlns:a16="http://schemas.microsoft.com/office/drawing/2014/main" id="{4D450D63-60E8-4534-B1EE-012DA7201310}"/>
              </a:ext>
            </a:extLst>
          </p:cNvPr>
          <p:cNvSpPr>
            <a:spLocks xmlns:a="http://schemas.openxmlformats.org/drawingml/2006/main" noGrp="1"/>
          </p:cNvSpPr>
          <p:nvPr/>
        </p:nvSpPr>
        <p:spPr>
          <a:xfrm xmlns:a="http://schemas.openxmlformats.org/drawingml/2006/main">
            <a:off x="9182100" y="3181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2E9BFF"/>
                </a:solidFill>
                <a:latin typeface="Arial"/>
                <a:ea typeface="Arial"/>
                <a:cs typeface="Arial"/>
              </a:defRPr>
            </a:pPr>
            <a:r>
              <a:rPr sz="1575" b="1">
                <a:solidFill>
                  <a:srgbClr val="2E9BFF"/>
                </a:solidFill>
                <a:latin typeface="Arial"/>
                <a:ea typeface="Arial"/>
                <a:cs typeface="Arial"/>
              </a:rPr>
              <a:t>-4</a:t>
            </a:r>
          </a:p>
        </p:txBody>
      </p:sp>
      <p:sp>
        <p:nvSpPr>
          <p:cNvPr id="33" name="Rectangle 32">
            <a:extLst xmlns:a="http://schemas.openxmlformats.org/drawingml/2006/main">
              <a:ext uri="{FF2B5EF4-FFF2-40B4-BE49-F238E27FC236}">
                <a16:creationId xmlns:a16="http://schemas.microsoft.com/office/drawing/2014/main" id="{E620E501-DC08-4AC6-87E6-CA66DA3F9901}"/>
              </a:ext>
            </a:extLst>
          </p:cNvPr>
          <p:cNvSpPr>
            <a:spLocks xmlns:a="http://schemas.openxmlformats.org/drawingml/2006/main" noGrp="1"/>
          </p:cNvSpPr>
          <p:nvPr/>
        </p:nvSpPr>
        <p:spPr>
          <a:xfrm xmlns:a="http://schemas.openxmlformats.org/drawingml/2006/main">
            <a:off x="10020300" y="3181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AFC0D0"/>
                </a:solidFill>
                <a:latin typeface="Arial"/>
                <a:ea typeface="Arial"/>
                <a:cs typeface="Arial"/>
              </a:defRPr>
            </a:pPr>
            <a:r>
              <a:rPr sz="1575" b="1">
                <a:solidFill>
                  <a:srgbClr val="AFC0D0"/>
                </a:solidFill>
                <a:latin typeface="Arial"/>
                <a:ea typeface="Arial"/>
                <a:cs typeface="Arial"/>
              </a:rPr>
              <a:t>-1</a:t>
            </a:r>
          </a:p>
        </p:txBody>
      </p:sp>
      <p:sp>
        <p:nvSpPr>
          <p:cNvPr id="34" name="Rectangle: Rounded Corners 33">
            <a:extLst xmlns:a="http://schemas.openxmlformats.org/drawingml/2006/main">
              <a:ext uri="{FF2B5EF4-FFF2-40B4-BE49-F238E27FC236}">
                <a16:creationId xmlns:a16="http://schemas.microsoft.com/office/drawing/2014/main" id="{8D90AB6D-8778-4234-9BC9-B0139A664EBA}"/>
              </a:ext>
            </a:extLst>
          </p:cNvPr>
          <p:cNvSpPr>
            <a:spLocks xmlns:a="http://schemas.openxmlformats.org/drawingml/2006/main" noGrp="1"/>
          </p:cNvSpPr>
          <p:nvPr/>
        </p:nvSpPr>
        <p:spPr>
          <a:xfrm xmlns:a="http://schemas.openxmlformats.org/drawingml/2006/main">
            <a:off x="7429500" y="2514600"/>
            <a:ext cx="723900" cy="457200"/>
          </a:xfrm>
          <a:prstGeom xmlns:a="http://schemas.openxmlformats.org/drawingml/2006/main" prst="roundRect">
            <a:avLst>
              <a:gd name="adj" fmla="val 20833"/>
            </a:avLst>
          </a:prstGeom>
          <a:noFill xmlns:a="http://schemas.openxmlformats.org/drawingml/2006/main"/>
          <a:ln xmlns:a="http://schemas.openxmlformats.org/drawingml/2006/main" w="28575">
            <a:solidFill>
              <a:srgbClr val="FF6577"/>
            </a:solidFill>
            <a:prstDash val="solid"/>
          </a:ln>
        </p:spPr>
      </p:sp>
      <p:sp>
        <p:nvSpPr>
          <p:cNvPr id="35" name="Rectangle: Rounded Corners 34">
            <a:extLst xmlns:a="http://schemas.openxmlformats.org/drawingml/2006/main">
              <a:ext uri="{FF2B5EF4-FFF2-40B4-BE49-F238E27FC236}">
                <a16:creationId xmlns:a16="http://schemas.microsoft.com/office/drawing/2014/main" id="{0158D102-2B4D-4C80-A78C-B1DDEB1FE053}"/>
              </a:ext>
            </a:extLst>
          </p:cNvPr>
          <p:cNvSpPr>
            <a:spLocks xmlns:a="http://schemas.openxmlformats.org/drawingml/2006/main" noGrp="1"/>
          </p:cNvSpPr>
          <p:nvPr/>
        </p:nvSpPr>
        <p:spPr>
          <a:xfrm xmlns:a="http://schemas.openxmlformats.org/drawingml/2006/main">
            <a:off x="9105900" y="2514600"/>
            <a:ext cx="723900" cy="457200"/>
          </a:xfrm>
          <a:prstGeom xmlns:a="http://schemas.openxmlformats.org/drawingml/2006/main" prst="roundRect">
            <a:avLst>
              <a:gd name="adj" fmla="val 20833"/>
            </a:avLst>
          </a:prstGeom>
          <a:noFill xmlns:a="http://schemas.openxmlformats.org/drawingml/2006/main"/>
          <a:ln xmlns:a="http://schemas.openxmlformats.org/drawingml/2006/main" w="28575">
            <a:solidFill>
              <a:srgbClr val="2E9BFF"/>
            </a:solidFill>
            <a:prstDash val="solid"/>
          </a:ln>
        </p:spPr>
      </p:sp>
      <p:sp>
        <p:nvSpPr>
          <p:cNvPr id="36" name="Rectangle 35">
            <a:extLst xmlns:a="http://schemas.openxmlformats.org/drawingml/2006/main">
              <a:ext uri="{FF2B5EF4-FFF2-40B4-BE49-F238E27FC236}">
                <a16:creationId xmlns:a16="http://schemas.microsoft.com/office/drawing/2014/main" id="{8797271A-B265-41F7-849A-2FD1738A65B3}"/>
              </a:ext>
            </a:extLst>
          </p:cNvPr>
          <p:cNvSpPr>
            <a:spLocks xmlns:a="http://schemas.openxmlformats.org/drawingml/2006/main" noGrp="1"/>
          </p:cNvSpPr>
          <p:nvPr/>
        </p:nvSpPr>
        <p:spPr>
          <a:xfrm xmlns:a="http://schemas.openxmlformats.org/drawingml/2006/main">
            <a:off x="7048500" y="371475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F6577"/>
                </a:solidFill>
                <a:latin typeface="Arial"/>
                <a:ea typeface="Arial"/>
                <a:cs typeface="Arial"/>
              </a:defRPr>
            </a:pPr>
            <a:r>
              <a:rPr sz="1275" b="1">
                <a:solidFill>
                  <a:srgbClr val="FF6577"/>
                </a:solidFill>
                <a:latin typeface="Arial"/>
                <a:ea typeface="Arial"/>
                <a:cs typeface="Arial"/>
              </a:rPr>
              <a:t>154 is 4 too high</a:t>
            </a:r>
          </a:p>
        </p:txBody>
      </p:sp>
      <p:sp>
        <p:nvSpPr>
          <p:cNvPr id="37" name="Rectangle 36">
            <a:extLst xmlns:a="http://schemas.openxmlformats.org/drawingml/2006/main">
              <a:ext uri="{FF2B5EF4-FFF2-40B4-BE49-F238E27FC236}">
                <a16:creationId xmlns:a16="http://schemas.microsoft.com/office/drawing/2014/main" id="{3EA807FA-7943-4EEC-86B6-F27E72845433}"/>
              </a:ext>
            </a:extLst>
          </p:cNvPr>
          <p:cNvSpPr>
            <a:spLocks xmlns:a="http://schemas.openxmlformats.org/drawingml/2006/main" noGrp="1"/>
          </p:cNvSpPr>
          <p:nvPr/>
        </p:nvSpPr>
        <p:spPr>
          <a:xfrm xmlns:a="http://schemas.openxmlformats.org/drawingml/2006/main">
            <a:off x="8810625" y="371475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2E9BFF"/>
                </a:solidFill>
                <a:latin typeface="Arial"/>
                <a:ea typeface="Arial"/>
                <a:cs typeface="Arial"/>
              </a:defRPr>
            </a:pPr>
            <a:r>
              <a:rPr sz="1275" b="1">
                <a:solidFill>
                  <a:srgbClr val="2E9BFF"/>
                </a:solidFill>
                <a:latin typeface="Arial"/>
                <a:ea typeface="Arial"/>
                <a:cs typeface="Arial"/>
              </a:rPr>
              <a:t>131 is 4 too low</a:t>
            </a:r>
          </a:p>
        </p:txBody>
      </p:sp>
      <p:sp>
        <p:nvSpPr>
          <p:cNvPr id="38" name="Rectangle: Rounded Corners 37">
            <a:extLst xmlns:a="http://schemas.openxmlformats.org/drawingml/2006/main">
              <a:ext uri="{FF2B5EF4-FFF2-40B4-BE49-F238E27FC236}">
                <a16:creationId xmlns:a16="http://schemas.microsoft.com/office/drawing/2014/main" id="{89E75778-51F8-40B6-9E6B-CA660D0AF8BD}"/>
              </a:ext>
            </a:extLst>
          </p:cNvPr>
          <p:cNvSpPr>
            <a:spLocks xmlns:a="http://schemas.openxmlformats.org/drawingml/2006/main" noGrp="1"/>
          </p:cNvSpPr>
          <p:nvPr/>
        </p:nvSpPr>
        <p:spPr>
          <a:xfrm xmlns:a="http://schemas.openxmlformats.org/drawingml/2006/main">
            <a:off x="6572250" y="4238625"/>
            <a:ext cx="2095500" cy="514350"/>
          </a:xfrm>
          <a:prstGeom xmlns:a="http://schemas.openxmlformats.org/drawingml/2006/main" prst="roundRect">
            <a:avLst>
              <a:gd name="adj" fmla="val 22222"/>
            </a:avLst>
          </a:prstGeom>
          <a:solidFill xmlns:a="http://schemas.openxmlformats.org/drawingml/2006/main">
            <a:srgbClr val="2A1720"/>
          </a:solidFill>
          <a:ln xmlns:a="http://schemas.openxmlformats.org/drawingml/2006/main" w="19050">
            <a:solidFill>
              <a:srgbClr val="FF6577"/>
            </a:solidFill>
            <a:prstDash val="solid"/>
          </a:ln>
        </p:spPr>
      </p:sp>
      <p:sp>
        <p:nvSpPr>
          <p:cNvPr id="39" name="Rectangle 38">
            <a:extLst xmlns:a="http://schemas.openxmlformats.org/drawingml/2006/main">
              <a:ext uri="{FF2B5EF4-FFF2-40B4-BE49-F238E27FC236}">
                <a16:creationId xmlns:a16="http://schemas.microsoft.com/office/drawing/2014/main" id="{7AC4722B-9839-46CD-9657-4219F0FC6819}"/>
              </a:ext>
            </a:extLst>
          </p:cNvPr>
          <p:cNvSpPr>
            <a:spLocks xmlns:a="http://schemas.openxmlformats.org/drawingml/2006/main" noGrp="1"/>
          </p:cNvSpPr>
          <p:nvPr/>
        </p:nvSpPr>
        <p:spPr>
          <a:xfrm xmlns:a="http://schemas.openxmlformats.org/drawingml/2006/main">
            <a:off x="6686550" y="4333875"/>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SAO: 154 − 4 = 150</a:t>
            </a:r>
          </a:p>
        </p:txBody>
      </p:sp>
      <p:sp>
        <p:nvSpPr>
          <p:cNvPr id="40" name="Rectangle: Rounded Corners 39">
            <a:extLst xmlns:a="http://schemas.openxmlformats.org/drawingml/2006/main">
              <a:ext uri="{FF2B5EF4-FFF2-40B4-BE49-F238E27FC236}">
                <a16:creationId xmlns:a16="http://schemas.microsoft.com/office/drawing/2014/main" id="{F842654C-BF79-4E9F-8646-60EC45F0CB1D}"/>
              </a:ext>
            </a:extLst>
          </p:cNvPr>
          <p:cNvSpPr>
            <a:spLocks xmlns:a="http://schemas.openxmlformats.org/drawingml/2006/main" noGrp="1"/>
          </p:cNvSpPr>
          <p:nvPr/>
        </p:nvSpPr>
        <p:spPr>
          <a:xfrm xmlns:a="http://schemas.openxmlformats.org/drawingml/2006/main">
            <a:off x="8858250" y="4238625"/>
            <a:ext cx="2095500" cy="514350"/>
          </a:xfrm>
          <a:prstGeom xmlns:a="http://schemas.openxmlformats.org/drawingml/2006/main" prst="roundRect">
            <a:avLst>
              <a:gd name="adj" fmla="val 22222"/>
            </a:avLst>
          </a:prstGeom>
          <a:solidFill xmlns:a="http://schemas.openxmlformats.org/drawingml/2006/main">
            <a:srgbClr val="0B2033"/>
          </a:solidFill>
          <a:ln xmlns:a="http://schemas.openxmlformats.org/drawingml/2006/main" w="19050">
            <a:solidFill>
              <a:srgbClr val="2E9BFF"/>
            </a:solidFill>
            <a:prstDash val="solid"/>
          </a:ln>
        </p:spPr>
      </p:sp>
      <p:sp>
        <p:nvSpPr>
          <p:cNvPr id="41" name="Rectangle 40">
            <a:extLst xmlns:a="http://schemas.openxmlformats.org/drawingml/2006/main">
              <a:ext uri="{FF2B5EF4-FFF2-40B4-BE49-F238E27FC236}">
                <a16:creationId xmlns:a16="http://schemas.microsoft.com/office/drawing/2014/main" id="{D81C56A8-E400-4652-A8C2-BD8F70C30B3A}"/>
              </a:ext>
            </a:extLst>
          </p:cNvPr>
          <p:cNvSpPr>
            <a:spLocks xmlns:a="http://schemas.openxmlformats.org/drawingml/2006/main" noGrp="1"/>
          </p:cNvSpPr>
          <p:nvPr/>
        </p:nvSpPr>
        <p:spPr>
          <a:xfrm xmlns:a="http://schemas.openxmlformats.org/drawingml/2006/main">
            <a:off x="8972550" y="4333875"/>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SAO: 131 + 4 = 135</a:t>
            </a:r>
          </a:p>
        </p:txBody>
      </p:sp>
      <p:sp>
        <p:nvSpPr>
          <p:cNvPr id="42" name="Rectangle: Rounded Corners 41">
            <a:extLst xmlns:a="http://schemas.openxmlformats.org/drawingml/2006/main">
              <a:ext uri="{FF2B5EF4-FFF2-40B4-BE49-F238E27FC236}">
                <a16:creationId xmlns:a16="http://schemas.microsoft.com/office/drawing/2014/main" id="{E675B519-26AE-458C-9037-3A76BA636446}"/>
              </a:ext>
            </a:extLst>
          </p:cNvPr>
          <p:cNvSpPr>
            <a:spLocks xmlns:a="http://schemas.openxmlformats.org/drawingml/2006/main" noGrp="1"/>
          </p:cNvSpPr>
          <p:nvPr/>
        </p:nvSpPr>
        <p:spPr>
          <a:xfrm xmlns:a="http://schemas.openxmlformats.org/drawingml/2006/main">
            <a:off x="1047750" y="5619750"/>
            <a:ext cx="4953000" cy="590550"/>
          </a:xfrm>
          <a:prstGeom xmlns:a="http://schemas.openxmlformats.org/drawingml/2006/main" prst="roundRect">
            <a:avLst>
              <a:gd name="adj" fmla="val 19355"/>
            </a:avLst>
          </a:prstGeom>
          <a:solidFill xmlns:a="http://schemas.openxmlformats.org/drawingml/2006/main">
            <a:srgbClr val="092034"/>
          </a:solidFill>
          <a:ln xmlns:a="http://schemas.openxmlformats.org/drawingml/2006/main" w="19050">
            <a:solidFill>
              <a:srgbClr val="22D3EE"/>
            </a:solidFill>
            <a:prstDash val="solid"/>
          </a:ln>
        </p:spPr>
      </p:sp>
      <p:sp>
        <p:nvSpPr>
          <p:cNvPr id="43" name="Rectangle 42">
            <a:extLst xmlns:a="http://schemas.openxmlformats.org/drawingml/2006/main">
              <a:ext uri="{FF2B5EF4-FFF2-40B4-BE49-F238E27FC236}">
                <a16:creationId xmlns:a16="http://schemas.microsoft.com/office/drawing/2014/main" id="{4414EE47-91B2-46B5-8A57-DC92C8BAB5FB}"/>
              </a:ext>
            </a:extLst>
          </p:cNvPr>
          <p:cNvSpPr>
            <a:spLocks xmlns:a="http://schemas.openxmlformats.org/drawingml/2006/main" noGrp="1"/>
          </p:cNvSpPr>
          <p:nvPr/>
        </p:nvSpPr>
        <p:spPr>
          <a:xfrm xmlns:a="http://schemas.openxmlformats.org/drawingml/2006/main">
            <a:off x="1162050" y="5715000"/>
            <a:ext cx="472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Deblocking cannot fix these samples because they are not a boundary discontinuity.</a:t>
            </a:r>
          </a:p>
        </p:txBody>
      </p:sp>
      <p:sp>
        <p:nvSpPr>
          <p:cNvPr id="44" name="Rectangle: Rounded Corners 43">
            <a:extLst xmlns:a="http://schemas.openxmlformats.org/drawingml/2006/main">
              <a:ext uri="{FF2B5EF4-FFF2-40B4-BE49-F238E27FC236}">
                <a16:creationId xmlns:a16="http://schemas.microsoft.com/office/drawing/2014/main" id="{8F8B39D2-3C8A-4326-8160-CF699F041C6C}"/>
              </a:ext>
            </a:extLst>
          </p:cNvPr>
          <p:cNvSpPr>
            <a:spLocks xmlns:a="http://schemas.openxmlformats.org/drawingml/2006/main" noGrp="1"/>
          </p:cNvSpPr>
          <p:nvPr/>
        </p:nvSpPr>
        <p:spPr>
          <a:xfrm xmlns:a="http://schemas.openxmlformats.org/drawingml/2006/main">
            <a:off x="6191250" y="5619750"/>
            <a:ext cx="4953000" cy="590550"/>
          </a:xfrm>
          <a:prstGeom xmlns:a="http://schemas.openxmlformats.org/drawingml/2006/main" prst="roundRect">
            <a:avLst>
              <a:gd name="adj" fmla="val 19355"/>
            </a:avLst>
          </a:prstGeom>
          <a:solidFill xmlns:a="http://schemas.openxmlformats.org/drawingml/2006/main">
            <a:srgbClr val="132536"/>
          </a:solidFill>
          <a:ln xmlns:a="http://schemas.openxmlformats.org/drawingml/2006/main" w="19050">
            <a:solidFill>
              <a:srgbClr val="FFB84D"/>
            </a:solidFill>
            <a:prstDash val="solid"/>
          </a:ln>
        </p:spPr>
      </p:sp>
      <p:sp>
        <p:nvSpPr>
          <p:cNvPr id="45" name="Rectangle 44">
            <a:extLst xmlns:a="http://schemas.openxmlformats.org/drawingml/2006/main">
              <a:ext uri="{FF2B5EF4-FFF2-40B4-BE49-F238E27FC236}">
                <a16:creationId xmlns:a16="http://schemas.microsoft.com/office/drawing/2014/main" id="{8452EC4F-72ED-42FA-AF58-31E6C8B7AEA0}"/>
              </a:ext>
            </a:extLst>
          </p:cNvPr>
          <p:cNvSpPr>
            <a:spLocks xmlns:a="http://schemas.openxmlformats.org/drawingml/2006/main" noGrp="1"/>
          </p:cNvSpPr>
          <p:nvPr/>
        </p:nvSpPr>
        <p:spPr>
          <a:xfrm xmlns:a="http://schemas.openxmlformats.org/drawingml/2006/main">
            <a:off x="6305550" y="5715000"/>
            <a:ext cx="472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114"/>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SAO classifies the reconstructed samples and applies signaled offsets.</a:t>
            </a:r>
          </a:p>
        </p:txBody>
      </p:sp>
    </p:spTree>
    <p:extLst>
      <p:ext uri="{BB962C8B-B14F-4D97-AF65-F5344CB8AC3E}">
        <p14:creationId xmlns:p14="http://schemas.microsoft.com/office/powerpoint/2010/main" val="24975190"/>
      </p:ext>
    </p:extLst>
  </p:cSld>
</p:sld>
</file>

<file path=ppt/slides/slide31.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5" name="Oval 24">
            <a:extLst xmlns:a="http://schemas.openxmlformats.org/drawingml/2006/main">
              <a:ext uri="{FF2B5EF4-FFF2-40B4-BE49-F238E27FC236}">
                <a16:creationId xmlns:a16="http://schemas.microsoft.com/office/drawing/2014/main" id="{D02B8CC8-B0C8-4F77-99B6-35617C806269}"/>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E65FF600-11D7-4F95-8FE9-26F3B167C265}"/>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01244A95-5EF5-4E49-9B76-4E8D7AEF8F2D}"/>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Edge Offset classifies samples by local shape</a:t>
            </a:r>
          </a:p>
        </p:txBody>
      </p:sp>
      <p:sp>
        <p:nvSpPr>
          <p:cNvPr id="4" name="Straight Connector 3">
            <a:extLst xmlns:a="http://schemas.openxmlformats.org/drawingml/2006/main">
              <a:ext uri="{FF2B5EF4-FFF2-40B4-BE49-F238E27FC236}">
                <a16:creationId xmlns:a16="http://schemas.microsoft.com/office/drawing/2014/main" id="{61EEDBD5-06F6-4A17-BF0A-6573E22A8B4B}"/>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38DBD221-30F3-449D-8267-C7907E5E0977}"/>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One direction applies across the region, and every reconstructed sample enters one of five categories</a:t>
            </a:r>
          </a:p>
        </p:txBody>
      </p:sp>
      <p:sp>
        <p:nvSpPr>
          <p:cNvPr id="6" name="Rectangle 5">
            <a:extLst xmlns:a="http://schemas.openxmlformats.org/drawingml/2006/main">
              <a:ext uri="{FF2B5EF4-FFF2-40B4-BE49-F238E27FC236}">
                <a16:creationId xmlns:a16="http://schemas.microsoft.com/office/drawing/2014/main" id="{CE3BF297-E99C-44C5-AF36-36CF1CEF4F0B}"/>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DDDCECC6-BDE7-4DD4-9F21-12EE2FADA8E4}"/>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31 / 49</a:t>
            </a:r>
          </a:p>
        </p:txBody>
      </p:sp>
      <p:sp>
        <p:nvSpPr>
          <p:cNvPr id="8" name="Rectangle 7">
            <a:extLst xmlns:a="http://schemas.openxmlformats.org/drawingml/2006/main">
              <a:ext uri="{FF2B5EF4-FFF2-40B4-BE49-F238E27FC236}">
                <a16:creationId xmlns:a16="http://schemas.microsoft.com/office/drawing/2014/main" id="{492AEB23-9672-4458-B698-FFDFC97BFE62}"/>
              </a:ext>
            </a:extLst>
          </p:cNvPr>
          <p:cNvSpPr>
            <a:spLocks xmlns:a="http://schemas.openxmlformats.org/drawingml/2006/main" noGrp="1"/>
          </p:cNvSpPr>
          <p:nvPr/>
        </p:nvSpPr>
        <p:spPr>
          <a:xfrm xmlns:a="http://schemas.openxmlformats.org/drawingml/2006/main">
            <a:off x="619125" y="1428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22D3EE"/>
                </a:solidFill>
                <a:latin typeface="Arial"/>
                <a:ea typeface="Arial"/>
                <a:cs typeface="Arial"/>
              </a:defRPr>
            </a:pPr>
            <a:r>
              <a:rPr sz="1425" b="1">
                <a:solidFill>
                  <a:srgbClr val="22D3EE"/>
                </a:solidFill>
                <a:latin typeface="Arial"/>
                <a:ea typeface="Arial"/>
                <a:cs typeface="Arial"/>
              </a:rPr>
              <a:t>ONE OF FOUR DIRECTIONS</a:t>
            </a:r>
          </a:p>
        </p:txBody>
      </p:sp>
      <p:sp>
        <p:nvSpPr>
          <p:cNvPr id="9" name="Oval 8">
            <a:extLst xmlns:a="http://schemas.openxmlformats.org/drawingml/2006/main">
              <a:ext uri="{FF2B5EF4-FFF2-40B4-BE49-F238E27FC236}">
                <a16:creationId xmlns:a16="http://schemas.microsoft.com/office/drawing/2014/main" id="{72E77B6F-F06C-4BAA-A08B-FC0C51EAB2FF}"/>
              </a:ext>
            </a:extLst>
          </p:cNvPr>
          <p:cNvSpPr>
            <a:spLocks xmlns:a="http://schemas.openxmlformats.org/drawingml/2006/main" noGrp="1"/>
          </p:cNvSpPr>
          <p:nvPr/>
        </p:nvSpPr>
        <p:spPr>
          <a:xfrm xmlns:a="http://schemas.openxmlformats.org/drawingml/2006/main">
            <a:off x="666750" y="1952625"/>
            <a:ext cx="1000125" cy="1000125"/>
          </a:xfrm>
          <a:prstGeom xmlns:a="http://schemas.openxmlformats.org/drawingml/2006/main" prst="ellipse">
            <a:avLst/>
          </a:prstGeom>
          <a:solidFill xmlns:a="http://schemas.openxmlformats.org/drawingml/2006/main">
            <a:srgbClr val="0B2033"/>
          </a:solidFill>
          <a:ln xmlns:a="http://schemas.openxmlformats.org/drawingml/2006/main" w="19050">
            <a:solidFill>
              <a:srgbClr val="2E9BFF"/>
            </a:solidFill>
            <a:prstDash val="solid"/>
          </a:ln>
        </p:spPr>
      </p:sp>
      <p:sp>
        <p:nvSpPr>
          <p:cNvPr id="10" name="Straight Connector 9">
            <a:extLst xmlns:a="http://schemas.openxmlformats.org/drawingml/2006/main">
              <a:ext uri="{FF2B5EF4-FFF2-40B4-BE49-F238E27FC236}">
                <a16:creationId xmlns:a16="http://schemas.microsoft.com/office/drawing/2014/main" id="{F19A8648-0C7D-4E62-AF2A-84B4ADBF3A27}"/>
              </a:ext>
            </a:extLst>
          </p:cNvPr>
          <p:cNvSpPr>
            <a:spLocks xmlns:a="http://schemas.openxmlformats.org/drawingml/2006/main" noGrp="1"/>
          </p:cNvSpPr>
          <p:nvPr/>
        </p:nvSpPr>
        <p:spPr>
          <a:xfrm xmlns:a="http://schemas.openxmlformats.org/drawingml/2006/main">
            <a:off x="857250" y="2447925"/>
            <a:ext cx="619125" cy="9525"/>
          </a:xfrm>
          <a:prstGeom xmlns:a="http://schemas.openxmlformats.org/drawingml/2006/main" prst="line">
            <a:avLst/>
          </a:prstGeom>
          <a:noFill xmlns:a="http://schemas.openxmlformats.org/drawingml/2006/main"/>
          <a:ln xmlns:a="http://schemas.openxmlformats.org/drawingml/2006/main" w="38100">
            <a:solidFill>
              <a:srgbClr val="22D3EE"/>
            </a:solidFill>
            <a:prstDash val="solid"/>
          </a:ln>
        </p:spPr>
      </p:sp>
      <p:sp>
        <p:nvSpPr>
          <p:cNvPr id="11" name="Rectangle 10">
            <a:extLst xmlns:a="http://schemas.openxmlformats.org/drawingml/2006/main">
              <a:ext uri="{FF2B5EF4-FFF2-40B4-BE49-F238E27FC236}">
                <a16:creationId xmlns:a16="http://schemas.microsoft.com/office/drawing/2014/main" id="{35944B6C-8AB1-4803-A247-9B65B77190CE}"/>
              </a:ext>
            </a:extLst>
          </p:cNvPr>
          <p:cNvSpPr>
            <a:spLocks xmlns:a="http://schemas.openxmlformats.org/drawingml/2006/main" noGrp="1"/>
          </p:cNvSpPr>
          <p:nvPr/>
        </p:nvSpPr>
        <p:spPr>
          <a:xfrm xmlns:a="http://schemas.openxmlformats.org/drawingml/2006/main">
            <a:off x="666750" y="30003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0°</a:t>
            </a:r>
          </a:p>
        </p:txBody>
      </p:sp>
      <p:sp>
        <p:nvSpPr>
          <p:cNvPr id="12" name="Oval 11">
            <a:extLst xmlns:a="http://schemas.openxmlformats.org/drawingml/2006/main">
              <a:ext uri="{FF2B5EF4-FFF2-40B4-BE49-F238E27FC236}">
                <a16:creationId xmlns:a16="http://schemas.microsoft.com/office/drawing/2014/main" id="{4069A51C-53AB-44A5-AB0D-CE8B5D4053E5}"/>
              </a:ext>
            </a:extLst>
          </p:cNvPr>
          <p:cNvSpPr>
            <a:spLocks xmlns:a="http://schemas.openxmlformats.org/drawingml/2006/main" noGrp="1"/>
          </p:cNvSpPr>
          <p:nvPr/>
        </p:nvSpPr>
        <p:spPr>
          <a:xfrm xmlns:a="http://schemas.openxmlformats.org/drawingml/2006/main">
            <a:off x="2047875" y="1952625"/>
            <a:ext cx="1000125" cy="1000125"/>
          </a:xfrm>
          <a:prstGeom xmlns:a="http://schemas.openxmlformats.org/drawingml/2006/main" prst="ellipse">
            <a:avLst/>
          </a:prstGeom>
          <a:solidFill xmlns:a="http://schemas.openxmlformats.org/drawingml/2006/main">
            <a:srgbClr val="0B2033"/>
          </a:solidFill>
          <a:ln xmlns:a="http://schemas.openxmlformats.org/drawingml/2006/main" w="19050">
            <a:solidFill>
              <a:srgbClr val="2E9BFF"/>
            </a:solidFill>
            <a:prstDash val="solid"/>
          </a:ln>
        </p:spPr>
      </p:sp>
      <p:sp>
        <p:nvSpPr>
          <p:cNvPr id="13" name="Straight Connector 12">
            <a:extLst xmlns:a="http://schemas.openxmlformats.org/drawingml/2006/main">
              <a:ext uri="{FF2B5EF4-FFF2-40B4-BE49-F238E27FC236}">
                <a16:creationId xmlns:a16="http://schemas.microsoft.com/office/drawing/2014/main" id="{91497011-2F38-4947-8BD0-4DEF85DD68B7}"/>
              </a:ext>
            </a:extLst>
          </p:cNvPr>
          <p:cNvSpPr>
            <a:spLocks xmlns:a="http://schemas.openxmlformats.org/drawingml/2006/main" noGrp="1"/>
          </p:cNvSpPr>
          <p:nvPr/>
        </p:nvSpPr>
        <p:spPr>
          <a:xfrm xmlns:a="http://schemas.openxmlformats.org/drawingml/2006/main">
            <a:off x="2543175" y="2143125"/>
            <a:ext cx="9525" cy="619125"/>
          </a:xfrm>
          <a:prstGeom xmlns:a="http://schemas.openxmlformats.org/drawingml/2006/main" prst="line">
            <a:avLst/>
          </a:prstGeom>
          <a:noFill xmlns:a="http://schemas.openxmlformats.org/drawingml/2006/main"/>
          <a:ln xmlns:a="http://schemas.openxmlformats.org/drawingml/2006/main" w="38100">
            <a:solidFill>
              <a:srgbClr val="22D3EE"/>
            </a:solidFill>
            <a:prstDash val="solid"/>
          </a:ln>
        </p:spPr>
      </p:sp>
      <p:sp>
        <p:nvSpPr>
          <p:cNvPr id="14" name="Rectangle 13">
            <a:extLst xmlns:a="http://schemas.openxmlformats.org/drawingml/2006/main">
              <a:ext uri="{FF2B5EF4-FFF2-40B4-BE49-F238E27FC236}">
                <a16:creationId xmlns:a16="http://schemas.microsoft.com/office/drawing/2014/main" id="{0EECAA7A-08DB-4E43-85E3-B7962B0D80BF}"/>
              </a:ext>
            </a:extLst>
          </p:cNvPr>
          <p:cNvSpPr>
            <a:spLocks xmlns:a="http://schemas.openxmlformats.org/drawingml/2006/main" noGrp="1"/>
          </p:cNvSpPr>
          <p:nvPr/>
        </p:nvSpPr>
        <p:spPr>
          <a:xfrm xmlns:a="http://schemas.openxmlformats.org/drawingml/2006/main">
            <a:off x="2047875" y="30003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90°</a:t>
            </a:r>
          </a:p>
        </p:txBody>
      </p:sp>
      <p:sp>
        <p:nvSpPr>
          <p:cNvPr id="15" name="Oval 14">
            <a:extLst xmlns:a="http://schemas.openxmlformats.org/drawingml/2006/main">
              <a:ext uri="{FF2B5EF4-FFF2-40B4-BE49-F238E27FC236}">
                <a16:creationId xmlns:a16="http://schemas.microsoft.com/office/drawing/2014/main" id="{CBC9E8B0-8DD7-4AE0-999F-FDA8CCFFE13F}"/>
              </a:ext>
            </a:extLst>
          </p:cNvPr>
          <p:cNvSpPr>
            <a:spLocks xmlns:a="http://schemas.openxmlformats.org/drawingml/2006/main" noGrp="1"/>
          </p:cNvSpPr>
          <p:nvPr/>
        </p:nvSpPr>
        <p:spPr>
          <a:xfrm xmlns:a="http://schemas.openxmlformats.org/drawingml/2006/main">
            <a:off x="666750" y="3333750"/>
            <a:ext cx="1000125" cy="1000125"/>
          </a:xfrm>
          <a:prstGeom xmlns:a="http://schemas.openxmlformats.org/drawingml/2006/main" prst="ellipse">
            <a:avLst/>
          </a:prstGeom>
          <a:solidFill xmlns:a="http://schemas.openxmlformats.org/drawingml/2006/main">
            <a:srgbClr val="0B2033"/>
          </a:solidFill>
          <a:ln xmlns:a="http://schemas.openxmlformats.org/drawingml/2006/main" w="19050">
            <a:solidFill>
              <a:srgbClr val="2E9BFF"/>
            </a:solidFill>
            <a:prstDash val="solid"/>
          </a:ln>
        </p:spPr>
      </p:sp>
      <p:sp>
        <p:nvSpPr>
          <p:cNvPr id="16" name="Straight Connector 15">
            <a:extLst xmlns:a="http://schemas.openxmlformats.org/drawingml/2006/main">
              <a:ext uri="{FF2B5EF4-FFF2-40B4-BE49-F238E27FC236}">
                <a16:creationId xmlns:a16="http://schemas.microsoft.com/office/drawing/2014/main" id="{B3B2E105-6C74-4C93-A655-9C0746693BD0}"/>
              </a:ext>
            </a:extLst>
          </p:cNvPr>
          <p:cNvSpPr>
            <a:spLocks xmlns:a="http://schemas.openxmlformats.org/drawingml/2006/main" noGrp="1"/>
          </p:cNvSpPr>
          <p:nvPr/>
        </p:nvSpPr>
        <p:spPr>
          <a:xfrm xmlns:a="http://schemas.openxmlformats.org/drawingml/2006/main" flipV="1">
            <a:off x="876300" y="3543300"/>
            <a:ext cx="571500" cy="571500"/>
          </a:xfrm>
          <a:prstGeom xmlns:a="http://schemas.openxmlformats.org/drawingml/2006/main" prst="line">
            <a:avLst/>
          </a:prstGeom>
          <a:noFill xmlns:a="http://schemas.openxmlformats.org/drawingml/2006/main"/>
          <a:ln xmlns:a="http://schemas.openxmlformats.org/drawingml/2006/main" w="38100">
            <a:solidFill>
              <a:srgbClr val="22D3EE"/>
            </a:solidFill>
            <a:prstDash val="solid"/>
          </a:ln>
        </p:spPr>
      </p:sp>
      <p:sp>
        <p:nvSpPr>
          <p:cNvPr id="17" name="Rectangle 16">
            <a:extLst xmlns:a="http://schemas.openxmlformats.org/drawingml/2006/main">
              <a:ext uri="{FF2B5EF4-FFF2-40B4-BE49-F238E27FC236}">
                <a16:creationId xmlns:a16="http://schemas.microsoft.com/office/drawing/2014/main" id="{D8D6B6E6-F810-4436-ADEB-347322EFB5E6}"/>
              </a:ext>
            </a:extLst>
          </p:cNvPr>
          <p:cNvSpPr>
            <a:spLocks xmlns:a="http://schemas.openxmlformats.org/drawingml/2006/main" noGrp="1"/>
          </p:cNvSpPr>
          <p:nvPr/>
        </p:nvSpPr>
        <p:spPr>
          <a:xfrm xmlns:a="http://schemas.openxmlformats.org/drawingml/2006/main">
            <a:off x="666750" y="438150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135°</a:t>
            </a:r>
          </a:p>
        </p:txBody>
      </p:sp>
      <p:sp>
        <p:nvSpPr>
          <p:cNvPr id="18" name="Oval 17">
            <a:extLst xmlns:a="http://schemas.openxmlformats.org/drawingml/2006/main">
              <a:ext uri="{FF2B5EF4-FFF2-40B4-BE49-F238E27FC236}">
                <a16:creationId xmlns:a16="http://schemas.microsoft.com/office/drawing/2014/main" id="{29E81165-E11D-4F09-911B-F0471CCBFE69}"/>
              </a:ext>
            </a:extLst>
          </p:cNvPr>
          <p:cNvSpPr>
            <a:spLocks xmlns:a="http://schemas.openxmlformats.org/drawingml/2006/main" noGrp="1"/>
          </p:cNvSpPr>
          <p:nvPr/>
        </p:nvSpPr>
        <p:spPr>
          <a:xfrm xmlns:a="http://schemas.openxmlformats.org/drawingml/2006/main">
            <a:off x="2047875" y="3333750"/>
            <a:ext cx="1000125" cy="1000125"/>
          </a:xfrm>
          <a:prstGeom xmlns:a="http://schemas.openxmlformats.org/drawingml/2006/main" prst="ellipse">
            <a:avLst/>
          </a:prstGeom>
          <a:solidFill xmlns:a="http://schemas.openxmlformats.org/drawingml/2006/main">
            <a:srgbClr val="0B2033"/>
          </a:solidFill>
          <a:ln xmlns:a="http://schemas.openxmlformats.org/drawingml/2006/main" w="19050">
            <a:solidFill>
              <a:srgbClr val="2E9BFF"/>
            </a:solidFill>
            <a:prstDash val="solid"/>
          </a:ln>
        </p:spPr>
      </p:sp>
      <p:sp>
        <p:nvSpPr>
          <p:cNvPr id="19" name="Straight Connector 18">
            <a:extLst xmlns:a="http://schemas.openxmlformats.org/drawingml/2006/main">
              <a:ext uri="{FF2B5EF4-FFF2-40B4-BE49-F238E27FC236}">
                <a16:creationId xmlns:a16="http://schemas.microsoft.com/office/drawing/2014/main" id="{3FC64ECC-D6F4-456B-97FE-DADAF81AADF9}"/>
              </a:ext>
            </a:extLst>
          </p:cNvPr>
          <p:cNvSpPr>
            <a:spLocks xmlns:a="http://schemas.openxmlformats.org/drawingml/2006/main" noGrp="1"/>
          </p:cNvSpPr>
          <p:nvPr/>
        </p:nvSpPr>
        <p:spPr>
          <a:xfrm xmlns:a="http://schemas.openxmlformats.org/drawingml/2006/main">
            <a:off x="2257425" y="3543300"/>
            <a:ext cx="571500" cy="571500"/>
          </a:xfrm>
          <a:prstGeom xmlns:a="http://schemas.openxmlformats.org/drawingml/2006/main" prst="line">
            <a:avLst/>
          </a:prstGeom>
          <a:noFill xmlns:a="http://schemas.openxmlformats.org/drawingml/2006/main"/>
          <a:ln xmlns:a="http://schemas.openxmlformats.org/drawingml/2006/main" w="38100">
            <a:solidFill>
              <a:srgbClr val="22D3EE"/>
            </a:solidFill>
            <a:prstDash val="solid"/>
          </a:ln>
        </p:spPr>
      </p:sp>
      <p:sp>
        <p:nvSpPr>
          <p:cNvPr id="20" name="Rectangle 19">
            <a:extLst xmlns:a="http://schemas.openxmlformats.org/drawingml/2006/main">
              <a:ext uri="{FF2B5EF4-FFF2-40B4-BE49-F238E27FC236}">
                <a16:creationId xmlns:a16="http://schemas.microsoft.com/office/drawing/2014/main" id="{3232D806-7050-4D51-BF85-409734FFE441}"/>
              </a:ext>
            </a:extLst>
          </p:cNvPr>
          <p:cNvSpPr>
            <a:spLocks xmlns:a="http://schemas.openxmlformats.org/drawingml/2006/main" noGrp="1"/>
          </p:cNvSpPr>
          <p:nvPr/>
        </p:nvSpPr>
        <p:spPr>
          <a:xfrm xmlns:a="http://schemas.openxmlformats.org/drawingml/2006/main">
            <a:off x="2047875" y="4381500"/>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45°</a:t>
            </a:r>
          </a:p>
        </p:txBody>
      </p:sp>
      <p:sp>
        <p:nvSpPr>
          <p:cNvPr id="21" name="Rectangle 20">
            <a:extLst xmlns:a="http://schemas.openxmlformats.org/drawingml/2006/main">
              <a:ext uri="{FF2B5EF4-FFF2-40B4-BE49-F238E27FC236}">
                <a16:creationId xmlns:a16="http://schemas.microsoft.com/office/drawing/2014/main" id="{1D859A1D-BB2C-4D45-892F-2BA0140BBCA7}"/>
              </a:ext>
            </a:extLst>
          </p:cNvPr>
          <p:cNvSpPr>
            <a:spLocks xmlns:a="http://schemas.openxmlformats.org/drawingml/2006/main" noGrp="1"/>
          </p:cNvSpPr>
          <p:nvPr/>
        </p:nvSpPr>
        <p:spPr>
          <a:xfrm xmlns:a="http://schemas.openxmlformats.org/drawingml/2006/main">
            <a:off x="523875" y="49530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AFC0D0"/>
                </a:solidFill>
                <a:latin typeface="Arial"/>
                <a:ea typeface="Arial"/>
                <a:cs typeface="Arial"/>
              </a:defRPr>
            </a:pPr>
            <a:r>
              <a:rPr sz="1350" b="1">
                <a:solidFill>
                  <a:srgbClr val="AFC0D0"/>
                </a:solidFill>
                <a:latin typeface="Arial"/>
                <a:ea typeface="Arial"/>
                <a:cs typeface="Arial"/>
              </a:rPr>
              <a:t>The encoder chooses one direction and signals it for Edge Offset.</a:t>
            </a:r>
          </a:p>
        </p:txBody>
      </p:sp>
      <p:graphicFrame>
        <p:nvGraphicFramePr>
          <p:cNvPr id="48" name="Table 45"/>
          <p:cNvGraphicFramePr/>
          <p:nvPr/>
        </p:nvGraphicFramePr>
        <p:xfrm>
          <a:off xmlns:a="http://schemas.openxmlformats.org/drawingml/2006/main" x="4000500" y="1571625"/>
          <a:ext xmlns:a="http://schemas.openxmlformats.org/drawingml/2006/main" cx="7524750" cy="3905250"/>
        </p:xfrm>
        <a:graphic xmlns:a="http://schemas.openxmlformats.org/drawingml/2006/main">
          <a:graphicData uri="http://schemas.openxmlformats.org/drawingml/2006/table">
            <a:tbl>
              <a:tblPr/>
              <a:tblGrid>
                <a:gridCol w="1047750"/>
                <a:gridCol w="4191000"/>
                <a:gridCol w="2286000"/>
              </a:tblGrid>
              <a:tr h="650875">
                <a:tc>
                  <a:txBody>
                    <a:bodyPr/>
                    <a:lstStyle/>
                    <a:p>
                      <a:r>
                        <a:rPr sz="1275" b="1">
                          <a:solidFill>
                            <a:srgbClr val="22D3EE"/>
                          </a:solidFill>
                          <a:latin typeface="Arial"/>
                          <a:ea typeface="Arial"/>
                          <a:cs typeface="Arial"/>
                        </a:rPr>
                        <a:t>Category</a:t>
                      </a:r>
                    </a:p>
                  </a:txBody>
                  <a:tcPr marL="66675" marR="66675" marT="38100" marB="38100" anchor="ctr">
                    <a:solidFill>
                      <a:srgbClr val="102A40"/>
                    </a:solidFill>
                  </a:tcPr>
                </a:tc>
                <a:tc>
                  <a:txBody>
                    <a:bodyPr/>
                    <a:lstStyle/>
                    <a:p>
                      <a:r>
                        <a:rPr sz="1275" b="1">
                          <a:solidFill>
                            <a:srgbClr val="22D3EE"/>
                          </a:solidFill>
                          <a:latin typeface="Arial"/>
                          <a:ea typeface="Arial"/>
                          <a:cs typeface="Arial"/>
                        </a:rPr>
                        <a:t>Condition comparing c with a and b</a:t>
                      </a:r>
                    </a:p>
                  </a:txBody>
                  <a:tcPr marL="66675" marR="66675" marT="38100" marB="38100" anchor="ctr">
                    <a:solidFill>
                      <a:srgbClr val="102A40"/>
                    </a:solidFill>
                  </a:tcPr>
                </a:tc>
                <a:tc>
                  <a:txBody>
                    <a:bodyPr/>
                    <a:lstStyle/>
                    <a:p>
                      <a:r>
                        <a:rPr sz="1275" b="1">
                          <a:solidFill>
                            <a:srgbClr val="22D3EE"/>
                          </a:solidFill>
                          <a:latin typeface="Arial"/>
                          <a:ea typeface="Arial"/>
                          <a:cs typeface="Arial"/>
                        </a:rPr>
                        <a:t>Local shape</a:t>
                      </a:r>
                    </a:p>
                  </a:txBody>
                  <a:tcPr marL="66675" marR="66675" marT="38100" marB="38100" anchor="ctr">
                    <a:solidFill>
                      <a:srgbClr val="102A40"/>
                    </a:solidFill>
                  </a:tcPr>
                </a:tc>
              </a:tr>
              <a:tr h="650875">
                <a:tc>
                  <a:txBody>
                    <a:bodyPr/>
                    <a:lstStyle/>
                    <a:p>
                      <a:r>
                        <a:rPr sz="1350" b="1">
                          <a:solidFill>
                            <a:srgbClr val="FFB84D"/>
                          </a:solidFill>
                          <a:latin typeface="Arial"/>
                          <a:ea typeface="Arial"/>
                          <a:cs typeface="Arial"/>
                        </a:rPr>
                        <a:t>1</a:t>
                      </a:r>
                    </a:p>
                  </a:txBody>
                  <a:tcPr marL="66675" marR="66675" marT="38100" marB="38100" anchor="ctr">
                    <a:solidFill>
                      <a:srgbClr val="0B2033"/>
                    </a:solidFill>
                  </a:tcPr>
                </a:tc>
                <a:tc>
                  <a:txBody>
                    <a:bodyPr/>
                    <a:lstStyle/>
                    <a:p>
                      <a:r>
                        <a:rPr sz="1200">
                          <a:solidFill>
                            <a:srgbClr val="F4F8FC"/>
                          </a:solidFill>
                          <a:latin typeface="Arial"/>
                          <a:ea typeface="Arial"/>
                          <a:cs typeface="Arial"/>
                        </a:rPr>
                        <a:t>c &lt; a and c &lt; b</a:t>
                      </a:r>
                    </a:p>
                  </a:txBody>
                  <a:tcPr marL="66675" marR="66675" marT="38100" marB="38100" anchor="ctr">
                    <a:solidFill>
                      <a:srgbClr val="0B2033"/>
                    </a:solidFill>
                  </a:tcPr>
                </a:tc>
                <a:tc>
                  <a:txBody>
                    <a:bodyPr/>
                    <a:lstStyle/>
                    <a:p>
                      <a:r>
                        <a:rPr sz="1200">
                          <a:solidFill>
                            <a:srgbClr val="F4F8FC"/>
                          </a:solidFill>
                          <a:latin typeface="Arial"/>
                          <a:ea typeface="Arial"/>
                          <a:cs typeface="Arial"/>
                        </a:rPr>
                        <a:t>valley</a:t>
                      </a:r>
                    </a:p>
                  </a:txBody>
                  <a:tcPr marL="66675" marR="66675" marT="38100" marB="38100" anchor="ctr">
                    <a:solidFill>
                      <a:srgbClr val="0B2033"/>
                    </a:solidFill>
                  </a:tcPr>
                </a:tc>
              </a:tr>
              <a:tr h="650875">
                <a:tc>
                  <a:txBody>
                    <a:bodyPr/>
                    <a:lstStyle/>
                    <a:p>
                      <a:r>
                        <a:rPr sz="1350" b="1">
                          <a:solidFill>
                            <a:srgbClr val="FFB84D"/>
                          </a:solidFill>
                          <a:latin typeface="Arial"/>
                          <a:ea typeface="Arial"/>
                          <a:cs typeface="Arial"/>
                        </a:rPr>
                        <a:t>2</a:t>
                      </a:r>
                    </a:p>
                  </a:txBody>
                  <a:tcPr marL="66675" marR="66675" marT="38100" marB="38100" anchor="ctr">
                    <a:solidFill>
                      <a:srgbClr val="0B2033"/>
                    </a:solidFill>
                  </a:tcPr>
                </a:tc>
                <a:tc>
                  <a:txBody>
                    <a:bodyPr/>
                    <a:lstStyle/>
                    <a:p>
                      <a:r>
                        <a:rPr sz="1200">
                          <a:solidFill>
                            <a:srgbClr val="F4F8FC"/>
                          </a:solidFill>
                          <a:latin typeface="Arial"/>
                          <a:ea typeface="Arial"/>
                          <a:cs typeface="Arial"/>
                        </a:rPr>
                        <a:t>one comparison is &lt; and the other is =</a:t>
                      </a:r>
                    </a:p>
                  </a:txBody>
                  <a:tcPr marL="66675" marR="66675" marT="38100" marB="38100" anchor="ctr">
                    <a:solidFill>
                      <a:srgbClr val="0B2033"/>
                    </a:solidFill>
                  </a:tcPr>
                </a:tc>
                <a:tc>
                  <a:txBody>
                    <a:bodyPr/>
                    <a:lstStyle/>
                    <a:p>
                      <a:r>
                        <a:rPr sz="1200">
                          <a:solidFill>
                            <a:srgbClr val="F4F8FC"/>
                          </a:solidFill>
                          <a:latin typeface="Arial"/>
                          <a:ea typeface="Arial"/>
                          <a:cs typeface="Arial"/>
                        </a:rPr>
                        <a:t>concave corner</a:t>
                      </a:r>
                    </a:p>
                  </a:txBody>
                  <a:tcPr marL="66675" marR="66675" marT="38100" marB="38100" anchor="ctr">
                    <a:solidFill>
                      <a:srgbClr val="0B2033"/>
                    </a:solidFill>
                  </a:tcPr>
                </a:tc>
              </a:tr>
              <a:tr h="650875">
                <a:tc>
                  <a:txBody>
                    <a:bodyPr/>
                    <a:lstStyle/>
                    <a:p>
                      <a:r>
                        <a:rPr sz="1350" b="1">
                          <a:solidFill>
                            <a:srgbClr val="FFB84D"/>
                          </a:solidFill>
                          <a:latin typeface="Arial"/>
                          <a:ea typeface="Arial"/>
                          <a:cs typeface="Arial"/>
                        </a:rPr>
                        <a:t>3</a:t>
                      </a:r>
                    </a:p>
                  </a:txBody>
                  <a:tcPr marL="66675" marR="66675" marT="38100" marB="38100" anchor="ctr">
                    <a:solidFill>
                      <a:srgbClr val="0B2033"/>
                    </a:solidFill>
                  </a:tcPr>
                </a:tc>
                <a:tc>
                  <a:txBody>
                    <a:bodyPr/>
                    <a:lstStyle/>
                    <a:p>
                      <a:r>
                        <a:rPr sz="1200">
                          <a:solidFill>
                            <a:srgbClr val="F4F8FC"/>
                          </a:solidFill>
                          <a:latin typeface="Arial"/>
                          <a:ea typeface="Arial"/>
                          <a:cs typeface="Arial"/>
                        </a:rPr>
                        <a:t>one comparison is &gt; and the other is =</a:t>
                      </a:r>
                    </a:p>
                  </a:txBody>
                  <a:tcPr marL="66675" marR="66675" marT="38100" marB="38100" anchor="ctr">
                    <a:solidFill>
                      <a:srgbClr val="0B2033"/>
                    </a:solidFill>
                  </a:tcPr>
                </a:tc>
                <a:tc>
                  <a:txBody>
                    <a:bodyPr/>
                    <a:lstStyle/>
                    <a:p>
                      <a:r>
                        <a:rPr sz="1200">
                          <a:solidFill>
                            <a:srgbClr val="F4F8FC"/>
                          </a:solidFill>
                          <a:latin typeface="Arial"/>
                          <a:ea typeface="Arial"/>
                          <a:cs typeface="Arial"/>
                        </a:rPr>
                        <a:t>convex corner</a:t>
                      </a:r>
                    </a:p>
                  </a:txBody>
                  <a:tcPr marL="66675" marR="66675" marT="38100" marB="38100" anchor="ctr">
                    <a:solidFill>
                      <a:srgbClr val="0B2033"/>
                    </a:solidFill>
                  </a:tcPr>
                </a:tc>
              </a:tr>
              <a:tr h="650875">
                <a:tc>
                  <a:txBody>
                    <a:bodyPr/>
                    <a:lstStyle/>
                    <a:p>
                      <a:r>
                        <a:rPr sz="1350" b="1">
                          <a:solidFill>
                            <a:srgbClr val="FFB84D"/>
                          </a:solidFill>
                          <a:latin typeface="Arial"/>
                          <a:ea typeface="Arial"/>
                          <a:cs typeface="Arial"/>
                        </a:rPr>
                        <a:t>4</a:t>
                      </a:r>
                    </a:p>
                  </a:txBody>
                  <a:tcPr marL="66675" marR="66675" marT="38100" marB="38100" anchor="ctr">
                    <a:solidFill>
                      <a:srgbClr val="0B2033"/>
                    </a:solidFill>
                  </a:tcPr>
                </a:tc>
                <a:tc>
                  <a:txBody>
                    <a:bodyPr/>
                    <a:lstStyle/>
                    <a:p>
                      <a:r>
                        <a:rPr sz="1200">
                          <a:solidFill>
                            <a:srgbClr val="F4F8FC"/>
                          </a:solidFill>
                          <a:latin typeface="Arial"/>
                          <a:ea typeface="Arial"/>
                          <a:cs typeface="Arial"/>
                        </a:rPr>
                        <a:t>c &gt; a and c &gt; b</a:t>
                      </a:r>
                    </a:p>
                  </a:txBody>
                  <a:tcPr marL="66675" marR="66675" marT="38100" marB="38100" anchor="ctr">
                    <a:solidFill>
                      <a:srgbClr val="0B2033"/>
                    </a:solidFill>
                  </a:tcPr>
                </a:tc>
                <a:tc>
                  <a:txBody>
                    <a:bodyPr/>
                    <a:lstStyle/>
                    <a:p>
                      <a:r>
                        <a:rPr sz="1200">
                          <a:solidFill>
                            <a:srgbClr val="F4F8FC"/>
                          </a:solidFill>
                          <a:latin typeface="Arial"/>
                          <a:ea typeface="Arial"/>
                          <a:cs typeface="Arial"/>
                        </a:rPr>
                        <a:t>peak</a:t>
                      </a:r>
                    </a:p>
                  </a:txBody>
                  <a:tcPr marL="66675" marR="66675" marT="38100" marB="38100" anchor="ctr">
                    <a:solidFill>
                      <a:srgbClr val="0B2033"/>
                    </a:solidFill>
                  </a:tcPr>
                </a:tc>
              </a:tr>
              <a:tr h="650875">
                <a:tc>
                  <a:txBody>
                    <a:bodyPr/>
                    <a:lstStyle/>
                    <a:p>
                      <a:r>
                        <a:rPr sz="1200">
                          <a:solidFill>
                            <a:srgbClr val="F4F8FC"/>
                          </a:solidFill>
                          <a:latin typeface="Arial"/>
                          <a:ea typeface="Arial"/>
                          <a:cs typeface="Arial"/>
                        </a:rPr>
                        <a:t>0</a:t>
                      </a:r>
                    </a:p>
                  </a:txBody>
                  <a:tcPr marL="66675" marR="66675" marT="38100" marB="38100" anchor="ctr">
                    <a:solidFill>
                      <a:srgbClr val="0B2033"/>
                    </a:solidFill>
                  </a:tcPr>
                </a:tc>
                <a:tc>
                  <a:txBody>
                    <a:bodyPr/>
                    <a:lstStyle/>
                    <a:p>
                      <a:r>
                        <a:rPr sz="1200">
                          <a:solidFill>
                            <a:srgbClr val="F4F8FC"/>
                          </a:solidFill>
                          <a:latin typeface="Arial"/>
                          <a:ea typeface="Arial"/>
                          <a:cs typeface="Arial"/>
                        </a:rPr>
                        <a:t>none of the above</a:t>
                      </a:r>
                    </a:p>
                  </a:txBody>
                  <a:tcPr marL="66675" marR="66675" marT="38100" marB="38100" anchor="ctr">
                    <a:solidFill>
                      <a:srgbClr val="0B2033"/>
                    </a:solidFill>
                  </a:tcPr>
                </a:tc>
                <a:tc>
                  <a:txBody>
                    <a:bodyPr/>
                    <a:lstStyle/>
                    <a:p>
                      <a:r>
                        <a:rPr sz="1200">
                          <a:solidFill>
                            <a:srgbClr val="F4F8FC"/>
                          </a:solidFill>
                          <a:latin typeface="Arial"/>
                          <a:ea typeface="Arial"/>
                          <a:cs typeface="Arial"/>
                        </a:rPr>
                        <a:t>no offset</a:t>
                      </a:r>
                    </a:p>
                  </a:txBody>
                  <a:tcPr marL="66675" marR="66675" marT="38100" marB="38100" anchor="ctr">
                    <a:solidFill>
                      <a:srgbClr val="0B2033"/>
                    </a:solidFill>
                  </a:tcPr>
                </a:tc>
              </a:tr>
            </a:tbl>
          </a:graphicData>
        </a:graphic>
      </p:graphicFrame>
      <p:sp>
        <p:nvSpPr>
          <p:cNvPr id="23" name="Rectangle: Rounded Corners 22">
            <a:extLst xmlns:a="http://schemas.openxmlformats.org/drawingml/2006/main">
              <a:ext uri="{FF2B5EF4-FFF2-40B4-BE49-F238E27FC236}">
                <a16:creationId xmlns:a16="http://schemas.microsoft.com/office/drawing/2014/main" id="{00407378-E3C5-4660-8889-D72CB23381EC}"/>
              </a:ext>
            </a:extLst>
          </p:cNvPr>
          <p:cNvSpPr>
            <a:spLocks xmlns:a="http://schemas.openxmlformats.org/drawingml/2006/main" noGrp="1"/>
          </p:cNvSpPr>
          <p:nvPr/>
        </p:nvSpPr>
        <p:spPr>
          <a:xfrm xmlns:a="http://schemas.openxmlformats.org/drawingml/2006/main">
            <a:off x="4095750" y="5810250"/>
            <a:ext cx="7334250" cy="514350"/>
          </a:xfrm>
          <a:prstGeom xmlns:a="http://schemas.openxmlformats.org/drawingml/2006/main" prst="roundRect">
            <a:avLst>
              <a:gd name="adj" fmla="val 22222"/>
            </a:avLst>
          </a:prstGeom>
          <a:solidFill xmlns:a="http://schemas.openxmlformats.org/drawingml/2006/main">
            <a:srgbClr val="132536"/>
          </a:solidFill>
          <a:ln xmlns:a="http://schemas.openxmlformats.org/drawingml/2006/main" w="19050">
            <a:solidFill>
              <a:srgbClr val="FFB84D"/>
            </a:solidFill>
            <a:prstDash val="solid"/>
          </a:ln>
        </p:spPr>
      </p:sp>
      <p:sp>
        <p:nvSpPr>
          <p:cNvPr id="24" name="Rectangle 23">
            <a:extLst xmlns:a="http://schemas.openxmlformats.org/drawingml/2006/main">
              <a:ext uri="{FF2B5EF4-FFF2-40B4-BE49-F238E27FC236}">
                <a16:creationId xmlns:a16="http://schemas.microsoft.com/office/drawing/2014/main" id="{91DC2998-532B-4C2A-804D-23DDFF9A144C}"/>
              </a:ext>
            </a:extLst>
          </p:cNvPr>
          <p:cNvSpPr>
            <a:spLocks xmlns:a="http://schemas.openxmlformats.org/drawingml/2006/main" noGrp="1"/>
          </p:cNvSpPr>
          <p:nvPr/>
        </p:nvSpPr>
        <p:spPr>
          <a:xfrm xmlns:a="http://schemas.openxmlformats.org/drawingml/2006/main">
            <a:off x="4210050" y="5905500"/>
            <a:ext cx="710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79"/>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Classification uses reconstructed samples only, because the decoder never has the original picture.</a:t>
            </a:r>
          </a:p>
        </p:txBody>
      </p:sp>
    </p:spTree>
    <p:extLst>
      <p:ext uri="{BB962C8B-B14F-4D97-AF65-F5344CB8AC3E}">
        <p14:creationId xmlns:p14="http://schemas.microsoft.com/office/powerpoint/2010/main" val="135871855"/>
      </p:ext>
    </p:extLst>
  </p:cSld>
</p:sld>
</file>

<file path=ppt/slides/slide32.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4" name="Oval 23">
            <a:extLst xmlns:a="http://schemas.openxmlformats.org/drawingml/2006/main">
              <a:ext uri="{FF2B5EF4-FFF2-40B4-BE49-F238E27FC236}">
                <a16:creationId xmlns:a16="http://schemas.microsoft.com/office/drawing/2014/main" id="{034D14BE-A16C-4481-9E30-986D7BFE18CD}"/>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ADED97D0-AA94-4071-9094-755F1498EF38}"/>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6207A893-BD6E-46C0-ADCC-D49F718A5248}"/>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Edge Offset uses fixed signs that only smooth</a:t>
            </a:r>
          </a:p>
        </p:txBody>
      </p:sp>
      <p:sp>
        <p:nvSpPr>
          <p:cNvPr id="4" name="Straight Connector 3">
            <a:extLst xmlns:a="http://schemas.openxmlformats.org/drawingml/2006/main">
              <a:ext uri="{FF2B5EF4-FFF2-40B4-BE49-F238E27FC236}">
                <a16:creationId xmlns:a16="http://schemas.microsoft.com/office/drawing/2014/main" id="{DF5FBBBC-AB61-47D1-AFF6-865393B8A543}"/>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67AFC1CE-22B4-412A-94E2-6924ABE74057}"/>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bitstream carries four magnitudes. The standard determines each category's sign.</a:t>
            </a:r>
          </a:p>
        </p:txBody>
      </p:sp>
      <p:sp>
        <p:nvSpPr>
          <p:cNvPr id="6" name="Rectangle 5">
            <a:extLst xmlns:a="http://schemas.openxmlformats.org/drawingml/2006/main">
              <a:ext uri="{FF2B5EF4-FFF2-40B4-BE49-F238E27FC236}">
                <a16:creationId xmlns:a16="http://schemas.microsoft.com/office/drawing/2014/main" id="{BD2E86AD-72E0-48F2-A14E-18D929BF3E68}"/>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04F4B54F-72AE-47A9-9CAF-4DEFF548B4F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32 / 49</a:t>
            </a:r>
          </a:p>
        </p:txBody>
      </p:sp>
      <p:sp>
        <p:nvSpPr>
          <p:cNvPr id="8" name="Rectangle 7">
            <a:extLst xmlns:a="http://schemas.openxmlformats.org/drawingml/2006/main">
              <a:ext uri="{FF2B5EF4-FFF2-40B4-BE49-F238E27FC236}">
                <a16:creationId xmlns:a16="http://schemas.microsoft.com/office/drawing/2014/main" id="{E1FD3251-B081-4E2B-AAA5-C7B280D0A7FF}"/>
              </a:ext>
            </a:extLst>
          </p:cNvPr>
          <p:cNvSpPr>
            <a:spLocks xmlns:a="http://schemas.openxmlformats.org/drawingml/2006/main" noGrp="1"/>
          </p:cNvSpPr>
          <p:nvPr/>
        </p:nvSpPr>
        <p:spPr>
          <a:xfrm xmlns:a="http://schemas.openxmlformats.org/drawingml/2006/main">
            <a:off x="904875" y="147637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47E6A4"/>
                </a:solidFill>
                <a:latin typeface="Arial"/>
                <a:ea typeface="Arial"/>
                <a:cs typeface="Arial"/>
              </a:defRPr>
            </a:pPr>
            <a:r>
              <a:rPr sz="1650" b="1">
                <a:solidFill>
                  <a:srgbClr val="47E6A4"/>
                </a:solidFill>
                <a:latin typeface="Arial"/>
                <a:ea typeface="Arial"/>
                <a:cs typeface="Arial"/>
              </a:rPr>
              <a:t>POSITIVE OFFSETS</a:t>
            </a:r>
          </a:p>
        </p:txBody>
      </p:sp>
      <p:sp>
        <p:nvSpPr>
          <p:cNvPr id="9" name="Rectangle 8">
            <a:extLst xmlns:a="http://schemas.openxmlformats.org/drawingml/2006/main">
              <a:ext uri="{FF2B5EF4-FFF2-40B4-BE49-F238E27FC236}">
                <a16:creationId xmlns:a16="http://schemas.microsoft.com/office/drawing/2014/main" id="{7193BEC8-1915-41D8-991F-34D32431F55E}"/>
              </a:ext>
            </a:extLst>
          </p:cNvPr>
          <p:cNvSpPr>
            <a:spLocks xmlns:a="http://schemas.openxmlformats.org/drawingml/2006/main" noGrp="1"/>
          </p:cNvSpPr>
          <p:nvPr/>
        </p:nvSpPr>
        <p:spPr>
          <a:xfrm xmlns:a="http://schemas.openxmlformats.org/drawingml/2006/main">
            <a:off x="1143000" y="20955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Category 1: valley</a:t>
            </a:r>
          </a:p>
        </p:txBody>
      </p:sp>
      <p:sp>
        <p:nvSpPr>
          <p:cNvPr id="10" name="Rectangle 9">
            <a:extLst xmlns:a="http://schemas.openxmlformats.org/drawingml/2006/main">
              <a:ext uri="{FF2B5EF4-FFF2-40B4-BE49-F238E27FC236}">
                <a16:creationId xmlns:a16="http://schemas.microsoft.com/office/drawing/2014/main" id="{CD2EEC8B-6E7D-434D-9022-58F8F1D90835}"/>
              </a:ext>
            </a:extLst>
          </p:cNvPr>
          <p:cNvSpPr>
            <a:spLocks xmlns:a="http://schemas.openxmlformats.org/drawingml/2006/main" noGrp="1"/>
          </p:cNvSpPr>
          <p:nvPr/>
        </p:nvSpPr>
        <p:spPr>
          <a:xfrm xmlns:a="http://schemas.openxmlformats.org/drawingml/2006/main">
            <a:off x="1143000" y="25717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Category 2: concave corner</a:t>
            </a:r>
          </a:p>
        </p:txBody>
      </p:sp>
      <p:sp>
        <p:nvSpPr>
          <p:cNvPr id="11" name="Rectangle: Rounded Corners 10">
            <a:extLst xmlns:a="http://schemas.openxmlformats.org/drawingml/2006/main">
              <a:ext uri="{FF2B5EF4-FFF2-40B4-BE49-F238E27FC236}">
                <a16:creationId xmlns:a16="http://schemas.microsoft.com/office/drawing/2014/main" id="{FB28E98E-6A5B-4CAE-9EF1-0E2027622F9B}"/>
              </a:ext>
            </a:extLst>
          </p:cNvPr>
          <p:cNvSpPr>
            <a:spLocks xmlns:a="http://schemas.openxmlformats.org/drawingml/2006/main" noGrp="1"/>
          </p:cNvSpPr>
          <p:nvPr/>
        </p:nvSpPr>
        <p:spPr>
          <a:xfrm xmlns:a="http://schemas.openxmlformats.org/drawingml/2006/main">
            <a:off x="1571625" y="3143250"/>
            <a:ext cx="2857500" cy="552450"/>
          </a:xfrm>
          <a:prstGeom xmlns:a="http://schemas.openxmlformats.org/drawingml/2006/main" prst="roundRect">
            <a:avLst>
              <a:gd name="adj" fmla="val 20690"/>
            </a:avLst>
          </a:prstGeom>
          <a:solidFill xmlns:a="http://schemas.openxmlformats.org/drawingml/2006/main">
            <a:srgbClr val="0A2830"/>
          </a:solidFill>
          <a:ln xmlns:a="http://schemas.openxmlformats.org/drawingml/2006/main" w="19050">
            <a:solidFill>
              <a:srgbClr val="47E6A4"/>
            </a:solidFill>
            <a:prstDash val="solid"/>
          </a:ln>
        </p:spPr>
      </p:sp>
      <p:sp>
        <p:nvSpPr>
          <p:cNvPr id="12" name="Rectangle 11">
            <a:extLst xmlns:a="http://schemas.openxmlformats.org/drawingml/2006/main">
              <a:ext uri="{FF2B5EF4-FFF2-40B4-BE49-F238E27FC236}">
                <a16:creationId xmlns:a16="http://schemas.microsoft.com/office/drawing/2014/main" id="{2A786CE7-B3C5-4D03-B83E-FDCE0C41A273}"/>
              </a:ext>
            </a:extLst>
          </p:cNvPr>
          <p:cNvSpPr>
            <a:spLocks xmlns:a="http://schemas.openxmlformats.org/drawingml/2006/main" noGrp="1"/>
          </p:cNvSpPr>
          <p:nvPr/>
        </p:nvSpPr>
        <p:spPr>
          <a:xfrm xmlns:a="http://schemas.openxmlformats.org/drawingml/2006/main">
            <a:off x="1685925" y="32385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raise low samples</a:t>
            </a:r>
          </a:p>
        </p:txBody>
      </p:sp>
      <p:sp>
        <p:nvSpPr>
          <p:cNvPr id="13" name="Rectangle 12">
            <a:extLst xmlns:a="http://schemas.openxmlformats.org/drawingml/2006/main">
              <a:ext uri="{FF2B5EF4-FFF2-40B4-BE49-F238E27FC236}">
                <a16:creationId xmlns:a16="http://schemas.microsoft.com/office/drawing/2014/main" id="{05BE9DE2-C211-4993-8550-547CE4978B76}"/>
              </a:ext>
            </a:extLst>
          </p:cNvPr>
          <p:cNvSpPr>
            <a:spLocks xmlns:a="http://schemas.openxmlformats.org/drawingml/2006/main" noGrp="1"/>
          </p:cNvSpPr>
          <p:nvPr/>
        </p:nvSpPr>
        <p:spPr>
          <a:xfrm xmlns:a="http://schemas.openxmlformats.org/drawingml/2006/main">
            <a:off x="2143125" y="39528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p xmlns:a="http://schemas.openxmlformats.org/drawingml/2006/main">
            <a:pPr>
              <a:buNone/>
              <a:defRPr sz="1950" b="1">
                <a:solidFill>
                  <a:srgbClr val="47E6A4"/>
                </a:solidFill>
                <a:latin typeface="Arial"/>
                <a:ea typeface="Arial"/>
                <a:cs typeface="Arial"/>
              </a:defRPr>
            </a:pPr>
            <a:r>
              <a:rPr sz="1950" b="1">
                <a:solidFill>
                  <a:srgbClr val="47E6A4"/>
                </a:solidFill>
                <a:latin typeface="Arial"/>
                <a:ea typeface="Arial"/>
                <a:cs typeface="Arial"/>
              </a:rPr>
              <a:t>+ magnitude</a:t>
            </a:r>
          </a:p>
        </p:txBody>
      </p:sp>
      <p:sp>
        <p:nvSpPr>
          <p:cNvPr id="14" name="Rectangle 13">
            <a:extLst xmlns:a="http://schemas.openxmlformats.org/drawingml/2006/main">
              <a:ext uri="{FF2B5EF4-FFF2-40B4-BE49-F238E27FC236}">
                <a16:creationId xmlns:a16="http://schemas.microsoft.com/office/drawing/2014/main" id="{7ABFE528-6E1A-4DBF-A817-0EB5E09DCD9D}"/>
              </a:ext>
            </a:extLst>
          </p:cNvPr>
          <p:cNvSpPr>
            <a:spLocks xmlns:a="http://schemas.openxmlformats.org/drawingml/2006/main" noGrp="1"/>
          </p:cNvSpPr>
          <p:nvPr/>
        </p:nvSpPr>
        <p:spPr>
          <a:xfrm xmlns:a="http://schemas.openxmlformats.org/drawingml/2006/main">
            <a:off x="7096125" y="147637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FF6577"/>
                </a:solidFill>
                <a:latin typeface="Arial"/>
                <a:ea typeface="Arial"/>
                <a:cs typeface="Arial"/>
              </a:defRPr>
            </a:pPr>
            <a:r>
              <a:rPr sz="1650" b="1">
                <a:solidFill>
                  <a:srgbClr val="FF6577"/>
                </a:solidFill>
                <a:latin typeface="Arial"/>
                <a:ea typeface="Arial"/>
                <a:cs typeface="Arial"/>
              </a:rPr>
              <a:t>NEGATIVE OFFSETS</a:t>
            </a:r>
          </a:p>
        </p:txBody>
      </p:sp>
      <p:sp>
        <p:nvSpPr>
          <p:cNvPr id="15" name="Rectangle 14">
            <a:extLst xmlns:a="http://schemas.openxmlformats.org/drawingml/2006/main">
              <a:ext uri="{FF2B5EF4-FFF2-40B4-BE49-F238E27FC236}">
                <a16:creationId xmlns:a16="http://schemas.microsoft.com/office/drawing/2014/main" id="{72EECD61-D19D-44A9-BF69-269CBC92891B}"/>
              </a:ext>
            </a:extLst>
          </p:cNvPr>
          <p:cNvSpPr>
            <a:spLocks xmlns:a="http://schemas.openxmlformats.org/drawingml/2006/main" noGrp="1"/>
          </p:cNvSpPr>
          <p:nvPr/>
        </p:nvSpPr>
        <p:spPr>
          <a:xfrm xmlns:a="http://schemas.openxmlformats.org/drawingml/2006/main">
            <a:off x="7334250" y="20955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Category 3: convex corner</a:t>
            </a:r>
          </a:p>
        </p:txBody>
      </p:sp>
      <p:sp>
        <p:nvSpPr>
          <p:cNvPr id="16" name="Rectangle 15">
            <a:extLst xmlns:a="http://schemas.openxmlformats.org/drawingml/2006/main">
              <a:ext uri="{FF2B5EF4-FFF2-40B4-BE49-F238E27FC236}">
                <a16:creationId xmlns:a16="http://schemas.microsoft.com/office/drawing/2014/main" id="{094E7B3D-C3F8-45D7-B3CC-A86520BC98C3}"/>
              </a:ext>
            </a:extLst>
          </p:cNvPr>
          <p:cNvSpPr>
            <a:spLocks xmlns:a="http://schemas.openxmlformats.org/drawingml/2006/main" noGrp="1"/>
          </p:cNvSpPr>
          <p:nvPr/>
        </p:nvSpPr>
        <p:spPr>
          <a:xfrm xmlns:a="http://schemas.openxmlformats.org/drawingml/2006/main">
            <a:off x="7334250" y="25717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Category 4: peak</a:t>
            </a:r>
          </a:p>
        </p:txBody>
      </p:sp>
      <p:sp>
        <p:nvSpPr>
          <p:cNvPr id="17" name="Rectangle: Rounded Corners 16">
            <a:extLst xmlns:a="http://schemas.openxmlformats.org/drawingml/2006/main">
              <a:ext uri="{FF2B5EF4-FFF2-40B4-BE49-F238E27FC236}">
                <a16:creationId xmlns:a16="http://schemas.microsoft.com/office/drawing/2014/main" id="{E7AB0D07-EACA-4783-BC20-AC32C02065FA}"/>
              </a:ext>
            </a:extLst>
          </p:cNvPr>
          <p:cNvSpPr>
            <a:spLocks xmlns:a="http://schemas.openxmlformats.org/drawingml/2006/main" noGrp="1"/>
          </p:cNvSpPr>
          <p:nvPr/>
        </p:nvSpPr>
        <p:spPr>
          <a:xfrm xmlns:a="http://schemas.openxmlformats.org/drawingml/2006/main">
            <a:off x="7762875" y="3143250"/>
            <a:ext cx="2857500" cy="552450"/>
          </a:xfrm>
          <a:prstGeom xmlns:a="http://schemas.openxmlformats.org/drawingml/2006/main" prst="roundRect">
            <a:avLst>
              <a:gd name="adj" fmla="val 20690"/>
            </a:avLst>
          </a:prstGeom>
          <a:solidFill xmlns:a="http://schemas.openxmlformats.org/drawingml/2006/main">
            <a:srgbClr val="2A1720"/>
          </a:solidFill>
          <a:ln xmlns:a="http://schemas.openxmlformats.org/drawingml/2006/main" w="19050">
            <a:solidFill>
              <a:srgbClr val="FF6577"/>
            </a:solidFill>
            <a:prstDash val="solid"/>
          </a:ln>
        </p:spPr>
      </p:sp>
      <p:sp>
        <p:nvSpPr>
          <p:cNvPr id="18" name="Rectangle 17">
            <a:extLst xmlns:a="http://schemas.openxmlformats.org/drawingml/2006/main">
              <a:ext uri="{FF2B5EF4-FFF2-40B4-BE49-F238E27FC236}">
                <a16:creationId xmlns:a16="http://schemas.microsoft.com/office/drawing/2014/main" id="{FF6A203D-5FC9-48E7-8982-067A74444CE7}"/>
              </a:ext>
            </a:extLst>
          </p:cNvPr>
          <p:cNvSpPr>
            <a:spLocks xmlns:a="http://schemas.openxmlformats.org/drawingml/2006/main" noGrp="1"/>
          </p:cNvSpPr>
          <p:nvPr/>
        </p:nvSpPr>
        <p:spPr>
          <a:xfrm xmlns:a="http://schemas.openxmlformats.org/drawingml/2006/main">
            <a:off x="7877175" y="32385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lower high samples</a:t>
            </a:r>
          </a:p>
        </p:txBody>
      </p:sp>
      <p:sp>
        <p:nvSpPr>
          <p:cNvPr id="19" name="Rectangle 18">
            <a:extLst xmlns:a="http://schemas.openxmlformats.org/drawingml/2006/main">
              <a:ext uri="{FF2B5EF4-FFF2-40B4-BE49-F238E27FC236}">
                <a16:creationId xmlns:a16="http://schemas.microsoft.com/office/drawing/2014/main" id="{C41A3CCD-99F3-4EC3-9697-4DF3EF9FC4C4}"/>
              </a:ext>
            </a:extLst>
          </p:cNvPr>
          <p:cNvSpPr>
            <a:spLocks xmlns:a="http://schemas.openxmlformats.org/drawingml/2006/main" noGrp="1"/>
          </p:cNvSpPr>
          <p:nvPr/>
        </p:nvSpPr>
        <p:spPr>
          <a:xfrm xmlns:a="http://schemas.openxmlformats.org/drawingml/2006/main">
            <a:off x="8334375" y="39528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p xmlns:a="http://schemas.openxmlformats.org/drawingml/2006/main">
            <a:pPr>
              <a:buNone/>
              <a:defRPr sz="1950" b="1">
                <a:solidFill>
                  <a:srgbClr val="FF6577"/>
                </a:solidFill>
                <a:latin typeface="Arial"/>
                <a:ea typeface="Arial"/>
                <a:cs typeface="Arial"/>
              </a:defRPr>
            </a:pPr>
            <a:r>
              <a:rPr sz="1950" b="1">
                <a:solidFill>
                  <a:srgbClr val="FF6577"/>
                </a:solidFill>
                <a:latin typeface="Arial"/>
                <a:ea typeface="Arial"/>
                <a:cs typeface="Arial"/>
              </a:rPr>
              <a:t>− magnitude</a:t>
            </a:r>
          </a:p>
        </p:txBody>
      </p:sp>
      <p:sp>
        <p:nvSpPr>
          <p:cNvPr id="20" name="Straight Connector 19">
            <a:extLst xmlns:a="http://schemas.openxmlformats.org/drawingml/2006/main">
              <a:ext uri="{FF2B5EF4-FFF2-40B4-BE49-F238E27FC236}">
                <a16:creationId xmlns:a16="http://schemas.microsoft.com/office/drawing/2014/main" id="{1B2579DA-A864-4724-B57F-33E01B13BDAD}"/>
              </a:ext>
            </a:extLst>
          </p:cNvPr>
          <p:cNvSpPr>
            <a:spLocks xmlns:a="http://schemas.openxmlformats.org/drawingml/2006/main" noGrp="1"/>
          </p:cNvSpPr>
          <p:nvPr/>
        </p:nvSpPr>
        <p:spPr>
          <a:xfrm xmlns:a="http://schemas.openxmlformats.org/drawingml/2006/main">
            <a:off x="6096000" y="1476375"/>
            <a:ext cx="9525" cy="3286125"/>
          </a:xfrm>
          <a:prstGeom xmlns:a="http://schemas.openxmlformats.org/drawingml/2006/main" prst="line">
            <a:avLst/>
          </a:prstGeom>
          <a:noFill xmlns:a="http://schemas.openxmlformats.org/drawingml/2006/main"/>
          <a:ln xmlns:a="http://schemas.openxmlformats.org/drawingml/2006/main" w="19050">
            <a:solidFill>
              <a:srgbClr val="2A5876"/>
            </a:solidFill>
            <a:prstDash val="solid"/>
          </a:ln>
        </p:spPr>
      </p:sp>
      <p:sp>
        <p:nvSpPr>
          <p:cNvPr id="21" name="Rectangle: Rounded Corners 20">
            <a:extLst xmlns:a="http://schemas.openxmlformats.org/drawingml/2006/main">
              <a:ext uri="{FF2B5EF4-FFF2-40B4-BE49-F238E27FC236}">
                <a16:creationId xmlns:a16="http://schemas.microsoft.com/office/drawing/2014/main" id="{3D2403B7-F8AF-47D7-A5C2-96D20D6FC87C}"/>
              </a:ext>
            </a:extLst>
          </p:cNvPr>
          <p:cNvSpPr>
            <a:spLocks xmlns:a="http://schemas.openxmlformats.org/drawingml/2006/main" noGrp="1"/>
          </p:cNvSpPr>
          <p:nvPr/>
        </p:nvSpPr>
        <p:spPr>
          <a:xfrm xmlns:a="http://schemas.openxmlformats.org/drawingml/2006/main">
            <a:off x="4191000" y="4810125"/>
            <a:ext cx="3810000" cy="514350"/>
          </a:xfrm>
          <a:prstGeom xmlns:a="http://schemas.openxmlformats.org/drawingml/2006/main" prst="roundRect">
            <a:avLst>
              <a:gd name="adj" fmla="val 22222"/>
            </a:avLst>
          </a:prstGeom>
          <a:solidFill xmlns:a="http://schemas.openxmlformats.org/drawingml/2006/main">
            <a:srgbClr val="0B2033"/>
          </a:solidFill>
          <a:ln xmlns:a="http://schemas.openxmlformats.org/drawingml/2006/main" w="19050">
            <a:solidFill>
              <a:srgbClr val="2E9BFF"/>
            </a:solidFill>
            <a:prstDash val="solid"/>
          </a:ln>
        </p:spPr>
      </p:sp>
      <p:sp>
        <p:nvSpPr>
          <p:cNvPr id="22" name="Rectangle 21">
            <a:extLst xmlns:a="http://schemas.openxmlformats.org/drawingml/2006/main">
              <a:ext uri="{FF2B5EF4-FFF2-40B4-BE49-F238E27FC236}">
                <a16:creationId xmlns:a16="http://schemas.microsoft.com/office/drawing/2014/main" id="{FCC68F59-8BB1-469E-BEF2-4AD5F229B880}"/>
              </a:ext>
            </a:extLst>
          </p:cNvPr>
          <p:cNvSpPr>
            <a:spLocks xmlns:a="http://schemas.openxmlformats.org/drawingml/2006/main" noGrp="1"/>
          </p:cNvSpPr>
          <p:nvPr/>
        </p:nvSpPr>
        <p:spPr>
          <a:xfrm xmlns:a="http://schemas.openxmlformats.org/drawingml/2006/main">
            <a:off x="4305300" y="4905375"/>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Category 0 always uses offset 0</a:t>
            </a:r>
          </a:p>
        </p:txBody>
      </p:sp>
      <p:sp>
        <p:nvSpPr>
          <p:cNvPr id="23" name="Rectangle 22">
            <a:extLst xmlns:a="http://schemas.openxmlformats.org/drawingml/2006/main">
              <a:ext uri="{FF2B5EF4-FFF2-40B4-BE49-F238E27FC236}">
                <a16:creationId xmlns:a16="http://schemas.microsoft.com/office/drawing/2014/main" id="{E4C9EB1E-7FFB-4968-912F-578CB534A43B}"/>
              </a:ext>
            </a:extLst>
          </p:cNvPr>
          <p:cNvSpPr>
            <a:spLocks xmlns:a="http://schemas.openxmlformats.org/drawingml/2006/main" noGrp="1"/>
          </p:cNvSpPr>
          <p:nvPr/>
        </p:nvSpPr>
        <p:spPr>
          <a:xfrm xmlns:a="http://schemas.openxmlformats.org/drawingml/2006/main">
            <a:off x="1952625" y="5667375"/>
            <a:ext cx="828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The sign is not transmitted. Reversing these signs would sharpen the edge, which Edge Offset does not permit.</a:t>
            </a:r>
          </a:p>
        </p:txBody>
      </p:sp>
    </p:spTree>
    <p:extLst>
      <p:ext uri="{BB962C8B-B14F-4D97-AF65-F5344CB8AC3E}">
        <p14:creationId xmlns:p14="http://schemas.microsoft.com/office/powerpoint/2010/main" val="1244326534"/>
      </p:ext>
    </p:extLst>
  </p:cSld>
</p:sld>
</file>

<file path=ppt/slides/slide33.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64" name="Oval 63">
            <a:extLst xmlns:a="http://schemas.openxmlformats.org/drawingml/2006/main">
              <a:ext uri="{FF2B5EF4-FFF2-40B4-BE49-F238E27FC236}">
                <a16:creationId xmlns:a16="http://schemas.microsoft.com/office/drawing/2014/main" id="{83EDDEDA-1887-4887-869A-8F9C89DE2C2C}"/>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E5CDF049-C8DD-434B-87B4-40C8B348FDC8}"/>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E0A73B2A-F06D-4C09-BABF-262B793A3AF1}"/>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Band Offset classifies samples by intensity</a:t>
            </a:r>
          </a:p>
        </p:txBody>
      </p:sp>
      <p:sp>
        <p:nvSpPr>
          <p:cNvPr id="4" name="Straight Connector 3">
            <a:extLst xmlns:a="http://schemas.openxmlformats.org/drawingml/2006/main">
              <a:ext uri="{FF2B5EF4-FFF2-40B4-BE49-F238E27FC236}">
                <a16:creationId xmlns:a16="http://schemas.microsoft.com/office/drawing/2014/main" id="{BE8C7B71-B366-4A91-BDC1-6DEF0BF8A28E}"/>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5A9A8715-EB5B-4852-A642-B53B30C80E89}"/>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For 8-bit video, the range 0 to 255 is divided into 32 bands of eight values each</a:t>
            </a:r>
          </a:p>
        </p:txBody>
      </p:sp>
      <p:sp>
        <p:nvSpPr>
          <p:cNvPr id="6" name="Rectangle 5">
            <a:extLst xmlns:a="http://schemas.openxmlformats.org/drawingml/2006/main">
              <a:ext uri="{FF2B5EF4-FFF2-40B4-BE49-F238E27FC236}">
                <a16:creationId xmlns:a16="http://schemas.microsoft.com/office/drawing/2014/main" id="{BD0B02E1-4D5A-46A8-B069-AE4755D5F760}"/>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0FE0466E-57AF-492B-A43F-7F48F4E90E67}"/>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33 / 49</a:t>
            </a:r>
          </a:p>
        </p:txBody>
      </p:sp>
      <p:sp>
        <p:nvSpPr>
          <p:cNvPr id="8" name="Rectangle 7">
            <a:extLst xmlns:a="http://schemas.openxmlformats.org/drawingml/2006/main">
              <a:ext uri="{FF2B5EF4-FFF2-40B4-BE49-F238E27FC236}">
                <a16:creationId xmlns:a16="http://schemas.microsoft.com/office/drawing/2014/main" id="{F8C4513F-6D62-43D3-8711-6658525D3BD4}"/>
              </a:ext>
            </a:extLst>
          </p:cNvPr>
          <p:cNvSpPr>
            <a:spLocks xmlns:a="http://schemas.openxmlformats.org/drawingml/2006/main" noGrp="1"/>
          </p:cNvSpPr>
          <p:nvPr/>
        </p:nvSpPr>
        <p:spPr>
          <a:xfrm xmlns:a="http://schemas.openxmlformats.org/drawingml/2006/main">
            <a:off x="762000" y="1428750"/>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800" b="1">
                <a:solidFill>
                  <a:srgbClr val="F4F8FC"/>
                </a:solidFill>
                <a:latin typeface="Arial"/>
                <a:ea typeface="Arial"/>
                <a:cs typeface="Arial"/>
              </a:defRPr>
            </a:pPr>
            <a:r>
              <a:rPr sz="1800" b="1">
                <a:solidFill>
                  <a:srgbClr val="F4F8FC"/>
                </a:solidFill>
                <a:latin typeface="Arial"/>
                <a:ea typeface="Arial"/>
                <a:cs typeface="Arial"/>
              </a:rPr>
              <a:t>band k contains values from 8k through 8k + 7</a:t>
            </a:r>
          </a:p>
        </p:txBody>
      </p:sp>
      <p:sp>
        <p:nvSpPr>
          <p:cNvPr id="9" name="Rectangle 8">
            <a:extLst xmlns:a="http://schemas.openxmlformats.org/drawingml/2006/main">
              <a:ext uri="{FF2B5EF4-FFF2-40B4-BE49-F238E27FC236}">
                <a16:creationId xmlns:a16="http://schemas.microsoft.com/office/drawing/2014/main" id="{EBD2DFAC-AB43-4722-86F9-AADCBF061C06}"/>
              </a:ext>
            </a:extLst>
          </p:cNvPr>
          <p:cNvSpPr>
            <a:spLocks xmlns:a="http://schemas.openxmlformats.org/drawingml/2006/main" noGrp="1"/>
          </p:cNvSpPr>
          <p:nvPr/>
        </p:nvSpPr>
        <p:spPr>
          <a:xfrm xmlns:a="http://schemas.openxmlformats.org/drawingml/2006/main">
            <a:off x="66675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0" name="Rectangle 9">
            <a:extLst xmlns:a="http://schemas.openxmlformats.org/drawingml/2006/main">
              <a:ext uri="{FF2B5EF4-FFF2-40B4-BE49-F238E27FC236}">
                <a16:creationId xmlns:a16="http://schemas.microsoft.com/office/drawing/2014/main" id="{97BFDAB5-E123-4741-8051-6FAC33D2DC40}"/>
              </a:ext>
            </a:extLst>
          </p:cNvPr>
          <p:cNvSpPr>
            <a:spLocks xmlns:a="http://schemas.openxmlformats.org/drawingml/2006/main" noGrp="1"/>
          </p:cNvSpPr>
          <p:nvPr/>
        </p:nvSpPr>
        <p:spPr>
          <a:xfrm xmlns:a="http://schemas.openxmlformats.org/drawingml/2006/main">
            <a:off x="6667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AFC0D0"/>
                </a:solidFill>
                <a:latin typeface="Arial"/>
                <a:ea typeface="Arial"/>
                <a:cs typeface="Arial"/>
              </a:defRPr>
            </a:pPr>
            <a:r>
              <a:rPr sz="975" b="1">
                <a:solidFill>
                  <a:srgbClr val="AFC0D0"/>
                </a:solidFill>
                <a:latin typeface="Arial"/>
                <a:ea typeface="Arial"/>
                <a:cs typeface="Arial"/>
              </a:rPr>
              <a:t>0</a:t>
            </a:r>
          </a:p>
        </p:txBody>
      </p:sp>
      <p:sp>
        <p:nvSpPr>
          <p:cNvPr id="11" name="Rectangle 10">
            <a:extLst xmlns:a="http://schemas.openxmlformats.org/drawingml/2006/main">
              <a:ext uri="{FF2B5EF4-FFF2-40B4-BE49-F238E27FC236}">
                <a16:creationId xmlns:a16="http://schemas.microsoft.com/office/drawing/2014/main" id="{9E2BE823-DE47-46D9-B85D-65F2E748A408}"/>
              </a:ext>
            </a:extLst>
          </p:cNvPr>
          <p:cNvSpPr>
            <a:spLocks xmlns:a="http://schemas.openxmlformats.org/drawingml/2006/main" noGrp="1"/>
          </p:cNvSpPr>
          <p:nvPr/>
        </p:nvSpPr>
        <p:spPr>
          <a:xfrm xmlns:a="http://schemas.openxmlformats.org/drawingml/2006/main">
            <a:off x="100012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2" name="Rectangle 11">
            <a:extLst xmlns:a="http://schemas.openxmlformats.org/drawingml/2006/main">
              <a:ext uri="{FF2B5EF4-FFF2-40B4-BE49-F238E27FC236}">
                <a16:creationId xmlns:a16="http://schemas.microsoft.com/office/drawing/2014/main" id="{9352E281-06B4-476A-892A-AF5EEC0C2327}"/>
              </a:ext>
            </a:extLst>
          </p:cNvPr>
          <p:cNvSpPr>
            <a:spLocks xmlns:a="http://schemas.openxmlformats.org/drawingml/2006/main" noGrp="1"/>
          </p:cNvSpPr>
          <p:nvPr/>
        </p:nvSpPr>
        <p:spPr>
          <a:xfrm xmlns:a="http://schemas.openxmlformats.org/drawingml/2006/main">
            <a:off x="133350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3" name="Rectangle 12">
            <a:extLst xmlns:a="http://schemas.openxmlformats.org/drawingml/2006/main">
              <a:ext uri="{FF2B5EF4-FFF2-40B4-BE49-F238E27FC236}">
                <a16:creationId xmlns:a16="http://schemas.microsoft.com/office/drawing/2014/main" id="{5927211F-5E26-4C88-B0A7-692F614C47C9}"/>
              </a:ext>
            </a:extLst>
          </p:cNvPr>
          <p:cNvSpPr>
            <a:spLocks xmlns:a="http://schemas.openxmlformats.org/drawingml/2006/main" noGrp="1"/>
          </p:cNvSpPr>
          <p:nvPr/>
        </p:nvSpPr>
        <p:spPr>
          <a:xfrm xmlns:a="http://schemas.openxmlformats.org/drawingml/2006/main">
            <a:off x="166687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4" name="Rectangle 13">
            <a:extLst xmlns:a="http://schemas.openxmlformats.org/drawingml/2006/main">
              <a:ext uri="{FF2B5EF4-FFF2-40B4-BE49-F238E27FC236}">
                <a16:creationId xmlns:a16="http://schemas.microsoft.com/office/drawing/2014/main" id="{8FE8E2B2-ABB7-4975-B035-FD5D5EC0E853}"/>
              </a:ext>
            </a:extLst>
          </p:cNvPr>
          <p:cNvSpPr>
            <a:spLocks xmlns:a="http://schemas.openxmlformats.org/drawingml/2006/main" noGrp="1"/>
          </p:cNvSpPr>
          <p:nvPr/>
        </p:nvSpPr>
        <p:spPr>
          <a:xfrm xmlns:a="http://schemas.openxmlformats.org/drawingml/2006/main">
            <a:off x="200025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5" name="Rectangle 14">
            <a:extLst xmlns:a="http://schemas.openxmlformats.org/drawingml/2006/main">
              <a:ext uri="{FF2B5EF4-FFF2-40B4-BE49-F238E27FC236}">
                <a16:creationId xmlns:a16="http://schemas.microsoft.com/office/drawing/2014/main" id="{8F433624-0CE4-47DE-B926-48128775B147}"/>
              </a:ext>
            </a:extLst>
          </p:cNvPr>
          <p:cNvSpPr>
            <a:spLocks xmlns:a="http://schemas.openxmlformats.org/drawingml/2006/main" noGrp="1"/>
          </p:cNvSpPr>
          <p:nvPr/>
        </p:nvSpPr>
        <p:spPr>
          <a:xfrm xmlns:a="http://schemas.openxmlformats.org/drawingml/2006/main">
            <a:off x="20002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AFC0D0"/>
                </a:solidFill>
                <a:latin typeface="Arial"/>
                <a:ea typeface="Arial"/>
                <a:cs typeface="Arial"/>
              </a:defRPr>
            </a:pPr>
            <a:r>
              <a:rPr sz="975" b="1">
                <a:solidFill>
                  <a:srgbClr val="AFC0D0"/>
                </a:solidFill>
                <a:latin typeface="Arial"/>
                <a:ea typeface="Arial"/>
                <a:cs typeface="Arial"/>
              </a:rPr>
              <a:t>4</a:t>
            </a:r>
          </a:p>
        </p:txBody>
      </p:sp>
      <p:sp>
        <p:nvSpPr>
          <p:cNvPr id="16" name="Rectangle 15">
            <a:extLst xmlns:a="http://schemas.openxmlformats.org/drawingml/2006/main">
              <a:ext uri="{FF2B5EF4-FFF2-40B4-BE49-F238E27FC236}">
                <a16:creationId xmlns:a16="http://schemas.microsoft.com/office/drawing/2014/main" id="{967BFF6D-B302-430E-80C8-2F4F36B5159B}"/>
              </a:ext>
            </a:extLst>
          </p:cNvPr>
          <p:cNvSpPr>
            <a:spLocks xmlns:a="http://schemas.openxmlformats.org/drawingml/2006/main" noGrp="1"/>
          </p:cNvSpPr>
          <p:nvPr/>
        </p:nvSpPr>
        <p:spPr>
          <a:xfrm xmlns:a="http://schemas.openxmlformats.org/drawingml/2006/main">
            <a:off x="233362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7" name="Rectangle 16">
            <a:extLst xmlns:a="http://schemas.openxmlformats.org/drawingml/2006/main">
              <a:ext uri="{FF2B5EF4-FFF2-40B4-BE49-F238E27FC236}">
                <a16:creationId xmlns:a16="http://schemas.microsoft.com/office/drawing/2014/main" id="{8771B9A6-3D10-4F2A-8E75-7F1474FDE05B}"/>
              </a:ext>
            </a:extLst>
          </p:cNvPr>
          <p:cNvSpPr>
            <a:spLocks xmlns:a="http://schemas.openxmlformats.org/drawingml/2006/main" noGrp="1"/>
          </p:cNvSpPr>
          <p:nvPr/>
        </p:nvSpPr>
        <p:spPr>
          <a:xfrm xmlns:a="http://schemas.openxmlformats.org/drawingml/2006/main">
            <a:off x="266700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8" name="Rectangle 17">
            <a:extLst xmlns:a="http://schemas.openxmlformats.org/drawingml/2006/main">
              <a:ext uri="{FF2B5EF4-FFF2-40B4-BE49-F238E27FC236}">
                <a16:creationId xmlns:a16="http://schemas.microsoft.com/office/drawing/2014/main" id="{CF98E312-DA7C-4971-84CA-E8CFB3D6C3DC}"/>
              </a:ext>
            </a:extLst>
          </p:cNvPr>
          <p:cNvSpPr>
            <a:spLocks xmlns:a="http://schemas.openxmlformats.org/drawingml/2006/main" noGrp="1"/>
          </p:cNvSpPr>
          <p:nvPr/>
        </p:nvSpPr>
        <p:spPr>
          <a:xfrm xmlns:a="http://schemas.openxmlformats.org/drawingml/2006/main">
            <a:off x="300037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19" name="Rectangle 18">
            <a:extLst xmlns:a="http://schemas.openxmlformats.org/drawingml/2006/main">
              <a:ext uri="{FF2B5EF4-FFF2-40B4-BE49-F238E27FC236}">
                <a16:creationId xmlns:a16="http://schemas.microsoft.com/office/drawing/2014/main" id="{2DC49905-A0AC-4E2D-834C-F53B3A2F4ED4}"/>
              </a:ext>
            </a:extLst>
          </p:cNvPr>
          <p:cNvSpPr>
            <a:spLocks xmlns:a="http://schemas.openxmlformats.org/drawingml/2006/main" noGrp="1"/>
          </p:cNvSpPr>
          <p:nvPr/>
        </p:nvSpPr>
        <p:spPr>
          <a:xfrm xmlns:a="http://schemas.openxmlformats.org/drawingml/2006/main">
            <a:off x="333375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0" name="Rectangle 19">
            <a:extLst xmlns:a="http://schemas.openxmlformats.org/drawingml/2006/main">
              <a:ext uri="{FF2B5EF4-FFF2-40B4-BE49-F238E27FC236}">
                <a16:creationId xmlns:a16="http://schemas.microsoft.com/office/drawing/2014/main" id="{581A8253-4E80-420C-847D-439CDB2AD02D}"/>
              </a:ext>
            </a:extLst>
          </p:cNvPr>
          <p:cNvSpPr>
            <a:spLocks xmlns:a="http://schemas.openxmlformats.org/drawingml/2006/main" noGrp="1"/>
          </p:cNvSpPr>
          <p:nvPr/>
        </p:nvSpPr>
        <p:spPr>
          <a:xfrm xmlns:a="http://schemas.openxmlformats.org/drawingml/2006/main">
            <a:off x="33337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AFC0D0"/>
                </a:solidFill>
                <a:latin typeface="Arial"/>
                <a:ea typeface="Arial"/>
                <a:cs typeface="Arial"/>
              </a:defRPr>
            </a:pPr>
            <a:r>
              <a:rPr sz="975" b="1">
                <a:solidFill>
                  <a:srgbClr val="AFC0D0"/>
                </a:solidFill>
                <a:latin typeface="Arial"/>
                <a:ea typeface="Arial"/>
                <a:cs typeface="Arial"/>
              </a:rPr>
              <a:t>8</a:t>
            </a:r>
          </a:p>
        </p:txBody>
      </p:sp>
      <p:sp>
        <p:nvSpPr>
          <p:cNvPr id="21" name="Rectangle 20">
            <a:extLst xmlns:a="http://schemas.openxmlformats.org/drawingml/2006/main">
              <a:ext uri="{FF2B5EF4-FFF2-40B4-BE49-F238E27FC236}">
                <a16:creationId xmlns:a16="http://schemas.microsoft.com/office/drawing/2014/main" id="{589FE815-AFEE-4BBA-9076-1F71BCC8234A}"/>
              </a:ext>
            </a:extLst>
          </p:cNvPr>
          <p:cNvSpPr>
            <a:spLocks xmlns:a="http://schemas.openxmlformats.org/drawingml/2006/main" noGrp="1"/>
          </p:cNvSpPr>
          <p:nvPr/>
        </p:nvSpPr>
        <p:spPr>
          <a:xfrm xmlns:a="http://schemas.openxmlformats.org/drawingml/2006/main">
            <a:off x="366712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2" name="Rectangle 21">
            <a:extLst xmlns:a="http://schemas.openxmlformats.org/drawingml/2006/main">
              <a:ext uri="{FF2B5EF4-FFF2-40B4-BE49-F238E27FC236}">
                <a16:creationId xmlns:a16="http://schemas.microsoft.com/office/drawing/2014/main" id="{111930C0-D049-4DBD-B35A-F90BA4027A50}"/>
              </a:ext>
            </a:extLst>
          </p:cNvPr>
          <p:cNvSpPr>
            <a:spLocks xmlns:a="http://schemas.openxmlformats.org/drawingml/2006/main" noGrp="1"/>
          </p:cNvSpPr>
          <p:nvPr/>
        </p:nvSpPr>
        <p:spPr>
          <a:xfrm xmlns:a="http://schemas.openxmlformats.org/drawingml/2006/main">
            <a:off x="400050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3" name="Rectangle 22">
            <a:extLst xmlns:a="http://schemas.openxmlformats.org/drawingml/2006/main">
              <a:ext uri="{FF2B5EF4-FFF2-40B4-BE49-F238E27FC236}">
                <a16:creationId xmlns:a16="http://schemas.microsoft.com/office/drawing/2014/main" id="{6F1A3D15-5617-4183-B7D8-5136A7BAC4B3}"/>
              </a:ext>
            </a:extLst>
          </p:cNvPr>
          <p:cNvSpPr>
            <a:spLocks xmlns:a="http://schemas.openxmlformats.org/drawingml/2006/main" noGrp="1"/>
          </p:cNvSpPr>
          <p:nvPr/>
        </p:nvSpPr>
        <p:spPr>
          <a:xfrm xmlns:a="http://schemas.openxmlformats.org/drawingml/2006/main">
            <a:off x="433387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4" name="Rectangle 23">
            <a:extLst xmlns:a="http://schemas.openxmlformats.org/drawingml/2006/main">
              <a:ext uri="{FF2B5EF4-FFF2-40B4-BE49-F238E27FC236}">
                <a16:creationId xmlns:a16="http://schemas.microsoft.com/office/drawing/2014/main" id="{8425A54C-ACC5-4DDA-997C-25169EEF617E}"/>
              </a:ext>
            </a:extLst>
          </p:cNvPr>
          <p:cNvSpPr>
            <a:spLocks xmlns:a="http://schemas.openxmlformats.org/drawingml/2006/main" noGrp="1"/>
          </p:cNvSpPr>
          <p:nvPr/>
        </p:nvSpPr>
        <p:spPr>
          <a:xfrm xmlns:a="http://schemas.openxmlformats.org/drawingml/2006/main">
            <a:off x="466725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5" name="Rectangle 24">
            <a:extLst xmlns:a="http://schemas.openxmlformats.org/drawingml/2006/main">
              <a:ext uri="{FF2B5EF4-FFF2-40B4-BE49-F238E27FC236}">
                <a16:creationId xmlns:a16="http://schemas.microsoft.com/office/drawing/2014/main" id="{FF0F96C2-3E37-4939-90BB-25DECD15AC05}"/>
              </a:ext>
            </a:extLst>
          </p:cNvPr>
          <p:cNvSpPr>
            <a:spLocks xmlns:a="http://schemas.openxmlformats.org/drawingml/2006/main" noGrp="1"/>
          </p:cNvSpPr>
          <p:nvPr/>
        </p:nvSpPr>
        <p:spPr>
          <a:xfrm xmlns:a="http://schemas.openxmlformats.org/drawingml/2006/main">
            <a:off x="46672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AFC0D0"/>
                </a:solidFill>
                <a:latin typeface="Arial"/>
                <a:ea typeface="Arial"/>
                <a:cs typeface="Arial"/>
              </a:defRPr>
            </a:pPr>
            <a:r>
              <a:rPr sz="975" b="1">
                <a:solidFill>
                  <a:srgbClr val="AFC0D0"/>
                </a:solidFill>
                <a:latin typeface="Arial"/>
                <a:ea typeface="Arial"/>
                <a:cs typeface="Arial"/>
              </a:rPr>
              <a:t>12</a:t>
            </a:r>
          </a:p>
        </p:txBody>
      </p:sp>
      <p:sp>
        <p:nvSpPr>
          <p:cNvPr id="26" name="Rectangle 25">
            <a:extLst xmlns:a="http://schemas.openxmlformats.org/drawingml/2006/main">
              <a:ext uri="{FF2B5EF4-FFF2-40B4-BE49-F238E27FC236}">
                <a16:creationId xmlns:a16="http://schemas.microsoft.com/office/drawing/2014/main" id="{EA8A7AA1-C239-4BED-88D9-7154E8EA77A1}"/>
              </a:ext>
            </a:extLst>
          </p:cNvPr>
          <p:cNvSpPr>
            <a:spLocks xmlns:a="http://schemas.openxmlformats.org/drawingml/2006/main" noGrp="1"/>
          </p:cNvSpPr>
          <p:nvPr/>
        </p:nvSpPr>
        <p:spPr>
          <a:xfrm xmlns:a="http://schemas.openxmlformats.org/drawingml/2006/main">
            <a:off x="500062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7" name="Rectangle 26">
            <a:extLst xmlns:a="http://schemas.openxmlformats.org/drawingml/2006/main">
              <a:ext uri="{FF2B5EF4-FFF2-40B4-BE49-F238E27FC236}">
                <a16:creationId xmlns:a16="http://schemas.microsoft.com/office/drawing/2014/main" id="{80C05EEE-A1BB-48F1-BD4A-ABA2A9AA731F}"/>
              </a:ext>
            </a:extLst>
          </p:cNvPr>
          <p:cNvSpPr>
            <a:spLocks xmlns:a="http://schemas.openxmlformats.org/drawingml/2006/main" noGrp="1"/>
          </p:cNvSpPr>
          <p:nvPr/>
        </p:nvSpPr>
        <p:spPr>
          <a:xfrm xmlns:a="http://schemas.openxmlformats.org/drawingml/2006/main">
            <a:off x="533400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8" name="Rectangle 27">
            <a:extLst xmlns:a="http://schemas.openxmlformats.org/drawingml/2006/main">
              <a:ext uri="{FF2B5EF4-FFF2-40B4-BE49-F238E27FC236}">
                <a16:creationId xmlns:a16="http://schemas.microsoft.com/office/drawing/2014/main" id="{3018C553-35B2-423A-8A13-6127163E9E73}"/>
              </a:ext>
            </a:extLst>
          </p:cNvPr>
          <p:cNvSpPr>
            <a:spLocks xmlns:a="http://schemas.openxmlformats.org/drawingml/2006/main" noGrp="1"/>
          </p:cNvSpPr>
          <p:nvPr/>
        </p:nvSpPr>
        <p:spPr>
          <a:xfrm xmlns:a="http://schemas.openxmlformats.org/drawingml/2006/main">
            <a:off x="566737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29" name="Rectangle 28">
            <a:extLst xmlns:a="http://schemas.openxmlformats.org/drawingml/2006/main">
              <a:ext uri="{FF2B5EF4-FFF2-40B4-BE49-F238E27FC236}">
                <a16:creationId xmlns:a16="http://schemas.microsoft.com/office/drawing/2014/main" id="{0196436F-A57F-49C3-A701-CF83BB4B388E}"/>
              </a:ext>
            </a:extLst>
          </p:cNvPr>
          <p:cNvSpPr>
            <a:spLocks xmlns:a="http://schemas.openxmlformats.org/drawingml/2006/main" noGrp="1"/>
          </p:cNvSpPr>
          <p:nvPr/>
        </p:nvSpPr>
        <p:spPr>
          <a:xfrm xmlns:a="http://schemas.openxmlformats.org/drawingml/2006/main">
            <a:off x="600075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30" name="Rectangle 29">
            <a:extLst xmlns:a="http://schemas.openxmlformats.org/drawingml/2006/main">
              <a:ext uri="{FF2B5EF4-FFF2-40B4-BE49-F238E27FC236}">
                <a16:creationId xmlns:a16="http://schemas.microsoft.com/office/drawing/2014/main" id="{F2431254-5B48-46B1-8716-48F18C20F0ED}"/>
              </a:ext>
            </a:extLst>
          </p:cNvPr>
          <p:cNvSpPr>
            <a:spLocks xmlns:a="http://schemas.openxmlformats.org/drawingml/2006/main" noGrp="1"/>
          </p:cNvSpPr>
          <p:nvPr/>
        </p:nvSpPr>
        <p:spPr>
          <a:xfrm xmlns:a="http://schemas.openxmlformats.org/drawingml/2006/main">
            <a:off x="60007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AFC0D0"/>
                </a:solidFill>
                <a:latin typeface="Arial"/>
                <a:ea typeface="Arial"/>
                <a:cs typeface="Arial"/>
              </a:defRPr>
            </a:pPr>
            <a:r>
              <a:rPr sz="975" b="1">
                <a:solidFill>
                  <a:srgbClr val="AFC0D0"/>
                </a:solidFill>
                <a:latin typeface="Arial"/>
                <a:ea typeface="Arial"/>
                <a:cs typeface="Arial"/>
              </a:rPr>
              <a:t>16</a:t>
            </a:r>
          </a:p>
        </p:txBody>
      </p:sp>
      <p:sp>
        <p:nvSpPr>
          <p:cNvPr id="31" name="Rectangle 30">
            <a:extLst xmlns:a="http://schemas.openxmlformats.org/drawingml/2006/main">
              <a:ext uri="{FF2B5EF4-FFF2-40B4-BE49-F238E27FC236}">
                <a16:creationId xmlns:a16="http://schemas.microsoft.com/office/drawing/2014/main" id="{EB21C666-9CD5-4F54-91ED-EA67925DA71B}"/>
              </a:ext>
            </a:extLst>
          </p:cNvPr>
          <p:cNvSpPr>
            <a:spLocks xmlns:a="http://schemas.openxmlformats.org/drawingml/2006/main" noGrp="1"/>
          </p:cNvSpPr>
          <p:nvPr/>
        </p:nvSpPr>
        <p:spPr>
          <a:xfrm xmlns:a="http://schemas.openxmlformats.org/drawingml/2006/main">
            <a:off x="6334125" y="2333625"/>
            <a:ext cx="333375" cy="742950"/>
          </a:xfrm>
          <a:prstGeom xmlns:a="http://schemas.openxmlformats.org/drawingml/2006/main" prst="rect">
            <a:avLst/>
          </a:prstGeom>
          <a:solidFill xmlns:a="http://schemas.openxmlformats.org/drawingml/2006/main">
            <a:srgbClr val="FFB84D"/>
          </a:solidFill>
          <a:ln xmlns:a="http://schemas.openxmlformats.org/drawingml/2006/main" w="9525">
            <a:solidFill>
              <a:srgbClr val="FFB84D"/>
            </a:solidFill>
            <a:prstDash val="solid"/>
          </a:ln>
        </p:spPr>
      </p:sp>
      <p:sp>
        <p:nvSpPr>
          <p:cNvPr id="32" name="Rectangle 31">
            <a:extLst xmlns:a="http://schemas.openxmlformats.org/drawingml/2006/main">
              <a:ext uri="{FF2B5EF4-FFF2-40B4-BE49-F238E27FC236}">
                <a16:creationId xmlns:a16="http://schemas.microsoft.com/office/drawing/2014/main" id="{1527B35D-76AB-4007-96AF-00AC0DF0811E}"/>
              </a:ext>
            </a:extLst>
          </p:cNvPr>
          <p:cNvSpPr>
            <a:spLocks xmlns:a="http://schemas.openxmlformats.org/drawingml/2006/main" noGrp="1"/>
          </p:cNvSpPr>
          <p:nvPr/>
        </p:nvSpPr>
        <p:spPr>
          <a:xfrm xmlns:a="http://schemas.openxmlformats.org/drawingml/2006/main">
            <a:off x="6667500" y="2333625"/>
            <a:ext cx="333375" cy="742950"/>
          </a:xfrm>
          <a:prstGeom xmlns:a="http://schemas.openxmlformats.org/drawingml/2006/main" prst="rect">
            <a:avLst/>
          </a:prstGeom>
          <a:solidFill xmlns:a="http://schemas.openxmlformats.org/drawingml/2006/main">
            <a:srgbClr val="FFB84D"/>
          </a:solidFill>
          <a:ln xmlns:a="http://schemas.openxmlformats.org/drawingml/2006/main" w="9525">
            <a:solidFill>
              <a:srgbClr val="FFB84D"/>
            </a:solidFill>
            <a:prstDash val="solid"/>
          </a:ln>
        </p:spPr>
      </p:sp>
      <p:sp>
        <p:nvSpPr>
          <p:cNvPr id="33" name="Rectangle 32">
            <a:extLst xmlns:a="http://schemas.openxmlformats.org/drawingml/2006/main">
              <a:ext uri="{FF2B5EF4-FFF2-40B4-BE49-F238E27FC236}">
                <a16:creationId xmlns:a16="http://schemas.microsoft.com/office/drawing/2014/main" id="{6508F672-C49B-4BC6-BCCA-316A92A6D865}"/>
              </a:ext>
            </a:extLst>
          </p:cNvPr>
          <p:cNvSpPr>
            <a:spLocks xmlns:a="http://schemas.openxmlformats.org/drawingml/2006/main" noGrp="1"/>
          </p:cNvSpPr>
          <p:nvPr/>
        </p:nvSpPr>
        <p:spPr>
          <a:xfrm xmlns:a="http://schemas.openxmlformats.org/drawingml/2006/main">
            <a:off x="7000875" y="2333625"/>
            <a:ext cx="333375" cy="742950"/>
          </a:xfrm>
          <a:prstGeom xmlns:a="http://schemas.openxmlformats.org/drawingml/2006/main" prst="rect">
            <a:avLst/>
          </a:prstGeom>
          <a:solidFill xmlns:a="http://schemas.openxmlformats.org/drawingml/2006/main">
            <a:srgbClr val="FFB84D"/>
          </a:solidFill>
          <a:ln xmlns:a="http://schemas.openxmlformats.org/drawingml/2006/main" w="9525">
            <a:solidFill>
              <a:srgbClr val="FFB84D"/>
            </a:solidFill>
            <a:prstDash val="solid"/>
          </a:ln>
        </p:spPr>
      </p:sp>
      <p:sp>
        <p:nvSpPr>
          <p:cNvPr id="34" name="Rectangle 33">
            <a:extLst xmlns:a="http://schemas.openxmlformats.org/drawingml/2006/main">
              <a:ext uri="{FF2B5EF4-FFF2-40B4-BE49-F238E27FC236}">
                <a16:creationId xmlns:a16="http://schemas.microsoft.com/office/drawing/2014/main" id="{0888EC1E-5350-4B79-B478-0E2C34753B9C}"/>
              </a:ext>
            </a:extLst>
          </p:cNvPr>
          <p:cNvSpPr>
            <a:spLocks xmlns:a="http://schemas.openxmlformats.org/drawingml/2006/main" noGrp="1"/>
          </p:cNvSpPr>
          <p:nvPr/>
        </p:nvSpPr>
        <p:spPr>
          <a:xfrm xmlns:a="http://schemas.openxmlformats.org/drawingml/2006/main">
            <a:off x="7334250" y="2333625"/>
            <a:ext cx="333375" cy="742950"/>
          </a:xfrm>
          <a:prstGeom xmlns:a="http://schemas.openxmlformats.org/drawingml/2006/main" prst="rect">
            <a:avLst/>
          </a:prstGeom>
          <a:solidFill xmlns:a="http://schemas.openxmlformats.org/drawingml/2006/main">
            <a:srgbClr val="FFB84D"/>
          </a:solidFill>
          <a:ln xmlns:a="http://schemas.openxmlformats.org/drawingml/2006/main" w="9525">
            <a:solidFill>
              <a:srgbClr val="FFB84D"/>
            </a:solidFill>
            <a:prstDash val="solid"/>
          </a:ln>
        </p:spPr>
      </p:sp>
      <p:sp>
        <p:nvSpPr>
          <p:cNvPr id="35" name="Rectangle 34">
            <a:extLst xmlns:a="http://schemas.openxmlformats.org/drawingml/2006/main">
              <a:ext uri="{FF2B5EF4-FFF2-40B4-BE49-F238E27FC236}">
                <a16:creationId xmlns:a16="http://schemas.microsoft.com/office/drawing/2014/main" id="{3D499726-EDCF-4736-A6D7-E2E115FD70AB}"/>
              </a:ext>
            </a:extLst>
          </p:cNvPr>
          <p:cNvSpPr>
            <a:spLocks xmlns:a="http://schemas.openxmlformats.org/drawingml/2006/main" noGrp="1"/>
          </p:cNvSpPr>
          <p:nvPr/>
        </p:nvSpPr>
        <p:spPr>
          <a:xfrm xmlns:a="http://schemas.openxmlformats.org/drawingml/2006/main">
            <a:off x="73342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FFB84D"/>
                </a:solidFill>
                <a:latin typeface="Arial"/>
                <a:ea typeface="Arial"/>
                <a:cs typeface="Arial"/>
              </a:defRPr>
            </a:pPr>
            <a:r>
              <a:rPr sz="975" b="1">
                <a:solidFill>
                  <a:srgbClr val="FFB84D"/>
                </a:solidFill>
                <a:latin typeface="Arial"/>
                <a:ea typeface="Arial"/>
                <a:cs typeface="Arial"/>
              </a:rPr>
              <a:t>20</a:t>
            </a:r>
          </a:p>
        </p:txBody>
      </p:sp>
      <p:sp>
        <p:nvSpPr>
          <p:cNvPr id="36" name="Rectangle 35">
            <a:extLst xmlns:a="http://schemas.openxmlformats.org/drawingml/2006/main">
              <a:ext uri="{FF2B5EF4-FFF2-40B4-BE49-F238E27FC236}">
                <a16:creationId xmlns:a16="http://schemas.microsoft.com/office/drawing/2014/main" id="{33B5D5B2-2AC2-4755-8588-B9A71F5815F1}"/>
              </a:ext>
            </a:extLst>
          </p:cNvPr>
          <p:cNvSpPr>
            <a:spLocks xmlns:a="http://schemas.openxmlformats.org/drawingml/2006/main" noGrp="1"/>
          </p:cNvSpPr>
          <p:nvPr/>
        </p:nvSpPr>
        <p:spPr>
          <a:xfrm xmlns:a="http://schemas.openxmlformats.org/drawingml/2006/main">
            <a:off x="766762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37" name="Rectangle 36">
            <a:extLst xmlns:a="http://schemas.openxmlformats.org/drawingml/2006/main">
              <a:ext uri="{FF2B5EF4-FFF2-40B4-BE49-F238E27FC236}">
                <a16:creationId xmlns:a16="http://schemas.microsoft.com/office/drawing/2014/main" id="{FC9BEC9C-7833-4D9F-933C-66109D677D7F}"/>
              </a:ext>
            </a:extLst>
          </p:cNvPr>
          <p:cNvSpPr>
            <a:spLocks xmlns:a="http://schemas.openxmlformats.org/drawingml/2006/main" noGrp="1"/>
          </p:cNvSpPr>
          <p:nvPr/>
        </p:nvSpPr>
        <p:spPr>
          <a:xfrm xmlns:a="http://schemas.openxmlformats.org/drawingml/2006/main">
            <a:off x="800100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38" name="Rectangle 37">
            <a:extLst xmlns:a="http://schemas.openxmlformats.org/drawingml/2006/main">
              <a:ext uri="{FF2B5EF4-FFF2-40B4-BE49-F238E27FC236}">
                <a16:creationId xmlns:a16="http://schemas.microsoft.com/office/drawing/2014/main" id="{BE9B7C80-A242-4718-8CCC-EA729959BD4D}"/>
              </a:ext>
            </a:extLst>
          </p:cNvPr>
          <p:cNvSpPr>
            <a:spLocks xmlns:a="http://schemas.openxmlformats.org/drawingml/2006/main" noGrp="1"/>
          </p:cNvSpPr>
          <p:nvPr/>
        </p:nvSpPr>
        <p:spPr>
          <a:xfrm xmlns:a="http://schemas.openxmlformats.org/drawingml/2006/main">
            <a:off x="833437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39" name="Rectangle 38">
            <a:extLst xmlns:a="http://schemas.openxmlformats.org/drawingml/2006/main">
              <a:ext uri="{FF2B5EF4-FFF2-40B4-BE49-F238E27FC236}">
                <a16:creationId xmlns:a16="http://schemas.microsoft.com/office/drawing/2014/main" id="{89BE06F3-A88B-455F-B33F-9994C9C5CB94}"/>
              </a:ext>
            </a:extLst>
          </p:cNvPr>
          <p:cNvSpPr>
            <a:spLocks xmlns:a="http://schemas.openxmlformats.org/drawingml/2006/main" noGrp="1"/>
          </p:cNvSpPr>
          <p:nvPr/>
        </p:nvSpPr>
        <p:spPr>
          <a:xfrm xmlns:a="http://schemas.openxmlformats.org/drawingml/2006/main">
            <a:off x="866775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0" name="Rectangle 39">
            <a:extLst xmlns:a="http://schemas.openxmlformats.org/drawingml/2006/main">
              <a:ext uri="{FF2B5EF4-FFF2-40B4-BE49-F238E27FC236}">
                <a16:creationId xmlns:a16="http://schemas.microsoft.com/office/drawing/2014/main" id="{A7C81299-7054-4045-8A75-CC7CBA767E2B}"/>
              </a:ext>
            </a:extLst>
          </p:cNvPr>
          <p:cNvSpPr>
            <a:spLocks xmlns:a="http://schemas.openxmlformats.org/drawingml/2006/main" noGrp="1"/>
          </p:cNvSpPr>
          <p:nvPr/>
        </p:nvSpPr>
        <p:spPr>
          <a:xfrm xmlns:a="http://schemas.openxmlformats.org/drawingml/2006/main">
            <a:off x="86677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AFC0D0"/>
                </a:solidFill>
                <a:latin typeface="Arial"/>
                <a:ea typeface="Arial"/>
                <a:cs typeface="Arial"/>
              </a:defRPr>
            </a:pPr>
            <a:r>
              <a:rPr sz="975" b="1">
                <a:solidFill>
                  <a:srgbClr val="AFC0D0"/>
                </a:solidFill>
                <a:latin typeface="Arial"/>
                <a:ea typeface="Arial"/>
                <a:cs typeface="Arial"/>
              </a:rPr>
              <a:t>24</a:t>
            </a:r>
          </a:p>
        </p:txBody>
      </p:sp>
      <p:sp>
        <p:nvSpPr>
          <p:cNvPr id="41" name="Rectangle 40">
            <a:extLst xmlns:a="http://schemas.openxmlformats.org/drawingml/2006/main">
              <a:ext uri="{FF2B5EF4-FFF2-40B4-BE49-F238E27FC236}">
                <a16:creationId xmlns:a16="http://schemas.microsoft.com/office/drawing/2014/main" id="{9FD5E28E-77B9-4206-86FC-AA8DC6E5E973}"/>
              </a:ext>
            </a:extLst>
          </p:cNvPr>
          <p:cNvSpPr>
            <a:spLocks xmlns:a="http://schemas.openxmlformats.org/drawingml/2006/main" noGrp="1"/>
          </p:cNvSpPr>
          <p:nvPr/>
        </p:nvSpPr>
        <p:spPr>
          <a:xfrm xmlns:a="http://schemas.openxmlformats.org/drawingml/2006/main">
            <a:off x="900112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2" name="Rectangle 41">
            <a:extLst xmlns:a="http://schemas.openxmlformats.org/drawingml/2006/main">
              <a:ext uri="{FF2B5EF4-FFF2-40B4-BE49-F238E27FC236}">
                <a16:creationId xmlns:a16="http://schemas.microsoft.com/office/drawing/2014/main" id="{3557BC81-89FB-4459-AB59-E849BEFF2DF5}"/>
              </a:ext>
            </a:extLst>
          </p:cNvPr>
          <p:cNvSpPr>
            <a:spLocks xmlns:a="http://schemas.openxmlformats.org/drawingml/2006/main" noGrp="1"/>
          </p:cNvSpPr>
          <p:nvPr/>
        </p:nvSpPr>
        <p:spPr>
          <a:xfrm xmlns:a="http://schemas.openxmlformats.org/drawingml/2006/main">
            <a:off x="933450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3" name="Rectangle 42">
            <a:extLst xmlns:a="http://schemas.openxmlformats.org/drawingml/2006/main">
              <a:ext uri="{FF2B5EF4-FFF2-40B4-BE49-F238E27FC236}">
                <a16:creationId xmlns:a16="http://schemas.microsoft.com/office/drawing/2014/main" id="{BB487D1D-8D9F-41B2-AE08-5D3C3EE5EF57}"/>
              </a:ext>
            </a:extLst>
          </p:cNvPr>
          <p:cNvSpPr>
            <a:spLocks xmlns:a="http://schemas.openxmlformats.org/drawingml/2006/main" noGrp="1"/>
          </p:cNvSpPr>
          <p:nvPr/>
        </p:nvSpPr>
        <p:spPr>
          <a:xfrm xmlns:a="http://schemas.openxmlformats.org/drawingml/2006/main">
            <a:off x="966787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4" name="Rectangle 43">
            <a:extLst xmlns:a="http://schemas.openxmlformats.org/drawingml/2006/main">
              <a:ext uri="{FF2B5EF4-FFF2-40B4-BE49-F238E27FC236}">
                <a16:creationId xmlns:a16="http://schemas.microsoft.com/office/drawing/2014/main" id="{087D3408-6319-48C5-AD9D-17F8CA4911D7}"/>
              </a:ext>
            </a:extLst>
          </p:cNvPr>
          <p:cNvSpPr>
            <a:spLocks xmlns:a="http://schemas.openxmlformats.org/drawingml/2006/main" noGrp="1"/>
          </p:cNvSpPr>
          <p:nvPr/>
        </p:nvSpPr>
        <p:spPr>
          <a:xfrm xmlns:a="http://schemas.openxmlformats.org/drawingml/2006/main">
            <a:off x="1000125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5" name="Rectangle 44">
            <a:extLst xmlns:a="http://schemas.openxmlformats.org/drawingml/2006/main">
              <a:ext uri="{FF2B5EF4-FFF2-40B4-BE49-F238E27FC236}">
                <a16:creationId xmlns:a16="http://schemas.microsoft.com/office/drawing/2014/main" id="{0E1CB88E-881B-47B0-86DB-7B79A210F92B}"/>
              </a:ext>
            </a:extLst>
          </p:cNvPr>
          <p:cNvSpPr>
            <a:spLocks xmlns:a="http://schemas.openxmlformats.org/drawingml/2006/main" noGrp="1"/>
          </p:cNvSpPr>
          <p:nvPr/>
        </p:nvSpPr>
        <p:spPr>
          <a:xfrm xmlns:a="http://schemas.openxmlformats.org/drawingml/2006/main">
            <a:off x="10001250" y="31337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buNone/>
              <a:defRPr sz="975" b="1">
                <a:solidFill>
                  <a:srgbClr val="AFC0D0"/>
                </a:solidFill>
                <a:latin typeface="Arial"/>
                <a:ea typeface="Arial"/>
                <a:cs typeface="Arial"/>
              </a:defRPr>
            </a:pPr>
            <a:r>
              <a:rPr sz="975" b="1">
                <a:solidFill>
                  <a:srgbClr val="AFC0D0"/>
                </a:solidFill>
                <a:latin typeface="Arial"/>
                <a:ea typeface="Arial"/>
                <a:cs typeface="Arial"/>
              </a:rPr>
              <a:t>28</a:t>
            </a:r>
          </a:p>
        </p:txBody>
      </p:sp>
      <p:sp>
        <p:nvSpPr>
          <p:cNvPr id="46" name="Rectangle 45">
            <a:extLst xmlns:a="http://schemas.openxmlformats.org/drawingml/2006/main">
              <a:ext uri="{FF2B5EF4-FFF2-40B4-BE49-F238E27FC236}">
                <a16:creationId xmlns:a16="http://schemas.microsoft.com/office/drawing/2014/main" id="{395CD0D6-4B90-415B-9A75-7744A4B534EB}"/>
              </a:ext>
            </a:extLst>
          </p:cNvPr>
          <p:cNvSpPr>
            <a:spLocks xmlns:a="http://schemas.openxmlformats.org/drawingml/2006/main" noGrp="1"/>
          </p:cNvSpPr>
          <p:nvPr/>
        </p:nvSpPr>
        <p:spPr>
          <a:xfrm xmlns:a="http://schemas.openxmlformats.org/drawingml/2006/main">
            <a:off x="1033462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7" name="Rectangle 46">
            <a:extLst xmlns:a="http://schemas.openxmlformats.org/drawingml/2006/main">
              <a:ext uri="{FF2B5EF4-FFF2-40B4-BE49-F238E27FC236}">
                <a16:creationId xmlns:a16="http://schemas.microsoft.com/office/drawing/2014/main" id="{40659BFC-9218-46AB-825F-F36483F7A9C5}"/>
              </a:ext>
            </a:extLst>
          </p:cNvPr>
          <p:cNvSpPr>
            <a:spLocks xmlns:a="http://schemas.openxmlformats.org/drawingml/2006/main" noGrp="1"/>
          </p:cNvSpPr>
          <p:nvPr/>
        </p:nvSpPr>
        <p:spPr>
          <a:xfrm xmlns:a="http://schemas.openxmlformats.org/drawingml/2006/main">
            <a:off x="10668000"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8" name="Rectangle 47">
            <a:extLst xmlns:a="http://schemas.openxmlformats.org/drawingml/2006/main">
              <a:ext uri="{FF2B5EF4-FFF2-40B4-BE49-F238E27FC236}">
                <a16:creationId xmlns:a16="http://schemas.microsoft.com/office/drawing/2014/main" id="{962FB7B8-1855-47CC-88F1-43C5D123D2C4}"/>
              </a:ext>
            </a:extLst>
          </p:cNvPr>
          <p:cNvSpPr>
            <a:spLocks xmlns:a="http://schemas.openxmlformats.org/drawingml/2006/main" noGrp="1"/>
          </p:cNvSpPr>
          <p:nvPr/>
        </p:nvSpPr>
        <p:spPr>
          <a:xfrm xmlns:a="http://schemas.openxmlformats.org/drawingml/2006/main">
            <a:off x="11001375" y="2333625"/>
            <a:ext cx="333375" cy="742950"/>
          </a:xfrm>
          <a:prstGeom xmlns:a="http://schemas.openxmlformats.org/drawingml/2006/main" prst="rect">
            <a:avLst/>
          </a:prstGeom>
          <a:solidFill xmlns:a="http://schemas.openxmlformats.org/drawingml/2006/main">
            <a:srgbClr val="102A40"/>
          </a:solidFill>
          <a:ln xmlns:a="http://schemas.openxmlformats.org/drawingml/2006/main" w="9525">
            <a:solidFill>
              <a:srgbClr val="2A5876"/>
            </a:solidFill>
            <a:prstDash val="solid"/>
          </a:ln>
        </p:spPr>
      </p:sp>
      <p:sp>
        <p:nvSpPr>
          <p:cNvPr id="49" name="Rectangle 48">
            <a:extLst xmlns:a="http://schemas.openxmlformats.org/drawingml/2006/main">
              <a:ext uri="{FF2B5EF4-FFF2-40B4-BE49-F238E27FC236}">
                <a16:creationId xmlns:a16="http://schemas.microsoft.com/office/drawing/2014/main" id="{254B56C3-3089-4DC6-AFD2-FECE6798F6AE}"/>
              </a:ext>
            </a:extLst>
          </p:cNvPr>
          <p:cNvSpPr>
            <a:spLocks xmlns:a="http://schemas.openxmlformats.org/drawingml/2006/main" noGrp="1"/>
          </p:cNvSpPr>
          <p:nvPr/>
        </p:nvSpPr>
        <p:spPr>
          <a:xfrm xmlns:a="http://schemas.openxmlformats.org/drawingml/2006/main">
            <a:off x="619125" y="1952625"/>
            <a:ext cx="38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AFC0D0"/>
                </a:solidFill>
                <a:latin typeface="Arial"/>
                <a:ea typeface="Arial"/>
                <a:cs typeface="Arial"/>
              </a:defRPr>
            </a:pPr>
            <a:r>
              <a:rPr sz="1200" b="1">
                <a:solidFill>
                  <a:srgbClr val="AFC0D0"/>
                </a:solidFill>
                <a:latin typeface="Arial"/>
                <a:ea typeface="Arial"/>
                <a:cs typeface="Arial"/>
              </a:rPr>
              <a:t>0</a:t>
            </a:r>
          </a:p>
        </p:txBody>
      </p:sp>
      <p:sp>
        <p:nvSpPr>
          <p:cNvPr id="50" name="Rectangle 49">
            <a:extLst xmlns:a="http://schemas.openxmlformats.org/drawingml/2006/main">
              <a:ext uri="{FF2B5EF4-FFF2-40B4-BE49-F238E27FC236}">
                <a16:creationId xmlns:a16="http://schemas.microsoft.com/office/drawing/2014/main" id="{0693352D-BB32-418A-A525-EBE63936A82C}"/>
              </a:ext>
            </a:extLst>
          </p:cNvPr>
          <p:cNvSpPr>
            <a:spLocks xmlns:a="http://schemas.openxmlformats.org/drawingml/2006/main" noGrp="1"/>
          </p:cNvSpPr>
          <p:nvPr/>
        </p:nvSpPr>
        <p:spPr>
          <a:xfrm xmlns:a="http://schemas.openxmlformats.org/drawingml/2006/main">
            <a:off x="10953750" y="195262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AFC0D0"/>
                </a:solidFill>
                <a:latin typeface="Arial"/>
                <a:ea typeface="Arial"/>
                <a:cs typeface="Arial"/>
              </a:defRPr>
            </a:pPr>
            <a:r>
              <a:rPr sz="1200" b="1">
                <a:solidFill>
                  <a:srgbClr val="AFC0D0"/>
                </a:solidFill>
                <a:latin typeface="Arial"/>
                <a:ea typeface="Arial"/>
                <a:cs typeface="Arial"/>
              </a:rPr>
              <a:t>255</a:t>
            </a:r>
          </a:p>
        </p:txBody>
      </p:sp>
      <p:sp>
        <p:nvSpPr>
          <p:cNvPr id="51" name="Rectangle 50">
            <a:extLst xmlns:a="http://schemas.openxmlformats.org/drawingml/2006/main">
              <a:ext uri="{FF2B5EF4-FFF2-40B4-BE49-F238E27FC236}">
                <a16:creationId xmlns:a16="http://schemas.microsoft.com/office/drawing/2014/main" id="{2574A40F-E26A-4737-AF77-5752A4EA1B95}"/>
              </a:ext>
            </a:extLst>
          </p:cNvPr>
          <p:cNvSpPr>
            <a:spLocks xmlns:a="http://schemas.openxmlformats.org/drawingml/2006/main" noGrp="1"/>
          </p:cNvSpPr>
          <p:nvPr/>
        </p:nvSpPr>
        <p:spPr>
          <a:xfrm xmlns:a="http://schemas.openxmlformats.org/drawingml/2006/main">
            <a:off x="6191250" y="38100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FFB84D"/>
                </a:solidFill>
                <a:latin typeface="Arial"/>
                <a:ea typeface="Arial"/>
                <a:cs typeface="Arial"/>
              </a:defRPr>
            </a:pPr>
            <a:r>
              <a:rPr sz="1350" b="1">
                <a:solidFill>
                  <a:srgbClr val="FFB84D"/>
                </a:solidFill>
                <a:latin typeface="Arial"/>
                <a:ea typeface="Arial"/>
                <a:cs typeface="Arial"/>
              </a:rPr>
              <a:t>four consecutive selected bands</a:t>
            </a:r>
          </a:p>
        </p:txBody>
      </p:sp>
      <p:sp>
        <p:nvSpPr>
          <p:cNvPr id="52" name="Straight Connector 51">
            <a:extLst xmlns:a="http://schemas.openxmlformats.org/drawingml/2006/main">
              <a:ext uri="{FF2B5EF4-FFF2-40B4-BE49-F238E27FC236}">
                <a16:creationId xmlns:a16="http://schemas.microsoft.com/office/drawing/2014/main" id="{89FD21E6-47A0-4CA3-A005-398F02A227E0}"/>
              </a:ext>
            </a:extLst>
          </p:cNvPr>
          <p:cNvSpPr>
            <a:spLocks xmlns:a="http://schemas.openxmlformats.org/drawingml/2006/main" noGrp="1"/>
          </p:cNvSpPr>
          <p:nvPr/>
        </p:nvSpPr>
        <p:spPr>
          <a:xfrm xmlns:a="http://schemas.openxmlformats.org/drawingml/2006/main">
            <a:off x="6334125" y="3714750"/>
            <a:ext cx="2667000" cy="9525"/>
          </a:xfrm>
          <a:prstGeom xmlns:a="http://schemas.openxmlformats.org/drawingml/2006/main" prst="line">
            <a:avLst/>
          </a:prstGeom>
          <a:noFill xmlns:a="http://schemas.openxmlformats.org/drawingml/2006/main"/>
          <a:ln xmlns:a="http://schemas.openxmlformats.org/drawingml/2006/main" w="28575">
            <a:solidFill>
              <a:srgbClr val="FFB84D"/>
            </a:solidFill>
            <a:prstDash val="solid"/>
          </a:ln>
        </p:spPr>
      </p:sp>
      <p:sp>
        <p:nvSpPr>
          <p:cNvPr id="53" name="Rectangle 52">
            <a:extLst xmlns:a="http://schemas.openxmlformats.org/drawingml/2006/main">
              <a:ext uri="{FF2B5EF4-FFF2-40B4-BE49-F238E27FC236}">
                <a16:creationId xmlns:a16="http://schemas.microsoft.com/office/drawing/2014/main" id="{9ABD6D32-0F70-4D45-AC6F-AE76823D941B}"/>
              </a:ext>
            </a:extLst>
          </p:cNvPr>
          <p:cNvSpPr>
            <a:spLocks xmlns:a="http://schemas.openxmlformats.org/drawingml/2006/main" noGrp="1"/>
          </p:cNvSpPr>
          <p:nvPr/>
        </p:nvSpPr>
        <p:spPr>
          <a:xfrm xmlns:a="http://schemas.openxmlformats.org/drawingml/2006/main">
            <a:off x="7667625" y="36671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54" name="Rectangle 53">
            <a:extLst xmlns:a="http://schemas.openxmlformats.org/drawingml/2006/main">
              <a:ext uri="{FF2B5EF4-FFF2-40B4-BE49-F238E27FC236}">
                <a16:creationId xmlns:a16="http://schemas.microsoft.com/office/drawing/2014/main" id="{4606C58B-0CEF-4ACA-8F38-86DEE99E04F5}"/>
              </a:ext>
            </a:extLst>
          </p:cNvPr>
          <p:cNvSpPr>
            <a:spLocks xmlns:a="http://schemas.openxmlformats.org/drawingml/2006/main" noGrp="1"/>
          </p:cNvSpPr>
          <p:nvPr/>
        </p:nvSpPr>
        <p:spPr>
          <a:xfrm xmlns:a="http://schemas.openxmlformats.org/drawingml/2006/main">
            <a:off x="7667625" y="30765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73" name="Straight Arrow Connector 117"/>
          <p:cNvCxnSpPr>
            <a:stCxn xmlns:a="http://schemas.openxmlformats.org/drawingml/2006/main" id="53" idx="0"/>
            <a:endCxn xmlns:a="http://schemas.openxmlformats.org/drawingml/2006/main" id="54" idx="2"/>
          </p:cNvCxnSpPr>
          <p:nvPr/>
        </p:nvCxnSpPr>
        <p:spPr>
          <a:xfrm xmlns:a="http://schemas.openxmlformats.org/drawingml/2006/main" flipV="1">
            <a:off x="7677150" y="3095625"/>
            <a:ext cx="0" cy="571500"/>
          </a:xfrm>
          <a:prstGeom xmlns:a="http://schemas.openxmlformats.org/drawingml/2006/main" prst="straightConnector1">
            <a:avLst/>
          </a:prstGeom>
          <a:ln xmlns:a="http://schemas.openxmlformats.org/drawingml/2006/main" w="19050" cap="rnd">
            <a:solidFill>
              <a:srgbClr val="FFB84D"/>
            </a:solidFill>
            <a:prstDash val="solid"/>
            <a:headEnd type="triangle" w="sm" len="sm"/>
          </a:ln>
        </p:spPr>
      </p:cxnSp>
      <p:sp>
        <p:nvSpPr>
          <p:cNvPr id="56" name="Rectangle 55">
            <a:extLst xmlns:a="http://schemas.openxmlformats.org/drawingml/2006/main">
              <a:ext uri="{FF2B5EF4-FFF2-40B4-BE49-F238E27FC236}">
                <a16:creationId xmlns:a16="http://schemas.microsoft.com/office/drawing/2014/main" id="{B4E0F153-4319-449A-A46F-483170E5AD73}"/>
              </a:ext>
            </a:extLst>
          </p:cNvPr>
          <p:cNvSpPr>
            <a:spLocks xmlns:a="http://schemas.openxmlformats.org/drawingml/2006/main" noGrp="1"/>
          </p:cNvSpPr>
          <p:nvPr/>
        </p:nvSpPr>
        <p:spPr>
          <a:xfrm xmlns:a="http://schemas.openxmlformats.org/drawingml/2006/main">
            <a:off x="904875" y="4381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22D3EE"/>
                </a:solidFill>
                <a:latin typeface="Arial"/>
                <a:ea typeface="Arial"/>
                <a:cs typeface="Arial"/>
              </a:defRPr>
            </a:pPr>
            <a:r>
              <a:rPr sz="1575" b="1">
                <a:solidFill>
                  <a:srgbClr val="22D3EE"/>
                </a:solidFill>
                <a:latin typeface="Arial"/>
                <a:ea typeface="Arial"/>
                <a:cs typeface="Arial"/>
              </a:rPr>
              <a:t>Classification</a:t>
            </a:r>
          </a:p>
        </p:txBody>
      </p:sp>
      <p:sp>
        <p:nvSpPr>
          <p:cNvPr id="57" name="Rectangle 56">
            <a:extLst xmlns:a="http://schemas.openxmlformats.org/drawingml/2006/main">
              <a:ext uri="{FF2B5EF4-FFF2-40B4-BE49-F238E27FC236}">
                <a16:creationId xmlns:a16="http://schemas.microsoft.com/office/drawing/2014/main" id="{A613DAD6-B181-4C8F-9EC7-906A7D11F8E5}"/>
              </a:ext>
            </a:extLst>
          </p:cNvPr>
          <p:cNvSpPr>
            <a:spLocks xmlns:a="http://schemas.openxmlformats.org/drawingml/2006/main" noGrp="1"/>
          </p:cNvSpPr>
          <p:nvPr/>
        </p:nvSpPr>
        <p:spPr>
          <a:xfrm xmlns:a="http://schemas.openxmlformats.org/drawingml/2006/main">
            <a:off x="762000" y="481012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Use the sample's own value. No neighbor comparison is needed.</a:t>
            </a:r>
          </a:p>
        </p:txBody>
      </p:sp>
      <p:sp>
        <p:nvSpPr>
          <p:cNvPr id="58" name="Rectangle 57">
            <a:extLst xmlns:a="http://schemas.openxmlformats.org/drawingml/2006/main">
              <a:ext uri="{FF2B5EF4-FFF2-40B4-BE49-F238E27FC236}">
                <a16:creationId xmlns:a16="http://schemas.microsoft.com/office/drawing/2014/main" id="{2A8705F1-1D0B-4E89-8DB5-62EF597D6CD8}"/>
              </a:ext>
            </a:extLst>
          </p:cNvPr>
          <p:cNvSpPr>
            <a:spLocks xmlns:a="http://schemas.openxmlformats.org/drawingml/2006/main" noGrp="1"/>
          </p:cNvSpPr>
          <p:nvPr/>
        </p:nvSpPr>
        <p:spPr>
          <a:xfrm xmlns:a="http://schemas.openxmlformats.org/drawingml/2006/main">
            <a:off x="4762500" y="4381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FFB84D"/>
                </a:solidFill>
                <a:latin typeface="Arial"/>
                <a:ea typeface="Arial"/>
                <a:cs typeface="Arial"/>
              </a:defRPr>
            </a:pPr>
            <a:r>
              <a:rPr sz="1575" b="1">
                <a:solidFill>
                  <a:srgbClr val="FFB84D"/>
                </a:solidFill>
                <a:latin typeface="Arial"/>
                <a:ea typeface="Arial"/>
                <a:cs typeface="Arial"/>
              </a:rPr>
              <a:t>Signaling</a:t>
            </a:r>
          </a:p>
        </p:txBody>
      </p:sp>
      <p:sp>
        <p:nvSpPr>
          <p:cNvPr id="59" name="Rectangle 58">
            <a:extLst xmlns:a="http://schemas.openxmlformats.org/drawingml/2006/main">
              <a:ext uri="{FF2B5EF4-FFF2-40B4-BE49-F238E27FC236}">
                <a16:creationId xmlns:a16="http://schemas.microsoft.com/office/drawing/2014/main" id="{B7226B73-2D1A-4A25-81AC-EF6379A1228F}"/>
              </a:ext>
            </a:extLst>
          </p:cNvPr>
          <p:cNvSpPr>
            <a:spLocks xmlns:a="http://schemas.openxmlformats.org/drawingml/2006/main" noGrp="1"/>
          </p:cNvSpPr>
          <p:nvPr/>
        </p:nvSpPr>
        <p:spPr>
          <a:xfrm xmlns:a="http://schemas.openxmlformats.org/drawingml/2006/main">
            <a:off x="4619625" y="481012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Signal the starting band and offsets for four adjacent bands.</a:t>
            </a:r>
          </a:p>
        </p:txBody>
      </p:sp>
      <p:sp>
        <p:nvSpPr>
          <p:cNvPr id="60" name="Rectangle 59">
            <a:extLst xmlns:a="http://schemas.openxmlformats.org/drawingml/2006/main">
              <a:ext uri="{FF2B5EF4-FFF2-40B4-BE49-F238E27FC236}">
                <a16:creationId xmlns:a16="http://schemas.microsoft.com/office/drawing/2014/main" id="{CD516BDA-8798-47FA-A1F3-19F7D64FE4AE}"/>
              </a:ext>
            </a:extLst>
          </p:cNvPr>
          <p:cNvSpPr>
            <a:spLocks xmlns:a="http://schemas.openxmlformats.org/drawingml/2006/main" noGrp="1"/>
          </p:cNvSpPr>
          <p:nvPr/>
        </p:nvSpPr>
        <p:spPr>
          <a:xfrm xmlns:a="http://schemas.openxmlformats.org/drawingml/2006/main">
            <a:off x="8620125" y="4381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47E6A4"/>
                </a:solidFill>
                <a:latin typeface="Arial"/>
                <a:ea typeface="Arial"/>
                <a:cs typeface="Arial"/>
              </a:defRPr>
            </a:pPr>
            <a:r>
              <a:rPr sz="1575" b="1">
                <a:solidFill>
                  <a:srgbClr val="47E6A4"/>
                </a:solidFill>
                <a:latin typeface="Arial"/>
                <a:ea typeface="Arial"/>
                <a:cs typeface="Arial"/>
              </a:rPr>
              <a:t>Offset sign</a:t>
            </a:r>
          </a:p>
        </p:txBody>
      </p:sp>
      <p:sp>
        <p:nvSpPr>
          <p:cNvPr id="61" name="Rectangle 60">
            <a:extLst xmlns:a="http://schemas.openxmlformats.org/drawingml/2006/main">
              <a:ext uri="{FF2B5EF4-FFF2-40B4-BE49-F238E27FC236}">
                <a16:creationId xmlns:a16="http://schemas.microsoft.com/office/drawing/2014/main" id="{660F5BBA-F66B-44E0-9585-5ADF0CAACACD}"/>
              </a:ext>
            </a:extLst>
          </p:cNvPr>
          <p:cNvSpPr>
            <a:spLocks xmlns:a="http://schemas.openxmlformats.org/drawingml/2006/main" noGrp="1"/>
          </p:cNvSpPr>
          <p:nvPr/>
        </p:nvSpPr>
        <p:spPr>
          <a:xfrm xmlns:a="http://schemas.openxmlformats.org/drawingml/2006/main">
            <a:off x="8477250" y="481012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Band Offset may use positive or negative offsets.</a:t>
            </a:r>
          </a:p>
        </p:txBody>
      </p:sp>
      <p:sp>
        <p:nvSpPr>
          <p:cNvPr id="62" name="Rectangle: Rounded Corners 61">
            <a:extLst xmlns:a="http://schemas.openxmlformats.org/drawingml/2006/main">
              <a:ext uri="{FF2B5EF4-FFF2-40B4-BE49-F238E27FC236}">
                <a16:creationId xmlns:a16="http://schemas.microsoft.com/office/drawing/2014/main" id="{D2A86D77-FCDE-43B4-BF0D-26AF1A99E301}"/>
              </a:ext>
            </a:extLst>
          </p:cNvPr>
          <p:cNvSpPr>
            <a:spLocks xmlns:a="http://schemas.openxmlformats.org/drawingml/2006/main" noGrp="1"/>
          </p:cNvSpPr>
          <p:nvPr/>
        </p:nvSpPr>
        <p:spPr>
          <a:xfrm xmlns:a="http://schemas.openxmlformats.org/drawingml/2006/main">
            <a:off x="3095625" y="5905500"/>
            <a:ext cx="6000750" cy="457200"/>
          </a:xfrm>
          <a:prstGeom xmlns:a="http://schemas.openxmlformats.org/drawingml/2006/main" prst="roundRect">
            <a:avLst>
              <a:gd name="adj" fmla="val 25000"/>
            </a:avLst>
          </a:prstGeom>
          <a:solidFill xmlns:a="http://schemas.openxmlformats.org/drawingml/2006/main">
            <a:srgbClr val="092034"/>
          </a:solidFill>
          <a:ln xmlns:a="http://schemas.openxmlformats.org/drawingml/2006/main" w="19050">
            <a:solidFill>
              <a:srgbClr val="22D3EE"/>
            </a:solidFill>
            <a:prstDash val="solid"/>
          </a:ln>
        </p:spPr>
      </p:sp>
      <p:sp>
        <p:nvSpPr>
          <p:cNvPr id="63" name="Rectangle 62">
            <a:extLst xmlns:a="http://schemas.openxmlformats.org/drawingml/2006/main">
              <a:ext uri="{FF2B5EF4-FFF2-40B4-BE49-F238E27FC236}">
                <a16:creationId xmlns:a16="http://schemas.microsoft.com/office/drawing/2014/main" id="{C4B623FA-4635-4EC5-80A8-69AD3D8071A9}"/>
              </a:ext>
            </a:extLst>
          </p:cNvPr>
          <p:cNvSpPr>
            <a:spLocks xmlns:a="http://schemas.openxmlformats.org/drawingml/2006/main" noGrp="1"/>
          </p:cNvSpPr>
          <p:nvPr/>
        </p:nvSpPr>
        <p:spPr>
          <a:xfrm xmlns:a="http://schemas.openxmlformats.org/drawingml/2006/main">
            <a:off x="3209925" y="6000750"/>
            <a:ext cx="577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Samples outside the selected four-band window receive offset 0.</a:t>
            </a:r>
          </a:p>
        </p:txBody>
      </p:sp>
    </p:spTree>
    <p:extLst>
      <p:ext uri="{BB962C8B-B14F-4D97-AF65-F5344CB8AC3E}">
        <p14:creationId xmlns:p14="http://schemas.microsoft.com/office/powerpoint/2010/main" val="824961765"/>
      </p:ext>
    </p:extLst>
  </p:cSld>
</p:sld>
</file>

<file path=ppt/slides/slide34.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7" name="Oval 36">
            <a:extLst xmlns:a="http://schemas.openxmlformats.org/drawingml/2006/main">
              <a:ext uri="{FF2B5EF4-FFF2-40B4-BE49-F238E27FC236}">
                <a16:creationId xmlns:a16="http://schemas.microsoft.com/office/drawing/2014/main" id="{6CCD7EDE-0BD7-468A-B939-BD6B684F15CC}"/>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153AF6CF-7A2B-4AEE-8C45-07D1F3C63C2A}"/>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9154F596-AB70-4612-AB82-C44EE211C89D}"/>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SAO parameters are signaled for each Coding Tree Block</a:t>
            </a:r>
          </a:p>
        </p:txBody>
      </p:sp>
      <p:sp>
        <p:nvSpPr>
          <p:cNvPr id="4" name="Straight Connector 3">
            <a:extLst xmlns:a="http://schemas.openxmlformats.org/drawingml/2006/main">
              <a:ext uri="{FF2B5EF4-FFF2-40B4-BE49-F238E27FC236}">
                <a16:creationId xmlns:a16="http://schemas.microsoft.com/office/drawing/2014/main" id="{CED68787-F47A-4183-9471-48237507DF15}"/>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A3E3A0B0-BB25-4EDB-9EDC-1CCCA4B7A785}"/>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A Coding Tree Block is the per-component part of a Coding Tree Unit</a:t>
            </a:r>
          </a:p>
        </p:txBody>
      </p:sp>
      <p:sp>
        <p:nvSpPr>
          <p:cNvPr id="6" name="Rectangle 5">
            <a:extLst xmlns:a="http://schemas.openxmlformats.org/drawingml/2006/main">
              <a:ext uri="{FF2B5EF4-FFF2-40B4-BE49-F238E27FC236}">
                <a16:creationId xmlns:a16="http://schemas.microsoft.com/office/drawing/2014/main" id="{1B545774-7B87-4DA0-82BF-540F112C9755}"/>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85563A99-844B-47AF-98DC-B81744747997}"/>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34 / 49</a:t>
            </a:r>
          </a:p>
        </p:txBody>
      </p:sp>
      <p:sp>
        <p:nvSpPr>
          <p:cNvPr id="8" name="Rectangle 7">
            <a:extLst xmlns:a="http://schemas.openxmlformats.org/drawingml/2006/main">
              <a:ext uri="{FF2B5EF4-FFF2-40B4-BE49-F238E27FC236}">
                <a16:creationId xmlns:a16="http://schemas.microsoft.com/office/drawing/2014/main" id="{6E99799F-1C43-4919-A1CF-E96CA696EEAD}"/>
              </a:ext>
            </a:extLst>
          </p:cNvPr>
          <p:cNvSpPr>
            <a:spLocks xmlns:a="http://schemas.openxmlformats.org/drawingml/2006/main" noGrp="1"/>
          </p:cNvSpPr>
          <p:nvPr/>
        </p:nvSpPr>
        <p:spPr>
          <a:xfrm xmlns:a="http://schemas.openxmlformats.org/drawingml/2006/main">
            <a:off x="66675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22D3EE"/>
                </a:solidFill>
                <a:latin typeface="Arial"/>
                <a:ea typeface="Arial"/>
                <a:cs typeface="Arial"/>
              </a:defRPr>
            </a:pPr>
            <a:r>
              <a:rPr sz="1575" b="1">
                <a:solidFill>
                  <a:srgbClr val="22D3EE"/>
                </a:solidFill>
                <a:latin typeface="Arial"/>
                <a:ea typeface="Arial"/>
                <a:cs typeface="Arial"/>
              </a:rPr>
              <a:t>SIGNAL ONCE FOR THE REGION</a:t>
            </a:r>
          </a:p>
        </p:txBody>
      </p:sp>
      <p:sp>
        <p:nvSpPr>
          <p:cNvPr id="9" name="Oval 8">
            <a:extLst xmlns:a="http://schemas.openxmlformats.org/drawingml/2006/main">
              <a:ext uri="{FF2B5EF4-FFF2-40B4-BE49-F238E27FC236}">
                <a16:creationId xmlns:a16="http://schemas.microsoft.com/office/drawing/2014/main" id="{3D9A8AD4-0CCF-47F4-95FB-7BE45B2CB6CD}"/>
              </a:ext>
            </a:extLst>
          </p:cNvPr>
          <p:cNvSpPr>
            <a:spLocks xmlns:a="http://schemas.openxmlformats.org/drawingml/2006/main" noGrp="1"/>
          </p:cNvSpPr>
          <p:nvPr/>
        </p:nvSpPr>
        <p:spPr>
          <a:xfrm xmlns:a="http://schemas.openxmlformats.org/drawingml/2006/main">
            <a:off x="714375" y="2095500"/>
            <a:ext cx="323850" cy="323850"/>
          </a:xfrm>
          <a:prstGeom xmlns:a="http://schemas.openxmlformats.org/drawingml/2006/main" prst="ellipse">
            <a:avLst/>
          </a:prstGeom>
          <a:noFill xmlns:a="http://schemas.openxmlformats.org/drawingml/2006/main"/>
          <a:ln xmlns:a="http://schemas.openxmlformats.org/drawingml/2006/main" w="19050">
            <a:solidFill>
              <a:srgbClr val="22D3EE"/>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2D3EE"/>
                </a:solidFill>
                <a:latin typeface="Arial"/>
                <a:ea typeface="Arial"/>
                <a:cs typeface="Arial"/>
              </a:defRPr>
            </a:pPr>
            <a:r>
              <a:rPr sz="1200" b="1">
                <a:solidFill>
                  <a:srgbClr val="22D3EE"/>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D952F643-EF5C-4095-B7B3-3C26D53DDB64}"/>
              </a:ext>
            </a:extLst>
          </p:cNvPr>
          <p:cNvSpPr>
            <a:spLocks xmlns:a="http://schemas.openxmlformats.org/drawingml/2006/main" noGrp="1"/>
          </p:cNvSpPr>
          <p:nvPr/>
        </p:nvSpPr>
        <p:spPr>
          <a:xfrm xmlns:a="http://schemas.openxmlformats.org/drawingml/2006/main">
            <a:off x="1190625" y="20859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SAO off, Edge Offset, or Band Offset</a:t>
            </a:r>
          </a:p>
        </p:txBody>
      </p:sp>
      <p:sp>
        <p:nvSpPr>
          <p:cNvPr id="11" name="Rectangle 10">
            <a:extLst xmlns:a="http://schemas.openxmlformats.org/drawingml/2006/main">
              <a:ext uri="{FF2B5EF4-FFF2-40B4-BE49-F238E27FC236}">
                <a16:creationId xmlns:a16="http://schemas.microsoft.com/office/drawing/2014/main" id="{1B3C41D0-2FB2-477D-9754-8BA9F9640B5E}"/>
              </a:ext>
            </a:extLst>
          </p:cNvPr>
          <p:cNvSpPr>
            <a:spLocks xmlns:a="http://schemas.openxmlformats.org/drawingml/2006/main" noGrp="1"/>
          </p:cNvSpPr>
          <p:nvPr/>
        </p:nvSpPr>
        <p:spPr>
          <a:xfrm xmlns:a="http://schemas.openxmlformats.org/drawingml/2006/main">
            <a:off x="1190625" y="23812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1E2073F4-E470-4847-A774-D9152D127F91}"/>
              </a:ext>
            </a:extLst>
          </p:cNvPr>
          <p:cNvSpPr>
            <a:spLocks xmlns:a="http://schemas.openxmlformats.org/drawingml/2006/main" noGrp="1"/>
          </p:cNvSpPr>
          <p:nvPr/>
        </p:nvSpPr>
        <p:spPr>
          <a:xfrm xmlns:a="http://schemas.openxmlformats.org/drawingml/2006/main">
            <a:off x="714375" y="3095625"/>
            <a:ext cx="323850" cy="323850"/>
          </a:xfrm>
          <a:prstGeom xmlns:a="http://schemas.openxmlformats.org/drawingml/2006/main" prst="ellipse">
            <a:avLst/>
          </a:prstGeom>
          <a:noFill xmlns:a="http://schemas.openxmlformats.org/drawingml/2006/main"/>
          <a:ln xmlns:a="http://schemas.openxmlformats.org/drawingml/2006/main" w="19050">
            <a:solidFill>
              <a:srgbClr val="2E9BFF"/>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E9BFF"/>
                </a:solidFill>
                <a:latin typeface="Arial"/>
                <a:ea typeface="Arial"/>
                <a:cs typeface="Arial"/>
              </a:defRPr>
            </a:pPr>
            <a:r>
              <a:rPr sz="1200" b="1">
                <a:solidFill>
                  <a:srgbClr val="2E9BFF"/>
                </a:solidFill>
                <a:latin typeface="Arial"/>
                <a:ea typeface="Arial"/>
                <a:cs typeface="Arial"/>
              </a:rPr>
              <a:t>2</a:t>
            </a:r>
          </a:p>
        </p:txBody>
      </p:sp>
      <p:sp>
        <p:nvSpPr>
          <p:cNvPr id="13" name="Rectangle 12">
            <a:extLst xmlns:a="http://schemas.openxmlformats.org/drawingml/2006/main">
              <a:ext uri="{FF2B5EF4-FFF2-40B4-BE49-F238E27FC236}">
                <a16:creationId xmlns:a16="http://schemas.microsoft.com/office/drawing/2014/main" id="{CA2ED571-86E2-4779-902B-F1B765B3443A}"/>
              </a:ext>
            </a:extLst>
          </p:cNvPr>
          <p:cNvSpPr>
            <a:spLocks xmlns:a="http://schemas.openxmlformats.org/drawingml/2006/main" noGrp="1"/>
          </p:cNvSpPr>
          <p:nvPr/>
        </p:nvSpPr>
        <p:spPr>
          <a:xfrm xmlns:a="http://schemas.openxmlformats.org/drawingml/2006/main">
            <a:off x="1190625" y="3086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Edge direction or Band Offset starting band</a:t>
            </a:r>
          </a:p>
        </p:txBody>
      </p:sp>
      <p:sp>
        <p:nvSpPr>
          <p:cNvPr id="14" name="Rectangle 13">
            <a:extLst xmlns:a="http://schemas.openxmlformats.org/drawingml/2006/main">
              <a:ext uri="{FF2B5EF4-FFF2-40B4-BE49-F238E27FC236}">
                <a16:creationId xmlns:a16="http://schemas.microsoft.com/office/drawing/2014/main" id="{F9989E7B-80B0-467B-9535-963CCCD4A80F}"/>
              </a:ext>
            </a:extLst>
          </p:cNvPr>
          <p:cNvSpPr>
            <a:spLocks xmlns:a="http://schemas.openxmlformats.org/drawingml/2006/main" noGrp="1"/>
          </p:cNvSpPr>
          <p:nvPr/>
        </p:nvSpPr>
        <p:spPr>
          <a:xfrm xmlns:a="http://schemas.openxmlformats.org/drawingml/2006/main">
            <a:off x="1190625" y="338137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EC4D6557-522E-443C-91CC-39F76C35231A}"/>
              </a:ext>
            </a:extLst>
          </p:cNvPr>
          <p:cNvSpPr>
            <a:spLocks xmlns:a="http://schemas.openxmlformats.org/drawingml/2006/main" noGrp="1"/>
          </p:cNvSpPr>
          <p:nvPr/>
        </p:nvSpPr>
        <p:spPr>
          <a:xfrm xmlns:a="http://schemas.openxmlformats.org/drawingml/2006/main">
            <a:off x="714375" y="4095750"/>
            <a:ext cx="323850" cy="323850"/>
          </a:xfrm>
          <a:prstGeom xmlns:a="http://schemas.openxmlformats.org/drawingml/2006/main" prst="ellipse">
            <a:avLst/>
          </a:prstGeom>
          <a:noFill xmlns:a="http://schemas.openxmlformats.org/drawingml/2006/main"/>
          <a:ln xmlns:a="http://schemas.openxmlformats.org/drawingml/2006/main" w="19050">
            <a:solidFill>
              <a:srgbClr val="FFB84D"/>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B84D"/>
                </a:solidFill>
                <a:latin typeface="Arial"/>
                <a:ea typeface="Arial"/>
                <a:cs typeface="Arial"/>
              </a:defRPr>
            </a:pPr>
            <a:r>
              <a:rPr sz="1200" b="1">
                <a:solidFill>
                  <a:srgbClr val="FFB84D"/>
                </a:solidFill>
                <a:latin typeface="Arial"/>
                <a:ea typeface="Arial"/>
                <a:cs typeface="Arial"/>
              </a:rPr>
              <a:t>3</a:t>
            </a:r>
          </a:p>
        </p:txBody>
      </p:sp>
      <p:sp>
        <p:nvSpPr>
          <p:cNvPr id="16" name="Rectangle 15">
            <a:extLst xmlns:a="http://schemas.openxmlformats.org/drawingml/2006/main">
              <a:ext uri="{FF2B5EF4-FFF2-40B4-BE49-F238E27FC236}">
                <a16:creationId xmlns:a16="http://schemas.microsoft.com/office/drawing/2014/main" id="{C6A87BC2-59CD-4285-97EF-45EB9A2E8E95}"/>
              </a:ext>
            </a:extLst>
          </p:cNvPr>
          <p:cNvSpPr>
            <a:spLocks xmlns:a="http://schemas.openxmlformats.org/drawingml/2006/main" noGrp="1"/>
          </p:cNvSpPr>
          <p:nvPr/>
        </p:nvSpPr>
        <p:spPr>
          <a:xfrm xmlns:a="http://schemas.openxmlformats.org/drawingml/2006/main">
            <a:off x="1190625" y="40862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Up to four offset magnitudes</a:t>
            </a:r>
          </a:p>
        </p:txBody>
      </p:sp>
      <p:sp>
        <p:nvSpPr>
          <p:cNvPr id="17" name="Rectangle 16">
            <a:extLst xmlns:a="http://schemas.openxmlformats.org/drawingml/2006/main">
              <a:ext uri="{FF2B5EF4-FFF2-40B4-BE49-F238E27FC236}">
                <a16:creationId xmlns:a16="http://schemas.microsoft.com/office/drawing/2014/main" id="{62F9361C-51B3-42B8-A166-A695D642F0F3}"/>
              </a:ext>
            </a:extLst>
          </p:cNvPr>
          <p:cNvSpPr>
            <a:spLocks xmlns:a="http://schemas.openxmlformats.org/drawingml/2006/main" noGrp="1"/>
          </p:cNvSpPr>
          <p:nvPr/>
        </p:nvSpPr>
        <p:spPr>
          <a:xfrm xmlns:a="http://schemas.openxmlformats.org/drawingml/2006/main">
            <a:off x="1190625" y="438150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A9ECC06A-824D-4850-8554-6F4AD56B218C}"/>
              </a:ext>
            </a:extLst>
          </p:cNvPr>
          <p:cNvSpPr>
            <a:spLocks xmlns:a="http://schemas.openxmlformats.org/drawingml/2006/main" noGrp="1"/>
          </p:cNvSpPr>
          <p:nvPr/>
        </p:nvSpPr>
        <p:spPr>
          <a:xfrm xmlns:a="http://schemas.openxmlformats.org/drawingml/2006/main">
            <a:off x="657225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47E6A4"/>
                </a:solidFill>
                <a:latin typeface="Arial"/>
                <a:ea typeface="Arial"/>
                <a:cs typeface="Arial"/>
              </a:defRPr>
            </a:pPr>
            <a:r>
              <a:rPr sz="1575" b="1">
                <a:solidFill>
                  <a:srgbClr val="47E6A4"/>
                </a:solidFill>
                <a:latin typeface="Arial"/>
                <a:ea typeface="Arial"/>
                <a:cs typeface="Arial"/>
              </a:rPr>
              <a:t>MERGE WITH A NEIGHBOR</a:t>
            </a:r>
          </a:p>
        </p:txBody>
      </p:sp>
      <p:sp>
        <p:nvSpPr>
          <p:cNvPr id="19" name="Rectangle 18">
            <a:extLst xmlns:a="http://schemas.openxmlformats.org/drawingml/2006/main">
              <a:ext uri="{FF2B5EF4-FFF2-40B4-BE49-F238E27FC236}">
                <a16:creationId xmlns:a16="http://schemas.microsoft.com/office/drawing/2014/main" id="{42D87B5C-E164-4EB1-BC7B-9861A3FAC3CA}"/>
              </a:ext>
            </a:extLst>
          </p:cNvPr>
          <p:cNvSpPr>
            <a:spLocks xmlns:a="http://schemas.openxmlformats.org/drawingml/2006/main" noGrp="1"/>
          </p:cNvSpPr>
          <p:nvPr/>
        </p:nvSpPr>
        <p:spPr>
          <a:xfrm xmlns:a="http://schemas.openxmlformats.org/drawingml/2006/main">
            <a:off x="7000875" y="2143125"/>
            <a:ext cx="1190625" cy="1047750"/>
          </a:xfrm>
          <a:prstGeom xmlns:a="http://schemas.openxmlformats.org/drawingml/2006/main" prst="rect">
            <a:avLst/>
          </a:prstGeom>
          <a:solidFill xmlns:a="http://schemas.openxmlformats.org/drawingml/2006/main">
            <a:srgbClr val="0B2033"/>
          </a:solidFill>
          <a:ln xmlns:a="http://schemas.openxmlformats.org/drawingml/2006/main" w="19050">
            <a:solidFill>
              <a:srgbClr val="2A5876"/>
            </a:solidFill>
            <a:prstDash val="solid"/>
          </a:ln>
        </p:spPr>
      </p:sp>
      <p:sp>
        <p:nvSpPr>
          <p:cNvPr id="20" name="Rectangle 19">
            <a:extLst xmlns:a="http://schemas.openxmlformats.org/drawingml/2006/main">
              <a:ext uri="{FF2B5EF4-FFF2-40B4-BE49-F238E27FC236}">
                <a16:creationId xmlns:a16="http://schemas.microsoft.com/office/drawing/2014/main" id="{C4D131A2-53BD-4EBE-8A1B-0758AA9392E6}"/>
              </a:ext>
            </a:extLst>
          </p:cNvPr>
          <p:cNvSpPr>
            <a:spLocks xmlns:a="http://schemas.openxmlformats.org/drawingml/2006/main" noGrp="1"/>
          </p:cNvSpPr>
          <p:nvPr/>
        </p:nvSpPr>
        <p:spPr>
          <a:xfrm xmlns:a="http://schemas.openxmlformats.org/drawingml/2006/main">
            <a:off x="7000875" y="2524125"/>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CTU 1</a:t>
            </a:r>
          </a:p>
        </p:txBody>
      </p:sp>
      <p:sp>
        <p:nvSpPr>
          <p:cNvPr id="21" name="Rectangle 20">
            <a:extLst xmlns:a="http://schemas.openxmlformats.org/drawingml/2006/main">
              <a:ext uri="{FF2B5EF4-FFF2-40B4-BE49-F238E27FC236}">
                <a16:creationId xmlns:a16="http://schemas.microsoft.com/office/drawing/2014/main" id="{5AED90D1-5EC7-4827-AEEC-D9EE8DE14B94}"/>
              </a:ext>
            </a:extLst>
          </p:cNvPr>
          <p:cNvSpPr>
            <a:spLocks xmlns:a="http://schemas.openxmlformats.org/drawingml/2006/main" noGrp="1"/>
          </p:cNvSpPr>
          <p:nvPr/>
        </p:nvSpPr>
        <p:spPr>
          <a:xfrm xmlns:a="http://schemas.openxmlformats.org/drawingml/2006/main">
            <a:off x="8191500" y="2143125"/>
            <a:ext cx="1190625" cy="1047750"/>
          </a:xfrm>
          <a:prstGeom xmlns:a="http://schemas.openxmlformats.org/drawingml/2006/main" prst="rect">
            <a:avLst/>
          </a:prstGeom>
          <a:solidFill xmlns:a="http://schemas.openxmlformats.org/drawingml/2006/main">
            <a:srgbClr val="0B2033"/>
          </a:solidFill>
          <a:ln xmlns:a="http://schemas.openxmlformats.org/drawingml/2006/main" w="19050">
            <a:solidFill>
              <a:srgbClr val="2A5876"/>
            </a:solidFill>
            <a:prstDash val="solid"/>
          </a:ln>
        </p:spPr>
      </p:sp>
      <p:sp>
        <p:nvSpPr>
          <p:cNvPr id="22" name="Rectangle 21">
            <a:extLst xmlns:a="http://schemas.openxmlformats.org/drawingml/2006/main">
              <a:ext uri="{FF2B5EF4-FFF2-40B4-BE49-F238E27FC236}">
                <a16:creationId xmlns:a16="http://schemas.microsoft.com/office/drawing/2014/main" id="{484EEA6C-8D4D-4753-A757-C73FCF643884}"/>
              </a:ext>
            </a:extLst>
          </p:cNvPr>
          <p:cNvSpPr>
            <a:spLocks xmlns:a="http://schemas.openxmlformats.org/drawingml/2006/main" noGrp="1"/>
          </p:cNvSpPr>
          <p:nvPr/>
        </p:nvSpPr>
        <p:spPr>
          <a:xfrm xmlns:a="http://schemas.openxmlformats.org/drawingml/2006/main">
            <a:off x="8191500" y="2524125"/>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CTU 2</a:t>
            </a:r>
          </a:p>
        </p:txBody>
      </p:sp>
      <p:sp>
        <p:nvSpPr>
          <p:cNvPr id="23" name="Rectangle 22">
            <a:extLst xmlns:a="http://schemas.openxmlformats.org/drawingml/2006/main">
              <a:ext uri="{FF2B5EF4-FFF2-40B4-BE49-F238E27FC236}">
                <a16:creationId xmlns:a16="http://schemas.microsoft.com/office/drawing/2014/main" id="{77E0FD26-6894-413D-80E3-B1BCAE5C2947}"/>
              </a:ext>
            </a:extLst>
          </p:cNvPr>
          <p:cNvSpPr>
            <a:spLocks xmlns:a="http://schemas.openxmlformats.org/drawingml/2006/main" noGrp="1"/>
          </p:cNvSpPr>
          <p:nvPr/>
        </p:nvSpPr>
        <p:spPr>
          <a:xfrm xmlns:a="http://schemas.openxmlformats.org/drawingml/2006/main">
            <a:off x="9382125" y="2143125"/>
            <a:ext cx="1190625" cy="1047750"/>
          </a:xfrm>
          <a:prstGeom xmlns:a="http://schemas.openxmlformats.org/drawingml/2006/main" prst="rect">
            <a:avLst/>
          </a:prstGeom>
          <a:solidFill xmlns:a="http://schemas.openxmlformats.org/drawingml/2006/main">
            <a:srgbClr val="0B2033"/>
          </a:solidFill>
          <a:ln xmlns:a="http://schemas.openxmlformats.org/drawingml/2006/main" w="19050">
            <a:solidFill>
              <a:srgbClr val="2A5876"/>
            </a:solidFill>
            <a:prstDash val="solid"/>
          </a:ln>
        </p:spPr>
      </p:sp>
      <p:sp>
        <p:nvSpPr>
          <p:cNvPr id="24" name="Rectangle 23">
            <a:extLst xmlns:a="http://schemas.openxmlformats.org/drawingml/2006/main">
              <a:ext uri="{FF2B5EF4-FFF2-40B4-BE49-F238E27FC236}">
                <a16:creationId xmlns:a16="http://schemas.microsoft.com/office/drawing/2014/main" id="{E433983B-9942-4938-A877-020DAB15C9B9}"/>
              </a:ext>
            </a:extLst>
          </p:cNvPr>
          <p:cNvSpPr>
            <a:spLocks xmlns:a="http://schemas.openxmlformats.org/drawingml/2006/main" noGrp="1"/>
          </p:cNvSpPr>
          <p:nvPr/>
        </p:nvSpPr>
        <p:spPr>
          <a:xfrm xmlns:a="http://schemas.openxmlformats.org/drawingml/2006/main">
            <a:off x="9382125" y="2524125"/>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CTU 3</a:t>
            </a:r>
          </a:p>
        </p:txBody>
      </p:sp>
      <p:sp>
        <p:nvSpPr>
          <p:cNvPr id="25" name="Rectangle 24">
            <a:extLst xmlns:a="http://schemas.openxmlformats.org/drawingml/2006/main">
              <a:ext uri="{FF2B5EF4-FFF2-40B4-BE49-F238E27FC236}">
                <a16:creationId xmlns:a16="http://schemas.microsoft.com/office/drawing/2014/main" id="{5BEF0669-DFC8-4D5F-B460-B6AFF017AC92}"/>
              </a:ext>
            </a:extLst>
          </p:cNvPr>
          <p:cNvSpPr>
            <a:spLocks xmlns:a="http://schemas.openxmlformats.org/drawingml/2006/main" noGrp="1"/>
          </p:cNvSpPr>
          <p:nvPr/>
        </p:nvSpPr>
        <p:spPr>
          <a:xfrm xmlns:a="http://schemas.openxmlformats.org/drawingml/2006/main">
            <a:off x="7000875" y="3190875"/>
            <a:ext cx="1190625" cy="1047750"/>
          </a:xfrm>
          <a:prstGeom xmlns:a="http://schemas.openxmlformats.org/drawingml/2006/main" prst="rect">
            <a:avLst/>
          </a:prstGeom>
          <a:solidFill xmlns:a="http://schemas.openxmlformats.org/drawingml/2006/main">
            <a:srgbClr val="0B2033"/>
          </a:solidFill>
          <a:ln xmlns:a="http://schemas.openxmlformats.org/drawingml/2006/main" w="19050">
            <a:solidFill>
              <a:srgbClr val="2A5876"/>
            </a:solidFill>
            <a:prstDash val="solid"/>
          </a:ln>
        </p:spPr>
      </p:sp>
      <p:sp>
        <p:nvSpPr>
          <p:cNvPr id="26" name="Rectangle 25">
            <a:extLst xmlns:a="http://schemas.openxmlformats.org/drawingml/2006/main">
              <a:ext uri="{FF2B5EF4-FFF2-40B4-BE49-F238E27FC236}">
                <a16:creationId xmlns:a16="http://schemas.microsoft.com/office/drawing/2014/main" id="{43D2433B-4A90-4F04-AAF1-8C4269091951}"/>
              </a:ext>
            </a:extLst>
          </p:cNvPr>
          <p:cNvSpPr>
            <a:spLocks xmlns:a="http://schemas.openxmlformats.org/drawingml/2006/main" noGrp="1"/>
          </p:cNvSpPr>
          <p:nvPr/>
        </p:nvSpPr>
        <p:spPr>
          <a:xfrm xmlns:a="http://schemas.openxmlformats.org/drawingml/2006/main">
            <a:off x="7000875" y="3571875"/>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CTU 4</a:t>
            </a:r>
          </a:p>
        </p:txBody>
      </p:sp>
      <p:sp>
        <p:nvSpPr>
          <p:cNvPr id="27" name="Rectangle 26">
            <a:extLst xmlns:a="http://schemas.openxmlformats.org/drawingml/2006/main">
              <a:ext uri="{FF2B5EF4-FFF2-40B4-BE49-F238E27FC236}">
                <a16:creationId xmlns:a16="http://schemas.microsoft.com/office/drawing/2014/main" id="{0DD4695A-5127-4AFC-8679-FEEBD0F0AB34}"/>
              </a:ext>
            </a:extLst>
          </p:cNvPr>
          <p:cNvSpPr>
            <a:spLocks xmlns:a="http://schemas.openxmlformats.org/drawingml/2006/main" noGrp="1"/>
          </p:cNvSpPr>
          <p:nvPr/>
        </p:nvSpPr>
        <p:spPr>
          <a:xfrm xmlns:a="http://schemas.openxmlformats.org/drawingml/2006/main">
            <a:off x="8191500" y="3190875"/>
            <a:ext cx="1190625" cy="1047750"/>
          </a:xfrm>
          <a:prstGeom xmlns:a="http://schemas.openxmlformats.org/drawingml/2006/main" prst="rect">
            <a:avLst/>
          </a:prstGeom>
          <a:solidFill xmlns:a="http://schemas.openxmlformats.org/drawingml/2006/main">
            <a:srgbClr val="132536"/>
          </a:solidFill>
          <a:ln xmlns:a="http://schemas.openxmlformats.org/drawingml/2006/main" w="19050">
            <a:solidFill>
              <a:srgbClr val="FFB84D"/>
            </a:solidFill>
            <a:prstDash val="solid"/>
          </a:ln>
        </p:spPr>
      </p:sp>
      <p:sp>
        <p:nvSpPr>
          <p:cNvPr id="28" name="Rectangle 27">
            <a:extLst xmlns:a="http://schemas.openxmlformats.org/drawingml/2006/main">
              <a:ext uri="{FF2B5EF4-FFF2-40B4-BE49-F238E27FC236}">
                <a16:creationId xmlns:a16="http://schemas.microsoft.com/office/drawing/2014/main" id="{6877326E-5F3A-45DB-BDB9-D756F1BE7561}"/>
              </a:ext>
            </a:extLst>
          </p:cNvPr>
          <p:cNvSpPr>
            <a:spLocks xmlns:a="http://schemas.openxmlformats.org/drawingml/2006/main" noGrp="1"/>
          </p:cNvSpPr>
          <p:nvPr/>
        </p:nvSpPr>
        <p:spPr>
          <a:xfrm xmlns:a="http://schemas.openxmlformats.org/drawingml/2006/main">
            <a:off x="8191500" y="3571875"/>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CTU 5</a:t>
            </a:r>
          </a:p>
        </p:txBody>
      </p:sp>
      <p:sp>
        <p:nvSpPr>
          <p:cNvPr id="29" name="Rectangle 28">
            <a:extLst xmlns:a="http://schemas.openxmlformats.org/drawingml/2006/main">
              <a:ext uri="{FF2B5EF4-FFF2-40B4-BE49-F238E27FC236}">
                <a16:creationId xmlns:a16="http://schemas.microsoft.com/office/drawing/2014/main" id="{47AF63D7-5D1B-4B34-8FE3-B5E4A96827BE}"/>
              </a:ext>
            </a:extLst>
          </p:cNvPr>
          <p:cNvSpPr>
            <a:spLocks xmlns:a="http://schemas.openxmlformats.org/drawingml/2006/main" noGrp="1"/>
          </p:cNvSpPr>
          <p:nvPr/>
        </p:nvSpPr>
        <p:spPr>
          <a:xfrm xmlns:a="http://schemas.openxmlformats.org/drawingml/2006/main">
            <a:off x="9382125" y="3190875"/>
            <a:ext cx="1190625" cy="1047750"/>
          </a:xfrm>
          <a:prstGeom xmlns:a="http://schemas.openxmlformats.org/drawingml/2006/main" prst="rect">
            <a:avLst/>
          </a:prstGeom>
          <a:solidFill xmlns:a="http://schemas.openxmlformats.org/drawingml/2006/main">
            <a:srgbClr val="0B2033"/>
          </a:solidFill>
          <a:ln xmlns:a="http://schemas.openxmlformats.org/drawingml/2006/main" w="19050">
            <a:solidFill>
              <a:srgbClr val="2A5876"/>
            </a:solidFill>
            <a:prstDash val="solid"/>
          </a:ln>
        </p:spPr>
      </p:sp>
      <p:sp>
        <p:nvSpPr>
          <p:cNvPr id="30" name="Rectangle 29">
            <a:extLst xmlns:a="http://schemas.openxmlformats.org/drawingml/2006/main">
              <a:ext uri="{FF2B5EF4-FFF2-40B4-BE49-F238E27FC236}">
                <a16:creationId xmlns:a16="http://schemas.microsoft.com/office/drawing/2014/main" id="{09C4FBC2-7682-4A59-AA73-5C8BFB4D0BD8}"/>
              </a:ext>
            </a:extLst>
          </p:cNvPr>
          <p:cNvSpPr>
            <a:spLocks xmlns:a="http://schemas.openxmlformats.org/drawingml/2006/main" noGrp="1"/>
          </p:cNvSpPr>
          <p:nvPr/>
        </p:nvSpPr>
        <p:spPr>
          <a:xfrm xmlns:a="http://schemas.openxmlformats.org/drawingml/2006/main">
            <a:off x="9382125" y="3571875"/>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CTU 6</a:t>
            </a:r>
          </a:p>
        </p:txBody>
      </p:sp>
      <p:sp>
        <p:nvSpPr>
          <p:cNvPr id="31" name="Rectangle 30">
            <a:extLst xmlns:a="http://schemas.openxmlformats.org/drawingml/2006/main">
              <a:ext uri="{FF2B5EF4-FFF2-40B4-BE49-F238E27FC236}">
                <a16:creationId xmlns:a16="http://schemas.microsoft.com/office/drawing/2014/main" id="{ADBE4FC5-061B-4069-AE7F-E01242B3A672}"/>
              </a:ext>
            </a:extLst>
          </p:cNvPr>
          <p:cNvSpPr>
            <a:spLocks xmlns:a="http://schemas.openxmlformats.org/drawingml/2006/main" noGrp="1"/>
          </p:cNvSpPr>
          <p:nvPr/>
        </p:nvSpPr>
        <p:spPr>
          <a:xfrm xmlns:a="http://schemas.openxmlformats.org/drawingml/2006/main">
            <a:off x="7781925" y="3743325"/>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47E6A4"/>
                </a:solidFill>
                <a:latin typeface="Arial"/>
                <a:ea typeface="Arial"/>
                <a:cs typeface="Arial"/>
              </a:defRPr>
            </a:pPr>
            <a:r>
              <a:rPr sz="2550" b="1">
                <a:solidFill>
                  <a:srgbClr val="47E6A4"/>
                </a:solidFill>
                <a:latin typeface="Arial"/>
                <a:ea typeface="Arial"/>
                <a:cs typeface="Arial"/>
              </a:rPr>
              <a:t>←</a:t>
            </a:r>
          </a:p>
        </p:txBody>
      </p:sp>
      <p:sp>
        <p:nvSpPr>
          <p:cNvPr id="32" name="Rectangle 31">
            <a:extLst xmlns:a="http://schemas.openxmlformats.org/drawingml/2006/main">
              <a:ext uri="{FF2B5EF4-FFF2-40B4-BE49-F238E27FC236}">
                <a16:creationId xmlns:a16="http://schemas.microsoft.com/office/drawing/2014/main" id="{C355C755-F7DD-4EEE-A5EA-F1113098415A}"/>
              </a:ext>
            </a:extLst>
          </p:cNvPr>
          <p:cNvSpPr>
            <a:spLocks xmlns:a="http://schemas.openxmlformats.org/drawingml/2006/main" noGrp="1"/>
          </p:cNvSpPr>
          <p:nvPr/>
        </p:nvSpPr>
        <p:spPr>
          <a:xfrm xmlns:a="http://schemas.openxmlformats.org/drawingml/2006/main">
            <a:off x="8886825" y="2171700"/>
            <a:ext cx="762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2E9BFF"/>
                </a:solidFill>
                <a:latin typeface="Arial"/>
                <a:ea typeface="Arial"/>
                <a:cs typeface="Arial"/>
              </a:defRPr>
            </a:pPr>
            <a:r>
              <a:rPr sz="2550" b="1">
                <a:solidFill>
                  <a:srgbClr val="2E9BFF"/>
                </a:solidFill>
                <a:latin typeface="Arial"/>
                <a:ea typeface="Arial"/>
                <a:cs typeface="Arial"/>
              </a:rPr>
              <a:t>↑</a:t>
            </a:r>
          </a:p>
        </p:txBody>
      </p:sp>
      <p:sp>
        <p:nvSpPr>
          <p:cNvPr id="33" name="Rectangle 32">
            <a:extLst xmlns:a="http://schemas.openxmlformats.org/drawingml/2006/main">
              <a:ext uri="{FF2B5EF4-FFF2-40B4-BE49-F238E27FC236}">
                <a16:creationId xmlns:a16="http://schemas.microsoft.com/office/drawing/2014/main" id="{83926E07-F123-426F-ADF4-EF96C471B697}"/>
              </a:ext>
            </a:extLst>
          </p:cNvPr>
          <p:cNvSpPr>
            <a:spLocks xmlns:a="http://schemas.openxmlformats.org/drawingml/2006/main" noGrp="1"/>
          </p:cNvSpPr>
          <p:nvPr/>
        </p:nvSpPr>
        <p:spPr>
          <a:xfrm xmlns:a="http://schemas.openxmlformats.org/drawingml/2006/main">
            <a:off x="7000875" y="4476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merge left</a:t>
            </a:r>
          </a:p>
        </p:txBody>
      </p:sp>
      <p:sp>
        <p:nvSpPr>
          <p:cNvPr id="34" name="Rectangle 33">
            <a:extLst xmlns:a="http://schemas.openxmlformats.org/drawingml/2006/main">
              <a:ext uri="{FF2B5EF4-FFF2-40B4-BE49-F238E27FC236}">
                <a16:creationId xmlns:a16="http://schemas.microsoft.com/office/drawing/2014/main" id="{33A5587E-165B-43FC-ACC0-072D0A66F98C}"/>
              </a:ext>
            </a:extLst>
          </p:cNvPr>
          <p:cNvSpPr>
            <a:spLocks xmlns:a="http://schemas.openxmlformats.org/drawingml/2006/main" noGrp="1"/>
          </p:cNvSpPr>
          <p:nvPr/>
        </p:nvSpPr>
        <p:spPr>
          <a:xfrm xmlns:a="http://schemas.openxmlformats.org/drawingml/2006/main">
            <a:off x="8763000" y="4476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2E9BFF"/>
                </a:solidFill>
                <a:latin typeface="Arial"/>
                <a:ea typeface="Arial"/>
                <a:cs typeface="Arial"/>
              </a:defRPr>
            </a:pPr>
            <a:r>
              <a:rPr sz="1275" b="1">
                <a:solidFill>
                  <a:srgbClr val="2E9BFF"/>
                </a:solidFill>
                <a:latin typeface="Arial"/>
                <a:ea typeface="Arial"/>
                <a:cs typeface="Arial"/>
              </a:rPr>
              <a:t>or merge up</a:t>
            </a:r>
          </a:p>
        </p:txBody>
      </p:sp>
      <p:sp>
        <p:nvSpPr>
          <p:cNvPr id="35" name="Rectangle: Rounded Corners 34">
            <a:extLst xmlns:a="http://schemas.openxmlformats.org/drawingml/2006/main">
              <a:ext uri="{FF2B5EF4-FFF2-40B4-BE49-F238E27FC236}">
                <a16:creationId xmlns:a16="http://schemas.microsoft.com/office/drawing/2014/main" id="{A0FF9291-5A0B-4729-8643-23ED56F996D3}"/>
              </a:ext>
            </a:extLst>
          </p:cNvPr>
          <p:cNvSpPr>
            <a:spLocks xmlns:a="http://schemas.openxmlformats.org/drawingml/2006/main" noGrp="1"/>
          </p:cNvSpPr>
          <p:nvPr/>
        </p:nvSpPr>
        <p:spPr>
          <a:xfrm xmlns:a="http://schemas.openxmlformats.org/drawingml/2006/main">
            <a:off x="2381250" y="5715000"/>
            <a:ext cx="7429500" cy="590550"/>
          </a:xfrm>
          <a:prstGeom xmlns:a="http://schemas.openxmlformats.org/drawingml/2006/main" prst="roundRect">
            <a:avLst>
              <a:gd name="adj" fmla="val 19355"/>
            </a:avLst>
          </a:prstGeom>
          <a:solidFill xmlns:a="http://schemas.openxmlformats.org/drawingml/2006/main">
            <a:srgbClr val="0A2830"/>
          </a:solidFill>
          <a:ln xmlns:a="http://schemas.openxmlformats.org/drawingml/2006/main" w="19050">
            <a:solidFill>
              <a:srgbClr val="47E6A4"/>
            </a:solidFill>
            <a:prstDash val="solid"/>
          </a:ln>
        </p:spPr>
      </p:sp>
      <p:sp>
        <p:nvSpPr>
          <p:cNvPr id="36" name="Rectangle 35">
            <a:extLst xmlns:a="http://schemas.openxmlformats.org/drawingml/2006/main">
              <a:ext uri="{FF2B5EF4-FFF2-40B4-BE49-F238E27FC236}">
                <a16:creationId xmlns:a16="http://schemas.microsoft.com/office/drawing/2014/main" id="{230E9CA5-335C-477A-9A32-99EBE805EF2D}"/>
              </a:ext>
            </a:extLst>
          </p:cNvPr>
          <p:cNvSpPr>
            <a:spLocks xmlns:a="http://schemas.openxmlformats.org/drawingml/2006/main" noGrp="1"/>
          </p:cNvSpPr>
          <p:nvPr/>
        </p:nvSpPr>
        <p:spPr>
          <a:xfrm xmlns:a="http://schemas.openxmlformats.org/drawingml/2006/main">
            <a:off x="2495550" y="5810250"/>
            <a:ext cx="7200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364"/>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Merging reuses a processed neighbor's SAO parameters and avoids sending a new parameter set.</a:t>
            </a:r>
          </a:p>
        </p:txBody>
      </p:sp>
    </p:spTree>
    <p:extLst>
      <p:ext uri="{BB962C8B-B14F-4D97-AF65-F5344CB8AC3E}">
        <p14:creationId xmlns:p14="http://schemas.microsoft.com/office/powerpoint/2010/main" val="700433317"/>
      </p:ext>
    </p:extLst>
  </p:cSld>
</p:sld>
</file>

<file path=ppt/slides/slide35.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6" name="Oval 25">
            <a:extLst xmlns:a="http://schemas.openxmlformats.org/drawingml/2006/main">
              <a:ext uri="{FF2B5EF4-FFF2-40B4-BE49-F238E27FC236}">
                <a16:creationId xmlns:a16="http://schemas.microsoft.com/office/drawing/2014/main" id="{0685F503-9506-4FE7-AECB-5D6CD39B5A4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1832A8B3-CEE5-4A9E-AD4A-95F47984E0B0}"/>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F9DEEC4C-FCE8-4828-829F-04611D7F448D}"/>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The encoder chooses SAO parameters, and the decoder applies them</a:t>
            </a:r>
          </a:p>
        </p:txBody>
      </p:sp>
      <p:sp>
        <p:nvSpPr>
          <p:cNvPr id="4" name="Straight Connector 3">
            <a:extLst xmlns:a="http://schemas.openxmlformats.org/drawingml/2006/main">
              <a:ext uri="{FF2B5EF4-FFF2-40B4-BE49-F238E27FC236}">
                <a16:creationId xmlns:a16="http://schemas.microsoft.com/office/drawing/2014/main" id="{F25A8789-499F-41EB-907D-A89025398060}"/>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C9F298DD-6C4D-4816-AB0B-8FB1DA1B9255}"/>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Only the encoder sees the original picture. Both sides share the reconstructed picture and signaled parameters.</a:t>
            </a:r>
          </a:p>
        </p:txBody>
      </p:sp>
      <p:sp>
        <p:nvSpPr>
          <p:cNvPr id="6" name="Rectangle 5">
            <a:extLst xmlns:a="http://schemas.openxmlformats.org/drawingml/2006/main">
              <a:ext uri="{FF2B5EF4-FFF2-40B4-BE49-F238E27FC236}">
                <a16:creationId xmlns:a16="http://schemas.microsoft.com/office/drawing/2014/main" id="{97F25E41-26CD-41CC-95CC-8808528F5797}"/>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C6B577E-DB7C-4A75-94B3-5A98D89C08A1}"/>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35 / 49</a:t>
            </a:r>
          </a:p>
        </p:txBody>
      </p:sp>
      <p:sp>
        <p:nvSpPr>
          <p:cNvPr id="8" name="Rectangle 7">
            <a:extLst xmlns:a="http://schemas.openxmlformats.org/drawingml/2006/main">
              <a:ext uri="{FF2B5EF4-FFF2-40B4-BE49-F238E27FC236}">
                <a16:creationId xmlns:a16="http://schemas.microsoft.com/office/drawing/2014/main" id="{560EBAA9-3AF7-4329-ABCC-C777F6CBA822}"/>
              </a:ext>
            </a:extLst>
          </p:cNvPr>
          <p:cNvSpPr>
            <a:spLocks xmlns:a="http://schemas.openxmlformats.org/drawingml/2006/main" noGrp="1"/>
          </p:cNvSpPr>
          <p:nvPr/>
        </p:nvSpPr>
        <p:spPr>
          <a:xfrm xmlns:a="http://schemas.openxmlformats.org/drawingml/2006/main">
            <a:off x="1143000" y="15240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p xmlns:a="http://schemas.openxmlformats.org/drawingml/2006/main">
            <a:pPr>
              <a:buNone/>
              <a:defRPr sz="2025" b="1">
                <a:solidFill>
                  <a:srgbClr val="22D3EE"/>
                </a:solidFill>
                <a:latin typeface="Arial"/>
                <a:ea typeface="Arial"/>
                <a:cs typeface="Arial"/>
              </a:defRPr>
            </a:pPr>
            <a:r>
              <a:rPr sz="2025" b="1">
                <a:solidFill>
                  <a:srgbClr val="22D3EE"/>
                </a:solidFill>
                <a:latin typeface="Arial"/>
                <a:ea typeface="Arial"/>
                <a:cs typeface="Arial"/>
              </a:rPr>
              <a:t>ENCODER</a:t>
            </a:r>
          </a:p>
        </p:txBody>
      </p:sp>
      <p:sp>
        <p:nvSpPr>
          <p:cNvPr id="9" name="Rectangle 8">
            <a:extLst xmlns:a="http://schemas.openxmlformats.org/drawingml/2006/main">
              <a:ext uri="{FF2B5EF4-FFF2-40B4-BE49-F238E27FC236}">
                <a16:creationId xmlns:a16="http://schemas.microsoft.com/office/drawing/2014/main" id="{BB7173D3-DA93-42C1-ADA9-5BAA6E9C48F9}"/>
              </a:ext>
            </a:extLst>
          </p:cNvPr>
          <p:cNvSpPr>
            <a:spLocks xmlns:a="http://schemas.openxmlformats.org/drawingml/2006/main" noGrp="1"/>
          </p:cNvSpPr>
          <p:nvPr/>
        </p:nvSpPr>
        <p:spPr>
          <a:xfrm xmlns:a="http://schemas.openxmlformats.org/drawingml/2006/main">
            <a:off x="1238250" y="21431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Has original + reconstructed samples</a:t>
            </a:r>
          </a:p>
        </p:txBody>
      </p:sp>
      <p:sp>
        <p:nvSpPr>
          <p:cNvPr id="10" name="Rectangle 9">
            <a:extLst xmlns:a="http://schemas.openxmlformats.org/drawingml/2006/main">
              <a:ext uri="{FF2B5EF4-FFF2-40B4-BE49-F238E27FC236}">
                <a16:creationId xmlns:a16="http://schemas.microsoft.com/office/drawing/2014/main" id="{7696D200-666C-4BD6-82C9-5AE7CFE1ED58}"/>
              </a:ext>
            </a:extLst>
          </p:cNvPr>
          <p:cNvSpPr>
            <a:spLocks xmlns:a="http://schemas.openxmlformats.org/drawingml/2006/main" noGrp="1"/>
          </p:cNvSpPr>
          <p:nvPr/>
        </p:nvSpPr>
        <p:spPr>
          <a:xfrm xmlns:a="http://schemas.openxmlformats.org/drawingml/2006/main">
            <a:off x="1238250" y="2714625"/>
            <a:ext cx="3810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425" b="0">
                <a:solidFill>
                  <a:srgbClr val="AFC0D0"/>
                </a:solidFill>
                <a:latin typeface="Arial"/>
                <a:ea typeface="Arial"/>
                <a:cs typeface="Arial"/>
              </a:defRPr>
            </a:pPr>
            <a:r>
              <a:rPr sz="1425" b="0">
                <a:solidFill>
                  <a:srgbClr val="AFC0D0"/>
                </a:solidFill>
                <a:latin typeface="Arial"/>
                <a:ea typeface="Arial"/>
                <a:cs typeface="Arial"/>
              </a:rPr>
              <a:t>Tests SAO off, Edge Offset directions, and Band Offset windows</a:t>
            </a:r>
          </a:p>
        </p:txBody>
      </p:sp>
      <p:sp>
        <p:nvSpPr>
          <p:cNvPr id="11" name="Rectangle 10">
            <a:extLst xmlns:a="http://schemas.openxmlformats.org/drawingml/2006/main">
              <a:ext uri="{FF2B5EF4-FFF2-40B4-BE49-F238E27FC236}">
                <a16:creationId xmlns:a16="http://schemas.microsoft.com/office/drawing/2014/main" id="{3EE20B47-B01E-4BA3-AA16-8C06F043E8CA}"/>
              </a:ext>
            </a:extLst>
          </p:cNvPr>
          <p:cNvSpPr>
            <a:spLocks xmlns:a="http://schemas.openxmlformats.org/drawingml/2006/main" noGrp="1"/>
          </p:cNvSpPr>
          <p:nvPr/>
        </p:nvSpPr>
        <p:spPr>
          <a:xfrm xmlns:a="http://schemas.openxmlformats.org/drawingml/2006/main">
            <a:off x="1238250" y="3667125"/>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583"/>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Measures distortion reduction and signaling cost</a:t>
            </a:r>
          </a:p>
        </p:txBody>
      </p:sp>
      <p:sp>
        <p:nvSpPr>
          <p:cNvPr id="12" name="Rectangle: Rounded Corners 11">
            <a:extLst xmlns:a="http://schemas.openxmlformats.org/drawingml/2006/main">
              <a:ext uri="{FF2B5EF4-FFF2-40B4-BE49-F238E27FC236}">
                <a16:creationId xmlns:a16="http://schemas.microsoft.com/office/drawing/2014/main" id="{CFF6AF6C-1A24-4732-BDAE-001340BD721D}"/>
              </a:ext>
            </a:extLst>
          </p:cNvPr>
          <p:cNvSpPr>
            <a:spLocks xmlns:a="http://schemas.openxmlformats.org/drawingml/2006/main" noGrp="1"/>
          </p:cNvSpPr>
          <p:nvPr/>
        </p:nvSpPr>
        <p:spPr>
          <a:xfrm xmlns:a="http://schemas.openxmlformats.org/drawingml/2006/main">
            <a:off x="1285875" y="4524375"/>
            <a:ext cx="3714750" cy="666750"/>
          </a:xfrm>
          <a:prstGeom xmlns:a="http://schemas.openxmlformats.org/drawingml/2006/main" prst="roundRect">
            <a:avLst>
              <a:gd name="adj" fmla="val 17143"/>
            </a:avLst>
          </a:prstGeom>
          <a:solidFill xmlns:a="http://schemas.openxmlformats.org/drawingml/2006/main">
            <a:srgbClr val="092034"/>
          </a:solidFill>
          <a:ln xmlns:a="http://schemas.openxmlformats.org/drawingml/2006/main" w="19050">
            <a:solidFill>
              <a:srgbClr val="22D3EE"/>
            </a:solidFill>
            <a:prstDash val="solid"/>
          </a:ln>
        </p:spPr>
      </p:sp>
      <p:sp>
        <p:nvSpPr>
          <p:cNvPr id="13" name="Rectangle 12">
            <a:extLst xmlns:a="http://schemas.openxmlformats.org/drawingml/2006/main">
              <a:ext uri="{FF2B5EF4-FFF2-40B4-BE49-F238E27FC236}">
                <a16:creationId xmlns:a16="http://schemas.microsoft.com/office/drawing/2014/main" id="{3F725707-99F7-41E5-8A67-96020748681D}"/>
              </a:ext>
            </a:extLst>
          </p:cNvPr>
          <p:cNvSpPr>
            <a:spLocks xmlns:a="http://schemas.openxmlformats.org/drawingml/2006/main" noGrp="1"/>
          </p:cNvSpPr>
          <p:nvPr/>
        </p:nvSpPr>
        <p:spPr>
          <a:xfrm xmlns:a="http://schemas.openxmlformats.org/drawingml/2006/main">
            <a:off x="1400175" y="461962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518"/>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chooses type, direction or band, and offsets</a:t>
            </a:r>
          </a:p>
        </p:txBody>
      </p:sp>
      <p:sp>
        <p:nvSpPr>
          <p:cNvPr id="14" name="Rectangle 13">
            <a:extLst xmlns:a="http://schemas.openxmlformats.org/drawingml/2006/main">
              <a:ext uri="{FF2B5EF4-FFF2-40B4-BE49-F238E27FC236}">
                <a16:creationId xmlns:a16="http://schemas.microsoft.com/office/drawing/2014/main" id="{000652F6-4100-4947-84E1-A444A47C240D}"/>
              </a:ext>
            </a:extLst>
          </p:cNvPr>
          <p:cNvSpPr>
            <a:spLocks xmlns:a="http://schemas.openxmlformats.org/drawingml/2006/main" noGrp="1"/>
          </p:cNvSpPr>
          <p:nvPr/>
        </p:nvSpPr>
        <p:spPr>
          <a:xfrm xmlns:a="http://schemas.openxmlformats.org/drawingml/2006/main">
            <a:off x="7048500" y="15240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p xmlns:a="http://schemas.openxmlformats.org/drawingml/2006/main">
            <a:pPr>
              <a:buNone/>
              <a:defRPr sz="2025" b="1">
                <a:solidFill>
                  <a:srgbClr val="47E6A4"/>
                </a:solidFill>
                <a:latin typeface="Arial"/>
                <a:ea typeface="Arial"/>
                <a:cs typeface="Arial"/>
              </a:defRPr>
            </a:pPr>
            <a:r>
              <a:rPr sz="2025" b="1">
                <a:solidFill>
                  <a:srgbClr val="47E6A4"/>
                </a:solidFill>
                <a:latin typeface="Arial"/>
                <a:ea typeface="Arial"/>
                <a:cs typeface="Arial"/>
              </a:rPr>
              <a:t>DECODER</a:t>
            </a:r>
          </a:p>
        </p:txBody>
      </p:sp>
      <p:sp>
        <p:nvSpPr>
          <p:cNvPr id="15" name="Rectangle 14">
            <a:extLst xmlns:a="http://schemas.openxmlformats.org/drawingml/2006/main">
              <a:ext uri="{FF2B5EF4-FFF2-40B4-BE49-F238E27FC236}">
                <a16:creationId xmlns:a16="http://schemas.microsoft.com/office/drawing/2014/main" id="{885996E3-1AFA-4581-AE1E-AF55C1149B04}"/>
              </a:ext>
            </a:extLst>
          </p:cNvPr>
          <p:cNvSpPr>
            <a:spLocks xmlns:a="http://schemas.openxmlformats.org/drawingml/2006/main" noGrp="1"/>
          </p:cNvSpPr>
          <p:nvPr/>
        </p:nvSpPr>
        <p:spPr>
          <a:xfrm xmlns:a="http://schemas.openxmlformats.org/drawingml/2006/main">
            <a:off x="7143750" y="21431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Has reconstructed samples + bitstream</a:t>
            </a:r>
          </a:p>
        </p:txBody>
      </p:sp>
      <p:sp>
        <p:nvSpPr>
          <p:cNvPr id="16" name="Rectangle 15">
            <a:extLst xmlns:a="http://schemas.openxmlformats.org/drawingml/2006/main">
              <a:ext uri="{FF2B5EF4-FFF2-40B4-BE49-F238E27FC236}">
                <a16:creationId xmlns:a16="http://schemas.microsoft.com/office/drawing/2014/main" id="{5AB4712D-B15B-4679-BC6E-36E0931E12B3}"/>
              </a:ext>
            </a:extLst>
          </p:cNvPr>
          <p:cNvSpPr>
            <a:spLocks xmlns:a="http://schemas.openxmlformats.org/drawingml/2006/main" noGrp="1"/>
          </p:cNvSpPr>
          <p:nvPr/>
        </p:nvSpPr>
        <p:spPr>
          <a:xfrm xmlns:a="http://schemas.openxmlformats.org/drawingml/2006/main">
            <a:off x="7143750" y="2714625"/>
            <a:ext cx="3810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425" b="0">
                <a:solidFill>
                  <a:srgbClr val="AFC0D0"/>
                </a:solidFill>
                <a:latin typeface="Arial"/>
                <a:ea typeface="Arial"/>
                <a:cs typeface="Arial"/>
              </a:defRPr>
            </a:pPr>
            <a:r>
              <a:rPr sz="1425" b="0">
                <a:solidFill>
                  <a:srgbClr val="AFC0D0"/>
                </a:solidFill>
                <a:latin typeface="Arial"/>
                <a:ea typeface="Arial"/>
                <a:cs typeface="Arial"/>
              </a:rPr>
              <a:t>Reads the signaled parameters and classifies samples using reconstructed data</a:t>
            </a:r>
          </a:p>
        </p:txBody>
      </p:sp>
      <p:sp>
        <p:nvSpPr>
          <p:cNvPr id="17" name="Rectangle 16">
            <a:extLst xmlns:a="http://schemas.openxmlformats.org/drawingml/2006/main">
              <a:ext uri="{FF2B5EF4-FFF2-40B4-BE49-F238E27FC236}">
                <a16:creationId xmlns:a16="http://schemas.microsoft.com/office/drawing/2014/main" id="{ECA8F3E7-DA53-480C-832C-0D83FB91C84E}"/>
              </a:ext>
            </a:extLst>
          </p:cNvPr>
          <p:cNvSpPr>
            <a:spLocks xmlns:a="http://schemas.openxmlformats.org/drawingml/2006/main" noGrp="1"/>
          </p:cNvSpPr>
          <p:nvPr/>
        </p:nvSpPr>
        <p:spPr>
          <a:xfrm xmlns:a="http://schemas.openxmlformats.org/drawingml/2006/main">
            <a:off x="7143750" y="3667125"/>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932"/>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Looks up the category offset and adds it</a:t>
            </a:r>
          </a:p>
        </p:txBody>
      </p:sp>
      <p:sp>
        <p:nvSpPr>
          <p:cNvPr id="18" name="Rectangle: Rounded Corners 17">
            <a:extLst xmlns:a="http://schemas.openxmlformats.org/drawingml/2006/main">
              <a:ext uri="{FF2B5EF4-FFF2-40B4-BE49-F238E27FC236}">
                <a16:creationId xmlns:a16="http://schemas.microsoft.com/office/drawing/2014/main" id="{602F701F-278A-4762-91FD-7F18E3A6A247}"/>
              </a:ext>
            </a:extLst>
          </p:cNvPr>
          <p:cNvSpPr>
            <a:spLocks xmlns:a="http://schemas.openxmlformats.org/drawingml/2006/main" noGrp="1"/>
          </p:cNvSpPr>
          <p:nvPr/>
        </p:nvSpPr>
        <p:spPr>
          <a:xfrm xmlns:a="http://schemas.openxmlformats.org/drawingml/2006/main">
            <a:off x="7191375" y="4524375"/>
            <a:ext cx="3714750" cy="666750"/>
          </a:xfrm>
          <a:prstGeom xmlns:a="http://schemas.openxmlformats.org/drawingml/2006/main" prst="roundRect">
            <a:avLst>
              <a:gd name="adj" fmla="val 17143"/>
            </a:avLst>
          </a:prstGeom>
          <a:solidFill xmlns:a="http://schemas.openxmlformats.org/drawingml/2006/main">
            <a:srgbClr val="0A2830"/>
          </a:solidFill>
          <a:ln xmlns:a="http://schemas.openxmlformats.org/drawingml/2006/main" w="19050">
            <a:solidFill>
              <a:srgbClr val="47E6A4"/>
            </a:solidFill>
            <a:prstDash val="solid"/>
          </a:ln>
        </p:spPr>
      </p:sp>
      <p:sp>
        <p:nvSpPr>
          <p:cNvPr id="19" name="Rectangle 18">
            <a:extLst xmlns:a="http://schemas.openxmlformats.org/drawingml/2006/main">
              <a:ext uri="{FF2B5EF4-FFF2-40B4-BE49-F238E27FC236}">
                <a16:creationId xmlns:a16="http://schemas.microsoft.com/office/drawing/2014/main" id="{96C3272C-130E-4F8C-B4AB-65C8D403DCFA}"/>
              </a:ext>
            </a:extLst>
          </p:cNvPr>
          <p:cNvSpPr>
            <a:spLocks xmlns:a="http://schemas.openxmlformats.org/drawingml/2006/main" noGrp="1"/>
          </p:cNvSpPr>
          <p:nvPr/>
        </p:nvSpPr>
        <p:spPr>
          <a:xfrm xmlns:a="http://schemas.openxmlformats.org/drawingml/2006/main">
            <a:off x="7305675" y="461962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produces the same filtered samples</a:t>
            </a:r>
          </a:p>
        </p:txBody>
      </p:sp>
      <p:sp>
        <p:nvSpPr>
          <p:cNvPr id="20" name="Rectangle 19">
            <a:extLst xmlns:a="http://schemas.openxmlformats.org/drawingml/2006/main">
              <a:ext uri="{FF2B5EF4-FFF2-40B4-BE49-F238E27FC236}">
                <a16:creationId xmlns:a16="http://schemas.microsoft.com/office/drawing/2014/main" id="{B5980B12-51E6-4977-8A61-77BBCBD07E5D}"/>
              </a:ext>
            </a:extLst>
          </p:cNvPr>
          <p:cNvSpPr>
            <a:spLocks xmlns:a="http://schemas.openxmlformats.org/drawingml/2006/main" noGrp="1"/>
          </p:cNvSpPr>
          <p:nvPr/>
        </p:nvSpPr>
        <p:spPr>
          <a:xfrm xmlns:a="http://schemas.openxmlformats.org/drawingml/2006/main">
            <a:off x="6667500" y="33623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69C57C3-841E-494C-9947-BA99FD8BFBF6}"/>
              </a:ext>
            </a:extLst>
          </p:cNvPr>
          <p:cNvSpPr>
            <a:spLocks xmlns:a="http://schemas.openxmlformats.org/drawingml/2006/main" noGrp="1"/>
          </p:cNvSpPr>
          <p:nvPr/>
        </p:nvSpPr>
        <p:spPr>
          <a:xfrm xmlns:a="http://schemas.openxmlformats.org/drawingml/2006/main">
            <a:off x="5238750" y="33623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9" name="Straight Arrow Connector 46"/>
          <p:cNvCxnSpPr>
            <a:stCxn xmlns:a="http://schemas.openxmlformats.org/drawingml/2006/main" id="20" idx="1"/>
            <a:endCxn xmlns:a="http://schemas.openxmlformats.org/drawingml/2006/main" id="21" idx="3"/>
          </p:cNvCxnSpPr>
          <p:nvPr/>
        </p:nvCxnSpPr>
        <p:spPr>
          <a:xfrm xmlns:a="http://schemas.openxmlformats.org/drawingml/2006/main" flipH="1">
            <a:off x="5257800" y="3371850"/>
            <a:ext cx="1409700" cy="0"/>
          </a:xfrm>
          <a:prstGeom xmlns:a="http://schemas.openxmlformats.org/drawingml/2006/main" prst="straightConnector1">
            <a:avLst/>
          </a:prstGeom>
          <a:ln xmlns:a="http://schemas.openxmlformats.org/drawingml/2006/main" w="19050" cap="rnd">
            <a:solidFill>
              <a:srgbClr val="FFB84D"/>
            </a:solidFill>
            <a:prstDash val="solid"/>
            <a:headEnd type="triangle" w="sm" len="sm"/>
          </a:ln>
        </p:spPr>
      </p:cxnSp>
      <p:sp>
        <p:nvSpPr>
          <p:cNvPr id="23" name="Rectangle 22">
            <a:extLst xmlns:a="http://schemas.openxmlformats.org/drawingml/2006/main">
              <a:ext uri="{FF2B5EF4-FFF2-40B4-BE49-F238E27FC236}">
                <a16:creationId xmlns:a16="http://schemas.microsoft.com/office/drawing/2014/main" id="{F6CC0BC3-CD22-4999-8EE2-9976262BC10E}"/>
              </a:ext>
            </a:extLst>
          </p:cNvPr>
          <p:cNvSpPr>
            <a:spLocks xmlns:a="http://schemas.openxmlformats.org/drawingml/2006/main" noGrp="1"/>
          </p:cNvSpPr>
          <p:nvPr/>
        </p:nvSpPr>
        <p:spPr>
          <a:xfrm xmlns:a="http://schemas.openxmlformats.org/drawingml/2006/main">
            <a:off x="5429250" y="27622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173"/>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SAO syntax</a:t>
            </a:r>
          </a:p>
        </p:txBody>
      </p:sp>
      <p:sp>
        <p:nvSpPr>
          <p:cNvPr id="24" name="Rectangle: Rounded Corners 23">
            <a:extLst xmlns:a="http://schemas.openxmlformats.org/drawingml/2006/main">
              <a:ext uri="{FF2B5EF4-FFF2-40B4-BE49-F238E27FC236}">
                <a16:creationId xmlns:a16="http://schemas.microsoft.com/office/drawing/2014/main" id="{B4E0C25C-F9CE-41B8-BC00-A3BE65017DD1}"/>
              </a:ext>
            </a:extLst>
          </p:cNvPr>
          <p:cNvSpPr>
            <a:spLocks xmlns:a="http://schemas.openxmlformats.org/drawingml/2006/main" noGrp="1"/>
          </p:cNvSpPr>
          <p:nvPr/>
        </p:nvSpPr>
        <p:spPr>
          <a:xfrm xmlns:a="http://schemas.openxmlformats.org/drawingml/2006/main">
            <a:off x="2095500" y="5810250"/>
            <a:ext cx="8001000" cy="514350"/>
          </a:xfrm>
          <a:prstGeom xmlns:a="http://schemas.openxmlformats.org/drawingml/2006/main" prst="roundRect">
            <a:avLst>
              <a:gd name="adj" fmla="val 22222"/>
            </a:avLst>
          </a:prstGeom>
          <a:solidFill xmlns:a="http://schemas.openxmlformats.org/drawingml/2006/main">
            <a:srgbClr val="132536"/>
          </a:solidFill>
          <a:ln xmlns:a="http://schemas.openxmlformats.org/drawingml/2006/main" w="19050">
            <a:solidFill>
              <a:srgbClr val="FFB84D"/>
            </a:solidFill>
            <a:prstDash val="solid"/>
          </a:ln>
        </p:spPr>
      </p:sp>
      <p:sp>
        <p:nvSpPr>
          <p:cNvPr id="25" name="Rectangle 24">
            <a:extLst xmlns:a="http://schemas.openxmlformats.org/drawingml/2006/main">
              <a:ext uri="{FF2B5EF4-FFF2-40B4-BE49-F238E27FC236}">
                <a16:creationId xmlns:a16="http://schemas.microsoft.com/office/drawing/2014/main" id="{581A9144-5436-4E75-9E8D-B38150C20CAF}"/>
              </a:ext>
            </a:extLst>
          </p:cNvPr>
          <p:cNvSpPr>
            <a:spLocks xmlns:a="http://schemas.openxmlformats.org/drawingml/2006/main" noGrp="1"/>
          </p:cNvSpPr>
          <p:nvPr/>
        </p:nvSpPr>
        <p:spPr>
          <a:xfrm xmlns:a="http://schemas.openxmlformats.org/drawingml/2006/main">
            <a:off x="2209800" y="5905500"/>
            <a:ext cx="7772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64"/>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The standard defines what the decoder applies. Encoder search strategy remains an implementation choice.</a:t>
            </a:r>
          </a:p>
        </p:txBody>
      </p:sp>
    </p:spTree>
    <p:extLst>
      <p:ext uri="{BB962C8B-B14F-4D97-AF65-F5344CB8AC3E}">
        <p14:creationId xmlns:p14="http://schemas.microsoft.com/office/powerpoint/2010/main" val="1671200757"/>
      </p:ext>
    </p:extLst>
  </p:cSld>
</p:sld>
</file>

<file path=ppt/slides/slide36.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2" name="Oval 11">
            <a:extLst xmlns:a="http://schemas.openxmlformats.org/drawingml/2006/main">
              <a:ext uri="{FF2B5EF4-FFF2-40B4-BE49-F238E27FC236}">
                <a16:creationId xmlns:a16="http://schemas.microsoft.com/office/drawing/2014/main" id="{9A14F114-29BF-4E2E-BB3C-4E0FDC5E7417}"/>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8D12595B-BFE0-433A-A864-61CB8378522C}"/>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CF3D9A51-7738-4063-801A-7C286F5F2881}"/>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Block X Edge Offset example</a:t>
            </a:r>
          </a:p>
        </p:txBody>
      </p:sp>
      <p:sp>
        <p:nvSpPr>
          <p:cNvPr id="4" name="Straight Connector 3">
            <a:extLst xmlns:a="http://schemas.openxmlformats.org/drawingml/2006/main">
              <a:ext uri="{FF2B5EF4-FFF2-40B4-BE49-F238E27FC236}">
                <a16:creationId xmlns:a16="http://schemas.microsoft.com/office/drawing/2014/main" id="{F33FBD5E-79B7-43BF-9D17-5BF0D11B9C4A}"/>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22147363-2CB5-406E-9233-7CDF8E3FFB60}"/>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encoder selects horizontal Edge Offset for this teaching CTU and signals magnitude 4 for peak and valley categories</a:t>
            </a:r>
          </a:p>
        </p:txBody>
      </p:sp>
      <p:sp>
        <p:nvSpPr>
          <p:cNvPr id="6" name="Rectangle 5">
            <a:extLst xmlns:a="http://schemas.openxmlformats.org/drawingml/2006/main">
              <a:ext uri="{FF2B5EF4-FFF2-40B4-BE49-F238E27FC236}">
                <a16:creationId xmlns:a16="http://schemas.microsoft.com/office/drawing/2014/main" id="{95F09DB5-E7EB-4171-B9E0-18DCC7221B2E}"/>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3A394B90-06C4-41E0-8972-4D33ED757DF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36 / 49</a:t>
            </a:r>
          </a:p>
        </p:txBody>
      </p:sp>
      <p:graphicFrame>
        <p:nvGraphicFramePr>
          <p:cNvPr id="21" name="Table 18"/>
          <p:cNvGraphicFramePr/>
          <p:nvPr/>
        </p:nvGraphicFramePr>
        <p:xfrm>
          <a:off xmlns:a="http://schemas.openxmlformats.org/drawingml/2006/main" x="666750" y="1714500"/>
          <a:ext xmlns:a="http://schemas.openxmlformats.org/drawingml/2006/main" cx="10858500" cy="3286125"/>
        </p:xfrm>
        <a:graphic xmlns:a="http://schemas.openxmlformats.org/drawingml/2006/main">
          <a:graphicData uri="http://schemas.openxmlformats.org/drawingml/2006/table">
            <a:tbl>
              <a:tblPr/>
              <a:tblGrid>
                <a:gridCol w="1809750"/>
                <a:gridCol w="1809750"/>
                <a:gridCol w="1809750"/>
                <a:gridCol w="1809750"/>
                <a:gridCol w="1809750"/>
                <a:gridCol w="1809750"/>
              </a:tblGrid>
              <a:tr h="547688">
                <a:tc>
                  <a:txBody>
                    <a:bodyPr/>
                    <a:lstStyle/>
                    <a:p>
                      <a:r>
                        <a:rPr sz="1275" b="1">
                          <a:solidFill>
                            <a:srgbClr val="22D3EE"/>
                          </a:solidFill>
                          <a:latin typeface="Arial"/>
                          <a:ea typeface="Arial"/>
                          <a:cs typeface="Arial"/>
                        </a:rPr>
                        <a:t>Position</a:t>
                      </a:r>
                    </a:p>
                  </a:txBody>
                  <a:tcPr marL="66675" marR="66675" marT="38100" marB="38100" anchor="ctr">
                    <a:solidFill>
                      <a:srgbClr val="102A40"/>
                    </a:solidFill>
                  </a:tcPr>
                </a:tc>
                <a:tc>
                  <a:txBody>
                    <a:bodyPr/>
                    <a:lstStyle/>
                    <a:p>
                      <a:r>
                        <a:rPr sz="1350" b="1">
                          <a:solidFill>
                            <a:srgbClr val="22D3EE"/>
                          </a:solidFill>
                          <a:latin typeface="Arial"/>
                          <a:ea typeface="Arial"/>
                          <a:cs typeface="Arial"/>
                        </a:rPr>
                        <a:t>1</a:t>
                      </a:r>
                    </a:p>
                  </a:txBody>
                  <a:tcPr marL="66675" marR="66675" marT="38100" marB="38100" anchor="ctr">
                    <a:solidFill>
                      <a:srgbClr val="102A40"/>
                    </a:solidFill>
                  </a:tcPr>
                </a:tc>
                <a:tc>
                  <a:txBody>
                    <a:bodyPr/>
                    <a:lstStyle/>
                    <a:p>
                      <a:r>
                        <a:rPr sz="1350" b="1">
                          <a:solidFill>
                            <a:srgbClr val="22D3EE"/>
                          </a:solidFill>
                          <a:latin typeface="Arial"/>
                          <a:ea typeface="Arial"/>
                          <a:cs typeface="Arial"/>
                        </a:rPr>
                        <a:t>2</a:t>
                      </a:r>
                    </a:p>
                  </a:txBody>
                  <a:tcPr marL="66675" marR="66675" marT="38100" marB="38100" anchor="ctr">
                    <a:solidFill>
                      <a:srgbClr val="102A40"/>
                    </a:solidFill>
                  </a:tcPr>
                </a:tc>
                <a:tc>
                  <a:txBody>
                    <a:bodyPr/>
                    <a:lstStyle/>
                    <a:p>
                      <a:r>
                        <a:rPr sz="1350" b="1">
                          <a:solidFill>
                            <a:srgbClr val="22D3EE"/>
                          </a:solidFill>
                          <a:latin typeface="Arial"/>
                          <a:ea typeface="Arial"/>
                          <a:cs typeface="Arial"/>
                        </a:rPr>
                        <a:t>3</a:t>
                      </a:r>
                    </a:p>
                  </a:txBody>
                  <a:tcPr marL="66675" marR="66675" marT="38100" marB="38100" anchor="ctr">
                    <a:solidFill>
                      <a:srgbClr val="102A40"/>
                    </a:solidFill>
                  </a:tcPr>
                </a:tc>
                <a:tc>
                  <a:txBody>
                    <a:bodyPr/>
                    <a:lstStyle/>
                    <a:p>
                      <a:r>
                        <a:rPr sz="1350" b="1">
                          <a:solidFill>
                            <a:srgbClr val="22D3EE"/>
                          </a:solidFill>
                          <a:latin typeface="Arial"/>
                          <a:ea typeface="Arial"/>
                          <a:cs typeface="Arial"/>
                        </a:rPr>
                        <a:t>4</a:t>
                      </a:r>
                    </a:p>
                  </a:txBody>
                  <a:tcPr marL="66675" marR="66675" marT="38100" marB="38100" anchor="ctr">
                    <a:solidFill>
                      <a:srgbClr val="102A40"/>
                    </a:solidFill>
                  </a:tcPr>
                </a:tc>
                <a:tc>
                  <a:txBody>
                    <a:bodyPr/>
                    <a:lstStyle/>
                    <a:p>
                      <a:r>
                        <a:rPr sz="1350" b="1">
                          <a:solidFill>
                            <a:srgbClr val="22D3EE"/>
                          </a:solidFill>
                          <a:latin typeface="Arial"/>
                          <a:ea typeface="Arial"/>
                          <a:cs typeface="Arial"/>
                        </a:rPr>
                        <a:t>5</a:t>
                      </a:r>
                    </a:p>
                  </a:txBody>
                  <a:tcPr marL="66675" marR="66675" marT="38100" marB="38100" anchor="ctr">
                    <a:solidFill>
                      <a:srgbClr val="102A40"/>
                    </a:solidFill>
                  </a:tcPr>
                </a:tc>
              </a:tr>
              <a:tr h="547688">
                <a:tc>
                  <a:txBody>
                    <a:bodyPr/>
                    <a:lstStyle/>
                    <a:p>
                      <a:r>
                        <a:rPr sz="1275" b="1">
                          <a:solidFill>
                            <a:srgbClr val="22D3EE"/>
                          </a:solidFill>
                          <a:latin typeface="Arial"/>
                          <a:ea typeface="Arial"/>
                          <a:cs typeface="Arial"/>
                        </a:rPr>
                        <a:t>True sample</a:t>
                      </a:r>
                    </a:p>
                  </a:txBody>
                  <a:tcPr marL="66675" marR="66675" marT="38100" marB="38100" anchor="ctr">
                    <a:solidFill>
                      <a:srgbClr val="102A40"/>
                    </a:solidFill>
                  </a:tcPr>
                </a:tc>
                <a:tc>
                  <a:txBody>
                    <a:bodyPr/>
                    <a:lstStyle/>
                    <a:p>
                      <a:r>
                        <a:rPr sz="1350">
                          <a:solidFill>
                            <a:srgbClr val="F4F8FC"/>
                          </a:solidFill>
                          <a:latin typeface="Arial"/>
                          <a:ea typeface="Arial"/>
                          <a:cs typeface="Arial"/>
                        </a:rPr>
                        <a:t>140</a:t>
                      </a:r>
                    </a:p>
                  </a:txBody>
                  <a:tcPr marL="66675" marR="66675" marT="38100" marB="38100" anchor="ctr">
                    <a:solidFill>
                      <a:srgbClr val="0B2033"/>
                    </a:solidFill>
                  </a:tcPr>
                </a:tc>
                <a:tc>
                  <a:txBody>
                    <a:bodyPr/>
                    <a:lstStyle/>
                    <a:p>
                      <a:r>
                        <a:rPr sz="1350">
                          <a:solidFill>
                            <a:srgbClr val="F4F8FC"/>
                          </a:solidFill>
                          <a:latin typeface="Arial"/>
                          <a:ea typeface="Arial"/>
                          <a:cs typeface="Arial"/>
                        </a:rPr>
                        <a:t>150</a:t>
                      </a:r>
                    </a:p>
                  </a:txBody>
                  <a:tcPr marL="66675" marR="66675" marT="38100" marB="38100" anchor="ctr">
                    <a:solidFill>
                      <a:srgbClr val="0B2033"/>
                    </a:solidFill>
                  </a:tcPr>
                </a:tc>
                <a:tc>
                  <a:txBody>
                    <a:bodyPr/>
                    <a:lstStyle/>
                    <a:p>
                      <a:r>
                        <a:rPr sz="1350">
                          <a:solidFill>
                            <a:srgbClr val="F4F8FC"/>
                          </a:solidFill>
                          <a:latin typeface="Arial"/>
                          <a:ea typeface="Arial"/>
                          <a:cs typeface="Arial"/>
                        </a:rPr>
                        <a:t>140</a:t>
                      </a:r>
                    </a:p>
                  </a:txBody>
                  <a:tcPr marL="66675" marR="66675" marT="38100" marB="38100" anchor="ctr">
                    <a:solidFill>
                      <a:srgbClr val="0B2033"/>
                    </a:solidFill>
                  </a:tcPr>
                </a:tc>
                <a:tc>
                  <a:txBody>
                    <a:bodyPr/>
                    <a:lstStyle/>
                    <a:p>
                      <a:r>
                        <a:rPr sz="1350">
                          <a:solidFill>
                            <a:srgbClr val="F4F8FC"/>
                          </a:solidFill>
                          <a:latin typeface="Arial"/>
                          <a:ea typeface="Arial"/>
                          <a:cs typeface="Arial"/>
                        </a:rPr>
                        <a:t>135</a:t>
                      </a:r>
                    </a:p>
                  </a:txBody>
                  <a:tcPr marL="66675" marR="66675" marT="38100" marB="38100" anchor="ctr">
                    <a:solidFill>
                      <a:srgbClr val="0B2033"/>
                    </a:solidFill>
                  </a:tcPr>
                </a:tc>
                <a:tc>
                  <a:txBody>
                    <a:bodyPr/>
                    <a:lstStyle/>
                    <a:p>
                      <a:r>
                        <a:rPr sz="1350">
                          <a:solidFill>
                            <a:srgbClr val="F4F8FC"/>
                          </a:solidFill>
                          <a:latin typeface="Arial"/>
                          <a:ea typeface="Arial"/>
                          <a:cs typeface="Arial"/>
                        </a:rPr>
                        <a:t>145</a:t>
                      </a:r>
                    </a:p>
                  </a:txBody>
                  <a:tcPr marL="66675" marR="66675" marT="38100" marB="38100" anchor="ctr">
                    <a:solidFill>
                      <a:srgbClr val="0B2033"/>
                    </a:solidFill>
                  </a:tcPr>
                </a:tc>
              </a:tr>
              <a:tr h="547688">
                <a:tc>
                  <a:txBody>
                    <a:bodyPr/>
                    <a:lstStyle/>
                    <a:p>
                      <a:r>
                        <a:rPr sz="1275" b="1">
                          <a:solidFill>
                            <a:srgbClr val="22D3EE"/>
                          </a:solidFill>
                          <a:latin typeface="Arial"/>
                          <a:ea typeface="Arial"/>
                          <a:cs typeface="Arial"/>
                        </a:rPr>
                        <a:t>Reconstructed</a:t>
                      </a:r>
                    </a:p>
                  </a:txBody>
                  <a:tcPr marL="66675" marR="66675" marT="38100" marB="38100" anchor="ctr">
                    <a:solidFill>
                      <a:srgbClr val="102A40"/>
                    </a:solidFill>
                  </a:tcPr>
                </a:tc>
                <a:tc>
                  <a:txBody>
                    <a:bodyPr/>
                    <a:lstStyle/>
                    <a:p>
                      <a:r>
                        <a:rPr sz="1350">
                          <a:solidFill>
                            <a:srgbClr val="F4F8FC"/>
                          </a:solidFill>
                          <a:latin typeface="Arial"/>
                          <a:ea typeface="Arial"/>
                          <a:cs typeface="Arial"/>
                        </a:rPr>
                        <a:t>141</a:t>
                      </a:r>
                    </a:p>
                  </a:txBody>
                  <a:tcPr marL="66675" marR="66675" marT="38100" marB="38100" anchor="ctr">
                    <a:solidFill>
                      <a:srgbClr val="0B2033"/>
                    </a:solidFill>
                  </a:tcPr>
                </a:tc>
                <a:tc>
                  <a:txBody>
                    <a:bodyPr/>
                    <a:lstStyle/>
                    <a:p>
                      <a:r>
                        <a:rPr sz="1350">
                          <a:solidFill>
                            <a:srgbClr val="F4F8FC"/>
                          </a:solidFill>
                          <a:latin typeface="Arial"/>
                          <a:ea typeface="Arial"/>
                          <a:cs typeface="Arial"/>
                        </a:rPr>
                        <a:t>154</a:t>
                      </a:r>
                    </a:p>
                  </a:txBody>
                  <a:tcPr marL="66675" marR="66675" marT="38100" marB="38100" anchor="ctr">
                    <a:solidFill>
                      <a:srgbClr val="0B2033"/>
                    </a:solidFill>
                  </a:tcPr>
                </a:tc>
                <a:tc>
                  <a:txBody>
                    <a:bodyPr/>
                    <a:lstStyle/>
                    <a:p>
                      <a:r>
                        <a:rPr sz="1350">
                          <a:solidFill>
                            <a:srgbClr val="F4F8FC"/>
                          </a:solidFill>
                          <a:latin typeface="Arial"/>
                          <a:ea typeface="Arial"/>
                          <a:cs typeface="Arial"/>
                        </a:rPr>
                        <a:t>139</a:t>
                      </a:r>
                    </a:p>
                  </a:txBody>
                  <a:tcPr marL="66675" marR="66675" marT="38100" marB="38100" anchor="ctr">
                    <a:solidFill>
                      <a:srgbClr val="0B2033"/>
                    </a:solidFill>
                  </a:tcPr>
                </a:tc>
                <a:tc>
                  <a:txBody>
                    <a:bodyPr/>
                    <a:lstStyle/>
                    <a:p>
                      <a:r>
                        <a:rPr sz="1350">
                          <a:solidFill>
                            <a:srgbClr val="F4F8FC"/>
                          </a:solidFill>
                          <a:latin typeface="Arial"/>
                          <a:ea typeface="Arial"/>
                          <a:cs typeface="Arial"/>
                        </a:rPr>
                        <a:t>131</a:t>
                      </a:r>
                    </a:p>
                  </a:txBody>
                  <a:tcPr marL="66675" marR="66675" marT="38100" marB="38100" anchor="ctr">
                    <a:solidFill>
                      <a:srgbClr val="0B2033"/>
                    </a:solidFill>
                  </a:tcPr>
                </a:tc>
                <a:tc>
                  <a:txBody>
                    <a:bodyPr/>
                    <a:lstStyle/>
                    <a:p>
                      <a:r>
                        <a:rPr sz="1350">
                          <a:solidFill>
                            <a:srgbClr val="F4F8FC"/>
                          </a:solidFill>
                          <a:latin typeface="Arial"/>
                          <a:ea typeface="Arial"/>
                          <a:cs typeface="Arial"/>
                        </a:rPr>
                        <a:t>144</a:t>
                      </a:r>
                    </a:p>
                  </a:txBody>
                  <a:tcPr marL="66675" marR="66675" marT="38100" marB="38100" anchor="ctr">
                    <a:solidFill>
                      <a:srgbClr val="0B2033"/>
                    </a:solidFill>
                  </a:tcPr>
                </a:tc>
              </a:tr>
              <a:tr h="547688">
                <a:tc>
                  <a:txBody>
                    <a:bodyPr/>
                    <a:lstStyle/>
                    <a:p>
                      <a:r>
                        <a:rPr sz="1275" b="1">
                          <a:solidFill>
                            <a:srgbClr val="22D3EE"/>
                          </a:solidFill>
                          <a:latin typeface="Arial"/>
                          <a:ea typeface="Arial"/>
                          <a:cs typeface="Arial"/>
                        </a:rPr>
                        <a:t>EO category</a:t>
                      </a:r>
                    </a:p>
                  </a:txBody>
                  <a:tcPr marL="66675" marR="66675" marT="38100" marB="38100" anchor="ctr">
                    <a:solidFill>
                      <a:srgbClr val="102A40"/>
                    </a:solidFill>
                  </a:tcPr>
                </a:tc>
                <a:tc>
                  <a:txBody>
                    <a:bodyPr/>
                    <a:lstStyle/>
                    <a:p>
                      <a:r>
                        <a:rPr sz="1350">
                          <a:solidFill>
                            <a:srgbClr val="F4F8FC"/>
                          </a:solidFill>
                          <a:latin typeface="Arial"/>
                          <a:ea typeface="Arial"/>
                          <a:cs typeface="Arial"/>
                        </a:rPr>
                        <a:t>—</a:t>
                      </a:r>
                    </a:p>
                  </a:txBody>
                  <a:tcPr marL="66675" marR="66675" marT="38100" marB="38100" anchor="ctr">
                    <a:solidFill>
                      <a:srgbClr val="0B2033"/>
                    </a:solidFill>
                  </a:tcPr>
                </a:tc>
                <a:tc>
                  <a:txBody>
                    <a:bodyPr/>
                    <a:lstStyle/>
                    <a:p>
                      <a:r>
                        <a:rPr sz="1350" b="1">
                          <a:solidFill>
                            <a:srgbClr val="FF6577"/>
                          </a:solidFill>
                          <a:latin typeface="Arial"/>
                          <a:ea typeface="Arial"/>
                          <a:cs typeface="Arial"/>
                        </a:rPr>
                        <a:t>4 peak</a:t>
                      </a:r>
                    </a:p>
                  </a:txBody>
                  <a:tcPr marL="66675" marR="66675" marT="38100" marB="38100" anchor="ctr">
                    <a:solidFill>
                      <a:srgbClr val="2A1720"/>
                    </a:solidFill>
                  </a:tcPr>
                </a:tc>
                <a:tc>
                  <a:txBody>
                    <a:bodyPr/>
                    <a:lstStyle/>
                    <a:p>
                      <a:r>
                        <a:rPr sz="1350">
                          <a:solidFill>
                            <a:srgbClr val="F4F8FC"/>
                          </a:solidFill>
                          <a:latin typeface="Arial"/>
                          <a:ea typeface="Arial"/>
                          <a:cs typeface="Arial"/>
                        </a:rPr>
                        <a:t>0</a:t>
                      </a:r>
                    </a:p>
                  </a:txBody>
                  <a:tcPr marL="66675" marR="66675" marT="38100" marB="38100" anchor="ctr">
                    <a:solidFill>
                      <a:srgbClr val="0B2033"/>
                    </a:solidFill>
                  </a:tcPr>
                </a:tc>
                <a:tc>
                  <a:txBody>
                    <a:bodyPr/>
                    <a:lstStyle/>
                    <a:p>
                      <a:r>
                        <a:rPr sz="1350" b="1">
                          <a:solidFill>
                            <a:srgbClr val="47E6A4"/>
                          </a:solidFill>
                          <a:latin typeface="Arial"/>
                          <a:ea typeface="Arial"/>
                          <a:cs typeface="Arial"/>
                        </a:rPr>
                        <a:t>1 valley</a:t>
                      </a:r>
                    </a:p>
                  </a:txBody>
                  <a:tcPr marL="66675" marR="66675" marT="38100" marB="38100" anchor="ctr">
                    <a:solidFill>
                      <a:srgbClr val="0A2830"/>
                    </a:solidFill>
                  </a:tcPr>
                </a:tc>
                <a:tc>
                  <a:txBody>
                    <a:bodyPr/>
                    <a:lstStyle/>
                    <a:p>
                      <a:r>
                        <a:rPr sz="1350">
                          <a:solidFill>
                            <a:srgbClr val="F4F8FC"/>
                          </a:solidFill>
                          <a:latin typeface="Arial"/>
                          <a:ea typeface="Arial"/>
                          <a:cs typeface="Arial"/>
                        </a:rPr>
                        <a:t>—</a:t>
                      </a:r>
                    </a:p>
                  </a:txBody>
                  <a:tcPr marL="66675" marR="66675" marT="38100" marB="38100" anchor="ctr">
                    <a:solidFill>
                      <a:srgbClr val="0B2033"/>
                    </a:solidFill>
                  </a:tcPr>
                </a:tc>
              </a:tr>
              <a:tr h="547688">
                <a:tc>
                  <a:txBody>
                    <a:bodyPr/>
                    <a:lstStyle/>
                    <a:p>
                      <a:r>
                        <a:rPr sz="1275" b="1">
                          <a:solidFill>
                            <a:srgbClr val="22D3EE"/>
                          </a:solidFill>
                          <a:latin typeface="Arial"/>
                          <a:ea typeface="Arial"/>
                          <a:cs typeface="Arial"/>
                        </a:rPr>
                        <a:t>Offset</a:t>
                      </a:r>
                    </a:p>
                  </a:txBody>
                  <a:tcPr marL="66675" marR="66675" marT="38100" marB="38100" anchor="ctr">
                    <a:solidFill>
                      <a:srgbClr val="102A40"/>
                    </a:solidFill>
                  </a:tcPr>
                </a:tc>
                <a:tc>
                  <a:txBody>
                    <a:bodyPr/>
                    <a:lstStyle/>
                    <a:p>
                      <a:r>
                        <a:rPr sz="1350">
                          <a:solidFill>
                            <a:srgbClr val="F4F8FC"/>
                          </a:solidFill>
                          <a:latin typeface="Arial"/>
                          <a:ea typeface="Arial"/>
                          <a:cs typeface="Arial"/>
                        </a:rPr>
                        <a:t>0</a:t>
                      </a:r>
                    </a:p>
                  </a:txBody>
                  <a:tcPr marL="66675" marR="66675" marT="38100" marB="38100" anchor="ctr">
                    <a:solidFill>
                      <a:srgbClr val="0B2033"/>
                    </a:solidFill>
                  </a:tcPr>
                </a:tc>
                <a:tc>
                  <a:txBody>
                    <a:bodyPr/>
                    <a:lstStyle/>
                    <a:p>
                      <a:r>
                        <a:rPr sz="1350">
                          <a:solidFill>
                            <a:srgbClr val="F4F8FC"/>
                          </a:solidFill>
                          <a:latin typeface="Arial"/>
                          <a:ea typeface="Arial"/>
                          <a:cs typeface="Arial"/>
                        </a:rPr>
                        <a:t>−4</a:t>
                      </a:r>
                    </a:p>
                  </a:txBody>
                  <a:tcPr marL="66675" marR="66675" marT="38100" marB="38100" anchor="ctr">
                    <a:solidFill>
                      <a:srgbClr val="0B2033"/>
                    </a:solidFill>
                  </a:tcPr>
                </a:tc>
                <a:tc>
                  <a:txBody>
                    <a:bodyPr/>
                    <a:lstStyle/>
                    <a:p>
                      <a:r>
                        <a:rPr sz="1350">
                          <a:solidFill>
                            <a:srgbClr val="F4F8FC"/>
                          </a:solidFill>
                          <a:latin typeface="Arial"/>
                          <a:ea typeface="Arial"/>
                          <a:cs typeface="Arial"/>
                        </a:rPr>
                        <a:t>0</a:t>
                      </a:r>
                    </a:p>
                  </a:txBody>
                  <a:tcPr marL="66675" marR="66675" marT="38100" marB="38100" anchor="ctr">
                    <a:solidFill>
                      <a:srgbClr val="0B2033"/>
                    </a:solidFill>
                  </a:tcPr>
                </a:tc>
                <a:tc>
                  <a:txBody>
                    <a:bodyPr/>
                    <a:lstStyle/>
                    <a:p>
                      <a:r>
                        <a:rPr sz="1350">
                          <a:solidFill>
                            <a:srgbClr val="F4F8FC"/>
                          </a:solidFill>
                          <a:latin typeface="Arial"/>
                          <a:ea typeface="Arial"/>
                          <a:cs typeface="Arial"/>
                        </a:rPr>
                        <a:t>+4</a:t>
                      </a:r>
                    </a:p>
                  </a:txBody>
                  <a:tcPr marL="66675" marR="66675" marT="38100" marB="38100" anchor="ctr">
                    <a:solidFill>
                      <a:srgbClr val="0B2033"/>
                    </a:solidFill>
                  </a:tcPr>
                </a:tc>
                <a:tc>
                  <a:txBody>
                    <a:bodyPr/>
                    <a:lstStyle/>
                    <a:p>
                      <a:r>
                        <a:rPr sz="1350">
                          <a:solidFill>
                            <a:srgbClr val="F4F8FC"/>
                          </a:solidFill>
                          <a:latin typeface="Arial"/>
                          <a:ea typeface="Arial"/>
                          <a:cs typeface="Arial"/>
                        </a:rPr>
                        <a:t>0</a:t>
                      </a:r>
                    </a:p>
                  </a:txBody>
                  <a:tcPr marL="66675" marR="66675" marT="38100" marB="38100" anchor="ctr">
                    <a:solidFill>
                      <a:srgbClr val="0B2033"/>
                    </a:solidFill>
                  </a:tcPr>
                </a:tc>
              </a:tr>
              <a:tr h="547688">
                <a:tc>
                  <a:txBody>
                    <a:bodyPr/>
                    <a:lstStyle/>
                    <a:p>
                      <a:r>
                        <a:rPr sz="1275" b="1">
                          <a:solidFill>
                            <a:srgbClr val="22D3EE"/>
                          </a:solidFill>
                          <a:latin typeface="Arial"/>
                          <a:ea typeface="Arial"/>
                          <a:cs typeface="Arial"/>
                        </a:rPr>
                        <a:t>Filtered output</a:t>
                      </a:r>
                    </a:p>
                  </a:txBody>
                  <a:tcPr marL="66675" marR="66675" marT="38100" marB="38100" anchor="ctr">
                    <a:solidFill>
                      <a:srgbClr val="102A40"/>
                    </a:solidFill>
                  </a:tcPr>
                </a:tc>
                <a:tc>
                  <a:txBody>
                    <a:bodyPr/>
                    <a:lstStyle/>
                    <a:p>
                      <a:r>
                        <a:rPr sz="1350">
                          <a:solidFill>
                            <a:srgbClr val="F4F8FC"/>
                          </a:solidFill>
                          <a:latin typeface="Arial"/>
                          <a:ea typeface="Arial"/>
                          <a:cs typeface="Arial"/>
                        </a:rPr>
                        <a:t>141</a:t>
                      </a:r>
                    </a:p>
                  </a:txBody>
                  <a:tcPr marL="66675" marR="66675" marT="38100" marB="38100" anchor="ctr">
                    <a:solidFill>
                      <a:srgbClr val="0B2033"/>
                    </a:solidFill>
                  </a:tcPr>
                </a:tc>
                <a:tc>
                  <a:txBody>
                    <a:bodyPr/>
                    <a:lstStyle/>
                    <a:p>
                      <a:r>
                        <a:rPr sz="1500" b="1">
                          <a:solidFill>
                            <a:srgbClr val="47E6A4"/>
                          </a:solidFill>
                          <a:latin typeface="Arial"/>
                          <a:ea typeface="Arial"/>
                          <a:cs typeface="Arial"/>
                        </a:rPr>
                        <a:t>150</a:t>
                      </a:r>
                    </a:p>
                  </a:txBody>
                  <a:tcPr marL="66675" marR="66675" marT="38100" marB="38100" anchor="ctr">
                    <a:solidFill>
                      <a:srgbClr val="0A2830"/>
                    </a:solidFill>
                  </a:tcPr>
                </a:tc>
                <a:tc>
                  <a:txBody>
                    <a:bodyPr/>
                    <a:lstStyle/>
                    <a:p>
                      <a:r>
                        <a:rPr sz="1350">
                          <a:solidFill>
                            <a:srgbClr val="F4F8FC"/>
                          </a:solidFill>
                          <a:latin typeface="Arial"/>
                          <a:ea typeface="Arial"/>
                          <a:cs typeface="Arial"/>
                        </a:rPr>
                        <a:t>139</a:t>
                      </a:r>
                    </a:p>
                  </a:txBody>
                  <a:tcPr marL="66675" marR="66675" marT="38100" marB="38100" anchor="ctr">
                    <a:solidFill>
                      <a:srgbClr val="0B2033"/>
                    </a:solidFill>
                  </a:tcPr>
                </a:tc>
                <a:tc>
                  <a:txBody>
                    <a:bodyPr/>
                    <a:lstStyle/>
                    <a:p>
                      <a:r>
                        <a:rPr sz="1500" b="1">
                          <a:solidFill>
                            <a:srgbClr val="47E6A4"/>
                          </a:solidFill>
                          <a:latin typeface="Arial"/>
                          <a:ea typeface="Arial"/>
                          <a:cs typeface="Arial"/>
                        </a:rPr>
                        <a:t>135</a:t>
                      </a:r>
                    </a:p>
                  </a:txBody>
                  <a:tcPr marL="66675" marR="66675" marT="38100" marB="38100" anchor="ctr">
                    <a:solidFill>
                      <a:srgbClr val="0A2830"/>
                    </a:solidFill>
                  </a:tcPr>
                </a:tc>
                <a:tc>
                  <a:txBody>
                    <a:bodyPr/>
                    <a:lstStyle/>
                    <a:p>
                      <a:r>
                        <a:rPr sz="1350">
                          <a:solidFill>
                            <a:srgbClr val="F4F8FC"/>
                          </a:solidFill>
                          <a:latin typeface="Arial"/>
                          <a:ea typeface="Arial"/>
                          <a:cs typeface="Arial"/>
                        </a:rPr>
                        <a:t>144</a:t>
                      </a:r>
                    </a:p>
                  </a:txBody>
                  <a:tcPr marL="66675" marR="66675" marT="38100" marB="38100" anchor="ctr">
                    <a:solidFill>
                      <a:srgbClr val="0B2033"/>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9E4BD9AA-82D7-4446-A17B-3CBD0361365E}"/>
              </a:ext>
            </a:extLst>
          </p:cNvPr>
          <p:cNvSpPr>
            <a:spLocks xmlns:a="http://schemas.openxmlformats.org/drawingml/2006/main" noGrp="1"/>
          </p:cNvSpPr>
          <p:nvPr/>
        </p:nvSpPr>
        <p:spPr>
          <a:xfrm xmlns:a="http://schemas.openxmlformats.org/drawingml/2006/main">
            <a:off x="2476500" y="5381625"/>
            <a:ext cx="7239000" cy="552450"/>
          </a:xfrm>
          <a:prstGeom xmlns:a="http://schemas.openxmlformats.org/drawingml/2006/main" prst="roundRect">
            <a:avLst>
              <a:gd name="adj" fmla="val 20690"/>
            </a:avLst>
          </a:prstGeom>
          <a:solidFill xmlns:a="http://schemas.openxmlformats.org/drawingml/2006/main">
            <a:srgbClr val="0A2830"/>
          </a:solidFill>
          <a:ln xmlns:a="http://schemas.openxmlformats.org/drawingml/2006/main" w="19050">
            <a:solidFill>
              <a:srgbClr val="47E6A4"/>
            </a:solidFill>
            <a:prstDash val="solid"/>
          </a:ln>
        </p:spPr>
      </p:sp>
      <p:sp>
        <p:nvSpPr>
          <p:cNvPr id="10" name="Rectangle 9">
            <a:extLst xmlns:a="http://schemas.openxmlformats.org/drawingml/2006/main">
              <a:ext uri="{FF2B5EF4-FFF2-40B4-BE49-F238E27FC236}">
                <a16:creationId xmlns:a16="http://schemas.microsoft.com/office/drawing/2014/main" id="{F98C95C3-00AC-42D9-B750-AF042E021420}"/>
              </a:ext>
            </a:extLst>
          </p:cNvPr>
          <p:cNvSpPr>
            <a:spLocks xmlns:a="http://schemas.openxmlformats.org/drawingml/2006/main" noGrp="1"/>
          </p:cNvSpPr>
          <p:nvPr/>
        </p:nvSpPr>
        <p:spPr>
          <a:xfrm xmlns:a="http://schemas.openxmlformats.org/drawingml/2006/main">
            <a:off x="2590800" y="5476875"/>
            <a:ext cx="701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Position 2: 154 − 4 = 150       Position 4: 131 + 4 = 135</a:t>
            </a:r>
          </a:p>
        </p:txBody>
      </p:sp>
      <p:sp>
        <p:nvSpPr>
          <p:cNvPr id="11" name="Rectangle 10">
            <a:extLst xmlns:a="http://schemas.openxmlformats.org/drawingml/2006/main">
              <a:ext uri="{FF2B5EF4-FFF2-40B4-BE49-F238E27FC236}">
                <a16:creationId xmlns:a16="http://schemas.microsoft.com/office/drawing/2014/main" id="{A3E628C3-B460-4CA5-920F-0E54FD1C3B92}"/>
              </a:ext>
            </a:extLst>
          </p:cNvPr>
          <p:cNvSpPr>
            <a:spLocks xmlns:a="http://schemas.openxmlformats.org/drawingml/2006/main" noGrp="1"/>
          </p:cNvSpPr>
          <p:nvPr/>
        </p:nvSpPr>
        <p:spPr>
          <a:xfrm xmlns:a="http://schemas.openxmlformats.org/drawingml/2006/main">
            <a:off x="2714625" y="60960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AFC0D0"/>
                </a:solidFill>
                <a:latin typeface="Arial"/>
                <a:ea typeface="Arial"/>
                <a:cs typeface="Arial"/>
              </a:defRPr>
            </a:pPr>
            <a:r>
              <a:rPr sz="1275" b="1">
                <a:solidFill>
                  <a:srgbClr val="AFC0D0"/>
                </a:solidFill>
                <a:latin typeface="Arial"/>
                <a:ea typeface="Arial"/>
                <a:cs typeface="Arial"/>
              </a:rPr>
              <a:t>Position 3 enters category 0, so the decoder leaves 139 unchanged.</a:t>
            </a:r>
          </a:p>
        </p:txBody>
      </p:sp>
    </p:spTree>
    <p:extLst>
      <p:ext uri="{BB962C8B-B14F-4D97-AF65-F5344CB8AC3E}">
        <p14:creationId xmlns:p14="http://schemas.microsoft.com/office/powerpoint/2010/main" val="246195337"/>
      </p:ext>
    </p:extLst>
  </p:cSld>
</p:sld>
</file>

<file path=ppt/slides/slide37.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1" name="Oval 20">
            <a:extLst xmlns:a="http://schemas.openxmlformats.org/drawingml/2006/main">
              <a:ext uri="{FF2B5EF4-FFF2-40B4-BE49-F238E27FC236}">
                <a16:creationId xmlns:a16="http://schemas.microsoft.com/office/drawing/2014/main" id="{51CF5558-CABE-4647-AA9E-EFEC98C999D5}"/>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ACBBAB75-69D2-4177-BD75-53AC7F2E5678}"/>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A087D312-5185-4FB2-9484-3297DF868490}"/>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Deblocking and SAO correct different artifacts</a:t>
            </a:r>
          </a:p>
        </p:txBody>
      </p:sp>
      <p:sp>
        <p:nvSpPr>
          <p:cNvPr id="4" name="Straight Connector 3">
            <a:extLst xmlns:a="http://schemas.openxmlformats.org/drawingml/2006/main">
              <a:ext uri="{FF2B5EF4-FFF2-40B4-BE49-F238E27FC236}">
                <a16:creationId xmlns:a16="http://schemas.microsoft.com/office/drawing/2014/main" id="{99D54403-1D38-41F6-8E24-F687EA2C3357}"/>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5B952269-74CA-4D05-9D9F-2CC8F6518A4E}"/>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cited experiments use different configurations, so their percentages should not be added</a:t>
            </a:r>
          </a:p>
        </p:txBody>
      </p:sp>
      <p:sp>
        <p:nvSpPr>
          <p:cNvPr id="6" name="Rectangle 5">
            <a:extLst xmlns:a="http://schemas.openxmlformats.org/drawingml/2006/main">
              <a:ext uri="{FF2B5EF4-FFF2-40B4-BE49-F238E27FC236}">
                <a16:creationId xmlns:a16="http://schemas.microsoft.com/office/drawing/2014/main" id="{9BC85AFE-9FF1-404A-AD2B-BB86FF135C51}"/>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B266CB7B-B640-4F51-861F-75A7C78EE893}"/>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37 / 49</a:t>
            </a:r>
          </a:p>
        </p:txBody>
      </p:sp>
      <p:sp>
        <p:nvSpPr>
          <p:cNvPr id="8" name="Rectangle 7">
            <a:extLst xmlns:a="http://schemas.openxmlformats.org/drawingml/2006/main">
              <a:ext uri="{FF2B5EF4-FFF2-40B4-BE49-F238E27FC236}">
                <a16:creationId xmlns:a16="http://schemas.microsoft.com/office/drawing/2014/main" id="{1D5DA9B5-423D-49B5-82A6-80A72DEF287F}"/>
              </a:ext>
            </a:extLst>
          </p:cNvPr>
          <p:cNvSpPr>
            <a:spLocks xmlns:a="http://schemas.openxmlformats.org/drawingml/2006/main" noGrp="1"/>
          </p:cNvSpPr>
          <p:nvPr/>
        </p:nvSpPr>
        <p:spPr>
          <a:xfrm xmlns:a="http://schemas.openxmlformats.org/drawingml/2006/main">
            <a:off x="1143000" y="1571625"/>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000"/>
          </a:bodyPr>
          <a:lstStyle xmlns:a="http://schemas.openxmlformats.org/drawingml/2006/main"/>
          <a:p xmlns:a="http://schemas.openxmlformats.org/drawingml/2006/main">
            <a:pPr>
              <a:buNone/>
              <a:defRPr sz="1875" b="1">
                <a:solidFill>
                  <a:srgbClr val="22D3EE"/>
                </a:solidFill>
                <a:latin typeface="Arial"/>
                <a:ea typeface="Arial"/>
                <a:cs typeface="Arial"/>
              </a:defRPr>
            </a:pPr>
            <a:r>
              <a:rPr sz="1875" b="1">
                <a:solidFill>
                  <a:srgbClr val="22D3EE"/>
                </a:solidFill>
                <a:latin typeface="Arial"/>
                <a:ea typeface="Arial"/>
                <a:cs typeface="Arial"/>
              </a:rPr>
              <a:t>DEBLOCKING</a:t>
            </a:r>
          </a:p>
        </p:txBody>
      </p:sp>
      <p:sp>
        <p:nvSpPr>
          <p:cNvPr id="9" name="Rectangle 8">
            <a:extLst xmlns:a="http://schemas.openxmlformats.org/drawingml/2006/main">
              <a:ext uri="{FF2B5EF4-FFF2-40B4-BE49-F238E27FC236}">
                <a16:creationId xmlns:a16="http://schemas.microsoft.com/office/drawing/2014/main" id="{FC5F8A7D-733B-49CA-9250-6DF559CD736D}"/>
              </a:ext>
            </a:extLst>
          </p:cNvPr>
          <p:cNvSpPr>
            <a:spLocks xmlns:a="http://schemas.openxmlformats.org/drawingml/2006/main" noGrp="1"/>
          </p:cNvSpPr>
          <p:nvPr/>
        </p:nvSpPr>
        <p:spPr>
          <a:xfrm xmlns:a="http://schemas.openxmlformats.org/drawingml/2006/main">
            <a:off x="1285875" y="2190750"/>
            <a:ext cx="381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Targets discontinuities across coded block boundaries</a:t>
            </a:r>
          </a:p>
        </p:txBody>
      </p:sp>
      <p:sp>
        <p:nvSpPr>
          <p:cNvPr id="10" name="Rectangle: Rounded Corners 9">
            <a:extLst xmlns:a="http://schemas.openxmlformats.org/drawingml/2006/main">
              <a:ext uri="{FF2B5EF4-FFF2-40B4-BE49-F238E27FC236}">
                <a16:creationId xmlns:a16="http://schemas.microsoft.com/office/drawing/2014/main" id="{D17AFBCF-4C3A-461F-AF08-78591B1C553D}"/>
              </a:ext>
            </a:extLst>
          </p:cNvPr>
          <p:cNvSpPr>
            <a:spLocks xmlns:a="http://schemas.openxmlformats.org/drawingml/2006/main" noGrp="1"/>
          </p:cNvSpPr>
          <p:nvPr/>
        </p:nvSpPr>
        <p:spPr>
          <a:xfrm xmlns:a="http://schemas.openxmlformats.org/drawingml/2006/main">
            <a:off x="1381125" y="3000375"/>
            <a:ext cx="3619500" cy="933450"/>
          </a:xfrm>
          <a:prstGeom xmlns:a="http://schemas.openxmlformats.org/drawingml/2006/main" prst="roundRect">
            <a:avLst>
              <a:gd name="adj" fmla="val 12245"/>
            </a:avLst>
          </a:prstGeom>
          <a:solidFill xmlns:a="http://schemas.openxmlformats.org/drawingml/2006/main">
            <a:srgbClr val="092034"/>
          </a:solidFill>
          <a:ln xmlns:a="http://schemas.openxmlformats.org/drawingml/2006/main" w="19050">
            <a:solidFill>
              <a:srgbClr val="22D3EE"/>
            </a:solidFill>
            <a:prstDash val="solid"/>
          </a:ln>
        </p:spPr>
      </p:sp>
      <p:sp>
        <p:nvSpPr>
          <p:cNvPr id="11" name="Rectangle 10">
            <a:extLst xmlns:a="http://schemas.openxmlformats.org/drawingml/2006/main">
              <a:ext uri="{FF2B5EF4-FFF2-40B4-BE49-F238E27FC236}">
                <a16:creationId xmlns:a16="http://schemas.microsoft.com/office/drawing/2014/main" id="{F9631127-2237-46E8-AABE-D2DC27E2A501}"/>
              </a:ext>
            </a:extLst>
          </p:cNvPr>
          <p:cNvSpPr>
            <a:spLocks xmlns:a="http://schemas.openxmlformats.org/drawingml/2006/main" noGrp="1"/>
          </p:cNvSpPr>
          <p:nvPr/>
        </p:nvSpPr>
        <p:spPr>
          <a:xfrm xmlns:a="http://schemas.openxmlformats.org/drawingml/2006/main">
            <a:off x="1495425" y="3095625"/>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1.3% average BD-rate penalty</a:t>
            </a:r>
          </a:p>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when deblocking was disabled</a:t>
            </a:r>
          </a:p>
        </p:txBody>
      </p:sp>
      <p:sp>
        <p:nvSpPr>
          <p:cNvPr id="12" name="Rectangle 11">
            <a:extLst xmlns:a="http://schemas.openxmlformats.org/drawingml/2006/main">
              <a:ext uri="{FF2B5EF4-FFF2-40B4-BE49-F238E27FC236}">
                <a16:creationId xmlns:a16="http://schemas.microsoft.com/office/drawing/2014/main" id="{B66D1941-33EA-43E5-B0AC-2A640C8A8E21}"/>
              </a:ext>
            </a:extLst>
          </p:cNvPr>
          <p:cNvSpPr>
            <a:spLocks xmlns:a="http://schemas.openxmlformats.org/drawingml/2006/main" noGrp="1"/>
          </p:cNvSpPr>
          <p:nvPr/>
        </p:nvSpPr>
        <p:spPr>
          <a:xfrm xmlns:a="http://schemas.openxmlformats.org/drawingml/2006/main">
            <a:off x="6953250" y="1571625"/>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000"/>
          </a:bodyPr>
          <a:lstStyle xmlns:a="http://schemas.openxmlformats.org/drawingml/2006/main"/>
          <a:p xmlns:a="http://schemas.openxmlformats.org/drawingml/2006/main">
            <a:pPr>
              <a:buNone/>
              <a:defRPr sz="1875" b="1">
                <a:solidFill>
                  <a:srgbClr val="FFB84D"/>
                </a:solidFill>
                <a:latin typeface="Arial"/>
                <a:ea typeface="Arial"/>
                <a:cs typeface="Arial"/>
              </a:defRPr>
            </a:pPr>
            <a:r>
              <a:rPr sz="1875" b="1">
                <a:solidFill>
                  <a:srgbClr val="FFB84D"/>
                </a:solidFill>
                <a:latin typeface="Arial"/>
                <a:ea typeface="Arial"/>
                <a:cs typeface="Arial"/>
              </a:rPr>
              <a:t>SAMPLE ADAPTIVE OFFSET</a:t>
            </a:r>
          </a:p>
        </p:txBody>
      </p:sp>
      <p:sp>
        <p:nvSpPr>
          <p:cNvPr id="13" name="Rectangle 12">
            <a:extLst xmlns:a="http://schemas.openxmlformats.org/drawingml/2006/main">
              <a:ext uri="{FF2B5EF4-FFF2-40B4-BE49-F238E27FC236}">
                <a16:creationId xmlns:a16="http://schemas.microsoft.com/office/drawing/2014/main" id="{15275A0D-83D0-4065-9AFA-FFEA2429E65A}"/>
              </a:ext>
            </a:extLst>
          </p:cNvPr>
          <p:cNvSpPr>
            <a:spLocks xmlns:a="http://schemas.openxmlformats.org/drawingml/2006/main" noGrp="1"/>
          </p:cNvSpPr>
          <p:nvPr/>
        </p:nvSpPr>
        <p:spPr>
          <a:xfrm xmlns:a="http://schemas.openxmlformats.org/drawingml/2006/main">
            <a:off x="7096125" y="2190750"/>
            <a:ext cx="381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Targets systematic overshoot, undershoot, and intensity bias</a:t>
            </a:r>
          </a:p>
        </p:txBody>
      </p:sp>
      <p:sp>
        <p:nvSpPr>
          <p:cNvPr id="14" name="Rectangle: Rounded Corners 13">
            <a:extLst xmlns:a="http://schemas.openxmlformats.org/drawingml/2006/main">
              <a:ext uri="{FF2B5EF4-FFF2-40B4-BE49-F238E27FC236}">
                <a16:creationId xmlns:a16="http://schemas.microsoft.com/office/drawing/2014/main" id="{CD0CB59A-8FD6-4B08-9511-A158ADEF3216}"/>
              </a:ext>
            </a:extLst>
          </p:cNvPr>
          <p:cNvSpPr>
            <a:spLocks xmlns:a="http://schemas.openxmlformats.org/drawingml/2006/main" noGrp="1"/>
          </p:cNvSpPr>
          <p:nvPr/>
        </p:nvSpPr>
        <p:spPr>
          <a:xfrm xmlns:a="http://schemas.openxmlformats.org/drawingml/2006/main">
            <a:off x="7191375" y="3000375"/>
            <a:ext cx="3619500" cy="933450"/>
          </a:xfrm>
          <a:prstGeom xmlns:a="http://schemas.openxmlformats.org/drawingml/2006/main" prst="roundRect">
            <a:avLst>
              <a:gd name="adj" fmla="val 12245"/>
            </a:avLst>
          </a:prstGeom>
          <a:solidFill xmlns:a="http://schemas.openxmlformats.org/drawingml/2006/main">
            <a:srgbClr val="132536"/>
          </a:solidFill>
          <a:ln xmlns:a="http://schemas.openxmlformats.org/drawingml/2006/main" w="19050">
            <a:solidFill>
              <a:srgbClr val="FFB84D"/>
            </a:solidFill>
            <a:prstDash val="solid"/>
          </a:ln>
        </p:spPr>
      </p:sp>
      <p:sp>
        <p:nvSpPr>
          <p:cNvPr id="15" name="Rectangle 14">
            <a:extLst xmlns:a="http://schemas.openxmlformats.org/drawingml/2006/main">
              <a:ext uri="{FF2B5EF4-FFF2-40B4-BE49-F238E27FC236}">
                <a16:creationId xmlns:a16="http://schemas.microsoft.com/office/drawing/2014/main" id="{88B1694C-A16B-40E9-8E9B-936AF075E7B4}"/>
              </a:ext>
            </a:extLst>
          </p:cNvPr>
          <p:cNvSpPr>
            <a:spLocks xmlns:a="http://schemas.openxmlformats.org/drawingml/2006/main" noGrp="1"/>
          </p:cNvSpPr>
          <p:nvPr/>
        </p:nvSpPr>
        <p:spPr>
          <a:xfrm xmlns:a="http://schemas.openxmlformats.org/drawingml/2006/main">
            <a:off x="7305675" y="3095625"/>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about 2% average bitrate reduction</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up to about 6% in the reported tests</a:t>
            </a:r>
          </a:p>
        </p:txBody>
      </p:sp>
      <p:sp>
        <p:nvSpPr>
          <p:cNvPr id="16" name="Straight Connector 15">
            <a:extLst xmlns:a="http://schemas.openxmlformats.org/drawingml/2006/main">
              <a:ext uri="{FF2B5EF4-FFF2-40B4-BE49-F238E27FC236}">
                <a16:creationId xmlns:a16="http://schemas.microsoft.com/office/drawing/2014/main" id="{40FF72E6-CA67-465B-838F-D9185AF5C7B0}"/>
              </a:ext>
            </a:extLst>
          </p:cNvPr>
          <p:cNvSpPr>
            <a:spLocks xmlns:a="http://schemas.openxmlformats.org/drawingml/2006/main" noGrp="1"/>
          </p:cNvSpPr>
          <p:nvPr/>
        </p:nvSpPr>
        <p:spPr>
          <a:xfrm xmlns:a="http://schemas.openxmlformats.org/drawingml/2006/main">
            <a:off x="6096000" y="1524000"/>
            <a:ext cx="9525" cy="2809875"/>
          </a:xfrm>
          <a:prstGeom xmlns:a="http://schemas.openxmlformats.org/drawingml/2006/main" prst="line">
            <a:avLst/>
          </a:prstGeom>
          <a:noFill xmlns:a="http://schemas.openxmlformats.org/drawingml/2006/main"/>
          <a:ln xmlns:a="http://schemas.openxmlformats.org/drawingml/2006/main" w="19050">
            <a:solidFill>
              <a:srgbClr val="2A5876"/>
            </a:solidFill>
            <a:prstDash val="solid"/>
          </a:ln>
        </p:spPr>
      </p:sp>
      <p:sp>
        <p:nvSpPr>
          <p:cNvPr id="17" name="Rectangle: Rounded Corners 16">
            <a:extLst xmlns:a="http://schemas.openxmlformats.org/drawingml/2006/main">
              <a:ext uri="{FF2B5EF4-FFF2-40B4-BE49-F238E27FC236}">
                <a16:creationId xmlns:a16="http://schemas.microsoft.com/office/drawing/2014/main" id="{9A8DC1A0-056A-4AA4-AF2D-A6B026545CE0}"/>
              </a:ext>
            </a:extLst>
          </p:cNvPr>
          <p:cNvSpPr>
            <a:spLocks xmlns:a="http://schemas.openxmlformats.org/drawingml/2006/main" noGrp="1"/>
          </p:cNvSpPr>
          <p:nvPr/>
        </p:nvSpPr>
        <p:spPr>
          <a:xfrm xmlns:a="http://schemas.openxmlformats.org/drawingml/2006/main">
            <a:off x="2333625" y="4619625"/>
            <a:ext cx="7524750" cy="685800"/>
          </a:xfrm>
          <a:prstGeom xmlns:a="http://schemas.openxmlformats.org/drawingml/2006/main" prst="roundRect">
            <a:avLst>
              <a:gd name="adj" fmla="val 16667"/>
            </a:avLst>
          </a:prstGeom>
          <a:solidFill xmlns:a="http://schemas.openxmlformats.org/drawingml/2006/main">
            <a:srgbClr val="0A2830"/>
          </a:solidFill>
          <a:ln xmlns:a="http://schemas.openxmlformats.org/drawingml/2006/main" w="19050">
            <a:solidFill>
              <a:srgbClr val="47E6A4"/>
            </a:solidFill>
            <a:prstDash val="solid"/>
          </a:ln>
        </p:spPr>
      </p:sp>
      <p:sp>
        <p:nvSpPr>
          <p:cNvPr id="18" name="Rectangle 17">
            <a:extLst xmlns:a="http://schemas.openxmlformats.org/drawingml/2006/main">
              <a:ext uri="{FF2B5EF4-FFF2-40B4-BE49-F238E27FC236}">
                <a16:creationId xmlns:a16="http://schemas.microsoft.com/office/drawing/2014/main" id="{3E7AB258-C6DF-4C65-A246-C83472D23944}"/>
              </a:ext>
            </a:extLst>
          </p:cNvPr>
          <p:cNvSpPr>
            <a:spLocks xmlns:a="http://schemas.openxmlformats.org/drawingml/2006/main" noGrp="1"/>
          </p:cNvSpPr>
          <p:nvPr/>
        </p:nvSpPr>
        <p:spPr>
          <a:xfrm xmlns:a="http://schemas.openxmlformats.org/drawingml/2006/main">
            <a:off x="2447925" y="4714875"/>
            <a:ext cx="7296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127"/>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Do not add the two percentages: each paper used its own anchor, sequence set, and test conditions.</a:t>
            </a:r>
          </a:p>
        </p:txBody>
      </p:sp>
      <p:sp>
        <p:nvSpPr>
          <p:cNvPr id="19" name="Rectangle 18">
            <a:extLst xmlns:a="http://schemas.openxmlformats.org/drawingml/2006/main">
              <a:ext uri="{FF2B5EF4-FFF2-40B4-BE49-F238E27FC236}">
                <a16:creationId xmlns:a16="http://schemas.microsoft.com/office/drawing/2014/main" id="{E7C581AC-52CB-4879-9FB0-A5EE4ED60F4B}"/>
              </a:ext>
            </a:extLst>
          </p:cNvPr>
          <p:cNvSpPr>
            <a:spLocks xmlns:a="http://schemas.openxmlformats.org/drawingml/2006/main" noGrp="1"/>
          </p:cNvSpPr>
          <p:nvPr/>
        </p:nvSpPr>
        <p:spPr>
          <a:xfrm xmlns:a="http://schemas.openxmlformats.org/drawingml/2006/main">
            <a:off x="952500" y="5619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050" b="1">
                <a:solidFill>
                  <a:srgbClr val="22D3EE"/>
                </a:solidFill>
                <a:latin typeface="Arial"/>
                <a:ea typeface="Arial"/>
                <a:cs typeface="Arial"/>
              </a:defRPr>
            </a:pPr>
            <a:r>
              <a:rPr sz="1050" b="1">
                <a:solidFill>
                  <a:srgbClr val="22D3EE"/>
                </a:solidFill>
                <a:latin typeface="Arial"/>
                <a:ea typeface="Arial"/>
                <a:cs typeface="Arial"/>
              </a:rPr>
              <a:t>[S5] https://doi.org/10.1109/TCSVT.2012.2223053</a:t>
            </a:r>
          </a:p>
        </p:txBody>
      </p:sp>
      <p:sp>
        <p:nvSpPr>
          <p:cNvPr id="20" name="Rectangle 19">
            <a:extLst xmlns:a="http://schemas.openxmlformats.org/drawingml/2006/main">
              <a:ext uri="{FF2B5EF4-FFF2-40B4-BE49-F238E27FC236}">
                <a16:creationId xmlns:a16="http://schemas.microsoft.com/office/drawing/2014/main" id="{9ED66A6D-CDDC-4013-B679-D23AEC6A3023}"/>
              </a:ext>
            </a:extLst>
          </p:cNvPr>
          <p:cNvSpPr>
            <a:spLocks xmlns:a="http://schemas.openxmlformats.org/drawingml/2006/main" noGrp="1"/>
          </p:cNvSpPr>
          <p:nvPr/>
        </p:nvSpPr>
        <p:spPr>
          <a:xfrm xmlns:a="http://schemas.openxmlformats.org/drawingml/2006/main">
            <a:off x="6286500" y="5619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050" b="1">
                <a:solidFill>
                  <a:srgbClr val="FFB84D"/>
                </a:solidFill>
                <a:latin typeface="Arial"/>
                <a:ea typeface="Arial"/>
                <a:cs typeface="Arial"/>
              </a:defRPr>
            </a:pPr>
            <a:r>
              <a:rPr sz="1050" b="1">
                <a:solidFill>
                  <a:srgbClr val="FFB84D"/>
                </a:solidFill>
                <a:latin typeface="Arial"/>
                <a:ea typeface="Arial"/>
                <a:cs typeface="Arial"/>
              </a:rPr>
              <a:t>[S6] https://doi.org/10.1109/TCSVT.2012.2221529</a:t>
            </a:r>
          </a:p>
        </p:txBody>
      </p:sp>
    </p:spTree>
    <p:extLst>
      <p:ext uri="{BB962C8B-B14F-4D97-AF65-F5344CB8AC3E}">
        <p14:creationId xmlns:p14="http://schemas.microsoft.com/office/powerpoint/2010/main" val="1586915174"/>
      </p:ext>
    </p:extLst>
  </p:cSld>
</p:sld>
</file>

<file path=ppt/slides/slide38.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5" name="Oval 34">
            <a:extLst xmlns:a="http://schemas.openxmlformats.org/drawingml/2006/main">
              <a:ext uri="{FF2B5EF4-FFF2-40B4-BE49-F238E27FC236}">
                <a16:creationId xmlns:a16="http://schemas.microsoft.com/office/drawing/2014/main" id="{29F5D424-0BE5-49CD-B902-82CD7005CC20}"/>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874ED16C-DE43-4FB9-906A-44AD2DAE0328}"/>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E87CFBB2-68DF-43D6-81A1-67AC8DF67942}"/>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Rate–Distortion Optimization compares incompatible trade-offs</a:t>
            </a:r>
          </a:p>
        </p:txBody>
      </p:sp>
      <p:sp>
        <p:nvSpPr>
          <p:cNvPr id="4" name="Straight Connector 3">
            <a:extLst xmlns:a="http://schemas.openxmlformats.org/drawingml/2006/main">
              <a:ext uri="{FF2B5EF4-FFF2-40B4-BE49-F238E27FC236}">
                <a16:creationId xmlns:a16="http://schemas.microsoft.com/office/drawing/2014/main" id="{4D8A0456-C2D0-49B9-9B37-D829E4F86025}"/>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91B79A80-4F35-47FB-844E-D0FD0ED0452E}"/>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same region can be encoded in many legal ways, each with a different bitrate and reconstruction error</a:t>
            </a:r>
          </a:p>
        </p:txBody>
      </p:sp>
      <p:sp>
        <p:nvSpPr>
          <p:cNvPr id="6" name="Rectangle 5">
            <a:extLst xmlns:a="http://schemas.openxmlformats.org/drawingml/2006/main">
              <a:ext uri="{FF2B5EF4-FFF2-40B4-BE49-F238E27FC236}">
                <a16:creationId xmlns:a16="http://schemas.microsoft.com/office/drawing/2014/main" id="{6412EF85-C351-40DB-AB93-8D3423B9570F}"/>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3AE04988-E84D-4176-8283-1E18C9DF6BD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38 / 49</a:t>
            </a:r>
          </a:p>
        </p:txBody>
      </p:sp>
      <p:pic>
        <p:nvPicPr>
          <p:cNvPr id="44" name="Picture 41"/>
          <p:cNvPicPr>
            <a:picLocks xmlns:a="http://schemas.openxmlformats.org/drawingml/2006/main" noChangeAspect="1"/>
          </p:cNvPicPr>
          <p:nvPr/>
        </p:nvPicPr>
        <p:blipFill>
          <a:blip xmlns:r="http://schemas.openxmlformats.org/officeDocument/2006/relationships" xmlns:a="http://schemas.openxmlformats.org/drawingml/2006/main" r:embed="Rfc3d29e4b9ce4665"/>
          <a:srcRect xmlns:a="http://schemas.openxmlformats.org/drawingml/2006/main" l="0" t="6250" r="0" b="6250"/>
          <a:stretch xmlns:a="http://schemas.openxmlformats.org/drawingml/2006/main">
            <a:fillRect l="0" t="0" r="0" b="0"/>
          </a:stretch>
        </p:blipFill>
        <p:spPr>
          <a:xfrm xmlns:a="http://schemas.openxmlformats.org/drawingml/2006/main">
            <a:off x="619125" y="1524000"/>
            <a:ext cx="3810000" cy="3333750"/>
          </a:xfrm>
          <a:prstGeom xmlns:a="http://schemas.openxmlformats.org/drawingml/2006/main" prst="roundRect">
            <a:avLst>
              <a:gd name="adj" fmla="val 3429"/>
            </a:avLst>
          </a:prstGeom>
        </p:spPr>
      </p:pic>
      <p:sp>
        <p:nvSpPr>
          <p:cNvPr id="9" name="Rectangle 8">
            <a:extLst xmlns:a="http://schemas.openxmlformats.org/drawingml/2006/main">
              <a:ext uri="{FF2B5EF4-FFF2-40B4-BE49-F238E27FC236}">
                <a16:creationId xmlns:a16="http://schemas.microsoft.com/office/drawing/2014/main" id="{EA7BC28F-0A9D-4D9E-B102-7F0F9BE2E432}"/>
              </a:ext>
            </a:extLst>
          </p:cNvPr>
          <p:cNvSpPr>
            <a:spLocks xmlns:a="http://schemas.openxmlformats.org/drawingml/2006/main" noGrp="1"/>
          </p:cNvSpPr>
          <p:nvPr/>
        </p:nvSpPr>
        <p:spPr>
          <a:xfrm xmlns:a="http://schemas.openxmlformats.org/drawingml/2006/main">
            <a:off x="619125" y="1524000"/>
            <a:ext cx="3810000" cy="3333750"/>
          </a:xfrm>
          <a:prstGeom xmlns:a="http://schemas.openxmlformats.org/drawingml/2006/main" prst="rect">
            <a:avLst/>
          </a:prstGeom>
          <a:noFill xmlns:a="http://schemas.openxmlformats.org/drawingml/2006/main"/>
          <a:ln xmlns:a="http://schemas.openxmlformats.org/drawingml/2006/main" w="28575">
            <a:solidFill>
              <a:srgbClr val="22D3EE"/>
            </a:solidFill>
            <a:prstDash val="solid"/>
          </a:ln>
        </p:spPr>
      </p:sp>
      <p:sp>
        <p:nvSpPr>
          <p:cNvPr id="10" name="Rectangle: Rounded Corners 9">
            <a:extLst xmlns:a="http://schemas.openxmlformats.org/drawingml/2006/main">
              <a:ext uri="{FF2B5EF4-FFF2-40B4-BE49-F238E27FC236}">
                <a16:creationId xmlns:a16="http://schemas.microsoft.com/office/drawing/2014/main" id="{5DDC552B-BA0E-490A-8328-9EA6778D5E02}"/>
              </a:ext>
            </a:extLst>
          </p:cNvPr>
          <p:cNvSpPr>
            <a:spLocks xmlns:a="http://schemas.openxmlformats.org/drawingml/2006/main" noGrp="1"/>
          </p:cNvSpPr>
          <p:nvPr/>
        </p:nvSpPr>
        <p:spPr>
          <a:xfrm xmlns:a="http://schemas.openxmlformats.org/drawingml/2006/main">
            <a:off x="1762125" y="1714500"/>
            <a:ext cx="1524000" cy="285750"/>
          </a:xfrm>
          <a:prstGeom xmlns:a="http://schemas.openxmlformats.org/drawingml/2006/main" prst="roundRect">
            <a:avLst>
              <a:gd name="adj" fmla="val 26667"/>
            </a:avLst>
          </a:prstGeom>
          <a:solidFill xmlns:a="http://schemas.openxmlformats.org/drawingml/2006/main">
            <a:srgbClr val="06131F">
              <a:alpha val="80000"/>
            </a:srgbClr>
          </a:solidFill>
          <a:ln xmlns:a="http://schemas.openxmlformats.org/drawingml/2006/main" w="14288">
            <a:solidFill>
              <a:srgbClr val="22D3EE"/>
            </a:solidFill>
            <a:prstDash val="solid"/>
          </a:ln>
        </p:spPr>
      </p:sp>
      <p:sp>
        <p:nvSpPr>
          <p:cNvPr id="11" name="Rectangle 10">
            <a:extLst xmlns:a="http://schemas.openxmlformats.org/drawingml/2006/main">
              <a:ext uri="{FF2B5EF4-FFF2-40B4-BE49-F238E27FC236}">
                <a16:creationId xmlns:a16="http://schemas.microsoft.com/office/drawing/2014/main" id="{E1BA0907-6D7E-4B87-89B3-31DBD032AC69}"/>
              </a:ext>
            </a:extLst>
          </p:cNvPr>
          <p:cNvSpPr>
            <a:spLocks xmlns:a="http://schemas.openxmlformats.org/drawingml/2006/main" noGrp="1"/>
          </p:cNvSpPr>
          <p:nvPr/>
        </p:nvSpPr>
        <p:spPr>
          <a:xfrm xmlns:a="http://schemas.openxmlformats.org/drawingml/2006/main">
            <a:off x="1809750" y="17526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SAME BLOCK X</a:t>
            </a:r>
          </a:p>
        </p:txBody>
      </p:sp>
      <p:sp>
        <p:nvSpPr>
          <p:cNvPr id="12" name="Oval 11">
            <a:extLst xmlns:a="http://schemas.openxmlformats.org/drawingml/2006/main">
              <a:ext uri="{FF2B5EF4-FFF2-40B4-BE49-F238E27FC236}">
                <a16:creationId xmlns:a16="http://schemas.microsoft.com/office/drawing/2014/main" id="{985A16F7-3F1A-4147-A6F0-A9488837F09F}"/>
              </a:ext>
            </a:extLst>
          </p:cNvPr>
          <p:cNvSpPr>
            <a:spLocks xmlns:a="http://schemas.openxmlformats.org/drawingml/2006/main" noGrp="1"/>
          </p:cNvSpPr>
          <p:nvPr/>
        </p:nvSpPr>
        <p:spPr>
          <a:xfrm xmlns:a="http://schemas.openxmlformats.org/drawingml/2006/main">
            <a:off x="5095875" y="1619250"/>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AFC0D0"/>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AFC0D0"/>
                </a:solidFill>
                <a:latin typeface="Arial"/>
                <a:ea typeface="Arial"/>
                <a:cs typeface="Arial"/>
              </a:defRPr>
            </a:pPr>
            <a:r>
              <a:rPr sz="1200" b="1">
                <a:solidFill>
                  <a:srgbClr val="AFC0D0"/>
                </a:solidFill>
                <a:latin typeface="Arial"/>
                <a:ea typeface="Arial"/>
                <a:cs typeface="Arial"/>
              </a:rPr>
              <a:t>A</a:t>
            </a:r>
          </a:p>
        </p:txBody>
      </p:sp>
      <p:sp>
        <p:nvSpPr>
          <p:cNvPr id="13" name="Rectangle 12">
            <a:extLst xmlns:a="http://schemas.openxmlformats.org/drawingml/2006/main">
              <a:ext uri="{FF2B5EF4-FFF2-40B4-BE49-F238E27FC236}">
                <a16:creationId xmlns:a16="http://schemas.microsoft.com/office/drawing/2014/main" id="{8BD81F75-925C-42E5-9341-2BD1293594BA}"/>
              </a:ext>
            </a:extLst>
          </p:cNvPr>
          <p:cNvSpPr>
            <a:spLocks xmlns:a="http://schemas.openxmlformats.org/drawingml/2006/main" noGrp="1"/>
          </p:cNvSpPr>
          <p:nvPr/>
        </p:nvSpPr>
        <p:spPr>
          <a:xfrm xmlns:a="http://schemas.openxmlformats.org/drawingml/2006/main">
            <a:off x="5857875" y="1524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AFC0D0"/>
                </a:solidFill>
                <a:latin typeface="Arial"/>
                <a:ea typeface="Arial"/>
                <a:cs typeface="Arial"/>
              </a:defRPr>
            </a:pPr>
            <a:r>
              <a:rPr sz="1500" b="1">
                <a:solidFill>
                  <a:srgbClr val="AFC0D0"/>
                </a:solidFill>
                <a:latin typeface="Arial"/>
                <a:ea typeface="Arial"/>
                <a:cs typeface="Arial"/>
              </a:rPr>
              <a:t>LARGE CODING UNIT</a:t>
            </a:r>
          </a:p>
        </p:txBody>
      </p:sp>
      <p:sp>
        <p:nvSpPr>
          <p:cNvPr id="14" name="Rectangle 13">
            <a:extLst xmlns:a="http://schemas.openxmlformats.org/drawingml/2006/main">
              <a:ext uri="{FF2B5EF4-FFF2-40B4-BE49-F238E27FC236}">
                <a16:creationId xmlns:a16="http://schemas.microsoft.com/office/drawing/2014/main" id="{C09EEA06-9253-4C08-A9E4-789564DE1F43}"/>
              </a:ext>
            </a:extLst>
          </p:cNvPr>
          <p:cNvSpPr>
            <a:spLocks xmlns:a="http://schemas.openxmlformats.org/drawingml/2006/main" noGrp="1"/>
          </p:cNvSpPr>
          <p:nvPr/>
        </p:nvSpPr>
        <p:spPr>
          <a:xfrm xmlns:a="http://schemas.openxmlformats.org/drawingml/2006/main">
            <a:off x="5857875" y="18859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few flags, weaker prediction</a:t>
            </a:r>
          </a:p>
        </p:txBody>
      </p:sp>
      <p:sp>
        <p:nvSpPr>
          <p:cNvPr id="15" name="Rectangle 14">
            <a:extLst xmlns:a="http://schemas.openxmlformats.org/drawingml/2006/main">
              <a:ext uri="{FF2B5EF4-FFF2-40B4-BE49-F238E27FC236}">
                <a16:creationId xmlns:a16="http://schemas.microsoft.com/office/drawing/2014/main" id="{5F77F3E7-ECC7-4531-8D20-F07C875F7C39}"/>
              </a:ext>
            </a:extLst>
          </p:cNvPr>
          <p:cNvSpPr>
            <a:spLocks xmlns:a="http://schemas.openxmlformats.org/drawingml/2006/main" noGrp="1"/>
          </p:cNvSpPr>
          <p:nvPr/>
        </p:nvSpPr>
        <p:spPr>
          <a:xfrm xmlns:a="http://schemas.openxmlformats.org/drawingml/2006/main">
            <a:off x="9525000" y="1524000"/>
            <a:ext cx="1428750" cy="857250"/>
          </a:xfrm>
          <a:prstGeom xmlns:a="http://schemas.openxmlformats.org/drawingml/2006/main" prst="rect">
            <a:avLst/>
          </a:prstGeom>
          <a:solidFill xmlns:a="http://schemas.openxmlformats.org/drawingml/2006/main">
            <a:srgbClr val="0B2033"/>
          </a:solidFill>
          <a:ln xmlns:a="http://schemas.openxmlformats.org/drawingml/2006/main" w="28575">
            <a:solidFill>
              <a:srgbClr val="AFC0D0"/>
            </a:solidFill>
            <a:prstDash val="solid"/>
          </a:ln>
        </p:spPr>
      </p:sp>
      <p:sp>
        <p:nvSpPr>
          <p:cNvPr id="16" name="Oval 15">
            <a:extLst xmlns:a="http://schemas.openxmlformats.org/drawingml/2006/main">
              <a:ext uri="{FF2B5EF4-FFF2-40B4-BE49-F238E27FC236}">
                <a16:creationId xmlns:a16="http://schemas.microsoft.com/office/drawing/2014/main" id="{6845B360-79D1-46BA-8291-9055B4739E3E}"/>
              </a:ext>
            </a:extLst>
          </p:cNvPr>
          <p:cNvSpPr>
            <a:spLocks xmlns:a="http://schemas.openxmlformats.org/drawingml/2006/main" noGrp="1"/>
          </p:cNvSpPr>
          <p:nvPr/>
        </p:nvSpPr>
        <p:spPr>
          <a:xfrm xmlns:a="http://schemas.openxmlformats.org/drawingml/2006/main">
            <a:off x="5095875" y="2809875"/>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47E6A4"/>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47E6A4"/>
                </a:solidFill>
                <a:latin typeface="Arial"/>
                <a:ea typeface="Arial"/>
                <a:cs typeface="Arial"/>
              </a:defRPr>
            </a:pPr>
            <a:r>
              <a:rPr sz="1200" b="1">
                <a:solidFill>
                  <a:srgbClr val="47E6A4"/>
                </a:solidFill>
                <a:latin typeface="Arial"/>
                <a:ea typeface="Arial"/>
                <a:cs typeface="Arial"/>
              </a:rPr>
              <a:t>B</a:t>
            </a:r>
          </a:p>
        </p:txBody>
      </p:sp>
      <p:sp>
        <p:nvSpPr>
          <p:cNvPr id="17" name="Rectangle 16">
            <a:extLst xmlns:a="http://schemas.openxmlformats.org/drawingml/2006/main">
              <a:ext uri="{FF2B5EF4-FFF2-40B4-BE49-F238E27FC236}">
                <a16:creationId xmlns:a16="http://schemas.microsoft.com/office/drawing/2014/main" id="{1C6B8F65-7C4D-4272-A3D0-D8DF9FABCFC7}"/>
              </a:ext>
            </a:extLst>
          </p:cNvPr>
          <p:cNvSpPr>
            <a:spLocks xmlns:a="http://schemas.openxmlformats.org/drawingml/2006/main" noGrp="1"/>
          </p:cNvSpPr>
          <p:nvPr/>
        </p:nvSpPr>
        <p:spPr>
          <a:xfrm xmlns:a="http://schemas.openxmlformats.org/drawingml/2006/main">
            <a:off x="5857875" y="27146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47E6A4"/>
                </a:solidFill>
                <a:latin typeface="Arial"/>
                <a:ea typeface="Arial"/>
                <a:cs typeface="Arial"/>
              </a:defRPr>
            </a:pPr>
            <a:r>
              <a:rPr sz="1500" b="1">
                <a:solidFill>
                  <a:srgbClr val="47E6A4"/>
                </a:solidFill>
                <a:latin typeface="Arial"/>
                <a:ea typeface="Arial"/>
                <a:cs typeface="Arial"/>
              </a:rPr>
              <a:t>SMALLER CODING UNITS</a:t>
            </a:r>
          </a:p>
        </p:txBody>
      </p:sp>
      <p:sp>
        <p:nvSpPr>
          <p:cNvPr id="18" name="Rectangle 17">
            <a:extLst xmlns:a="http://schemas.openxmlformats.org/drawingml/2006/main">
              <a:ext uri="{FF2B5EF4-FFF2-40B4-BE49-F238E27FC236}">
                <a16:creationId xmlns:a16="http://schemas.microsoft.com/office/drawing/2014/main" id="{FB70A747-EC22-4217-83D7-7045813DC449}"/>
              </a:ext>
            </a:extLst>
          </p:cNvPr>
          <p:cNvSpPr>
            <a:spLocks xmlns:a="http://schemas.openxmlformats.org/drawingml/2006/main" noGrp="1"/>
          </p:cNvSpPr>
          <p:nvPr/>
        </p:nvSpPr>
        <p:spPr>
          <a:xfrm xmlns:a="http://schemas.openxmlformats.org/drawingml/2006/main">
            <a:off x="5857875" y="30765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more flags, better prediction</a:t>
            </a:r>
          </a:p>
        </p:txBody>
      </p:sp>
      <p:sp>
        <p:nvSpPr>
          <p:cNvPr id="19" name="Rectangle 18">
            <a:extLst xmlns:a="http://schemas.openxmlformats.org/drawingml/2006/main">
              <a:ext uri="{FF2B5EF4-FFF2-40B4-BE49-F238E27FC236}">
                <a16:creationId xmlns:a16="http://schemas.microsoft.com/office/drawing/2014/main" id="{F459A713-371E-4CFC-81D7-1E7D6D067FCC}"/>
              </a:ext>
            </a:extLst>
          </p:cNvPr>
          <p:cNvSpPr>
            <a:spLocks xmlns:a="http://schemas.openxmlformats.org/drawingml/2006/main" noGrp="1"/>
          </p:cNvSpPr>
          <p:nvPr/>
        </p:nvSpPr>
        <p:spPr>
          <a:xfrm xmlns:a="http://schemas.openxmlformats.org/drawingml/2006/main">
            <a:off x="9525000" y="2714625"/>
            <a:ext cx="1428750" cy="857250"/>
          </a:xfrm>
          <a:prstGeom xmlns:a="http://schemas.openxmlformats.org/drawingml/2006/main" prst="rect">
            <a:avLst/>
          </a:prstGeom>
          <a:solidFill xmlns:a="http://schemas.openxmlformats.org/drawingml/2006/main">
            <a:srgbClr val="0B2033"/>
          </a:solidFill>
          <a:ln xmlns:a="http://schemas.openxmlformats.org/drawingml/2006/main" w="28575">
            <a:solidFill>
              <a:srgbClr val="47E6A4"/>
            </a:solidFill>
            <a:prstDash val="solid"/>
          </a:ln>
        </p:spPr>
      </p:sp>
      <p:sp>
        <p:nvSpPr>
          <p:cNvPr id="20" name="Straight Connector 19">
            <a:extLst xmlns:a="http://schemas.openxmlformats.org/drawingml/2006/main">
              <a:ext uri="{FF2B5EF4-FFF2-40B4-BE49-F238E27FC236}">
                <a16:creationId xmlns:a16="http://schemas.microsoft.com/office/drawing/2014/main" id="{03933BAF-4D56-4818-B949-E7D9F7F21BC4}"/>
              </a:ext>
            </a:extLst>
          </p:cNvPr>
          <p:cNvSpPr>
            <a:spLocks xmlns:a="http://schemas.openxmlformats.org/drawingml/2006/main" noGrp="1"/>
          </p:cNvSpPr>
          <p:nvPr/>
        </p:nvSpPr>
        <p:spPr>
          <a:xfrm xmlns:a="http://schemas.openxmlformats.org/drawingml/2006/main">
            <a:off x="10239375" y="2714625"/>
            <a:ext cx="9525" cy="857250"/>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21" name="Straight Connector 20">
            <a:extLst xmlns:a="http://schemas.openxmlformats.org/drawingml/2006/main">
              <a:ext uri="{FF2B5EF4-FFF2-40B4-BE49-F238E27FC236}">
                <a16:creationId xmlns:a16="http://schemas.microsoft.com/office/drawing/2014/main" id="{F37C9179-C6DD-45E0-8E3F-DBCC8FB41780}"/>
              </a:ext>
            </a:extLst>
          </p:cNvPr>
          <p:cNvSpPr>
            <a:spLocks xmlns:a="http://schemas.openxmlformats.org/drawingml/2006/main" noGrp="1"/>
          </p:cNvSpPr>
          <p:nvPr/>
        </p:nvSpPr>
        <p:spPr>
          <a:xfrm xmlns:a="http://schemas.openxmlformats.org/drawingml/2006/main">
            <a:off x="9525000" y="3143250"/>
            <a:ext cx="1428750" cy="9525"/>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22" name="Oval 21">
            <a:extLst xmlns:a="http://schemas.openxmlformats.org/drawingml/2006/main">
              <a:ext uri="{FF2B5EF4-FFF2-40B4-BE49-F238E27FC236}">
                <a16:creationId xmlns:a16="http://schemas.microsoft.com/office/drawing/2014/main" id="{B44B0F58-74EC-4137-BE0C-A91F228E8513}"/>
              </a:ext>
            </a:extLst>
          </p:cNvPr>
          <p:cNvSpPr>
            <a:spLocks xmlns:a="http://schemas.openxmlformats.org/drawingml/2006/main" noGrp="1"/>
          </p:cNvSpPr>
          <p:nvPr/>
        </p:nvSpPr>
        <p:spPr>
          <a:xfrm xmlns:a="http://schemas.openxmlformats.org/drawingml/2006/main">
            <a:off x="5095875" y="4000500"/>
            <a:ext cx="514350" cy="51435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6577"/>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6577"/>
                </a:solidFill>
                <a:latin typeface="Arial"/>
                <a:ea typeface="Arial"/>
                <a:cs typeface="Arial"/>
              </a:defRPr>
            </a:pPr>
            <a:r>
              <a:rPr sz="1200" b="1">
                <a:solidFill>
                  <a:srgbClr val="FF6577"/>
                </a:solidFill>
                <a:latin typeface="Arial"/>
                <a:ea typeface="Arial"/>
                <a:cs typeface="Arial"/>
              </a:rPr>
              <a:t>C</a:t>
            </a:r>
          </a:p>
        </p:txBody>
      </p:sp>
      <p:sp>
        <p:nvSpPr>
          <p:cNvPr id="23" name="Rectangle 22">
            <a:extLst xmlns:a="http://schemas.openxmlformats.org/drawingml/2006/main">
              <a:ext uri="{FF2B5EF4-FFF2-40B4-BE49-F238E27FC236}">
                <a16:creationId xmlns:a16="http://schemas.microsoft.com/office/drawing/2014/main" id="{048F8E88-CFA8-4DF0-83B4-AAB397A8B9F5}"/>
              </a:ext>
            </a:extLst>
          </p:cNvPr>
          <p:cNvSpPr>
            <a:spLocks xmlns:a="http://schemas.openxmlformats.org/drawingml/2006/main" noGrp="1"/>
          </p:cNvSpPr>
          <p:nvPr/>
        </p:nvSpPr>
        <p:spPr>
          <a:xfrm xmlns:a="http://schemas.openxmlformats.org/drawingml/2006/main">
            <a:off x="5857875" y="3905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FF6577"/>
                </a:solidFill>
                <a:latin typeface="Arial"/>
                <a:ea typeface="Arial"/>
                <a:cs typeface="Arial"/>
              </a:defRPr>
            </a:pPr>
            <a:r>
              <a:rPr sz="1500" b="1">
                <a:solidFill>
                  <a:srgbClr val="FF6577"/>
                </a:solidFill>
                <a:latin typeface="Arial"/>
                <a:ea typeface="Arial"/>
                <a:cs typeface="Arial"/>
              </a:rPr>
              <a:t>DEEP PARTITION TREE</a:t>
            </a:r>
          </a:p>
        </p:txBody>
      </p:sp>
      <p:sp>
        <p:nvSpPr>
          <p:cNvPr id="24" name="Rectangle 23">
            <a:extLst xmlns:a="http://schemas.openxmlformats.org/drawingml/2006/main">
              <a:ext uri="{FF2B5EF4-FFF2-40B4-BE49-F238E27FC236}">
                <a16:creationId xmlns:a16="http://schemas.microsoft.com/office/drawing/2014/main" id="{0F23C72B-6D77-4FDD-B1D4-35F7722A20B6}"/>
              </a:ext>
            </a:extLst>
          </p:cNvPr>
          <p:cNvSpPr>
            <a:spLocks xmlns:a="http://schemas.openxmlformats.org/drawingml/2006/main" noGrp="1"/>
          </p:cNvSpPr>
          <p:nvPr/>
        </p:nvSpPr>
        <p:spPr>
          <a:xfrm xmlns:a="http://schemas.openxmlformats.org/drawingml/2006/main">
            <a:off x="5857875" y="42672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lowest error, highest syntax cost</a:t>
            </a:r>
          </a:p>
        </p:txBody>
      </p:sp>
      <p:sp>
        <p:nvSpPr>
          <p:cNvPr id="25" name="Rectangle 24">
            <a:extLst xmlns:a="http://schemas.openxmlformats.org/drawingml/2006/main">
              <a:ext uri="{FF2B5EF4-FFF2-40B4-BE49-F238E27FC236}">
                <a16:creationId xmlns:a16="http://schemas.microsoft.com/office/drawing/2014/main" id="{EBE71C20-ABC1-41F5-841C-C9D4A421E2F8}"/>
              </a:ext>
            </a:extLst>
          </p:cNvPr>
          <p:cNvSpPr>
            <a:spLocks xmlns:a="http://schemas.openxmlformats.org/drawingml/2006/main" noGrp="1"/>
          </p:cNvSpPr>
          <p:nvPr/>
        </p:nvSpPr>
        <p:spPr>
          <a:xfrm xmlns:a="http://schemas.openxmlformats.org/drawingml/2006/main">
            <a:off x="9525000" y="3905250"/>
            <a:ext cx="1428750" cy="857250"/>
          </a:xfrm>
          <a:prstGeom xmlns:a="http://schemas.openxmlformats.org/drawingml/2006/main" prst="rect">
            <a:avLst/>
          </a:prstGeom>
          <a:solidFill xmlns:a="http://schemas.openxmlformats.org/drawingml/2006/main">
            <a:srgbClr val="0B2033"/>
          </a:solidFill>
          <a:ln xmlns:a="http://schemas.openxmlformats.org/drawingml/2006/main" w="28575">
            <a:solidFill>
              <a:srgbClr val="FF6577"/>
            </a:solidFill>
            <a:prstDash val="solid"/>
          </a:ln>
        </p:spPr>
      </p:sp>
      <p:sp>
        <p:nvSpPr>
          <p:cNvPr id="26" name="Straight Connector 25">
            <a:extLst xmlns:a="http://schemas.openxmlformats.org/drawingml/2006/main">
              <a:ext uri="{FF2B5EF4-FFF2-40B4-BE49-F238E27FC236}">
                <a16:creationId xmlns:a16="http://schemas.microsoft.com/office/drawing/2014/main" id="{FCEEAE8D-B87F-484B-8B66-4DF798910F5B}"/>
              </a:ext>
            </a:extLst>
          </p:cNvPr>
          <p:cNvSpPr>
            <a:spLocks xmlns:a="http://schemas.openxmlformats.org/drawingml/2006/main" noGrp="1"/>
          </p:cNvSpPr>
          <p:nvPr/>
        </p:nvSpPr>
        <p:spPr>
          <a:xfrm xmlns:a="http://schemas.openxmlformats.org/drawingml/2006/main">
            <a:off x="10239375" y="3905250"/>
            <a:ext cx="9525" cy="857250"/>
          </a:xfrm>
          <a:prstGeom xmlns:a="http://schemas.openxmlformats.org/drawingml/2006/main" prst="line">
            <a:avLst/>
          </a:prstGeom>
          <a:noFill xmlns:a="http://schemas.openxmlformats.org/drawingml/2006/main"/>
          <a:ln xmlns:a="http://schemas.openxmlformats.org/drawingml/2006/main" w="19050">
            <a:solidFill>
              <a:srgbClr val="FF6577"/>
            </a:solidFill>
            <a:prstDash val="solid"/>
          </a:ln>
        </p:spPr>
      </p:sp>
      <p:sp>
        <p:nvSpPr>
          <p:cNvPr id="27" name="Straight Connector 26">
            <a:extLst xmlns:a="http://schemas.openxmlformats.org/drawingml/2006/main">
              <a:ext uri="{FF2B5EF4-FFF2-40B4-BE49-F238E27FC236}">
                <a16:creationId xmlns:a16="http://schemas.microsoft.com/office/drawing/2014/main" id="{FACA9CBF-1B9C-4CCE-91C9-E5BD72C411A1}"/>
              </a:ext>
            </a:extLst>
          </p:cNvPr>
          <p:cNvSpPr>
            <a:spLocks xmlns:a="http://schemas.openxmlformats.org/drawingml/2006/main" noGrp="1"/>
          </p:cNvSpPr>
          <p:nvPr/>
        </p:nvSpPr>
        <p:spPr>
          <a:xfrm xmlns:a="http://schemas.openxmlformats.org/drawingml/2006/main">
            <a:off x="9525000" y="4333875"/>
            <a:ext cx="1428750" cy="9525"/>
          </a:xfrm>
          <a:prstGeom xmlns:a="http://schemas.openxmlformats.org/drawingml/2006/main" prst="line">
            <a:avLst/>
          </a:prstGeom>
          <a:noFill xmlns:a="http://schemas.openxmlformats.org/drawingml/2006/main"/>
          <a:ln xmlns:a="http://schemas.openxmlformats.org/drawingml/2006/main" w="19050">
            <a:solidFill>
              <a:srgbClr val="FF6577"/>
            </a:solidFill>
            <a:prstDash val="solid"/>
          </a:ln>
        </p:spPr>
      </p:sp>
      <p:sp>
        <p:nvSpPr>
          <p:cNvPr id="28" name="Straight Connector 27">
            <a:extLst xmlns:a="http://schemas.openxmlformats.org/drawingml/2006/main">
              <a:ext uri="{FF2B5EF4-FFF2-40B4-BE49-F238E27FC236}">
                <a16:creationId xmlns:a16="http://schemas.microsoft.com/office/drawing/2014/main" id="{49C99CAE-B83A-474B-B02E-695FFC114661}"/>
              </a:ext>
            </a:extLst>
          </p:cNvPr>
          <p:cNvSpPr>
            <a:spLocks xmlns:a="http://schemas.openxmlformats.org/drawingml/2006/main" noGrp="1"/>
          </p:cNvSpPr>
          <p:nvPr/>
        </p:nvSpPr>
        <p:spPr>
          <a:xfrm xmlns:a="http://schemas.openxmlformats.org/drawingml/2006/main">
            <a:off x="10596563" y="4333875"/>
            <a:ext cx="9525" cy="428625"/>
          </a:xfrm>
          <a:prstGeom xmlns:a="http://schemas.openxmlformats.org/drawingml/2006/main" prst="line">
            <a:avLst/>
          </a:prstGeom>
          <a:noFill xmlns:a="http://schemas.openxmlformats.org/drawingml/2006/main"/>
          <a:ln xmlns:a="http://schemas.openxmlformats.org/drawingml/2006/main" w="19050">
            <a:solidFill>
              <a:srgbClr val="FFB84D"/>
            </a:solidFill>
            <a:prstDash val="solid"/>
          </a:ln>
        </p:spPr>
      </p:sp>
      <p:sp>
        <p:nvSpPr>
          <p:cNvPr id="29" name="Straight Connector 28">
            <a:extLst xmlns:a="http://schemas.openxmlformats.org/drawingml/2006/main">
              <a:ext uri="{FF2B5EF4-FFF2-40B4-BE49-F238E27FC236}">
                <a16:creationId xmlns:a16="http://schemas.microsoft.com/office/drawing/2014/main" id="{996F1FD1-E06A-4FE5-8AF0-50519BF929D8}"/>
              </a:ext>
            </a:extLst>
          </p:cNvPr>
          <p:cNvSpPr>
            <a:spLocks xmlns:a="http://schemas.openxmlformats.org/drawingml/2006/main" noGrp="1"/>
          </p:cNvSpPr>
          <p:nvPr/>
        </p:nvSpPr>
        <p:spPr>
          <a:xfrm xmlns:a="http://schemas.openxmlformats.org/drawingml/2006/main">
            <a:off x="10239375" y="4548188"/>
            <a:ext cx="714375" cy="9525"/>
          </a:xfrm>
          <a:prstGeom xmlns:a="http://schemas.openxmlformats.org/drawingml/2006/main" prst="line">
            <a:avLst/>
          </a:prstGeom>
          <a:noFill xmlns:a="http://schemas.openxmlformats.org/drawingml/2006/main"/>
          <a:ln xmlns:a="http://schemas.openxmlformats.org/drawingml/2006/main" w="19050">
            <a:solidFill>
              <a:srgbClr val="FFB84D"/>
            </a:solidFill>
            <a:prstDash val="solid"/>
          </a:ln>
        </p:spPr>
      </p:sp>
      <p:sp>
        <p:nvSpPr>
          <p:cNvPr id="30" name="Rectangle 29">
            <a:extLst xmlns:a="http://schemas.openxmlformats.org/drawingml/2006/main">
              <a:ext uri="{FF2B5EF4-FFF2-40B4-BE49-F238E27FC236}">
                <a16:creationId xmlns:a16="http://schemas.microsoft.com/office/drawing/2014/main" id="{C2F60A28-1740-4BD8-94E6-3429A978A53C}"/>
              </a:ext>
            </a:extLst>
          </p:cNvPr>
          <p:cNvSpPr>
            <a:spLocks xmlns:a="http://schemas.openxmlformats.org/drawingml/2006/main" noGrp="1"/>
          </p:cNvSpPr>
          <p:nvPr/>
        </p:nvSpPr>
        <p:spPr>
          <a:xfrm xmlns:a="http://schemas.openxmlformats.org/drawingml/2006/main">
            <a:off x="5095875" y="5286375"/>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2E9BFF"/>
                </a:solidFill>
                <a:latin typeface="Arial"/>
                <a:ea typeface="Arial"/>
                <a:cs typeface="Arial"/>
              </a:defRPr>
            </a:pPr>
            <a:r>
              <a:rPr sz="1500" b="1">
                <a:solidFill>
                  <a:srgbClr val="2E9BFF"/>
                </a:solidFill>
                <a:latin typeface="Arial"/>
                <a:ea typeface="Arial"/>
                <a:cs typeface="Arial"/>
              </a:rPr>
              <a:t>Best picture quality?</a:t>
            </a:r>
          </a:p>
        </p:txBody>
      </p:sp>
      <p:sp>
        <p:nvSpPr>
          <p:cNvPr id="31" name="Rectangle 30">
            <a:extLst xmlns:a="http://schemas.openxmlformats.org/drawingml/2006/main">
              <a:ext uri="{FF2B5EF4-FFF2-40B4-BE49-F238E27FC236}">
                <a16:creationId xmlns:a16="http://schemas.microsoft.com/office/drawing/2014/main" id="{6E406C6A-B1F9-48F3-8282-612649F75CFD}"/>
              </a:ext>
            </a:extLst>
          </p:cNvPr>
          <p:cNvSpPr>
            <a:spLocks xmlns:a="http://schemas.openxmlformats.org/drawingml/2006/main" noGrp="1"/>
          </p:cNvSpPr>
          <p:nvPr/>
        </p:nvSpPr>
        <p:spPr>
          <a:xfrm xmlns:a="http://schemas.openxmlformats.org/drawingml/2006/main">
            <a:off x="7524750" y="52863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buNone/>
              <a:defRPr sz="1500" b="1">
                <a:solidFill>
                  <a:srgbClr val="FFB84D"/>
                </a:solidFill>
                <a:latin typeface="Arial"/>
                <a:ea typeface="Arial"/>
                <a:cs typeface="Arial"/>
              </a:defRPr>
            </a:pPr>
            <a:r>
              <a:rPr sz="1500" b="1">
                <a:solidFill>
                  <a:srgbClr val="FFB84D"/>
                </a:solidFill>
                <a:latin typeface="Arial"/>
                <a:ea typeface="Arial"/>
                <a:cs typeface="Arial"/>
              </a:rPr>
              <a:t>Fewest bits?</a:t>
            </a:r>
          </a:p>
        </p:txBody>
      </p:sp>
      <p:sp>
        <p:nvSpPr>
          <p:cNvPr id="32" name="Rectangle 31">
            <a:extLst xmlns:a="http://schemas.openxmlformats.org/drawingml/2006/main">
              <a:ext uri="{FF2B5EF4-FFF2-40B4-BE49-F238E27FC236}">
                <a16:creationId xmlns:a16="http://schemas.microsoft.com/office/drawing/2014/main" id="{BE0D6BDB-1A7B-40E4-AC0D-417E52F5C12A}"/>
              </a:ext>
            </a:extLst>
          </p:cNvPr>
          <p:cNvSpPr>
            <a:spLocks xmlns:a="http://schemas.openxmlformats.org/drawingml/2006/main" noGrp="1"/>
          </p:cNvSpPr>
          <p:nvPr/>
        </p:nvSpPr>
        <p:spPr>
          <a:xfrm xmlns:a="http://schemas.openxmlformats.org/drawingml/2006/main">
            <a:off x="5095875" y="5667375"/>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These questions can select different candidates.</a:t>
            </a:r>
          </a:p>
        </p:txBody>
      </p:sp>
      <p:sp>
        <p:nvSpPr>
          <p:cNvPr id="33" name="Rectangle: Rounded Corners 32">
            <a:extLst xmlns:a="http://schemas.openxmlformats.org/drawingml/2006/main">
              <a:ext uri="{FF2B5EF4-FFF2-40B4-BE49-F238E27FC236}">
                <a16:creationId xmlns:a16="http://schemas.microsoft.com/office/drawing/2014/main" id="{4A557266-9188-45A9-9D76-2D42D0A90BAD}"/>
              </a:ext>
            </a:extLst>
          </p:cNvPr>
          <p:cNvSpPr>
            <a:spLocks xmlns:a="http://schemas.openxmlformats.org/drawingml/2006/main" noGrp="1"/>
          </p:cNvSpPr>
          <p:nvPr/>
        </p:nvSpPr>
        <p:spPr>
          <a:xfrm xmlns:a="http://schemas.openxmlformats.org/drawingml/2006/main">
            <a:off x="2000250" y="6143625"/>
            <a:ext cx="8191500" cy="400050"/>
          </a:xfrm>
          <a:prstGeom xmlns:a="http://schemas.openxmlformats.org/drawingml/2006/main" prst="roundRect">
            <a:avLst>
              <a:gd name="adj" fmla="val 28571"/>
            </a:avLst>
          </a:prstGeom>
          <a:solidFill xmlns:a="http://schemas.openxmlformats.org/drawingml/2006/main">
            <a:srgbClr val="092034"/>
          </a:solidFill>
          <a:ln xmlns:a="http://schemas.openxmlformats.org/drawingml/2006/main" w="19050">
            <a:solidFill>
              <a:srgbClr val="22D3EE"/>
            </a:solidFill>
            <a:prstDash val="solid"/>
          </a:ln>
        </p:spPr>
      </p:sp>
      <p:sp>
        <p:nvSpPr>
          <p:cNvPr id="34" name="Rectangle 33">
            <a:extLst xmlns:a="http://schemas.openxmlformats.org/drawingml/2006/main">
              <a:ext uri="{FF2B5EF4-FFF2-40B4-BE49-F238E27FC236}">
                <a16:creationId xmlns:a16="http://schemas.microsoft.com/office/drawing/2014/main" id="{33427116-7CA9-4C94-8AF2-5E81FC2B64AB}"/>
              </a:ext>
            </a:extLst>
          </p:cNvPr>
          <p:cNvSpPr>
            <a:spLocks xmlns:a="http://schemas.openxmlformats.org/drawingml/2006/main" noGrp="1"/>
          </p:cNvSpPr>
          <p:nvPr/>
        </p:nvSpPr>
        <p:spPr>
          <a:xfrm xmlns:a="http://schemas.openxmlformats.org/drawingml/2006/main">
            <a:off x="2114550" y="6238875"/>
            <a:ext cx="796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0784"/>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The encoder needs one score that combines reconstruction error and bit cost.</a:t>
            </a:r>
          </a:p>
        </p:txBody>
      </p:sp>
    </p:spTree>
    <p:extLst>
      <p:ext uri="{BB962C8B-B14F-4D97-AF65-F5344CB8AC3E}">
        <p14:creationId xmlns:p14="http://schemas.microsoft.com/office/powerpoint/2010/main" val="1812744567"/>
      </p:ext>
    </p:extLst>
  </p:cSld>
</p:sld>
</file>

<file path=ppt/slides/slide39.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7" name="Oval 36">
            <a:extLst xmlns:a="http://schemas.openxmlformats.org/drawingml/2006/main">
              <a:ext uri="{FF2B5EF4-FFF2-40B4-BE49-F238E27FC236}">
                <a16:creationId xmlns:a16="http://schemas.microsoft.com/office/drawing/2014/main" id="{81F9FDC3-8E4F-4F2E-9BD0-66F063942EA9}"/>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F6B6CB5B-C42A-4CC3-B89D-80B2D591495C}"/>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2193AE59-A3E6-4BD4-A773-5E8CFB55E6CD}"/>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The Rate–Distortion cost function</a:t>
            </a:r>
          </a:p>
        </p:txBody>
      </p:sp>
      <p:sp>
        <p:nvSpPr>
          <p:cNvPr id="4" name="Straight Connector 3">
            <a:extLst xmlns:a="http://schemas.openxmlformats.org/drawingml/2006/main">
              <a:ext uri="{FF2B5EF4-FFF2-40B4-BE49-F238E27FC236}">
                <a16:creationId xmlns:a16="http://schemas.microsoft.com/office/drawing/2014/main" id="{AD2952C7-948C-45AD-A1F5-C8846EC9B43A}"/>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E4A97D48-A2A6-4B9A-9235-D5CED7630F10}"/>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Rate–Distortion Optimization (RDO) assigns one comparable cost to every candidate</a:t>
            </a:r>
          </a:p>
        </p:txBody>
      </p:sp>
      <p:sp>
        <p:nvSpPr>
          <p:cNvPr id="6" name="Rectangle 5">
            <a:extLst xmlns:a="http://schemas.openxmlformats.org/drawingml/2006/main">
              <a:ext uri="{FF2B5EF4-FFF2-40B4-BE49-F238E27FC236}">
                <a16:creationId xmlns:a16="http://schemas.microsoft.com/office/drawing/2014/main" id="{A726C8AB-FF3E-44EE-90C6-3BC677134B38}"/>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50E1C20E-DD68-4E11-BD44-E47CB0CB622B}"/>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39 / 49</a:t>
            </a:r>
          </a:p>
        </p:txBody>
      </p:sp>
      <p:sp>
        <p:nvSpPr>
          <p:cNvPr id="8" name="Rectangle 7">
            <a:extLst xmlns:a="http://schemas.openxmlformats.org/drawingml/2006/main">
              <a:ext uri="{FF2B5EF4-FFF2-40B4-BE49-F238E27FC236}">
                <a16:creationId xmlns:a16="http://schemas.microsoft.com/office/drawing/2014/main" id="{5FA15055-87CD-4E65-9100-BE263DFDFC93}"/>
              </a:ext>
            </a:extLst>
          </p:cNvPr>
          <p:cNvSpPr>
            <a:spLocks xmlns:a="http://schemas.openxmlformats.org/drawingml/2006/main" noGrp="1"/>
          </p:cNvSpPr>
          <p:nvPr/>
        </p:nvSpPr>
        <p:spPr>
          <a:xfrm xmlns:a="http://schemas.openxmlformats.org/drawingml/2006/main">
            <a:off x="3000375" y="1428750"/>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4350" b="1">
                <a:solidFill>
                  <a:srgbClr val="F4F8FC"/>
                </a:solidFill>
                <a:latin typeface="Arial"/>
                <a:ea typeface="Arial"/>
                <a:cs typeface="Arial"/>
              </a:defRPr>
            </a:pPr>
            <a:r>
              <a:rPr sz="4350" b="1">
                <a:solidFill>
                  <a:srgbClr val="F4F8FC"/>
                </a:solidFill>
                <a:latin typeface="Arial"/>
                <a:ea typeface="Arial"/>
                <a:cs typeface="Arial"/>
              </a:rPr>
              <a:t>J = D + λR</a:t>
            </a:r>
          </a:p>
        </p:txBody>
      </p:sp>
      <p:sp>
        <p:nvSpPr>
          <p:cNvPr id="9" name="Rectangle 8">
            <a:extLst xmlns:a="http://schemas.openxmlformats.org/drawingml/2006/main">
              <a:ext uri="{FF2B5EF4-FFF2-40B4-BE49-F238E27FC236}">
                <a16:creationId xmlns:a16="http://schemas.microsoft.com/office/drawing/2014/main" id="{001BCE3F-2BF4-420E-8CA3-B2B5447F1F2D}"/>
              </a:ext>
            </a:extLst>
          </p:cNvPr>
          <p:cNvSpPr>
            <a:spLocks xmlns:a="http://schemas.openxmlformats.org/drawingml/2006/main" noGrp="1"/>
          </p:cNvSpPr>
          <p:nvPr/>
        </p:nvSpPr>
        <p:spPr>
          <a:xfrm xmlns:a="http://schemas.openxmlformats.org/drawingml/2006/main">
            <a:off x="4191000" y="242887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47E6A4"/>
                </a:solidFill>
                <a:latin typeface="Arial"/>
                <a:ea typeface="Arial"/>
                <a:cs typeface="Arial"/>
              </a:defRPr>
            </a:pPr>
            <a:r>
              <a:rPr sz="1800" b="1">
                <a:solidFill>
                  <a:srgbClr val="47E6A4"/>
                </a:solidFill>
                <a:latin typeface="Arial"/>
                <a:ea typeface="Arial"/>
                <a:cs typeface="Arial"/>
              </a:rPr>
              <a:t>LOWEST J WINS</a:t>
            </a:r>
          </a:p>
        </p:txBody>
      </p:sp>
      <p:sp>
        <p:nvSpPr>
          <p:cNvPr id="10" name="Rectangle 9">
            <a:extLst xmlns:a="http://schemas.openxmlformats.org/drawingml/2006/main">
              <a:ext uri="{FF2B5EF4-FFF2-40B4-BE49-F238E27FC236}">
                <a16:creationId xmlns:a16="http://schemas.microsoft.com/office/drawing/2014/main" id="{DAA48D5D-3131-4963-8BB5-6E5A501AD2C4}"/>
              </a:ext>
            </a:extLst>
          </p:cNvPr>
          <p:cNvSpPr>
            <a:spLocks xmlns:a="http://schemas.openxmlformats.org/drawingml/2006/main" noGrp="1"/>
          </p:cNvSpPr>
          <p:nvPr/>
        </p:nvSpPr>
        <p:spPr>
          <a:xfrm xmlns:a="http://schemas.openxmlformats.org/drawingml/2006/main">
            <a:off x="952500" y="3190875"/>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3600" b="1">
                <a:solidFill>
                  <a:srgbClr val="2E9BFF"/>
                </a:solidFill>
                <a:latin typeface="Arial"/>
                <a:ea typeface="Arial"/>
                <a:cs typeface="Arial"/>
              </a:defRPr>
            </a:pPr>
            <a:r>
              <a:rPr sz="3600" b="1">
                <a:solidFill>
                  <a:srgbClr val="2E9BFF"/>
                </a:solidFill>
                <a:latin typeface="Arial"/>
                <a:ea typeface="Arial"/>
                <a:cs typeface="Arial"/>
              </a:rPr>
              <a:t>D</a:t>
            </a:r>
          </a:p>
        </p:txBody>
      </p:sp>
      <p:sp>
        <p:nvSpPr>
          <p:cNvPr id="11" name="Rectangle 10">
            <a:extLst xmlns:a="http://schemas.openxmlformats.org/drawingml/2006/main">
              <a:ext uri="{FF2B5EF4-FFF2-40B4-BE49-F238E27FC236}">
                <a16:creationId xmlns:a16="http://schemas.microsoft.com/office/drawing/2014/main" id="{D1AA732A-D831-4D34-8A77-E443AF4B9000}"/>
              </a:ext>
            </a:extLst>
          </p:cNvPr>
          <p:cNvSpPr>
            <a:spLocks xmlns:a="http://schemas.openxmlformats.org/drawingml/2006/main" noGrp="1"/>
          </p:cNvSpPr>
          <p:nvPr/>
        </p:nvSpPr>
        <p:spPr>
          <a:xfrm xmlns:a="http://schemas.openxmlformats.org/drawingml/2006/main">
            <a:off x="1809750" y="3143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2E9BFF"/>
                </a:solidFill>
                <a:latin typeface="Arial"/>
                <a:ea typeface="Arial"/>
                <a:cs typeface="Arial"/>
              </a:defRPr>
            </a:pPr>
            <a:r>
              <a:rPr sz="1575" b="1">
                <a:solidFill>
                  <a:srgbClr val="2E9BFF"/>
                </a:solidFill>
                <a:latin typeface="Arial"/>
                <a:ea typeface="Arial"/>
                <a:cs typeface="Arial"/>
              </a:rPr>
              <a:t>DISTORTION</a:t>
            </a:r>
          </a:p>
        </p:txBody>
      </p:sp>
      <p:sp>
        <p:nvSpPr>
          <p:cNvPr id="12" name="Rectangle 11">
            <a:extLst xmlns:a="http://schemas.openxmlformats.org/drawingml/2006/main">
              <a:ext uri="{FF2B5EF4-FFF2-40B4-BE49-F238E27FC236}">
                <a16:creationId xmlns:a16="http://schemas.microsoft.com/office/drawing/2014/main" id="{E84E665F-9420-4E62-9D0B-5A104A114C0F}"/>
              </a:ext>
            </a:extLst>
          </p:cNvPr>
          <p:cNvSpPr>
            <a:spLocks xmlns:a="http://schemas.openxmlformats.org/drawingml/2006/main" noGrp="1"/>
          </p:cNvSpPr>
          <p:nvPr/>
        </p:nvSpPr>
        <p:spPr>
          <a:xfrm xmlns:a="http://schemas.openxmlformats.org/drawingml/2006/main">
            <a:off x="1809750" y="35242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Difference between the original and reconstructed samples</a:t>
            </a:r>
          </a:p>
        </p:txBody>
      </p:sp>
      <p:sp>
        <p:nvSpPr>
          <p:cNvPr id="13" name="Rectangle 12">
            <a:extLst xmlns:a="http://schemas.openxmlformats.org/drawingml/2006/main">
              <a:ext uri="{FF2B5EF4-FFF2-40B4-BE49-F238E27FC236}">
                <a16:creationId xmlns:a16="http://schemas.microsoft.com/office/drawing/2014/main" id="{0CE58168-EF4A-47D2-BC6E-BDC99E2E6C58}"/>
              </a:ext>
            </a:extLst>
          </p:cNvPr>
          <p:cNvSpPr>
            <a:spLocks xmlns:a="http://schemas.openxmlformats.org/drawingml/2006/main" noGrp="1"/>
          </p:cNvSpPr>
          <p:nvPr/>
        </p:nvSpPr>
        <p:spPr>
          <a:xfrm xmlns:a="http://schemas.openxmlformats.org/drawingml/2006/main">
            <a:off x="5000625" y="3190875"/>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3600" b="1">
                <a:solidFill>
                  <a:srgbClr val="FF6577"/>
                </a:solidFill>
                <a:latin typeface="Arial"/>
                <a:ea typeface="Arial"/>
                <a:cs typeface="Arial"/>
              </a:defRPr>
            </a:pPr>
            <a:r>
              <a:rPr sz="3600" b="1">
                <a:solidFill>
                  <a:srgbClr val="FF6577"/>
                </a:solidFill>
                <a:latin typeface="Arial"/>
                <a:ea typeface="Arial"/>
                <a:cs typeface="Arial"/>
              </a:rPr>
              <a:t>R</a:t>
            </a:r>
          </a:p>
        </p:txBody>
      </p:sp>
      <p:sp>
        <p:nvSpPr>
          <p:cNvPr id="14" name="Rectangle 13">
            <a:extLst xmlns:a="http://schemas.openxmlformats.org/drawingml/2006/main">
              <a:ext uri="{FF2B5EF4-FFF2-40B4-BE49-F238E27FC236}">
                <a16:creationId xmlns:a16="http://schemas.microsoft.com/office/drawing/2014/main" id="{27F42B7F-872A-4666-B788-59D2197F436D}"/>
              </a:ext>
            </a:extLst>
          </p:cNvPr>
          <p:cNvSpPr>
            <a:spLocks xmlns:a="http://schemas.openxmlformats.org/drawingml/2006/main" noGrp="1"/>
          </p:cNvSpPr>
          <p:nvPr/>
        </p:nvSpPr>
        <p:spPr>
          <a:xfrm xmlns:a="http://schemas.openxmlformats.org/drawingml/2006/main">
            <a:off x="5857875" y="31432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FF6577"/>
                </a:solidFill>
                <a:latin typeface="Arial"/>
                <a:ea typeface="Arial"/>
                <a:cs typeface="Arial"/>
              </a:defRPr>
            </a:pPr>
            <a:r>
              <a:rPr sz="1575" b="1">
                <a:solidFill>
                  <a:srgbClr val="FF6577"/>
                </a:solidFill>
                <a:latin typeface="Arial"/>
                <a:ea typeface="Arial"/>
                <a:cs typeface="Arial"/>
              </a:rPr>
              <a:t>RATE</a:t>
            </a:r>
          </a:p>
        </p:txBody>
      </p:sp>
      <p:sp>
        <p:nvSpPr>
          <p:cNvPr id="15" name="Rectangle 14">
            <a:extLst xmlns:a="http://schemas.openxmlformats.org/drawingml/2006/main">
              <a:ext uri="{FF2B5EF4-FFF2-40B4-BE49-F238E27FC236}">
                <a16:creationId xmlns:a16="http://schemas.microsoft.com/office/drawing/2014/main" id="{A0D353E9-69A1-4592-80A9-CF7BF510FCC7}"/>
              </a:ext>
            </a:extLst>
          </p:cNvPr>
          <p:cNvSpPr>
            <a:spLocks xmlns:a="http://schemas.openxmlformats.org/drawingml/2006/main" noGrp="1"/>
          </p:cNvSpPr>
          <p:nvPr/>
        </p:nvSpPr>
        <p:spPr>
          <a:xfrm xmlns:a="http://schemas.openxmlformats.org/drawingml/2006/main">
            <a:off x="5857875" y="35242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Bits for partition flags, modes, motion data, coefficients, and other syntax</a:t>
            </a:r>
          </a:p>
        </p:txBody>
      </p:sp>
      <p:sp>
        <p:nvSpPr>
          <p:cNvPr id="16" name="Rectangle 15">
            <a:extLst xmlns:a="http://schemas.openxmlformats.org/drawingml/2006/main">
              <a:ext uri="{FF2B5EF4-FFF2-40B4-BE49-F238E27FC236}">
                <a16:creationId xmlns:a16="http://schemas.microsoft.com/office/drawing/2014/main" id="{F5F5C995-6C23-42D6-93F8-52E2ADC5F836}"/>
              </a:ext>
            </a:extLst>
          </p:cNvPr>
          <p:cNvSpPr>
            <a:spLocks xmlns:a="http://schemas.openxmlformats.org/drawingml/2006/main" noGrp="1"/>
          </p:cNvSpPr>
          <p:nvPr/>
        </p:nvSpPr>
        <p:spPr>
          <a:xfrm xmlns:a="http://schemas.openxmlformats.org/drawingml/2006/main">
            <a:off x="9667875" y="3190875"/>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3600" b="1">
                <a:solidFill>
                  <a:srgbClr val="FFB84D"/>
                </a:solidFill>
                <a:latin typeface="Arial"/>
                <a:ea typeface="Arial"/>
                <a:cs typeface="Arial"/>
              </a:defRPr>
            </a:pPr>
            <a:r>
              <a:rPr sz="3600" b="1">
                <a:solidFill>
                  <a:srgbClr val="FFB84D"/>
                </a:solidFill>
                <a:latin typeface="Arial"/>
                <a:ea typeface="Arial"/>
                <a:cs typeface="Arial"/>
              </a:rPr>
              <a:t>λ</a:t>
            </a:r>
          </a:p>
        </p:txBody>
      </p:sp>
      <p:sp>
        <p:nvSpPr>
          <p:cNvPr id="17" name="Rectangle 16">
            <a:extLst xmlns:a="http://schemas.openxmlformats.org/drawingml/2006/main">
              <a:ext uri="{FF2B5EF4-FFF2-40B4-BE49-F238E27FC236}">
                <a16:creationId xmlns:a16="http://schemas.microsoft.com/office/drawing/2014/main" id="{BF915366-96F8-436E-B167-08223D7200A5}"/>
              </a:ext>
            </a:extLst>
          </p:cNvPr>
          <p:cNvSpPr>
            <a:spLocks xmlns:a="http://schemas.openxmlformats.org/drawingml/2006/main" noGrp="1"/>
          </p:cNvSpPr>
          <p:nvPr/>
        </p:nvSpPr>
        <p:spPr>
          <a:xfrm xmlns:a="http://schemas.openxmlformats.org/drawingml/2006/main">
            <a:off x="10382250" y="31432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FFB84D"/>
                </a:solidFill>
                <a:latin typeface="Arial"/>
                <a:ea typeface="Arial"/>
                <a:cs typeface="Arial"/>
              </a:defRPr>
            </a:pPr>
            <a:r>
              <a:rPr sz="1575" b="1">
                <a:solidFill>
                  <a:srgbClr val="FFB84D"/>
                </a:solidFill>
                <a:latin typeface="Arial"/>
                <a:ea typeface="Arial"/>
                <a:cs typeface="Arial"/>
              </a:rPr>
              <a:t>LAMBDA</a:t>
            </a:r>
          </a:p>
        </p:txBody>
      </p:sp>
      <p:sp>
        <p:nvSpPr>
          <p:cNvPr id="18" name="Rectangle 17">
            <a:extLst xmlns:a="http://schemas.openxmlformats.org/drawingml/2006/main">
              <a:ext uri="{FF2B5EF4-FFF2-40B4-BE49-F238E27FC236}">
                <a16:creationId xmlns:a16="http://schemas.microsoft.com/office/drawing/2014/main" id="{75466FC9-E52F-4DD5-938D-2AE00AF5BEA9}"/>
              </a:ext>
            </a:extLst>
          </p:cNvPr>
          <p:cNvSpPr>
            <a:spLocks xmlns:a="http://schemas.openxmlformats.org/drawingml/2006/main" noGrp="1"/>
          </p:cNvSpPr>
          <p:nvPr/>
        </p:nvSpPr>
        <p:spPr>
          <a:xfrm xmlns:a="http://schemas.openxmlformats.org/drawingml/2006/main">
            <a:off x="9953625" y="352425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210"/>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Exchange rate between distortion units and bits</a:t>
            </a:r>
          </a:p>
        </p:txBody>
      </p:sp>
      <p:sp>
        <p:nvSpPr>
          <p:cNvPr id="19" name="Rectangle: Rounded Corners 18">
            <a:extLst xmlns:a="http://schemas.openxmlformats.org/drawingml/2006/main">
              <a:ext uri="{FF2B5EF4-FFF2-40B4-BE49-F238E27FC236}">
                <a16:creationId xmlns:a16="http://schemas.microsoft.com/office/drawing/2014/main" id="{1A55531D-249A-4634-A892-56D62E3B2BB1}"/>
              </a:ext>
            </a:extLst>
          </p:cNvPr>
          <p:cNvSpPr>
            <a:spLocks xmlns:a="http://schemas.openxmlformats.org/drawingml/2006/main" noGrp="1"/>
          </p:cNvSpPr>
          <p:nvPr/>
        </p:nvSpPr>
        <p:spPr>
          <a:xfrm xmlns:a="http://schemas.openxmlformats.org/drawingml/2006/main">
            <a:off x="904875" y="4762500"/>
            <a:ext cx="2190750"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22D3EE"/>
            </a:solidFill>
            <a:prstDash val="solid"/>
          </a:ln>
        </p:spPr>
      </p:sp>
      <p:sp>
        <p:nvSpPr>
          <p:cNvPr id="20" name="Rectangle 19">
            <a:extLst xmlns:a="http://schemas.openxmlformats.org/drawingml/2006/main">
              <a:ext uri="{FF2B5EF4-FFF2-40B4-BE49-F238E27FC236}">
                <a16:creationId xmlns:a16="http://schemas.microsoft.com/office/drawing/2014/main" id="{47308A98-7660-4B58-9805-A1D94E276F34}"/>
              </a:ext>
            </a:extLst>
          </p:cNvPr>
          <p:cNvSpPr>
            <a:spLocks xmlns:a="http://schemas.openxmlformats.org/drawingml/2006/main" noGrp="1"/>
          </p:cNvSpPr>
          <p:nvPr/>
        </p:nvSpPr>
        <p:spPr>
          <a:xfrm xmlns:a="http://schemas.openxmlformats.org/drawingml/2006/main">
            <a:off x="1019175" y="48577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1</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Build candidate</a:t>
            </a:r>
          </a:p>
        </p:txBody>
      </p:sp>
      <p:sp>
        <p:nvSpPr>
          <p:cNvPr id="21" name="Rectangle 20">
            <a:extLst xmlns:a="http://schemas.openxmlformats.org/drawingml/2006/main">
              <a:ext uri="{FF2B5EF4-FFF2-40B4-BE49-F238E27FC236}">
                <a16:creationId xmlns:a16="http://schemas.microsoft.com/office/drawing/2014/main" id="{2C41D660-2969-403C-863F-7A0C77586C1B}"/>
              </a:ext>
            </a:extLst>
          </p:cNvPr>
          <p:cNvSpPr>
            <a:spLocks xmlns:a="http://schemas.openxmlformats.org/drawingml/2006/main" noGrp="1"/>
          </p:cNvSpPr>
          <p:nvPr/>
        </p:nvSpPr>
        <p:spPr>
          <a:xfrm xmlns:a="http://schemas.openxmlformats.org/drawingml/2006/main">
            <a:off x="3619500" y="5143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78A081FC-975B-43FA-8C22-B97991836CC2}"/>
              </a:ext>
            </a:extLst>
          </p:cNvPr>
          <p:cNvSpPr>
            <a:spLocks xmlns:a="http://schemas.openxmlformats.org/drawingml/2006/main" noGrp="1"/>
          </p:cNvSpPr>
          <p:nvPr/>
        </p:nvSpPr>
        <p:spPr>
          <a:xfrm xmlns:a="http://schemas.openxmlformats.org/drawingml/2006/main">
            <a:off x="3190875" y="5143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2" name="Straight Arrow Connector 58"/>
          <p:cNvCxnSpPr>
            <a:stCxn xmlns:a="http://schemas.openxmlformats.org/drawingml/2006/main" id="21" idx="1"/>
            <a:endCxn xmlns:a="http://schemas.openxmlformats.org/drawingml/2006/main" id="22" idx="3"/>
          </p:cNvCxnSpPr>
          <p:nvPr/>
        </p:nvCxnSpPr>
        <p:spPr>
          <a:xfrm xmlns:a="http://schemas.openxmlformats.org/drawingml/2006/main" flipH="1">
            <a:off x="3209925" y="5153025"/>
            <a:ext cx="4095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4" name="Rectangle: Rounded Corners 23">
            <a:extLst xmlns:a="http://schemas.openxmlformats.org/drawingml/2006/main">
              <a:ext uri="{FF2B5EF4-FFF2-40B4-BE49-F238E27FC236}">
                <a16:creationId xmlns:a16="http://schemas.microsoft.com/office/drawing/2014/main" id="{551E176D-D5B9-40FF-AD82-83A296E254C9}"/>
              </a:ext>
            </a:extLst>
          </p:cNvPr>
          <p:cNvSpPr>
            <a:spLocks xmlns:a="http://schemas.openxmlformats.org/drawingml/2006/main" noGrp="1"/>
          </p:cNvSpPr>
          <p:nvPr/>
        </p:nvSpPr>
        <p:spPr>
          <a:xfrm xmlns:a="http://schemas.openxmlformats.org/drawingml/2006/main">
            <a:off x="3714750" y="4762500"/>
            <a:ext cx="2190750"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2E9BFF"/>
            </a:solidFill>
            <a:prstDash val="solid"/>
          </a:ln>
        </p:spPr>
      </p:sp>
      <p:sp>
        <p:nvSpPr>
          <p:cNvPr id="25" name="Rectangle 24">
            <a:extLst xmlns:a="http://schemas.openxmlformats.org/drawingml/2006/main">
              <a:ext uri="{FF2B5EF4-FFF2-40B4-BE49-F238E27FC236}">
                <a16:creationId xmlns:a16="http://schemas.microsoft.com/office/drawing/2014/main" id="{56CB9E7C-096D-4CF3-95D7-C5CD997014DC}"/>
              </a:ext>
            </a:extLst>
          </p:cNvPr>
          <p:cNvSpPr>
            <a:spLocks xmlns:a="http://schemas.openxmlformats.org/drawingml/2006/main" noGrp="1"/>
          </p:cNvSpPr>
          <p:nvPr/>
        </p:nvSpPr>
        <p:spPr>
          <a:xfrm xmlns:a="http://schemas.openxmlformats.org/drawingml/2006/main">
            <a:off x="3829050" y="48577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2</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Reconstruct it</a:t>
            </a:r>
          </a:p>
        </p:txBody>
      </p:sp>
      <p:sp>
        <p:nvSpPr>
          <p:cNvPr id="26" name="Rectangle 25">
            <a:extLst xmlns:a="http://schemas.openxmlformats.org/drawingml/2006/main">
              <a:ext uri="{FF2B5EF4-FFF2-40B4-BE49-F238E27FC236}">
                <a16:creationId xmlns:a16="http://schemas.microsoft.com/office/drawing/2014/main" id="{C4FBF94F-AA14-4AD4-8474-1171F74DABF4}"/>
              </a:ext>
            </a:extLst>
          </p:cNvPr>
          <p:cNvSpPr>
            <a:spLocks xmlns:a="http://schemas.openxmlformats.org/drawingml/2006/main" noGrp="1"/>
          </p:cNvSpPr>
          <p:nvPr/>
        </p:nvSpPr>
        <p:spPr>
          <a:xfrm xmlns:a="http://schemas.openxmlformats.org/drawingml/2006/main">
            <a:off x="6429375" y="5143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7" name="Rectangle 26">
            <a:extLst xmlns:a="http://schemas.openxmlformats.org/drawingml/2006/main">
              <a:ext uri="{FF2B5EF4-FFF2-40B4-BE49-F238E27FC236}">
                <a16:creationId xmlns:a16="http://schemas.microsoft.com/office/drawing/2014/main" id="{F15CF7FA-2297-463D-A18A-92DBB0620E40}"/>
              </a:ext>
            </a:extLst>
          </p:cNvPr>
          <p:cNvSpPr>
            <a:spLocks xmlns:a="http://schemas.openxmlformats.org/drawingml/2006/main" noGrp="1"/>
          </p:cNvSpPr>
          <p:nvPr/>
        </p:nvSpPr>
        <p:spPr>
          <a:xfrm xmlns:a="http://schemas.openxmlformats.org/drawingml/2006/main">
            <a:off x="6000750" y="5143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7" name="Straight Arrow Connector 63"/>
          <p:cNvCxnSpPr>
            <a:stCxn xmlns:a="http://schemas.openxmlformats.org/drawingml/2006/main" id="26" idx="1"/>
            <a:endCxn xmlns:a="http://schemas.openxmlformats.org/drawingml/2006/main" id="27" idx="3"/>
          </p:cNvCxnSpPr>
          <p:nvPr/>
        </p:nvCxnSpPr>
        <p:spPr>
          <a:xfrm xmlns:a="http://schemas.openxmlformats.org/drawingml/2006/main" flipH="1">
            <a:off x="6019800" y="5153025"/>
            <a:ext cx="4095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9" name="Rectangle: Rounded Corners 28">
            <a:extLst xmlns:a="http://schemas.openxmlformats.org/drawingml/2006/main">
              <a:ext uri="{FF2B5EF4-FFF2-40B4-BE49-F238E27FC236}">
                <a16:creationId xmlns:a16="http://schemas.microsoft.com/office/drawing/2014/main" id="{965DF3D3-8360-4DBC-843C-BC535342E6FC}"/>
              </a:ext>
            </a:extLst>
          </p:cNvPr>
          <p:cNvSpPr>
            <a:spLocks xmlns:a="http://schemas.openxmlformats.org/drawingml/2006/main" noGrp="1"/>
          </p:cNvSpPr>
          <p:nvPr/>
        </p:nvSpPr>
        <p:spPr>
          <a:xfrm xmlns:a="http://schemas.openxmlformats.org/drawingml/2006/main">
            <a:off x="6524625" y="4762500"/>
            <a:ext cx="2190750"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FF6577"/>
            </a:solidFill>
            <a:prstDash val="solid"/>
          </a:ln>
        </p:spPr>
      </p:sp>
      <p:sp>
        <p:nvSpPr>
          <p:cNvPr id="30" name="Rectangle 29">
            <a:extLst xmlns:a="http://schemas.openxmlformats.org/drawingml/2006/main">
              <a:ext uri="{FF2B5EF4-FFF2-40B4-BE49-F238E27FC236}">
                <a16:creationId xmlns:a16="http://schemas.microsoft.com/office/drawing/2014/main" id="{EFA79E1D-FBF7-4EB9-9D4C-E17B82060BBD}"/>
              </a:ext>
            </a:extLst>
          </p:cNvPr>
          <p:cNvSpPr>
            <a:spLocks xmlns:a="http://schemas.openxmlformats.org/drawingml/2006/main" noGrp="1"/>
          </p:cNvSpPr>
          <p:nvPr/>
        </p:nvSpPr>
        <p:spPr>
          <a:xfrm xmlns:a="http://schemas.openxmlformats.org/drawingml/2006/main">
            <a:off x="6638925" y="48577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3</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Measure D and R</a:t>
            </a:r>
          </a:p>
        </p:txBody>
      </p:sp>
      <p:sp>
        <p:nvSpPr>
          <p:cNvPr id="31" name="Rectangle 30">
            <a:extLst xmlns:a="http://schemas.openxmlformats.org/drawingml/2006/main">
              <a:ext uri="{FF2B5EF4-FFF2-40B4-BE49-F238E27FC236}">
                <a16:creationId xmlns:a16="http://schemas.microsoft.com/office/drawing/2014/main" id="{945CD1C3-65DD-418C-AE5C-8459C238CFD0}"/>
              </a:ext>
            </a:extLst>
          </p:cNvPr>
          <p:cNvSpPr>
            <a:spLocks xmlns:a="http://schemas.openxmlformats.org/drawingml/2006/main" noGrp="1"/>
          </p:cNvSpPr>
          <p:nvPr/>
        </p:nvSpPr>
        <p:spPr>
          <a:xfrm xmlns:a="http://schemas.openxmlformats.org/drawingml/2006/main">
            <a:off x="9239250" y="5143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Rectangle 31">
            <a:extLst xmlns:a="http://schemas.openxmlformats.org/drawingml/2006/main">
              <a:ext uri="{FF2B5EF4-FFF2-40B4-BE49-F238E27FC236}">
                <a16:creationId xmlns:a16="http://schemas.microsoft.com/office/drawing/2014/main" id="{2A6BCE58-9773-47C0-B404-22DDB7F21B28}"/>
              </a:ext>
            </a:extLst>
          </p:cNvPr>
          <p:cNvSpPr>
            <a:spLocks xmlns:a="http://schemas.openxmlformats.org/drawingml/2006/main" noGrp="1"/>
          </p:cNvSpPr>
          <p:nvPr/>
        </p:nvSpPr>
        <p:spPr>
          <a:xfrm xmlns:a="http://schemas.openxmlformats.org/drawingml/2006/main">
            <a:off x="8810625" y="5143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2" name="Straight Arrow Connector 68"/>
          <p:cNvCxnSpPr>
            <a:stCxn xmlns:a="http://schemas.openxmlformats.org/drawingml/2006/main" id="31" idx="1"/>
            <a:endCxn xmlns:a="http://schemas.openxmlformats.org/drawingml/2006/main" id="32" idx="3"/>
          </p:cNvCxnSpPr>
          <p:nvPr/>
        </p:nvCxnSpPr>
        <p:spPr>
          <a:xfrm xmlns:a="http://schemas.openxmlformats.org/drawingml/2006/main" flipH="1">
            <a:off x="8829675" y="5153025"/>
            <a:ext cx="409575"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34" name="Rectangle: Rounded Corners 33">
            <a:extLst xmlns:a="http://schemas.openxmlformats.org/drawingml/2006/main">
              <a:ext uri="{FF2B5EF4-FFF2-40B4-BE49-F238E27FC236}">
                <a16:creationId xmlns:a16="http://schemas.microsoft.com/office/drawing/2014/main" id="{C5B32639-D66B-4F56-B7BB-EF46DB8AF7D2}"/>
              </a:ext>
            </a:extLst>
          </p:cNvPr>
          <p:cNvSpPr>
            <a:spLocks xmlns:a="http://schemas.openxmlformats.org/drawingml/2006/main" noGrp="1"/>
          </p:cNvSpPr>
          <p:nvPr/>
        </p:nvSpPr>
        <p:spPr>
          <a:xfrm xmlns:a="http://schemas.openxmlformats.org/drawingml/2006/main">
            <a:off x="9334500" y="4762500"/>
            <a:ext cx="2190750" cy="781050"/>
          </a:xfrm>
          <a:prstGeom xmlns:a="http://schemas.openxmlformats.org/drawingml/2006/main" prst="roundRect">
            <a:avLst>
              <a:gd name="adj" fmla="val 14634"/>
            </a:avLst>
          </a:prstGeom>
          <a:solidFill xmlns:a="http://schemas.openxmlformats.org/drawingml/2006/main">
            <a:srgbClr val="0B2033"/>
          </a:solidFill>
          <a:ln xmlns:a="http://schemas.openxmlformats.org/drawingml/2006/main" w="19050">
            <a:solidFill>
              <a:srgbClr val="47E6A4"/>
            </a:solidFill>
            <a:prstDash val="solid"/>
          </a:ln>
        </p:spPr>
      </p:sp>
      <p:sp>
        <p:nvSpPr>
          <p:cNvPr id="35" name="Rectangle 34">
            <a:extLst xmlns:a="http://schemas.openxmlformats.org/drawingml/2006/main">
              <a:ext uri="{FF2B5EF4-FFF2-40B4-BE49-F238E27FC236}">
                <a16:creationId xmlns:a16="http://schemas.microsoft.com/office/drawing/2014/main" id="{0F10554D-C5AE-49DA-B131-460911F2CC21}"/>
              </a:ext>
            </a:extLst>
          </p:cNvPr>
          <p:cNvSpPr>
            <a:spLocks xmlns:a="http://schemas.openxmlformats.org/drawingml/2006/main" noGrp="1"/>
          </p:cNvSpPr>
          <p:nvPr/>
        </p:nvSpPr>
        <p:spPr>
          <a:xfrm xmlns:a="http://schemas.openxmlformats.org/drawingml/2006/main">
            <a:off x="9448800" y="48577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4</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Compute J</a:t>
            </a:r>
          </a:p>
        </p:txBody>
      </p:sp>
      <p:sp>
        <p:nvSpPr>
          <p:cNvPr id="36" name="Rectangle 35">
            <a:extLst xmlns:a="http://schemas.openxmlformats.org/drawingml/2006/main">
              <a:ext uri="{FF2B5EF4-FFF2-40B4-BE49-F238E27FC236}">
                <a16:creationId xmlns:a16="http://schemas.microsoft.com/office/drawing/2014/main" id="{85D2261E-0559-4884-BB73-386EABDBA8F4}"/>
              </a:ext>
            </a:extLst>
          </p:cNvPr>
          <p:cNvSpPr>
            <a:spLocks xmlns:a="http://schemas.openxmlformats.org/drawingml/2006/main" noGrp="1"/>
          </p:cNvSpPr>
          <p:nvPr/>
        </p:nvSpPr>
        <p:spPr>
          <a:xfrm xmlns:a="http://schemas.openxmlformats.org/drawingml/2006/main">
            <a:off x="1666875" y="5953125"/>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AFC0D0"/>
                </a:solidFill>
                <a:latin typeface="Arial"/>
                <a:ea typeface="Arial"/>
                <a:cs typeface="Arial"/>
              </a:defRPr>
            </a:pPr>
            <a:r>
              <a:rPr sz="1350" b="1">
                <a:solidFill>
                  <a:srgbClr val="AFC0D0"/>
                </a:solidFill>
                <a:latin typeface="Arial"/>
                <a:ea typeface="Arial"/>
                <a:cs typeface="Arial"/>
              </a:rPr>
              <a:t>Practical encoders prune candidates and may estimate rate or distortion during faster search stages.</a:t>
            </a:r>
          </a:p>
        </p:txBody>
      </p:sp>
    </p:spTree>
    <p:extLst>
      <p:ext uri="{BB962C8B-B14F-4D97-AF65-F5344CB8AC3E}">
        <p14:creationId xmlns:p14="http://schemas.microsoft.com/office/powerpoint/2010/main" val="690250807"/>
      </p:ext>
    </p:extLst>
  </p:cSld>
</p:sld>
</file>

<file path=ppt/slides/slide40.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4" name="Oval 13">
            <a:extLst xmlns:a="http://schemas.openxmlformats.org/drawingml/2006/main">
              <a:ext uri="{FF2B5EF4-FFF2-40B4-BE49-F238E27FC236}">
                <a16:creationId xmlns:a16="http://schemas.microsoft.com/office/drawing/2014/main" id="{51DEBD63-D940-4219-8807-B43B0303452D}"/>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DF782F8E-B164-4446-BFF7-AC5DCD49886F}"/>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68C5F676-3FA6-4755-A5AE-8204FF554E3A}"/>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Block X decision at λ = 2</a:t>
            </a:r>
          </a:p>
        </p:txBody>
      </p:sp>
      <p:sp>
        <p:nvSpPr>
          <p:cNvPr id="4" name="Straight Connector 3">
            <a:extLst xmlns:a="http://schemas.openxmlformats.org/drawingml/2006/main">
              <a:ext uri="{FF2B5EF4-FFF2-40B4-BE49-F238E27FC236}">
                <a16:creationId xmlns:a16="http://schemas.microsoft.com/office/drawing/2014/main" id="{D4506FA3-5533-4158-8D74-82BF25AA8491}"/>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CF878CBE-BA81-4833-B6AB-5ABB2E2CE858}"/>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Illustrative values show why the lowest distortion and the lowest rate do not necessarily win</a:t>
            </a:r>
          </a:p>
        </p:txBody>
      </p:sp>
      <p:sp>
        <p:nvSpPr>
          <p:cNvPr id="6" name="Rectangle 5">
            <a:extLst xmlns:a="http://schemas.openxmlformats.org/drawingml/2006/main">
              <a:ext uri="{FF2B5EF4-FFF2-40B4-BE49-F238E27FC236}">
                <a16:creationId xmlns:a16="http://schemas.microsoft.com/office/drawing/2014/main" id="{DBDD92A5-5BD6-418B-830A-6B5DBE753648}"/>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46B925D8-CDAD-440F-9088-265E9F72A3B6}"/>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40 / 49</a:t>
            </a:r>
          </a:p>
        </p:txBody>
      </p:sp>
      <p:graphicFrame>
        <p:nvGraphicFramePr>
          <p:cNvPr id="23" name="Table 20"/>
          <p:cNvGraphicFramePr/>
          <p:nvPr/>
        </p:nvGraphicFramePr>
        <p:xfrm>
          <a:off xmlns:a="http://schemas.openxmlformats.org/drawingml/2006/main" x="523875" y="1666875"/>
          <a:ext xmlns:a="http://schemas.openxmlformats.org/drawingml/2006/main" cx="11144250" cy="2571750"/>
        </p:xfrm>
        <a:graphic xmlns:a="http://schemas.openxmlformats.org/drawingml/2006/main">
          <a:graphicData uri="http://schemas.openxmlformats.org/drawingml/2006/table">
            <a:tbl>
              <a:tblPr/>
              <a:tblGrid>
                <a:gridCol w="904875"/>
                <a:gridCol w="3952875"/>
                <a:gridCol w="1428750"/>
                <a:gridCol w="1238250"/>
                <a:gridCol w="1238250"/>
                <a:gridCol w="2381250"/>
              </a:tblGrid>
              <a:tr h="642938">
                <a:tc>
                  <a:txBody>
                    <a:bodyPr/>
                    <a:lstStyle/>
                    <a:p>
                      <a:r>
                        <a:rPr sz="1275" b="1">
                          <a:solidFill>
                            <a:srgbClr val="22D3EE"/>
                          </a:solidFill>
                          <a:latin typeface="Arial"/>
                          <a:ea typeface="Arial"/>
                          <a:cs typeface="Arial"/>
                        </a:rPr>
                        <a:t>Option</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Candidate description</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D: distortion</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R: bits</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λR</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J = D + λR</a:t>
                      </a:r>
                    </a:p>
                  </a:txBody>
                  <a:tcPr marL="76200" marR="76200" marT="47625" marB="47625" anchor="ctr">
                    <a:solidFill>
                      <a:srgbClr val="102A40"/>
                    </a:solidFill>
                  </a:tcPr>
                </a:tc>
              </a:tr>
              <a:tr h="642938">
                <a:tc>
                  <a:txBody>
                    <a:bodyPr/>
                    <a:lstStyle/>
                    <a:p>
                      <a:r>
                        <a:rPr sz="1350">
                          <a:solidFill>
                            <a:srgbClr val="F4F8FC"/>
                          </a:solidFill>
                          <a:latin typeface="Arial"/>
                          <a:ea typeface="Arial"/>
                          <a:cs typeface="Arial"/>
                        </a:rPr>
                        <a:t>A</a:t>
                      </a:r>
                    </a:p>
                  </a:txBody>
                  <a:tcPr marL="76200" marR="76200" marT="47625" marB="47625" anchor="ctr">
                    <a:solidFill>
                      <a:srgbClr val="0B2033"/>
                    </a:solidFill>
                  </a:tcPr>
                </a:tc>
                <a:tc>
                  <a:txBody>
                    <a:bodyPr/>
                    <a:lstStyle/>
                    <a:p>
                      <a:r>
                        <a:rPr sz="1350">
                          <a:solidFill>
                            <a:srgbClr val="F4F8FC"/>
                          </a:solidFill>
                          <a:latin typeface="Arial"/>
                          <a:ea typeface="Arial"/>
                          <a:cs typeface="Arial"/>
                        </a:rPr>
                        <a:t>Large Coding Unit, simple mode</a:t>
                      </a:r>
                    </a:p>
                  </a:txBody>
                  <a:tcPr marL="76200" marR="76200" marT="47625" marB="47625" anchor="ctr">
                    <a:solidFill>
                      <a:srgbClr val="0B2033"/>
                    </a:solidFill>
                  </a:tcPr>
                </a:tc>
                <a:tc>
                  <a:txBody>
                    <a:bodyPr/>
                    <a:lstStyle/>
                    <a:p>
                      <a:r>
                        <a:rPr sz="1350">
                          <a:solidFill>
                            <a:srgbClr val="F4F8FC"/>
                          </a:solidFill>
                          <a:latin typeface="Arial"/>
                          <a:ea typeface="Arial"/>
                          <a:cs typeface="Arial"/>
                        </a:rPr>
                        <a:t>18</a:t>
                      </a:r>
                    </a:p>
                  </a:txBody>
                  <a:tcPr marL="76200" marR="76200" marT="47625" marB="47625" anchor="ctr">
                    <a:solidFill>
                      <a:srgbClr val="0B2033"/>
                    </a:solidFill>
                  </a:tcPr>
                </a:tc>
                <a:tc>
                  <a:txBody>
                    <a:bodyPr/>
                    <a:lstStyle/>
                    <a:p>
                      <a:r>
                        <a:rPr sz="1500" b="1">
                          <a:solidFill>
                            <a:srgbClr val="FFB84D"/>
                          </a:solidFill>
                          <a:latin typeface="Arial"/>
                          <a:ea typeface="Arial"/>
                          <a:cs typeface="Arial"/>
                        </a:rPr>
                        <a:t>6</a:t>
                      </a:r>
                    </a:p>
                  </a:txBody>
                  <a:tcPr marL="76200" marR="76200" marT="47625" marB="47625" anchor="ctr">
                    <a:solidFill>
                      <a:srgbClr val="132536"/>
                    </a:solidFill>
                  </a:tcPr>
                </a:tc>
                <a:tc>
                  <a:txBody>
                    <a:bodyPr/>
                    <a:lstStyle/>
                    <a:p>
                      <a:r>
                        <a:rPr sz="1350">
                          <a:solidFill>
                            <a:srgbClr val="F4F8FC"/>
                          </a:solidFill>
                          <a:latin typeface="Arial"/>
                          <a:ea typeface="Arial"/>
                          <a:cs typeface="Arial"/>
                        </a:rPr>
                        <a:t>12</a:t>
                      </a:r>
                    </a:p>
                  </a:txBody>
                  <a:tcPr marL="76200" marR="76200" marT="47625" marB="47625" anchor="ctr">
                    <a:solidFill>
                      <a:srgbClr val="0B2033"/>
                    </a:solidFill>
                  </a:tcPr>
                </a:tc>
                <a:tc>
                  <a:txBody>
                    <a:bodyPr/>
                    <a:lstStyle/>
                    <a:p>
                      <a:r>
                        <a:rPr sz="1350">
                          <a:solidFill>
                            <a:srgbClr val="F4F8FC"/>
                          </a:solidFill>
                          <a:latin typeface="Arial"/>
                          <a:ea typeface="Arial"/>
                          <a:cs typeface="Arial"/>
                        </a:rPr>
                        <a:t>30</a:t>
                      </a:r>
                    </a:p>
                  </a:txBody>
                  <a:tcPr marL="76200" marR="76200" marT="47625" marB="47625" anchor="ctr">
                    <a:solidFill>
                      <a:srgbClr val="0B2033"/>
                    </a:solidFill>
                  </a:tcPr>
                </a:tc>
              </a:tr>
              <a:tr h="642938">
                <a:tc>
                  <a:txBody>
                    <a:bodyPr/>
                    <a:lstStyle/>
                    <a:p>
                      <a:r>
                        <a:rPr sz="1425" b="1">
                          <a:solidFill>
                            <a:srgbClr val="47E6A4"/>
                          </a:solidFill>
                          <a:latin typeface="Arial"/>
                          <a:ea typeface="Arial"/>
                          <a:cs typeface="Arial"/>
                        </a:rPr>
                        <a:t>B</a:t>
                      </a:r>
                    </a:p>
                  </a:txBody>
                  <a:tcPr marL="76200" marR="76200" marT="47625" marB="47625" anchor="ctr">
                    <a:solidFill>
                      <a:srgbClr val="0A2830"/>
                    </a:solidFill>
                  </a:tcPr>
                </a:tc>
                <a:tc>
                  <a:txBody>
                    <a:bodyPr/>
                    <a:lstStyle/>
                    <a:p>
                      <a:r>
                        <a:rPr sz="1425" b="1">
                          <a:solidFill>
                            <a:srgbClr val="47E6A4"/>
                          </a:solidFill>
                          <a:latin typeface="Arial"/>
                          <a:ea typeface="Arial"/>
                          <a:cs typeface="Arial"/>
                        </a:rPr>
                        <a:t>Smaller Coding Units, better prediction</a:t>
                      </a:r>
                    </a:p>
                  </a:txBody>
                  <a:tcPr marL="76200" marR="76200" marT="47625" marB="47625" anchor="ctr">
                    <a:solidFill>
                      <a:srgbClr val="0A2830"/>
                    </a:solidFill>
                  </a:tcPr>
                </a:tc>
                <a:tc>
                  <a:txBody>
                    <a:bodyPr/>
                    <a:lstStyle/>
                    <a:p>
                      <a:r>
                        <a:rPr sz="1425" b="1">
                          <a:solidFill>
                            <a:srgbClr val="47E6A4"/>
                          </a:solidFill>
                          <a:latin typeface="Arial"/>
                          <a:ea typeface="Arial"/>
                          <a:cs typeface="Arial"/>
                        </a:rPr>
                        <a:t>8</a:t>
                      </a:r>
                    </a:p>
                  </a:txBody>
                  <a:tcPr marL="76200" marR="76200" marT="47625" marB="47625" anchor="ctr">
                    <a:solidFill>
                      <a:srgbClr val="0A2830"/>
                    </a:solidFill>
                  </a:tcPr>
                </a:tc>
                <a:tc>
                  <a:txBody>
                    <a:bodyPr/>
                    <a:lstStyle/>
                    <a:p>
                      <a:r>
                        <a:rPr sz="1425" b="1">
                          <a:solidFill>
                            <a:srgbClr val="47E6A4"/>
                          </a:solidFill>
                          <a:latin typeface="Arial"/>
                          <a:ea typeface="Arial"/>
                          <a:cs typeface="Arial"/>
                        </a:rPr>
                        <a:t>10</a:t>
                      </a:r>
                    </a:p>
                  </a:txBody>
                  <a:tcPr marL="76200" marR="76200" marT="47625" marB="47625" anchor="ctr">
                    <a:solidFill>
                      <a:srgbClr val="0A2830"/>
                    </a:solidFill>
                  </a:tcPr>
                </a:tc>
                <a:tc>
                  <a:txBody>
                    <a:bodyPr/>
                    <a:lstStyle/>
                    <a:p>
                      <a:r>
                        <a:rPr sz="1425" b="1">
                          <a:solidFill>
                            <a:srgbClr val="47E6A4"/>
                          </a:solidFill>
                          <a:latin typeface="Arial"/>
                          <a:ea typeface="Arial"/>
                          <a:cs typeface="Arial"/>
                        </a:rPr>
                        <a:t>20</a:t>
                      </a:r>
                    </a:p>
                  </a:txBody>
                  <a:tcPr marL="76200" marR="76200" marT="47625" marB="47625" anchor="ctr">
                    <a:solidFill>
                      <a:srgbClr val="0A2830"/>
                    </a:solidFill>
                  </a:tcPr>
                </a:tc>
                <a:tc>
                  <a:txBody>
                    <a:bodyPr/>
                    <a:lstStyle/>
                    <a:p>
                      <a:r>
                        <a:rPr sz="1425" b="1">
                          <a:solidFill>
                            <a:srgbClr val="47E6A4"/>
                          </a:solidFill>
                          <a:latin typeface="Arial"/>
                          <a:ea typeface="Arial"/>
                          <a:cs typeface="Arial"/>
                        </a:rPr>
                        <a:t>28</a:t>
                      </a:r>
                    </a:p>
                  </a:txBody>
                  <a:tcPr marL="76200" marR="76200" marT="47625" marB="47625" anchor="ctr">
                    <a:solidFill>
                      <a:srgbClr val="0A2830"/>
                    </a:solidFill>
                  </a:tcPr>
                </a:tc>
              </a:tr>
              <a:tr h="642938">
                <a:tc>
                  <a:txBody>
                    <a:bodyPr/>
                    <a:lstStyle/>
                    <a:p>
                      <a:r>
                        <a:rPr sz="1350">
                          <a:solidFill>
                            <a:srgbClr val="F4F8FC"/>
                          </a:solidFill>
                          <a:latin typeface="Arial"/>
                          <a:ea typeface="Arial"/>
                          <a:cs typeface="Arial"/>
                        </a:rPr>
                        <a:t>C</a:t>
                      </a:r>
                    </a:p>
                  </a:txBody>
                  <a:tcPr marL="76200" marR="76200" marT="47625" marB="47625" anchor="ctr">
                    <a:solidFill>
                      <a:srgbClr val="0B2033"/>
                    </a:solidFill>
                  </a:tcPr>
                </a:tc>
                <a:tc>
                  <a:txBody>
                    <a:bodyPr/>
                    <a:lstStyle/>
                    <a:p>
                      <a:r>
                        <a:rPr sz="1350">
                          <a:solidFill>
                            <a:srgbClr val="F4F8FC"/>
                          </a:solidFill>
                          <a:latin typeface="Arial"/>
                          <a:ea typeface="Arial"/>
                          <a:cs typeface="Arial"/>
                        </a:rPr>
                        <a:t>Deep split, many flags</a:t>
                      </a:r>
                    </a:p>
                  </a:txBody>
                  <a:tcPr marL="76200" marR="76200" marT="47625" marB="47625" anchor="ctr">
                    <a:solidFill>
                      <a:srgbClr val="0B2033"/>
                    </a:solidFill>
                  </a:tcPr>
                </a:tc>
                <a:tc>
                  <a:txBody>
                    <a:bodyPr/>
                    <a:lstStyle/>
                    <a:p>
                      <a:r>
                        <a:rPr sz="1500" b="1">
                          <a:solidFill>
                            <a:srgbClr val="2E9BFF"/>
                          </a:solidFill>
                          <a:latin typeface="Arial"/>
                          <a:ea typeface="Arial"/>
                          <a:cs typeface="Arial"/>
                        </a:rPr>
                        <a:t>5</a:t>
                      </a:r>
                    </a:p>
                  </a:txBody>
                  <a:tcPr marL="76200" marR="76200" marT="47625" marB="47625" anchor="ctr">
                    <a:solidFill>
                      <a:srgbClr val="0A2340"/>
                    </a:solidFill>
                  </a:tcPr>
                </a:tc>
                <a:tc>
                  <a:txBody>
                    <a:bodyPr/>
                    <a:lstStyle/>
                    <a:p>
                      <a:r>
                        <a:rPr sz="1350">
                          <a:solidFill>
                            <a:srgbClr val="F4F8FC"/>
                          </a:solidFill>
                          <a:latin typeface="Arial"/>
                          <a:ea typeface="Arial"/>
                          <a:cs typeface="Arial"/>
                        </a:rPr>
                        <a:t>16</a:t>
                      </a:r>
                    </a:p>
                  </a:txBody>
                  <a:tcPr marL="76200" marR="76200" marT="47625" marB="47625" anchor="ctr">
                    <a:solidFill>
                      <a:srgbClr val="0B2033"/>
                    </a:solidFill>
                  </a:tcPr>
                </a:tc>
                <a:tc>
                  <a:txBody>
                    <a:bodyPr/>
                    <a:lstStyle/>
                    <a:p>
                      <a:r>
                        <a:rPr sz="1350">
                          <a:solidFill>
                            <a:srgbClr val="F4F8FC"/>
                          </a:solidFill>
                          <a:latin typeface="Arial"/>
                          <a:ea typeface="Arial"/>
                          <a:cs typeface="Arial"/>
                        </a:rPr>
                        <a:t>32</a:t>
                      </a:r>
                    </a:p>
                  </a:txBody>
                  <a:tcPr marL="76200" marR="76200" marT="47625" marB="47625" anchor="ctr">
                    <a:solidFill>
                      <a:srgbClr val="0B2033"/>
                    </a:solidFill>
                  </a:tcPr>
                </a:tc>
                <a:tc>
                  <a:txBody>
                    <a:bodyPr/>
                    <a:lstStyle/>
                    <a:p>
                      <a:r>
                        <a:rPr sz="1350">
                          <a:solidFill>
                            <a:srgbClr val="F4F8FC"/>
                          </a:solidFill>
                          <a:latin typeface="Arial"/>
                          <a:ea typeface="Arial"/>
                          <a:cs typeface="Arial"/>
                        </a:rPr>
                        <a:t>37</a:t>
                      </a:r>
                    </a:p>
                  </a:txBody>
                  <a:tcPr marL="76200" marR="76200" marT="47625" marB="47625" anchor="ctr">
                    <a:solidFill>
                      <a:srgbClr val="0B2033"/>
                    </a:solidFill>
                  </a:tcPr>
                </a:tc>
              </a:tr>
            </a:tbl>
          </a:graphicData>
        </a:graphic>
      </p:graphicFrame>
      <p:sp>
        <p:nvSpPr>
          <p:cNvPr id="9" name="Rectangle 8">
            <a:extLst xmlns:a="http://schemas.openxmlformats.org/drawingml/2006/main">
              <a:ext uri="{FF2B5EF4-FFF2-40B4-BE49-F238E27FC236}">
                <a16:creationId xmlns:a16="http://schemas.microsoft.com/office/drawing/2014/main" id="{81964491-08BB-492A-AAEC-E4E209C1B0C4}"/>
              </a:ext>
            </a:extLst>
          </p:cNvPr>
          <p:cNvSpPr>
            <a:spLocks xmlns:a="http://schemas.openxmlformats.org/drawingml/2006/main" noGrp="1"/>
          </p:cNvSpPr>
          <p:nvPr/>
        </p:nvSpPr>
        <p:spPr>
          <a:xfrm xmlns:a="http://schemas.openxmlformats.org/drawingml/2006/main">
            <a:off x="809625" y="45243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FB84D"/>
                </a:solidFill>
                <a:latin typeface="Arial"/>
                <a:ea typeface="Arial"/>
                <a:cs typeface="Arial"/>
              </a:defRPr>
            </a:pPr>
            <a:r>
              <a:rPr sz="1500" b="1">
                <a:solidFill>
                  <a:srgbClr val="FFB84D"/>
                </a:solidFill>
                <a:latin typeface="Arial"/>
                <a:ea typeface="Arial"/>
                <a:cs typeface="Arial"/>
              </a:rPr>
              <a:t>A uses the fewest bits</a:t>
            </a:r>
          </a:p>
        </p:txBody>
      </p:sp>
      <p:sp>
        <p:nvSpPr>
          <p:cNvPr id="10" name="Rectangle 9">
            <a:extLst xmlns:a="http://schemas.openxmlformats.org/drawingml/2006/main">
              <a:ext uri="{FF2B5EF4-FFF2-40B4-BE49-F238E27FC236}">
                <a16:creationId xmlns:a16="http://schemas.microsoft.com/office/drawing/2014/main" id="{A032B7BF-A899-4900-AC56-1224BB904F39}"/>
              </a:ext>
            </a:extLst>
          </p:cNvPr>
          <p:cNvSpPr>
            <a:spLocks xmlns:a="http://schemas.openxmlformats.org/drawingml/2006/main" noGrp="1"/>
          </p:cNvSpPr>
          <p:nvPr/>
        </p:nvSpPr>
        <p:spPr>
          <a:xfrm xmlns:a="http://schemas.openxmlformats.org/drawingml/2006/main">
            <a:off x="4524375" y="45243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2E9BFF"/>
                </a:solidFill>
                <a:latin typeface="Arial"/>
                <a:ea typeface="Arial"/>
                <a:cs typeface="Arial"/>
              </a:defRPr>
            </a:pPr>
            <a:r>
              <a:rPr sz="1500" b="1">
                <a:solidFill>
                  <a:srgbClr val="2E9BFF"/>
                </a:solidFill>
                <a:latin typeface="Arial"/>
                <a:ea typeface="Arial"/>
                <a:cs typeface="Arial"/>
              </a:rPr>
              <a:t>C has the lowest distortion</a:t>
            </a:r>
          </a:p>
        </p:txBody>
      </p:sp>
      <p:sp>
        <p:nvSpPr>
          <p:cNvPr id="11" name="Rectangle 10">
            <a:extLst xmlns:a="http://schemas.openxmlformats.org/drawingml/2006/main">
              <a:ext uri="{FF2B5EF4-FFF2-40B4-BE49-F238E27FC236}">
                <a16:creationId xmlns:a16="http://schemas.microsoft.com/office/drawing/2014/main" id="{B74707BA-3323-4EA6-A237-8BA754458518}"/>
              </a:ext>
            </a:extLst>
          </p:cNvPr>
          <p:cNvSpPr>
            <a:spLocks xmlns:a="http://schemas.openxmlformats.org/drawingml/2006/main" noGrp="1"/>
          </p:cNvSpPr>
          <p:nvPr/>
        </p:nvSpPr>
        <p:spPr>
          <a:xfrm xmlns:a="http://schemas.openxmlformats.org/drawingml/2006/main">
            <a:off x="8239125" y="45243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47E6A4"/>
                </a:solidFill>
                <a:latin typeface="Arial"/>
                <a:ea typeface="Arial"/>
                <a:cs typeface="Arial"/>
              </a:defRPr>
            </a:pPr>
            <a:r>
              <a:rPr sz="1500" b="1">
                <a:solidFill>
                  <a:srgbClr val="47E6A4"/>
                </a:solidFill>
                <a:latin typeface="Arial"/>
                <a:ea typeface="Arial"/>
                <a:cs typeface="Arial"/>
              </a:rPr>
              <a:t>B has the lowest combined cost</a:t>
            </a:r>
          </a:p>
        </p:txBody>
      </p:sp>
      <p:sp>
        <p:nvSpPr>
          <p:cNvPr id="12" name="Rectangle: Rounded Corners 11">
            <a:extLst xmlns:a="http://schemas.openxmlformats.org/drawingml/2006/main">
              <a:ext uri="{FF2B5EF4-FFF2-40B4-BE49-F238E27FC236}">
                <a16:creationId xmlns:a16="http://schemas.microsoft.com/office/drawing/2014/main" id="{E0072461-6D20-4D33-8EC3-749255EF8201}"/>
              </a:ext>
            </a:extLst>
          </p:cNvPr>
          <p:cNvSpPr>
            <a:spLocks xmlns:a="http://schemas.openxmlformats.org/drawingml/2006/main" noGrp="1"/>
          </p:cNvSpPr>
          <p:nvPr/>
        </p:nvSpPr>
        <p:spPr>
          <a:xfrm xmlns:a="http://schemas.openxmlformats.org/drawingml/2006/main">
            <a:off x="1619250" y="5381625"/>
            <a:ext cx="8953500" cy="628650"/>
          </a:xfrm>
          <a:prstGeom xmlns:a="http://schemas.openxmlformats.org/drawingml/2006/main" prst="roundRect">
            <a:avLst>
              <a:gd name="adj" fmla="val 18182"/>
            </a:avLst>
          </a:prstGeom>
          <a:solidFill xmlns:a="http://schemas.openxmlformats.org/drawingml/2006/main">
            <a:srgbClr val="0A2830"/>
          </a:solidFill>
          <a:ln xmlns:a="http://schemas.openxmlformats.org/drawingml/2006/main" w="19050">
            <a:solidFill>
              <a:srgbClr val="47E6A4"/>
            </a:solidFill>
            <a:prstDash val="solid"/>
          </a:ln>
        </p:spPr>
      </p:sp>
      <p:sp>
        <p:nvSpPr>
          <p:cNvPr id="13" name="Rectangle 12">
            <a:extLst xmlns:a="http://schemas.openxmlformats.org/drawingml/2006/main">
              <a:ext uri="{FF2B5EF4-FFF2-40B4-BE49-F238E27FC236}">
                <a16:creationId xmlns:a16="http://schemas.microsoft.com/office/drawing/2014/main" id="{76504B67-6DC1-4737-B768-2543A7606B4C}"/>
              </a:ext>
            </a:extLst>
          </p:cNvPr>
          <p:cNvSpPr>
            <a:spLocks xmlns:a="http://schemas.openxmlformats.org/drawingml/2006/main" noGrp="1"/>
          </p:cNvSpPr>
          <p:nvPr/>
        </p:nvSpPr>
        <p:spPr>
          <a:xfrm xmlns:a="http://schemas.openxmlformats.org/drawingml/2006/main">
            <a:off x="1733550" y="5476875"/>
            <a:ext cx="8724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392"/>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Option B wins because 28 is the lowest J. The numbers are a teaching example, not an encoder measurement.</a:t>
            </a:r>
          </a:p>
        </p:txBody>
      </p:sp>
    </p:spTree>
    <p:extLst>
      <p:ext uri="{BB962C8B-B14F-4D97-AF65-F5344CB8AC3E}">
        <p14:creationId xmlns:p14="http://schemas.microsoft.com/office/powerpoint/2010/main" val="877070050"/>
      </p:ext>
    </p:extLst>
  </p:cSld>
</p:sld>
</file>

<file path=ppt/slides/slide41.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9" name="Oval 18">
            <a:extLst xmlns:a="http://schemas.openxmlformats.org/drawingml/2006/main">
              <a:ext uri="{FF2B5EF4-FFF2-40B4-BE49-F238E27FC236}">
                <a16:creationId xmlns:a16="http://schemas.microsoft.com/office/drawing/2014/main" id="{97C7FED7-C2E6-48F3-B349-B43B22E0FBA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E27CFB15-5BEB-4106-B3A4-2F5631743580}"/>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5F877569-3FB4-4446-A241-9C4249FE206B}"/>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Increasing λ changes the preferred candidate</a:t>
            </a:r>
          </a:p>
        </p:txBody>
      </p:sp>
      <p:sp>
        <p:nvSpPr>
          <p:cNvPr id="4" name="Straight Connector 3">
            <a:extLst xmlns:a="http://schemas.openxmlformats.org/drawingml/2006/main">
              <a:ext uri="{FF2B5EF4-FFF2-40B4-BE49-F238E27FC236}">
                <a16:creationId xmlns:a16="http://schemas.microsoft.com/office/drawing/2014/main" id="{08D28052-FB6C-4381-A782-F9BA7662FB0E}"/>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8DF72246-6D11-4070-BE3D-72C4EB4F6263}"/>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A larger lambda makes every additional coded bit contribute more to the total cost</a:t>
            </a:r>
          </a:p>
        </p:txBody>
      </p:sp>
      <p:sp>
        <p:nvSpPr>
          <p:cNvPr id="6" name="Rectangle 5">
            <a:extLst xmlns:a="http://schemas.openxmlformats.org/drawingml/2006/main">
              <a:ext uri="{FF2B5EF4-FFF2-40B4-BE49-F238E27FC236}">
                <a16:creationId xmlns:a16="http://schemas.microsoft.com/office/drawing/2014/main" id="{3E3009D8-D417-41B7-A806-E820386CA15B}"/>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D99452E-E767-4E93-9123-AC679A6B6BFE}"/>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41 / 49</a:t>
            </a:r>
          </a:p>
        </p:txBody>
      </p:sp>
      <p:graphicFrame>
        <p:nvGraphicFramePr>
          <p:cNvPr id="40" name="Table 25"/>
          <p:cNvGraphicFramePr/>
          <p:nvPr/>
        </p:nvGraphicFramePr>
        <p:xfrm>
          <a:off xmlns:a="http://schemas.openxmlformats.org/drawingml/2006/main" x="762000" y="1666875"/>
          <a:ext xmlns:a="http://schemas.openxmlformats.org/drawingml/2006/main" cx="10668000" cy="2619375"/>
        </p:xfrm>
        <a:graphic xmlns:a="http://schemas.openxmlformats.org/drawingml/2006/main">
          <a:graphicData uri="http://schemas.openxmlformats.org/drawingml/2006/table">
            <a:tbl>
              <a:tblPr/>
              <a:tblGrid>
                <a:gridCol w="1047750"/>
                <a:gridCol w="1143000"/>
                <a:gridCol w="1143000"/>
                <a:gridCol w="2000250"/>
                <a:gridCol w="3238500"/>
                <a:gridCol w="2095500"/>
              </a:tblGrid>
              <a:tr h="654844">
                <a:tc>
                  <a:txBody>
                    <a:bodyPr/>
                    <a:lstStyle/>
                    <a:p>
                      <a:r>
                        <a:rPr sz="1275" b="1">
                          <a:solidFill>
                            <a:srgbClr val="22D3EE"/>
                          </a:solidFill>
                          <a:latin typeface="Arial"/>
                          <a:ea typeface="Arial"/>
                          <a:cs typeface="Arial"/>
                        </a:rPr>
                        <a:t>Option</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D</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R</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J when λ = 2</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J when λ = 5</a:t>
                      </a:r>
                    </a:p>
                  </a:txBody>
                  <a:tcPr marL="76200" marR="76200" marT="47625" marB="47625" anchor="ctr">
                    <a:solidFill>
                      <a:srgbClr val="102A40"/>
                    </a:solidFill>
                  </a:tcPr>
                </a:tc>
                <a:tc>
                  <a:txBody>
                    <a:bodyPr/>
                    <a:lstStyle/>
                    <a:p>
                      <a:r>
                        <a:rPr sz="1275" b="1">
                          <a:solidFill>
                            <a:srgbClr val="22D3EE"/>
                          </a:solidFill>
                          <a:latin typeface="Arial"/>
                          <a:ea typeface="Arial"/>
                          <a:cs typeface="Arial"/>
                        </a:rPr>
                        <a:t>Result at λ = 5</a:t>
                      </a:r>
                    </a:p>
                  </a:txBody>
                  <a:tcPr marL="76200" marR="76200" marT="47625" marB="47625" anchor="ctr">
                    <a:solidFill>
                      <a:srgbClr val="102A40"/>
                    </a:solidFill>
                  </a:tcPr>
                </a:tc>
              </a:tr>
              <a:tr h="654844">
                <a:tc>
                  <a:txBody>
                    <a:bodyPr/>
                    <a:lstStyle/>
                    <a:p>
                      <a:r>
                        <a:rPr sz="1500" b="1">
                          <a:solidFill>
                            <a:srgbClr val="FFB84D"/>
                          </a:solidFill>
                          <a:latin typeface="Arial"/>
                          <a:ea typeface="Arial"/>
                          <a:cs typeface="Arial"/>
                        </a:rPr>
                        <a:t>A</a:t>
                      </a:r>
                    </a:p>
                  </a:txBody>
                  <a:tcPr marL="76200" marR="76200" marT="47625" marB="47625" anchor="ctr">
                    <a:solidFill>
                      <a:srgbClr val="132536"/>
                    </a:solidFill>
                  </a:tcPr>
                </a:tc>
                <a:tc>
                  <a:txBody>
                    <a:bodyPr/>
                    <a:lstStyle/>
                    <a:p>
                      <a:r>
                        <a:rPr sz="1500" b="1">
                          <a:solidFill>
                            <a:srgbClr val="FFB84D"/>
                          </a:solidFill>
                          <a:latin typeface="Arial"/>
                          <a:ea typeface="Arial"/>
                          <a:cs typeface="Arial"/>
                        </a:rPr>
                        <a:t>18</a:t>
                      </a:r>
                    </a:p>
                  </a:txBody>
                  <a:tcPr marL="76200" marR="76200" marT="47625" marB="47625" anchor="ctr">
                    <a:solidFill>
                      <a:srgbClr val="132536"/>
                    </a:solidFill>
                  </a:tcPr>
                </a:tc>
                <a:tc>
                  <a:txBody>
                    <a:bodyPr/>
                    <a:lstStyle/>
                    <a:p>
                      <a:r>
                        <a:rPr sz="1500" b="1">
                          <a:solidFill>
                            <a:srgbClr val="FFB84D"/>
                          </a:solidFill>
                          <a:latin typeface="Arial"/>
                          <a:ea typeface="Arial"/>
                          <a:cs typeface="Arial"/>
                        </a:rPr>
                        <a:t>6</a:t>
                      </a:r>
                    </a:p>
                  </a:txBody>
                  <a:tcPr marL="76200" marR="76200" marT="47625" marB="47625" anchor="ctr">
                    <a:solidFill>
                      <a:srgbClr val="132536"/>
                    </a:solidFill>
                  </a:tcPr>
                </a:tc>
                <a:tc>
                  <a:txBody>
                    <a:bodyPr/>
                    <a:lstStyle/>
                    <a:p>
                      <a:r>
                        <a:rPr sz="1500" b="1">
                          <a:solidFill>
                            <a:srgbClr val="FFB84D"/>
                          </a:solidFill>
                          <a:latin typeface="Arial"/>
                          <a:ea typeface="Arial"/>
                          <a:cs typeface="Arial"/>
                        </a:rPr>
                        <a:t>30</a:t>
                      </a:r>
                    </a:p>
                  </a:txBody>
                  <a:tcPr marL="76200" marR="76200" marT="47625" marB="47625" anchor="ctr">
                    <a:solidFill>
                      <a:srgbClr val="132536"/>
                    </a:solidFill>
                  </a:tcPr>
                </a:tc>
                <a:tc>
                  <a:txBody>
                    <a:bodyPr/>
                    <a:lstStyle/>
                    <a:p>
                      <a:r>
                        <a:rPr sz="1500" b="1">
                          <a:solidFill>
                            <a:srgbClr val="FFB84D"/>
                          </a:solidFill>
                          <a:latin typeface="Arial"/>
                          <a:ea typeface="Arial"/>
                          <a:cs typeface="Arial"/>
                        </a:rPr>
                        <a:t>18 + 5×6 = 48</a:t>
                      </a:r>
                    </a:p>
                  </a:txBody>
                  <a:tcPr marL="76200" marR="76200" marT="47625" marB="47625" anchor="ctr">
                    <a:solidFill>
                      <a:srgbClr val="132536"/>
                    </a:solidFill>
                  </a:tcPr>
                </a:tc>
                <a:tc>
                  <a:txBody>
                    <a:bodyPr/>
                    <a:lstStyle/>
                    <a:p>
                      <a:r>
                        <a:rPr sz="1500" b="1">
                          <a:solidFill>
                            <a:srgbClr val="FFB84D"/>
                          </a:solidFill>
                          <a:latin typeface="Arial"/>
                          <a:ea typeface="Arial"/>
                          <a:cs typeface="Arial"/>
                        </a:rPr>
                        <a:t>WINNER</a:t>
                      </a:r>
                    </a:p>
                  </a:txBody>
                  <a:tcPr marL="76200" marR="76200" marT="47625" marB="47625" anchor="ctr">
                    <a:solidFill>
                      <a:srgbClr val="132536"/>
                    </a:solidFill>
                  </a:tcPr>
                </a:tc>
              </a:tr>
              <a:tr h="654844">
                <a:tc>
                  <a:txBody>
                    <a:bodyPr/>
                    <a:lstStyle/>
                    <a:p>
                      <a:r>
                        <a:rPr sz="1425">
                          <a:solidFill>
                            <a:srgbClr val="F4F8FC"/>
                          </a:solidFill>
                          <a:latin typeface="Arial"/>
                          <a:ea typeface="Arial"/>
                          <a:cs typeface="Arial"/>
                        </a:rPr>
                        <a:t>B</a:t>
                      </a:r>
                    </a:p>
                  </a:txBody>
                  <a:tcPr marL="76200" marR="76200" marT="47625" marB="47625" anchor="ctr">
                    <a:solidFill>
                      <a:srgbClr val="0B2033"/>
                    </a:solidFill>
                  </a:tcPr>
                </a:tc>
                <a:tc>
                  <a:txBody>
                    <a:bodyPr/>
                    <a:lstStyle/>
                    <a:p>
                      <a:r>
                        <a:rPr sz="1425">
                          <a:solidFill>
                            <a:srgbClr val="F4F8FC"/>
                          </a:solidFill>
                          <a:latin typeface="Arial"/>
                          <a:ea typeface="Arial"/>
                          <a:cs typeface="Arial"/>
                        </a:rPr>
                        <a:t>8</a:t>
                      </a:r>
                    </a:p>
                  </a:txBody>
                  <a:tcPr marL="76200" marR="76200" marT="47625" marB="47625" anchor="ctr">
                    <a:solidFill>
                      <a:srgbClr val="0B2033"/>
                    </a:solidFill>
                  </a:tcPr>
                </a:tc>
                <a:tc>
                  <a:txBody>
                    <a:bodyPr/>
                    <a:lstStyle/>
                    <a:p>
                      <a:r>
                        <a:rPr sz="1425">
                          <a:solidFill>
                            <a:srgbClr val="F4F8FC"/>
                          </a:solidFill>
                          <a:latin typeface="Arial"/>
                          <a:ea typeface="Arial"/>
                          <a:cs typeface="Arial"/>
                        </a:rPr>
                        <a:t>10</a:t>
                      </a:r>
                    </a:p>
                  </a:txBody>
                  <a:tcPr marL="76200" marR="76200" marT="47625" marB="47625" anchor="ctr">
                    <a:solidFill>
                      <a:srgbClr val="0B2033"/>
                    </a:solidFill>
                  </a:tcPr>
                </a:tc>
                <a:tc>
                  <a:txBody>
                    <a:bodyPr/>
                    <a:lstStyle/>
                    <a:p>
                      <a:r>
                        <a:rPr sz="1425">
                          <a:solidFill>
                            <a:srgbClr val="F4F8FC"/>
                          </a:solidFill>
                          <a:latin typeface="Arial"/>
                          <a:ea typeface="Arial"/>
                          <a:cs typeface="Arial"/>
                        </a:rPr>
                        <a:t>28</a:t>
                      </a:r>
                    </a:p>
                  </a:txBody>
                  <a:tcPr marL="76200" marR="76200" marT="47625" marB="47625" anchor="ctr">
                    <a:solidFill>
                      <a:srgbClr val="0B2033"/>
                    </a:solidFill>
                  </a:tcPr>
                </a:tc>
                <a:tc>
                  <a:txBody>
                    <a:bodyPr/>
                    <a:lstStyle/>
                    <a:p>
                      <a:r>
                        <a:rPr sz="1425">
                          <a:solidFill>
                            <a:srgbClr val="F4F8FC"/>
                          </a:solidFill>
                          <a:latin typeface="Arial"/>
                          <a:ea typeface="Arial"/>
                          <a:cs typeface="Arial"/>
                        </a:rPr>
                        <a:t>8 + 5×10 = 58</a:t>
                      </a:r>
                    </a:p>
                  </a:txBody>
                  <a:tcPr marL="76200" marR="76200" marT="47625" marB="47625" anchor="ctr">
                    <a:solidFill>
                      <a:srgbClr val="0B2033"/>
                    </a:solidFill>
                  </a:tcPr>
                </a:tc>
                <a:tc>
                  <a:txBody>
                    <a:bodyPr/>
                    <a:lstStyle/>
                    <a:p>
                      <a:endParaRPr/>
                    </a:p>
                  </a:txBody>
                  <a:tcPr marL="76200" marR="76200" marT="47625" marB="47625" anchor="ctr">
                    <a:solidFill>
                      <a:srgbClr val="0B2033"/>
                    </a:solidFill>
                  </a:tcPr>
                </a:tc>
              </a:tr>
              <a:tr h="654844">
                <a:tc>
                  <a:txBody>
                    <a:bodyPr/>
                    <a:lstStyle/>
                    <a:p>
                      <a:r>
                        <a:rPr sz="1425">
                          <a:solidFill>
                            <a:srgbClr val="F4F8FC"/>
                          </a:solidFill>
                          <a:latin typeface="Arial"/>
                          <a:ea typeface="Arial"/>
                          <a:cs typeface="Arial"/>
                        </a:rPr>
                        <a:t>C</a:t>
                      </a:r>
                    </a:p>
                  </a:txBody>
                  <a:tcPr marL="76200" marR="76200" marT="47625" marB="47625" anchor="ctr">
                    <a:solidFill>
                      <a:srgbClr val="0B2033"/>
                    </a:solidFill>
                  </a:tcPr>
                </a:tc>
                <a:tc>
                  <a:txBody>
                    <a:bodyPr/>
                    <a:lstStyle/>
                    <a:p>
                      <a:r>
                        <a:rPr sz="1425">
                          <a:solidFill>
                            <a:srgbClr val="F4F8FC"/>
                          </a:solidFill>
                          <a:latin typeface="Arial"/>
                          <a:ea typeface="Arial"/>
                          <a:cs typeface="Arial"/>
                        </a:rPr>
                        <a:t>5</a:t>
                      </a:r>
                    </a:p>
                  </a:txBody>
                  <a:tcPr marL="76200" marR="76200" marT="47625" marB="47625" anchor="ctr">
                    <a:solidFill>
                      <a:srgbClr val="0B2033"/>
                    </a:solidFill>
                  </a:tcPr>
                </a:tc>
                <a:tc>
                  <a:txBody>
                    <a:bodyPr/>
                    <a:lstStyle/>
                    <a:p>
                      <a:r>
                        <a:rPr sz="1425">
                          <a:solidFill>
                            <a:srgbClr val="F4F8FC"/>
                          </a:solidFill>
                          <a:latin typeface="Arial"/>
                          <a:ea typeface="Arial"/>
                          <a:cs typeface="Arial"/>
                        </a:rPr>
                        <a:t>16</a:t>
                      </a:r>
                    </a:p>
                  </a:txBody>
                  <a:tcPr marL="76200" marR="76200" marT="47625" marB="47625" anchor="ctr">
                    <a:solidFill>
                      <a:srgbClr val="0B2033"/>
                    </a:solidFill>
                  </a:tcPr>
                </a:tc>
                <a:tc>
                  <a:txBody>
                    <a:bodyPr/>
                    <a:lstStyle/>
                    <a:p>
                      <a:r>
                        <a:rPr sz="1425">
                          <a:solidFill>
                            <a:srgbClr val="F4F8FC"/>
                          </a:solidFill>
                          <a:latin typeface="Arial"/>
                          <a:ea typeface="Arial"/>
                          <a:cs typeface="Arial"/>
                        </a:rPr>
                        <a:t>37</a:t>
                      </a:r>
                    </a:p>
                  </a:txBody>
                  <a:tcPr marL="76200" marR="76200" marT="47625" marB="47625" anchor="ctr">
                    <a:solidFill>
                      <a:srgbClr val="0B2033"/>
                    </a:solidFill>
                  </a:tcPr>
                </a:tc>
                <a:tc>
                  <a:txBody>
                    <a:bodyPr/>
                    <a:lstStyle/>
                    <a:p>
                      <a:r>
                        <a:rPr sz="1425">
                          <a:solidFill>
                            <a:srgbClr val="F4F8FC"/>
                          </a:solidFill>
                          <a:latin typeface="Arial"/>
                          <a:ea typeface="Arial"/>
                          <a:cs typeface="Arial"/>
                        </a:rPr>
                        <a:t>5 + 5×16 = 85</a:t>
                      </a:r>
                    </a:p>
                  </a:txBody>
                  <a:tcPr marL="76200" marR="76200" marT="47625" marB="47625" anchor="ctr">
                    <a:solidFill>
                      <a:srgbClr val="0B2033"/>
                    </a:solidFill>
                  </a:tcPr>
                </a:tc>
                <a:tc>
                  <a:txBody>
                    <a:bodyPr/>
                    <a:lstStyle/>
                    <a:p>
                      <a:endParaRPr/>
                    </a:p>
                  </a:txBody>
                  <a:tcPr marL="76200" marR="76200" marT="47625" marB="47625" anchor="ctr">
                    <a:solidFill>
                      <a:srgbClr val="0B2033"/>
                    </a:solidFill>
                  </a:tcPr>
                </a:tc>
              </a:tr>
            </a:tbl>
          </a:graphicData>
        </a:graphic>
      </p:graphicFrame>
      <p:sp>
        <p:nvSpPr>
          <p:cNvPr id="9" name="Rectangle 8">
            <a:extLst xmlns:a="http://schemas.openxmlformats.org/drawingml/2006/main">
              <a:ext uri="{FF2B5EF4-FFF2-40B4-BE49-F238E27FC236}">
                <a16:creationId xmlns:a16="http://schemas.microsoft.com/office/drawing/2014/main" id="{98BDBEF6-D312-425C-998F-96777AAB3D92}"/>
              </a:ext>
            </a:extLst>
          </p:cNvPr>
          <p:cNvSpPr>
            <a:spLocks xmlns:a="http://schemas.openxmlformats.org/drawingml/2006/main" noGrp="1"/>
          </p:cNvSpPr>
          <p:nvPr/>
        </p:nvSpPr>
        <p:spPr>
          <a:xfrm xmlns:a="http://schemas.openxmlformats.org/drawingml/2006/main">
            <a:off x="1762125" y="46672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827"/>
          </a:bodyPr>
          <a:lstStyle xmlns:a="http://schemas.openxmlformats.org/drawingml/2006/main"/>
          <a:p xmlns:a="http://schemas.openxmlformats.org/drawingml/2006/main">
            <a:pPr>
              <a:buNone/>
              <a:defRPr sz="2025" b="1">
                <a:solidFill>
                  <a:srgbClr val="47E6A4"/>
                </a:solidFill>
                <a:latin typeface="Arial"/>
                <a:ea typeface="Arial"/>
                <a:cs typeface="Arial"/>
              </a:defRPr>
            </a:pPr>
            <a:r>
              <a:rPr sz="2025" b="1">
                <a:solidFill>
                  <a:srgbClr val="47E6A4"/>
                </a:solidFill>
                <a:latin typeface="Arial"/>
                <a:ea typeface="Arial"/>
                <a:cs typeface="Arial"/>
              </a:rPr>
              <a:t>λ = 2</a:t>
            </a:r>
          </a:p>
        </p:txBody>
      </p:sp>
      <p:sp>
        <p:nvSpPr>
          <p:cNvPr id="10" name="Rectangle 9">
            <a:extLst xmlns:a="http://schemas.openxmlformats.org/drawingml/2006/main">
              <a:ext uri="{FF2B5EF4-FFF2-40B4-BE49-F238E27FC236}">
                <a16:creationId xmlns:a16="http://schemas.microsoft.com/office/drawing/2014/main" id="{5C960288-00FB-492E-8B76-DFBAA20F49F7}"/>
              </a:ext>
            </a:extLst>
          </p:cNvPr>
          <p:cNvSpPr>
            <a:spLocks xmlns:a="http://schemas.openxmlformats.org/drawingml/2006/main" noGrp="1"/>
          </p:cNvSpPr>
          <p:nvPr/>
        </p:nvSpPr>
        <p:spPr>
          <a:xfrm xmlns:a="http://schemas.openxmlformats.org/drawingml/2006/main">
            <a:off x="1762125" y="50958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47E6A4"/>
                </a:solidFill>
                <a:latin typeface="Arial"/>
                <a:ea typeface="Arial"/>
                <a:cs typeface="Arial"/>
              </a:defRPr>
            </a:pPr>
            <a:r>
              <a:rPr sz="1650" b="1">
                <a:solidFill>
                  <a:srgbClr val="47E6A4"/>
                </a:solidFill>
                <a:latin typeface="Arial"/>
                <a:ea typeface="Arial"/>
                <a:cs typeface="Arial"/>
              </a:rPr>
              <a:t>Option B</a:t>
            </a:r>
          </a:p>
        </p:txBody>
      </p:sp>
      <p:sp>
        <p:nvSpPr>
          <p:cNvPr id="11" name="Rectangle 10">
            <a:extLst xmlns:a="http://schemas.openxmlformats.org/drawingml/2006/main">
              <a:ext uri="{FF2B5EF4-FFF2-40B4-BE49-F238E27FC236}">
                <a16:creationId xmlns:a16="http://schemas.microsoft.com/office/drawing/2014/main" id="{501CD8E0-AA58-42D0-942E-53D8249AC2F7}"/>
              </a:ext>
            </a:extLst>
          </p:cNvPr>
          <p:cNvSpPr>
            <a:spLocks xmlns:a="http://schemas.openxmlformats.org/drawingml/2006/main" noGrp="1"/>
          </p:cNvSpPr>
          <p:nvPr/>
        </p:nvSpPr>
        <p:spPr>
          <a:xfrm xmlns:a="http://schemas.openxmlformats.org/drawingml/2006/main">
            <a:off x="5238750" y="50863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Rectangle 11">
            <a:extLst xmlns:a="http://schemas.openxmlformats.org/drawingml/2006/main">
              <a:ext uri="{FF2B5EF4-FFF2-40B4-BE49-F238E27FC236}">
                <a16:creationId xmlns:a16="http://schemas.microsoft.com/office/drawing/2014/main" id="{124D1B8E-8DFD-4943-A584-96F766A06770}"/>
              </a:ext>
            </a:extLst>
          </p:cNvPr>
          <p:cNvSpPr>
            <a:spLocks xmlns:a="http://schemas.openxmlformats.org/drawingml/2006/main" noGrp="1"/>
          </p:cNvSpPr>
          <p:nvPr/>
        </p:nvSpPr>
        <p:spPr>
          <a:xfrm xmlns:a="http://schemas.openxmlformats.org/drawingml/2006/main">
            <a:off x="3810000" y="50863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5" name="Straight Arrow Connector 30"/>
          <p:cNvCxnSpPr>
            <a:stCxn xmlns:a="http://schemas.openxmlformats.org/drawingml/2006/main" id="11" idx="1"/>
            <a:endCxn xmlns:a="http://schemas.openxmlformats.org/drawingml/2006/main" id="12" idx="3"/>
          </p:cNvCxnSpPr>
          <p:nvPr/>
        </p:nvCxnSpPr>
        <p:spPr>
          <a:xfrm xmlns:a="http://schemas.openxmlformats.org/drawingml/2006/main" flipH="1">
            <a:off x="3829050" y="5095875"/>
            <a:ext cx="14097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4" name="Rectangle 13">
            <a:extLst xmlns:a="http://schemas.openxmlformats.org/drawingml/2006/main">
              <a:ext uri="{FF2B5EF4-FFF2-40B4-BE49-F238E27FC236}">
                <a16:creationId xmlns:a16="http://schemas.microsoft.com/office/drawing/2014/main" id="{DB9CAE28-554C-4126-B029-16ED679DEB77}"/>
              </a:ext>
            </a:extLst>
          </p:cNvPr>
          <p:cNvSpPr>
            <a:spLocks xmlns:a="http://schemas.openxmlformats.org/drawingml/2006/main" noGrp="1"/>
          </p:cNvSpPr>
          <p:nvPr/>
        </p:nvSpPr>
        <p:spPr>
          <a:xfrm xmlns:a="http://schemas.openxmlformats.org/drawingml/2006/main">
            <a:off x="5572125" y="46672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827"/>
          </a:bodyPr>
          <a:lstStyle xmlns:a="http://schemas.openxmlformats.org/drawingml/2006/main"/>
          <a:p xmlns:a="http://schemas.openxmlformats.org/drawingml/2006/main">
            <a:pPr>
              <a:buNone/>
              <a:defRPr sz="2025" b="1">
                <a:solidFill>
                  <a:srgbClr val="FFB84D"/>
                </a:solidFill>
                <a:latin typeface="Arial"/>
                <a:ea typeface="Arial"/>
                <a:cs typeface="Arial"/>
              </a:defRPr>
            </a:pPr>
            <a:r>
              <a:rPr sz="2025" b="1">
                <a:solidFill>
                  <a:srgbClr val="FFB84D"/>
                </a:solidFill>
                <a:latin typeface="Arial"/>
                <a:ea typeface="Arial"/>
                <a:cs typeface="Arial"/>
              </a:rPr>
              <a:t>λ = 5</a:t>
            </a:r>
          </a:p>
        </p:txBody>
      </p:sp>
      <p:sp>
        <p:nvSpPr>
          <p:cNvPr id="15" name="Rectangle 14">
            <a:extLst xmlns:a="http://schemas.openxmlformats.org/drawingml/2006/main">
              <a:ext uri="{FF2B5EF4-FFF2-40B4-BE49-F238E27FC236}">
                <a16:creationId xmlns:a16="http://schemas.microsoft.com/office/drawing/2014/main" id="{44EB9BA5-4BC4-4E34-A405-7786FA39AF83}"/>
              </a:ext>
            </a:extLst>
          </p:cNvPr>
          <p:cNvSpPr>
            <a:spLocks xmlns:a="http://schemas.openxmlformats.org/drawingml/2006/main" noGrp="1"/>
          </p:cNvSpPr>
          <p:nvPr/>
        </p:nvSpPr>
        <p:spPr>
          <a:xfrm xmlns:a="http://schemas.openxmlformats.org/drawingml/2006/main">
            <a:off x="5572125" y="50958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424"/>
          </a:bodyPr>
          <a:lstStyle xmlns:a="http://schemas.openxmlformats.org/drawingml/2006/main"/>
          <a:p xmlns:a="http://schemas.openxmlformats.org/drawingml/2006/main">
            <a:pPr>
              <a:buNone/>
              <a:defRPr sz="1650" b="1">
                <a:solidFill>
                  <a:srgbClr val="FFB84D"/>
                </a:solidFill>
                <a:latin typeface="Arial"/>
                <a:ea typeface="Arial"/>
                <a:cs typeface="Arial"/>
              </a:defRPr>
            </a:pPr>
            <a:r>
              <a:rPr sz="1650" b="1">
                <a:solidFill>
                  <a:srgbClr val="FFB84D"/>
                </a:solidFill>
                <a:latin typeface="Arial"/>
                <a:ea typeface="Arial"/>
                <a:cs typeface="Arial"/>
              </a:rPr>
              <a:t>Option A</a:t>
            </a:r>
          </a:p>
        </p:txBody>
      </p:sp>
      <p:sp>
        <p:nvSpPr>
          <p:cNvPr id="16" name="Rectangle 15">
            <a:extLst xmlns:a="http://schemas.openxmlformats.org/drawingml/2006/main">
              <a:ext uri="{FF2B5EF4-FFF2-40B4-BE49-F238E27FC236}">
                <a16:creationId xmlns:a16="http://schemas.microsoft.com/office/drawing/2014/main" id="{8DFCFD13-27C1-4652-B77E-DD452250F2B0}"/>
              </a:ext>
            </a:extLst>
          </p:cNvPr>
          <p:cNvSpPr>
            <a:spLocks xmlns:a="http://schemas.openxmlformats.org/drawingml/2006/main" noGrp="1"/>
          </p:cNvSpPr>
          <p:nvPr/>
        </p:nvSpPr>
        <p:spPr>
          <a:xfrm xmlns:a="http://schemas.openxmlformats.org/drawingml/2006/main">
            <a:off x="7667625" y="481012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Higher λ shifts the decision toward lower-rate candidates</a:t>
            </a:r>
          </a:p>
        </p:txBody>
      </p:sp>
      <p:sp>
        <p:nvSpPr>
          <p:cNvPr id="17" name="Rectangle: Rounded Corners 16">
            <a:extLst xmlns:a="http://schemas.openxmlformats.org/drawingml/2006/main">
              <a:ext uri="{FF2B5EF4-FFF2-40B4-BE49-F238E27FC236}">
                <a16:creationId xmlns:a16="http://schemas.microsoft.com/office/drawing/2014/main" id="{D8F7B8E2-A101-4CFA-AB43-0F484F9143C7}"/>
              </a:ext>
            </a:extLst>
          </p:cNvPr>
          <p:cNvSpPr>
            <a:spLocks xmlns:a="http://schemas.openxmlformats.org/drawingml/2006/main" noGrp="1"/>
          </p:cNvSpPr>
          <p:nvPr/>
        </p:nvSpPr>
        <p:spPr>
          <a:xfrm xmlns:a="http://schemas.openxmlformats.org/drawingml/2006/main">
            <a:off x="1666875" y="5857875"/>
            <a:ext cx="8858250" cy="514350"/>
          </a:xfrm>
          <a:prstGeom xmlns:a="http://schemas.openxmlformats.org/drawingml/2006/main" prst="roundRect">
            <a:avLst>
              <a:gd name="adj" fmla="val 22222"/>
            </a:avLst>
          </a:prstGeom>
          <a:solidFill xmlns:a="http://schemas.openxmlformats.org/drawingml/2006/main">
            <a:srgbClr val="2A1720"/>
          </a:solidFill>
          <a:ln xmlns:a="http://schemas.openxmlformats.org/drawingml/2006/main" w="19050">
            <a:solidFill>
              <a:srgbClr val="FF6577"/>
            </a:solidFill>
            <a:prstDash val="solid"/>
          </a:ln>
        </p:spPr>
      </p:sp>
      <p:sp>
        <p:nvSpPr>
          <p:cNvPr id="18" name="Rectangle 17">
            <a:extLst xmlns:a="http://schemas.openxmlformats.org/drawingml/2006/main">
              <a:ext uri="{FF2B5EF4-FFF2-40B4-BE49-F238E27FC236}">
                <a16:creationId xmlns:a16="http://schemas.microsoft.com/office/drawing/2014/main" id="{CC02E7E2-5E5A-4FC2-86BC-A428E6DC15D3}"/>
              </a:ext>
            </a:extLst>
          </p:cNvPr>
          <p:cNvSpPr>
            <a:spLocks xmlns:a="http://schemas.openxmlformats.org/drawingml/2006/main" noGrp="1"/>
          </p:cNvSpPr>
          <p:nvPr/>
        </p:nvSpPr>
        <p:spPr>
          <a:xfrm xmlns:a="http://schemas.openxmlformats.org/drawingml/2006/main">
            <a:off x="1781175" y="5953125"/>
            <a:ext cx="862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025"/>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Lambda normally grows as Quantization Parameter increases, but its exact mapping is encoder-specific.</a:t>
            </a:r>
          </a:p>
        </p:txBody>
      </p:sp>
    </p:spTree>
    <p:extLst>
      <p:ext uri="{BB962C8B-B14F-4D97-AF65-F5344CB8AC3E}">
        <p14:creationId xmlns:p14="http://schemas.microsoft.com/office/powerpoint/2010/main" val="1099345081"/>
      </p:ext>
    </p:extLst>
  </p:cSld>
</p:sld>
</file>

<file path=ppt/slides/slide42.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7" name="Oval 26">
            <a:extLst xmlns:a="http://schemas.openxmlformats.org/drawingml/2006/main">
              <a:ext uri="{FF2B5EF4-FFF2-40B4-BE49-F238E27FC236}">
                <a16:creationId xmlns:a16="http://schemas.microsoft.com/office/drawing/2014/main" id="{1492B6F3-F7D0-4E94-A054-5E09893F1436}"/>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E0E60858-1F95-4277-BD5F-7805C20EF4A2}"/>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02BDCDE8-D1C4-49EA-8D2B-D78FE1E1605C}"/>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How the encoder obtains the rate term R</a:t>
            </a:r>
          </a:p>
        </p:txBody>
      </p:sp>
      <p:sp>
        <p:nvSpPr>
          <p:cNvPr id="4" name="Straight Connector 3">
            <a:extLst xmlns:a="http://schemas.openxmlformats.org/drawingml/2006/main">
              <a:ext uri="{FF2B5EF4-FFF2-40B4-BE49-F238E27FC236}">
                <a16:creationId xmlns:a16="http://schemas.microsoft.com/office/drawing/2014/main" id="{33D04CE4-8E44-4E48-A17C-772473DB42D9}"/>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1F550D23-9DF0-4C92-959D-9F5B2962FDE4}"/>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R includes the complete syntax cost of a candidate, not only its nonzero transform coefficients</a:t>
            </a:r>
          </a:p>
        </p:txBody>
      </p:sp>
      <p:sp>
        <p:nvSpPr>
          <p:cNvPr id="6" name="Rectangle 5">
            <a:extLst xmlns:a="http://schemas.openxmlformats.org/drawingml/2006/main">
              <a:ext uri="{FF2B5EF4-FFF2-40B4-BE49-F238E27FC236}">
                <a16:creationId xmlns:a16="http://schemas.microsoft.com/office/drawing/2014/main" id="{AB808635-1180-455A-AB67-6148EC902CD8}"/>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B50B525-ACC7-49C3-9413-02E9C759F035}"/>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42 / 49</a:t>
            </a:r>
          </a:p>
        </p:txBody>
      </p:sp>
      <p:sp>
        <p:nvSpPr>
          <p:cNvPr id="8" name="Rectangle 7">
            <a:extLst xmlns:a="http://schemas.openxmlformats.org/drawingml/2006/main">
              <a:ext uri="{FF2B5EF4-FFF2-40B4-BE49-F238E27FC236}">
                <a16:creationId xmlns:a16="http://schemas.microsoft.com/office/drawing/2014/main" id="{28A21CEC-AEE0-4366-B3E0-1AE7DBFA703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F6577"/>
                </a:solidFill>
                <a:latin typeface="Arial"/>
                <a:ea typeface="Arial"/>
                <a:cs typeface="Arial"/>
              </a:defRPr>
            </a:pPr>
            <a:r>
              <a:rPr sz="1725" b="1">
                <a:solidFill>
                  <a:srgbClr val="FF6577"/>
                </a:solidFill>
                <a:latin typeface="Arial"/>
                <a:ea typeface="Arial"/>
                <a:cs typeface="Arial"/>
              </a:rPr>
              <a:t>COMPLETE CANDIDATE RATE</a:t>
            </a:r>
          </a:p>
        </p:txBody>
      </p:sp>
      <p:sp>
        <p:nvSpPr>
          <p:cNvPr id="9" name="Rectangle 8">
            <a:extLst xmlns:a="http://schemas.openxmlformats.org/drawingml/2006/main">
              <a:ext uri="{FF2B5EF4-FFF2-40B4-BE49-F238E27FC236}">
                <a16:creationId xmlns:a16="http://schemas.microsoft.com/office/drawing/2014/main" id="{4F62EC50-42B0-46B9-A0B2-797C1C7E4648}"/>
              </a:ext>
            </a:extLst>
          </p:cNvPr>
          <p:cNvSpPr>
            <a:spLocks xmlns:a="http://schemas.openxmlformats.org/drawingml/2006/main" noGrp="1"/>
          </p:cNvSpPr>
          <p:nvPr/>
        </p:nvSpPr>
        <p:spPr>
          <a:xfrm xmlns:a="http://schemas.openxmlformats.org/drawingml/2006/main">
            <a:off x="762000" y="20002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22D3EE"/>
                </a:solidFill>
                <a:latin typeface="Arial"/>
                <a:ea typeface="Arial"/>
                <a:cs typeface="Arial"/>
              </a:defRPr>
            </a:pPr>
            <a:r>
              <a:rPr sz="1350" b="1">
                <a:solidFill>
                  <a:srgbClr val="22D3EE"/>
                </a:solidFill>
                <a:latin typeface="Arial"/>
                <a:ea typeface="Arial"/>
                <a:cs typeface="Arial"/>
              </a:rPr>
              <a:t>Partition syntax</a:t>
            </a:r>
          </a:p>
        </p:txBody>
      </p:sp>
      <p:sp>
        <p:nvSpPr>
          <p:cNvPr id="10" name="Rectangle 9">
            <a:extLst xmlns:a="http://schemas.openxmlformats.org/drawingml/2006/main">
              <a:ext uri="{FF2B5EF4-FFF2-40B4-BE49-F238E27FC236}">
                <a16:creationId xmlns:a16="http://schemas.microsoft.com/office/drawing/2014/main" id="{04E677A2-26E5-4535-9210-79F96C630C78}"/>
              </a:ext>
            </a:extLst>
          </p:cNvPr>
          <p:cNvSpPr>
            <a:spLocks xmlns:a="http://schemas.openxmlformats.org/drawingml/2006/main" noGrp="1"/>
          </p:cNvSpPr>
          <p:nvPr/>
        </p:nvSpPr>
        <p:spPr>
          <a:xfrm xmlns:a="http://schemas.openxmlformats.org/drawingml/2006/main">
            <a:off x="2667000" y="20002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0">
                <a:solidFill>
                  <a:srgbClr val="F4F8FC"/>
                </a:solidFill>
                <a:latin typeface="Arial"/>
                <a:ea typeface="Arial"/>
                <a:cs typeface="Arial"/>
              </a:defRPr>
            </a:pPr>
            <a:r>
              <a:rPr sz="1275" b="0">
                <a:solidFill>
                  <a:srgbClr val="F4F8FC"/>
                </a:solidFill>
                <a:latin typeface="Arial"/>
                <a:ea typeface="Arial"/>
                <a:cs typeface="Arial"/>
              </a:rPr>
              <a:t>Coding Unit and Transform Unit split flags</a:t>
            </a:r>
          </a:p>
        </p:txBody>
      </p:sp>
      <p:sp>
        <p:nvSpPr>
          <p:cNvPr id="11" name="Rectangle 10">
            <a:extLst xmlns:a="http://schemas.openxmlformats.org/drawingml/2006/main">
              <a:ext uri="{FF2B5EF4-FFF2-40B4-BE49-F238E27FC236}">
                <a16:creationId xmlns:a16="http://schemas.microsoft.com/office/drawing/2014/main" id="{A82D5FB7-CDC1-48BB-8742-1435417E5737}"/>
              </a:ext>
            </a:extLst>
          </p:cNvPr>
          <p:cNvSpPr>
            <a:spLocks xmlns:a="http://schemas.openxmlformats.org/drawingml/2006/main" noGrp="1"/>
          </p:cNvSpPr>
          <p:nvPr/>
        </p:nvSpPr>
        <p:spPr>
          <a:xfrm xmlns:a="http://schemas.openxmlformats.org/drawingml/2006/main">
            <a:off x="762000" y="2838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47E6A4"/>
                </a:solidFill>
                <a:latin typeface="Arial"/>
                <a:ea typeface="Arial"/>
                <a:cs typeface="Arial"/>
              </a:defRPr>
            </a:pPr>
            <a:r>
              <a:rPr sz="1350" b="1">
                <a:solidFill>
                  <a:srgbClr val="47E6A4"/>
                </a:solidFill>
                <a:latin typeface="Arial"/>
                <a:ea typeface="Arial"/>
                <a:cs typeface="Arial"/>
              </a:rPr>
              <a:t>Prediction syntax</a:t>
            </a:r>
          </a:p>
        </p:txBody>
      </p:sp>
      <p:sp>
        <p:nvSpPr>
          <p:cNvPr id="12" name="Rectangle 11">
            <a:extLst xmlns:a="http://schemas.openxmlformats.org/drawingml/2006/main">
              <a:ext uri="{FF2B5EF4-FFF2-40B4-BE49-F238E27FC236}">
                <a16:creationId xmlns:a16="http://schemas.microsoft.com/office/drawing/2014/main" id="{485243E3-F138-4319-A945-7ACC67079005}"/>
              </a:ext>
            </a:extLst>
          </p:cNvPr>
          <p:cNvSpPr>
            <a:spLocks xmlns:a="http://schemas.openxmlformats.org/drawingml/2006/main" noGrp="1"/>
          </p:cNvSpPr>
          <p:nvPr/>
        </p:nvSpPr>
        <p:spPr>
          <a:xfrm xmlns:a="http://schemas.openxmlformats.org/drawingml/2006/main">
            <a:off x="2667000" y="28384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0">
                <a:solidFill>
                  <a:srgbClr val="F4F8FC"/>
                </a:solidFill>
                <a:latin typeface="Arial"/>
                <a:ea typeface="Arial"/>
                <a:cs typeface="Arial"/>
              </a:defRPr>
            </a:pPr>
            <a:r>
              <a:rPr sz="1275" b="0">
                <a:solidFill>
                  <a:srgbClr val="F4F8FC"/>
                </a:solidFill>
                <a:latin typeface="Arial"/>
                <a:ea typeface="Arial"/>
                <a:cs typeface="Arial"/>
              </a:rPr>
              <a:t>mode, reference index, and motion information</a:t>
            </a:r>
          </a:p>
        </p:txBody>
      </p:sp>
      <p:sp>
        <p:nvSpPr>
          <p:cNvPr id="13" name="Rectangle 12">
            <a:extLst xmlns:a="http://schemas.openxmlformats.org/drawingml/2006/main">
              <a:ext uri="{FF2B5EF4-FFF2-40B4-BE49-F238E27FC236}">
                <a16:creationId xmlns:a16="http://schemas.microsoft.com/office/drawing/2014/main" id="{BABF56DD-AA53-4777-948A-5C734AB42D23}"/>
              </a:ext>
            </a:extLst>
          </p:cNvPr>
          <p:cNvSpPr>
            <a:spLocks xmlns:a="http://schemas.openxmlformats.org/drawingml/2006/main" noGrp="1"/>
          </p:cNvSpPr>
          <p:nvPr/>
        </p:nvSpPr>
        <p:spPr>
          <a:xfrm xmlns:a="http://schemas.openxmlformats.org/drawingml/2006/main">
            <a:off x="762000" y="36766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2E9BFF"/>
                </a:solidFill>
                <a:latin typeface="Arial"/>
                <a:ea typeface="Arial"/>
                <a:cs typeface="Arial"/>
              </a:defRPr>
            </a:pPr>
            <a:r>
              <a:rPr sz="1350" b="1">
                <a:solidFill>
                  <a:srgbClr val="2E9BFF"/>
                </a:solidFill>
                <a:latin typeface="Arial"/>
                <a:ea typeface="Arial"/>
                <a:cs typeface="Arial"/>
              </a:rPr>
              <a:t>Residual syntax</a:t>
            </a:r>
          </a:p>
        </p:txBody>
      </p:sp>
      <p:sp>
        <p:nvSpPr>
          <p:cNvPr id="14" name="Rectangle 13">
            <a:extLst xmlns:a="http://schemas.openxmlformats.org/drawingml/2006/main">
              <a:ext uri="{FF2B5EF4-FFF2-40B4-BE49-F238E27FC236}">
                <a16:creationId xmlns:a16="http://schemas.microsoft.com/office/drawing/2014/main" id="{35B2EDD1-8E71-4CF9-90DC-30203B3CD9A6}"/>
              </a:ext>
            </a:extLst>
          </p:cNvPr>
          <p:cNvSpPr>
            <a:spLocks xmlns:a="http://schemas.openxmlformats.org/drawingml/2006/main" noGrp="1"/>
          </p:cNvSpPr>
          <p:nvPr/>
        </p:nvSpPr>
        <p:spPr>
          <a:xfrm xmlns:a="http://schemas.openxmlformats.org/drawingml/2006/main">
            <a:off x="2667000" y="36766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0">
                <a:solidFill>
                  <a:srgbClr val="F4F8FC"/>
                </a:solidFill>
                <a:latin typeface="Arial"/>
                <a:ea typeface="Arial"/>
                <a:cs typeface="Arial"/>
              </a:defRPr>
            </a:pPr>
            <a:r>
              <a:rPr sz="1275" b="0">
                <a:solidFill>
                  <a:srgbClr val="F4F8FC"/>
                </a:solidFill>
                <a:latin typeface="Arial"/>
                <a:ea typeface="Arial"/>
                <a:cs typeface="Arial"/>
              </a:rPr>
              <a:t>significance, levels, signs, and end positions</a:t>
            </a:r>
          </a:p>
        </p:txBody>
      </p:sp>
      <p:sp>
        <p:nvSpPr>
          <p:cNvPr id="15" name="Rectangle 14">
            <a:extLst xmlns:a="http://schemas.openxmlformats.org/drawingml/2006/main">
              <a:ext uri="{FF2B5EF4-FFF2-40B4-BE49-F238E27FC236}">
                <a16:creationId xmlns:a16="http://schemas.microsoft.com/office/drawing/2014/main" id="{6DF293E2-D820-4E55-9708-F151218E2A47}"/>
              </a:ext>
            </a:extLst>
          </p:cNvPr>
          <p:cNvSpPr>
            <a:spLocks xmlns:a="http://schemas.openxmlformats.org/drawingml/2006/main" noGrp="1"/>
          </p:cNvSpPr>
          <p:nvPr/>
        </p:nvSpPr>
        <p:spPr>
          <a:xfrm xmlns:a="http://schemas.openxmlformats.org/drawingml/2006/main">
            <a:off x="762000" y="45148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FFB84D"/>
                </a:solidFill>
                <a:latin typeface="Arial"/>
                <a:ea typeface="Arial"/>
                <a:cs typeface="Arial"/>
              </a:defRPr>
            </a:pPr>
            <a:r>
              <a:rPr sz="1350" b="1">
                <a:solidFill>
                  <a:srgbClr val="FFB84D"/>
                </a:solidFill>
                <a:latin typeface="Arial"/>
                <a:ea typeface="Arial"/>
                <a:cs typeface="Arial"/>
              </a:rPr>
              <a:t>Other syntax</a:t>
            </a:r>
          </a:p>
        </p:txBody>
      </p:sp>
      <p:sp>
        <p:nvSpPr>
          <p:cNvPr id="16" name="Rectangle 15">
            <a:extLst xmlns:a="http://schemas.openxmlformats.org/drawingml/2006/main">
              <a:ext uri="{FF2B5EF4-FFF2-40B4-BE49-F238E27FC236}">
                <a16:creationId xmlns:a16="http://schemas.microsoft.com/office/drawing/2014/main" id="{2DC2DC8C-5E46-4BAD-92AA-30AC41975590}"/>
              </a:ext>
            </a:extLst>
          </p:cNvPr>
          <p:cNvSpPr>
            <a:spLocks xmlns:a="http://schemas.openxmlformats.org/drawingml/2006/main" noGrp="1"/>
          </p:cNvSpPr>
          <p:nvPr/>
        </p:nvSpPr>
        <p:spPr>
          <a:xfrm xmlns:a="http://schemas.openxmlformats.org/drawingml/2006/main">
            <a:off x="2667000" y="45148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118"/>
          </a:bodyPr>
          <a:lstStyle xmlns:a="http://schemas.openxmlformats.org/drawingml/2006/main"/>
          <a:p xmlns:a="http://schemas.openxmlformats.org/drawingml/2006/main">
            <a:pPr>
              <a:buNone/>
              <a:defRPr sz="1275" b="0">
                <a:solidFill>
                  <a:srgbClr val="F4F8FC"/>
                </a:solidFill>
                <a:latin typeface="Arial"/>
                <a:ea typeface="Arial"/>
                <a:cs typeface="Arial"/>
              </a:defRPr>
            </a:pPr>
            <a:r>
              <a:rPr sz="1275" b="0">
                <a:solidFill>
                  <a:srgbClr val="F4F8FC"/>
                </a:solidFill>
                <a:latin typeface="Arial"/>
                <a:ea typeface="Arial"/>
                <a:cs typeface="Arial"/>
              </a:rPr>
              <a:t>parameters required by the selected coding path</a:t>
            </a:r>
          </a:p>
        </p:txBody>
      </p:sp>
      <p:sp>
        <p:nvSpPr>
          <p:cNvPr id="17" name="Straight Connector 16">
            <a:extLst xmlns:a="http://schemas.openxmlformats.org/drawingml/2006/main">
              <a:ext uri="{FF2B5EF4-FFF2-40B4-BE49-F238E27FC236}">
                <a16:creationId xmlns:a16="http://schemas.microsoft.com/office/drawing/2014/main" id="{3C532BC0-B28F-4212-8AD3-8D7530D22FCA}"/>
              </a:ext>
            </a:extLst>
          </p:cNvPr>
          <p:cNvSpPr>
            <a:spLocks xmlns:a="http://schemas.openxmlformats.org/drawingml/2006/main" noGrp="1"/>
          </p:cNvSpPr>
          <p:nvPr/>
        </p:nvSpPr>
        <p:spPr>
          <a:xfrm xmlns:a="http://schemas.openxmlformats.org/drawingml/2006/main">
            <a:off x="6096000" y="1524000"/>
            <a:ext cx="9525" cy="3905250"/>
          </a:xfrm>
          <a:prstGeom xmlns:a="http://schemas.openxmlformats.org/drawingml/2006/main" prst="line">
            <a:avLst/>
          </a:prstGeom>
          <a:noFill xmlns:a="http://schemas.openxmlformats.org/drawingml/2006/main"/>
          <a:ln xmlns:a="http://schemas.openxmlformats.org/drawingml/2006/main" w="19050">
            <a:solidFill>
              <a:srgbClr val="2A5876"/>
            </a:solidFill>
            <a:prstDash val="solid"/>
          </a:ln>
        </p:spPr>
      </p:sp>
      <p:sp>
        <p:nvSpPr>
          <p:cNvPr id="18" name="Rectangle 17">
            <a:extLst xmlns:a="http://schemas.openxmlformats.org/drawingml/2006/main">
              <a:ext uri="{FF2B5EF4-FFF2-40B4-BE49-F238E27FC236}">
                <a16:creationId xmlns:a16="http://schemas.microsoft.com/office/drawing/2014/main" id="{5966B678-5A28-40A3-89B3-FAD741A0C56B}"/>
              </a:ext>
            </a:extLst>
          </p:cNvPr>
          <p:cNvSpPr>
            <a:spLocks xmlns:a="http://schemas.openxmlformats.org/drawingml/2006/main" noGrp="1"/>
          </p:cNvSpPr>
          <p:nvPr/>
        </p:nvSpPr>
        <p:spPr>
          <a:xfrm xmlns:a="http://schemas.openxmlformats.org/drawingml/2006/main">
            <a:off x="6572250" y="14763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22D3EE"/>
                </a:solidFill>
                <a:latin typeface="Arial"/>
                <a:ea typeface="Arial"/>
                <a:cs typeface="Arial"/>
              </a:defRPr>
            </a:pPr>
            <a:r>
              <a:rPr sz="1725" b="1">
                <a:solidFill>
                  <a:srgbClr val="22D3EE"/>
                </a:solidFill>
                <a:latin typeface="Arial"/>
                <a:ea typeface="Arial"/>
                <a:cs typeface="Arial"/>
              </a:rPr>
              <a:t>TWO COMMON WAYS TO OBTAIN R</a:t>
            </a:r>
          </a:p>
        </p:txBody>
      </p:sp>
      <p:sp>
        <p:nvSpPr>
          <p:cNvPr id="19" name="Rectangle: Rounded Corners 18">
            <a:extLst xmlns:a="http://schemas.openxmlformats.org/drawingml/2006/main">
              <a:ext uri="{FF2B5EF4-FFF2-40B4-BE49-F238E27FC236}">
                <a16:creationId xmlns:a16="http://schemas.microsoft.com/office/drawing/2014/main" id="{5B2C275F-3EC4-4C60-B510-FA937810CEF5}"/>
              </a:ext>
            </a:extLst>
          </p:cNvPr>
          <p:cNvSpPr>
            <a:spLocks xmlns:a="http://schemas.openxmlformats.org/drawingml/2006/main" noGrp="1"/>
          </p:cNvSpPr>
          <p:nvPr/>
        </p:nvSpPr>
        <p:spPr>
          <a:xfrm xmlns:a="http://schemas.openxmlformats.org/drawingml/2006/main">
            <a:off x="6858000" y="2143125"/>
            <a:ext cx="4000500" cy="1000125"/>
          </a:xfrm>
          <a:prstGeom xmlns:a="http://schemas.openxmlformats.org/drawingml/2006/main" prst="roundRect">
            <a:avLst>
              <a:gd name="adj" fmla="val 11429"/>
            </a:avLst>
          </a:prstGeom>
          <a:solidFill xmlns:a="http://schemas.openxmlformats.org/drawingml/2006/main">
            <a:srgbClr val="0A2830"/>
          </a:solidFill>
          <a:ln xmlns:a="http://schemas.openxmlformats.org/drawingml/2006/main" w="19050">
            <a:solidFill>
              <a:srgbClr val="47E6A4"/>
            </a:solidFill>
            <a:prstDash val="solid"/>
          </a:ln>
        </p:spPr>
      </p:sp>
      <p:sp>
        <p:nvSpPr>
          <p:cNvPr id="20" name="Rectangle 19">
            <a:extLst xmlns:a="http://schemas.openxmlformats.org/drawingml/2006/main">
              <a:ext uri="{FF2B5EF4-FFF2-40B4-BE49-F238E27FC236}">
                <a16:creationId xmlns:a16="http://schemas.microsoft.com/office/drawing/2014/main" id="{E9666529-FA6B-4579-A195-AC3EEE63D440}"/>
              </a:ext>
            </a:extLst>
          </p:cNvPr>
          <p:cNvSpPr>
            <a:spLocks xmlns:a="http://schemas.openxmlformats.org/drawingml/2006/main" noGrp="1"/>
          </p:cNvSpPr>
          <p:nvPr/>
        </p:nvSpPr>
        <p:spPr>
          <a:xfrm xmlns:a="http://schemas.openxmlformats.org/drawingml/2006/main">
            <a:off x="6972300" y="2238375"/>
            <a:ext cx="37719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FULL RDO</a:t>
            </a:r>
          </a:p>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Simulate entropy coding and count the candidate's coded cost</a:t>
            </a:r>
          </a:p>
        </p:txBody>
      </p:sp>
      <p:sp>
        <p:nvSpPr>
          <p:cNvPr id="21" name="Rectangle 20">
            <a:extLst xmlns:a="http://schemas.openxmlformats.org/drawingml/2006/main">
              <a:ext uri="{FF2B5EF4-FFF2-40B4-BE49-F238E27FC236}">
                <a16:creationId xmlns:a16="http://schemas.microsoft.com/office/drawing/2014/main" id="{6CB7DA67-ADBE-4D40-84FE-075DABF7F24C}"/>
              </a:ext>
            </a:extLst>
          </p:cNvPr>
          <p:cNvSpPr>
            <a:spLocks xmlns:a="http://schemas.openxmlformats.org/drawingml/2006/main" noGrp="1"/>
          </p:cNvSpPr>
          <p:nvPr/>
        </p:nvSpPr>
        <p:spPr>
          <a:xfrm xmlns:a="http://schemas.openxmlformats.org/drawingml/2006/main">
            <a:off x="7286625" y="32861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More accurate, more computation</a:t>
            </a:r>
          </a:p>
        </p:txBody>
      </p:sp>
      <p:sp>
        <p:nvSpPr>
          <p:cNvPr id="22" name="Rectangle: Rounded Corners 21">
            <a:extLst xmlns:a="http://schemas.openxmlformats.org/drawingml/2006/main">
              <a:ext uri="{FF2B5EF4-FFF2-40B4-BE49-F238E27FC236}">
                <a16:creationId xmlns:a16="http://schemas.microsoft.com/office/drawing/2014/main" id="{03AB442A-C4DD-4E6E-87B2-79F7AFC16DF1}"/>
              </a:ext>
            </a:extLst>
          </p:cNvPr>
          <p:cNvSpPr>
            <a:spLocks xmlns:a="http://schemas.openxmlformats.org/drawingml/2006/main" noGrp="1"/>
          </p:cNvSpPr>
          <p:nvPr/>
        </p:nvSpPr>
        <p:spPr>
          <a:xfrm xmlns:a="http://schemas.openxmlformats.org/drawingml/2006/main">
            <a:off x="6858000" y="3952875"/>
            <a:ext cx="4000500" cy="1000125"/>
          </a:xfrm>
          <a:prstGeom xmlns:a="http://schemas.openxmlformats.org/drawingml/2006/main" prst="roundRect">
            <a:avLst>
              <a:gd name="adj" fmla="val 11429"/>
            </a:avLst>
          </a:prstGeom>
          <a:solidFill xmlns:a="http://schemas.openxmlformats.org/drawingml/2006/main">
            <a:srgbClr val="132536"/>
          </a:solidFill>
          <a:ln xmlns:a="http://schemas.openxmlformats.org/drawingml/2006/main" w="19050">
            <a:solidFill>
              <a:srgbClr val="FFB84D"/>
            </a:solidFill>
            <a:prstDash val="solid"/>
          </a:ln>
        </p:spPr>
      </p:sp>
      <p:sp>
        <p:nvSpPr>
          <p:cNvPr id="23" name="Rectangle 22">
            <a:extLst xmlns:a="http://schemas.openxmlformats.org/drawingml/2006/main">
              <a:ext uri="{FF2B5EF4-FFF2-40B4-BE49-F238E27FC236}">
                <a16:creationId xmlns:a16="http://schemas.microsoft.com/office/drawing/2014/main" id="{1024C5DD-BA77-4AA5-BA38-282069178C70}"/>
              </a:ext>
            </a:extLst>
          </p:cNvPr>
          <p:cNvSpPr>
            <a:spLocks xmlns:a="http://schemas.openxmlformats.org/drawingml/2006/main" noGrp="1"/>
          </p:cNvSpPr>
          <p:nvPr/>
        </p:nvSpPr>
        <p:spPr>
          <a:xfrm xmlns:a="http://schemas.openxmlformats.org/drawingml/2006/main">
            <a:off x="6972300" y="4048125"/>
            <a:ext cx="37719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FAST SEARCH</a:t>
            </a:r>
          </a:p>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Estimate syntax cost from context probabilities and simplified models</a:t>
            </a:r>
          </a:p>
        </p:txBody>
      </p:sp>
      <p:sp>
        <p:nvSpPr>
          <p:cNvPr id="24" name="Rectangle 23">
            <a:extLst xmlns:a="http://schemas.openxmlformats.org/drawingml/2006/main">
              <a:ext uri="{FF2B5EF4-FFF2-40B4-BE49-F238E27FC236}">
                <a16:creationId xmlns:a16="http://schemas.microsoft.com/office/drawing/2014/main" id="{1C7046AF-7336-43D9-B104-7DF54AA4752B}"/>
              </a:ext>
            </a:extLst>
          </p:cNvPr>
          <p:cNvSpPr>
            <a:spLocks xmlns:a="http://schemas.openxmlformats.org/drawingml/2006/main" noGrp="1"/>
          </p:cNvSpPr>
          <p:nvPr/>
        </p:nvSpPr>
        <p:spPr>
          <a:xfrm xmlns:a="http://schemas.openxmlformats.org/drawingml/2006/main">
            <a:off x="7286625" y="50958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Faster, but approximate</a:t>
            </a:r>
          </a:p>
        </p:txBody>
      </p:sp>
      <p:sp>
        <p:nvSpPr>
          <p:cNvPr id="25" name="Rectangle: Rounded Corners 24">
            <a:extLst xmlns:a="http://schemas.openxmlformats.org/drawingml/2006/main">
              <a:ext uri="{FF2B5EF4-FFF2-40B4-BE49-F238E27FC236}">
                <a16:creationId xmlns:a16="http://schemas.microsoft.com/office/drawing/2014/main" id="{FD7E1EEB-F7E6-4E19-B51B-196E3E18D93E}"/>
              </a:ext>
            </a:extLst>
          </p:cNvPr>
          <p:cNvSpPr>
            <a:spLocks xmlns:a="http://schemas.openxmlformats.org/drawingml/2006/main" noGrp="1"/>
          </p:cNvSpPr>
          <p:nvPr/>
        </p:nvSpPr>
        <p:spPr>
          <a:xfrm xmlns:a="http://schemas.openxmlformats.org/drawingml/2006/main">
            <a:off x="1381125" y="5857875"/>
            <a:ext cx="9429750" cy="552450"/>
          </a:xfrm>
          <a:prstGeom xmlns:a="http://schemas.openxmlformats.org/drawingml/2006/main" prst="roundRect">
            <a:avLst>
              <a:gd name="adj" fmla="val 20690"/>
            </a:avLst>
          </a:prstGeom>
          <a:solidFill xmlns:a="http://schemas.openxmlformats.org/drawingml/2006/main">
            <a:srgbClr val="2A1720"/>
          </a:solidFill>
          <a:ln xmlns:a="http://schemas.openxmlformats.org/drawingml/2006/main" w="19050">
            <a:solidFill>
              <a:srgbClr val="FF6577"/>
            </a:solidFill>
            <a:prstDash val="solid"/>
          </a:ln>
        </p:spPr>
      </p:sp>
      <p:sp>
        <p:nvSpPr>
          <p:cNvPr id="26" name="Rectangle 25">
            <a:extLst xmlns:a="http://schemas.openxmlformats.org/drawingml/2006/main">
              <a:ext uri="{FF2B5EF4-FFF2-40B4-BE49-F238E27FC236}">
                <a16:creationId xmlns:a16="http://schemas.microsoft.com/office/drawing/2014/main" id="{25345236-DA58-4F7B-AABD-5EEC37D0A464}"/>
              </a:ext>
            </a:extLst>
          </p:cNvPr>
          <p:cNvSpPr>
            <a:spLocks xmlns:a="http://schemas.openxmlformats.org/drawingml/2006/main" noGrp="1"/>
          </p:cNvSpPr>
          <p:nvPr/>
        </p:nvSpPr>
        <p:spPr>
          <a:xfrm xmlns:a="http://schemas.openxmlformats.org/drawingml/2006/main">
            <a:off x="1495425" y="5953125"/>
            <a:ext cx="920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303"/>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The earlier 16-bit CABAC tag covered a simplified coefficient-bin example. It was not the complete R for Block X.</a:t>
            </a:r>
          </a:p>
        </p:txBody>
      </p:sp>
    </p:spTree>
    <p:extLst>
      <p:ext uri="{BB962C8B-B14F-4D97-AF65-F5344CB8AC3E}">
        <p14:creationId xmlns:p14="http://schemas.microsoft.com/office/powerpoint/2010/main" val="1839810095"/>
      </p:ext>
    </p:extLst>
  </p:cSld>
</p:sld>
</file>

<file path=ppt/slides/slide43.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16" name="Oval 115">
            <a:extLst xmlns:a="http://schemas.openxmlformats.org/drawingml/2006/main">
              <a:ext uri="{FF2B5EF4-FFF2-40B4-BE49-F238E27FC236}">
                <a16:creationId xmlns:a16="http://schemas.microsoft.com/office/drawing/2014/main" id="{DDF87AD5-D352-487A-A0DE-01705572D6FA}"/>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F67375FD-ECF6-4906-9E71-FA1D8F5DE0E4}"/>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23145060-12CC-4E7C-9FDA-C9D9CCD6EC58}"/>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Block X teaching calculation for distortion D</a:t>
            </a:r>
          </a:p>
        </p:txBody>
      </p:sp>
      <p:sp>
        <p:nvSpPr>
          <p:cNvPr id="4" name="Straight Connector 3">
            <a:extLst xmlns:a="http://schemas.openxmlformats.org/drawingml/2006/main">
              <a:ext uri="{FF2B5EF4-FFF2-40B4-BE49-F238E27FC236}">
                <a16:creationId xmlns:a16="http://schemas.microsoft.com/office/drawing/2014/main" id="{2D28FA6F-7B90-4CF3-9CEC-5E2E3C65FDF5}"/>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39810C77-0365-42C0-BCB3-D315BFA5531C}"/>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Under an orthonormal transform model, squared coefficient error equals squared spatial-domain error</a:t>
            </a:r>
          </a:p>
        </p:txBody>
      </p:sp>
      <p:sp>
        <p:nvSpPr>
          <p:cNvPr id="6" name="Rectangle 5">
            <a:extLst xmlns:a="http://schemas.openxmlformats.org/drawingml/2006/main">
              <a:ext uri="{FF2B5EF4-FFF2-40B4-BE49-F238E27FC236}">
                <a16:creationId xmlns:a16="http://schemas.microsoft.com/office/drawing/2014/main" id="{CE990479-4239-4253-A95B-D4060180CD81}"/>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FACD1E78-5B60-4232-B765-CAD30030653A}"/>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43 / 49</a:t>
            </a:r>
          </a:p>
        </p:txBody>
      </p:sp>
      <p:sp>
        <p:nvSpPr>
          <p:cNvPr id="8" name="Rectangle 7">
            <a:extLst xmlns:a="http://schemas.openxmlformats.org/drawingml/2006/main">
              <a:ext uri="{FF2B5EF4-FFF2-40B4-BE49-F238E27FC236}">
                <a16:creationId xmlns:a16="http://schemas.microsoft.com/office/drawing/2014/main" id="{DF6DAF87-6AFB-40F0-9D7B-2F17803D59B2}"/>
              </a:ext>
            </a:extLst>
          </p:cNvPr>
          <p:cNvSpPr>
            <a:spLocks xmlns:a="http://schemas.openxmlformats.org/drawingml/2006/main" noGrp="1"/>
          </p:cNvSpPr>
          <p:nvPr/>
        </p:nvSpPr>
        <p:spPr>
          <a:xfrm xmlns:a="http://schemas.openxmlformats.org/drawingml/2006/main">
            <a:off x="619125" y="14287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22D3EE"/>
                </a:solidFill>
                <a:latin typeface="Arial"/>
                <a:ea typeface="Arial"/>
                <a:cs typeface="Arial"/>
              </a:defRPr>
            </a:pPr>
            <a:r>
              <a:rPr sz="1425" b="1">
                <a:solidFill>
                  <a:srgbClr val="22D3EE"/>
                </a:solidFill>
                <a:latin typeface="Arial"/>
                <a:ea typeface="Arial"/>
                <a:cs typeface="Arial"/>
              </a:rPr>
              <a:t>ORIGINAL COEFFICIENTS</a:t>
            </a:r>
          </a:p>
        </p:txBody>
      </p:sp>
      <p:sp>
        <p:nvSpPr>
          <p:cNvPr id="9" name="Rectangle 8">
            <a:extLst xmlns:a="http://schemas.openxmlformats.org/drawingml/2006/main">
              <a:ext uri="{FF2B5EF4-FFF2-40B4-BE49-F238E27FC236}">
                <a16:creationId xmlns:a16="http://schemas.microsoft.com/office/drawing/2014/main" id="{3502EADC-B1E4-4169-9E3C-1BBB340C1225}"/>
              </a:ext>
            </a:extLst>
          </p:cNvPr>
          <p:cNvSpPr>
            <a:spLocks xmlns:a="http://schemas.openxmlformats.org/drawingml/2006/main" noGrp="1"/>
          </p:cNvSpPr>
          <p:nvPr/>
        </p:nvSpPr>
        <p:spPr>
          <a:xfrm xmlns:a="http://schemas.openxmlformats.org/drawingml/2006/main">
            <a:off x="128587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 name="Rectangle 9">
            <a:extLst xmlns:a="http://schemas.openxmlformats.org/drawingml/2006/main">
              <a:ext uri="{FF2B5EF4-FFF2-40B4-BE49-F238E27FC236}">
                <a16:creationId xmlns:a16="http://schemas.microsoft.com/office/drawing/2014/main" id="{0BEEC700-2CF3-4B88-935C-B3B75C47C410}"/>
              </a:ext>
            </a:extLst>
          </p:cNvPr>
          <p:cNvSpPr>
            <a:spLocks xmlns:a="http://schemas.openxmlformats.org/drawingml/2006/main" noGrp="1"/>
          </p:cNvSpPr>
          <p:nvPr/>
        </p:nvSpPr>
        <p:spPr>
          <a:xfrm xmlns:a="http://schemas.openxmlformats.org/drawingml/2006/main">
            <a:off x="128587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42</a:t>
            </a:r>
          </a:p>
        </p:txBody>
      </p:sp>
      <p:sp>
        <p:nvSpPr>
          <p:cNvPr id="11" name="Rectangle 10">
            <a:extLst xmlns:a="http://schemas.openxmlformats.org/drawingml/2006/main">
              <a:ext uri="{FF2B5EF4-FFF2-40B4-BE49-F238E27FC236}">
                <a16:creationId xmlns:a16="http://schemas.microsoft.com/office/drawing/2014/main" id="{BAB0751E-971D-43C9-8CB8-4FCF59676B37}"/>
              </a:ext>
            </a:extLst>
          </p:cNvPr>
          <p:cNvSpPr>
            <a:spLocks xmlns:a="http://schemas.openxmlformats.org/drawingml/2006/main" noGrp="1"/>
          </p:cNvSpPr>
          <p:nvPr/>
        </p:nvSpPr>
        <p:spPr>
          <a:xfrm xmlns:a="http://schemas.openxmlformats.org/drawingml/2006/main">
            <a:off x="176212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2" name="Rectangle 11">
            <a:extLst xmlns:a="http://schemas.openxmlformats.org/drawingml/2006/main">
              <a:ext uri="{FF2B5EF4-FFF2-40B4-BE49-F238E27FC236}">
                <a16:creationId xmlns:a16="http://schemas.microsoft.com/office/drawing/2014/main" id="{1A1E1E51-917A-441B-A697-11969B074EE3}"/>
              </a:ext>
            </a:extLst>
          </p:cNvPr>
          <p:cNvSpPr>
            <a:spLocks xmlns:a="http://schemas.openxmlformats.org/drawingml/2006/main" noGrp="1"/>
          </p:cNvSpPr>
          <p:nvPr/>
        </p:nvSpPr>
        <p:spPr>
          <a:xfrm xmlns:a="http://schemas.openxmlformats.org/drawingml/2006/main">
            <a:off x="176212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-12</a:t>
            </a:r>
          </a:p>
        </p:txBody>
      </p:sp>
      <p:sp>
        <p:nvSpPr>
          <p:cNvPr id="13" name="Rectangle 12">
            <a:extLst xmlns:a="http://schemas.openxmlformats.org/drawingml/2006/main">
              <a:ext uri="{FF2B5EF4-FFF2-40B4-BE49-F238E27FC236}">
                <a16:creationId xmlns:a16="http://schemas.microsoft.com/office/drawing/2014/main" id="{3AC09BA0-01DF-4003-A8B6-6A427ED1AD7F}"/>
              </a:ext>
            </a:extLst>
          </p:cNvPr>
          <p:cNvSpPr>
            <a:spLocks xmlns:a="http://schemas.openxmlformats.org/drawingml/2006/main" noGrp="1"/>
          </p:cNvSpPr>
          <p:nvPr/>
        </p:nvSpPr>
        <p:spPr>
          <a:xfrm xmlns:a="http://schemas.openxmlformats.org/drawingml/2006/main">
            <a:off x="223837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4" name="Rectangle 13">
            <a:extLst xmlns:a="http://schemas.openxmlformats.org/drawingml/2006/main">
              <a:ext uri="{FF2B5EF4-FFF2-40B4-BE49-F238E27FC236}">
                <a16:creationId xmlns:a16="http://schemas.microsoft.com/office/drawing/2014/main" id="{74A2F7DB-E584-463E-8A82-65E10D4D4A7E}"/>
              </a:ext>
            </a:extLst>
          </p:cNvPr>
          <p:cNvSpPr>
            <a:spLocks xmlns:a="http://schemas.openxmlformats.org/drawingml/2006/main" noGrp="1"/>
          </p:cNvSpPr>
          <p:nvPr/>
        </p:nvSpPr>
        <p:spPr>
          <a:xfrm xmlns:a="http://schemas.openxmlformats.org/drawingml/2006/main">
            <a:off x="223837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4</a:t>
            </a:r>
          </a:p>
        </p:txBody>
      </p:sp>
      <p:sp>
        <p:nvSpPr>
          <p:cNvPr id="15" name="Rectangle 14">
            <a:extLst xmlns:a="http://schemas.openxmlformats.org/drawingml/2006/main">
              <a:ext uri="{FF2B5EF4-FFF2-40B4-BE49-F238E27FC236}">
                <a16:creationId xmlns:a16="http://schemas.microsoft.com/office/drawing/2014/main" id="{9843AA95-1652-4231-8FDA-C160A5FCDD45}"/>
              </a:ext>
            </a:extLst>
          </p:cNvPr>
          <p:cNvSpPr>
            <a:spLocks xmlns:a="http://schemas.openxmlformats.org/drawingml/2006/main" noGrp="1"/>
          </p:cNvSpPr>
          <p:nvPr/>
        </p:nvSpPr>
        <p:spPr>
          <a:xfrm xmlns:a="http://schemas.openxmlformats.org/drawingml/2006/main">
            <a:off x="271462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6" name="Rectangle 15">
            <a:extLst xmlns:a="http://schemas.openxmlformats.org/drawingml/2006/main">
              <a:ext uri="{FF2B5EF4-FFF2-40B4-BE49-F238E27FC236}">
                <a16:creationId xmlns:a16="http://schemas.microsoft.com/office/drawing/2014/main" id="{3C96148A-E863-4307-9FF9-AE8636E2FF25}"/>
              </a:ext>
            </a:extLst>
          </p:cNvPr>
          <p:cNvSpPr>
            <a:spLocks xmlns:a="http://schemas.openxmlformats.org/drawingml/2006/main" noGrp="1"/>
          </p:cNvSpPr>
          <p:nvPr/>
        </p:nvSpPr>
        <p:spPr>
          <a:xfrm xmlns:a="http://schemas.openxmlformats.org/drawingml/2006/main">
            <a:off x="271462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17" name="Rectangle 16">
            <a:extLst xmlns:a="http://schemas.openxmlformats.org/drawingml/2006/main">
              <a:ext uri="{FF2B5EF4-FFF2-40B4-BE49-F238E27FC236}">
                <a16:creationId xmlns:a16="http://schemas.microsoft.com/office/drawing/2014/main" id="{1348445A-5E56-4EA4-BF20-A036660E2ABB}"/>
              </a:ext>
            </a:extLst>
          </p:cNvPr>
          <p:cNvSpPr>
            <a:spLocks xmlns:a="http://schemas.openxmlformats.org/drawingml/2006/main" noGrp="1"/>
          </p:cNvSpPr>
          <p:nvPr/>
        </p:nvSpPr>
        <p:spPr>
          <a:xfrm xmlns:a="http://schemas.openxmlformats.org/drawingml/2006/main">
            <a:off x="128587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8" name="Rectangle 17">
            <a:extLst xmlns:a="http://schemas.openxmlformats.org/drawingml/2006/main">
              <a:ext uri="{FF2B5EF4-FFF2-40B4-BE49-F238E27FC236}">
                <a16:creationId xmlns:a16="http://schemas.microsoft.com/office/drawing/2014/main" id="{3E89860A-9F6E-4AB5-BF71-26D9AF21D97D}"/>
              </a:ext>
            </a:extLst>
          </p:cNvPr>
          <p:cNvSpPr>
            <a:spLocks xmlns:a="http://schemas.openxmlformats.org/drawingml/2006/main" noGrp="1"/>
          </p:cNvSpPr>
          <p:nvPr/>
        </p:nvSpPr>
        <p:spPr>
          <a:xfrm xmlns:a="http://schemas.openxmlformats.org/drawingml/2006/main">
            <a:off x="128587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-9</a:t>
            </a:r>
          </a:p>
        </p:txBody>
      </p:sp>
      <p:sp>
        <p:nvSpPr>
          <p:cNvPr id="19" name="Rectangle 18">
            <a:extLst xmlns:a="http://schemas.openxmlformats.org/drawingml/2006/main">
              <a:ext uri="{FF2B5EF4-FFF2-40B4-BE49-F238E27FC236}">
                <a16:creationId xmlns:a16="http://schemas.microsoft.com/office/drawing/2014/main" id="{66F353E5-1277-4F69-B5E9-2864E0105CE3}"/>
              </a:ext>
            </a:extLst>
          </p:cNvPr>
          <p:cNvSpPr>
            <a:spLocks xmlns:a="http://schemas.openxmlformats.org/drawingml/2006/main" noGrp="1"/>
          </p:cNvSpPr>
          <p:nvPr/>
        </p:nvSpPr>
        <p:spPr>
          <a:xfrm xmlns:a="http://schemas.openxmlformats.org/drawingml/2006/main">
            <a:off x="176212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0" name="Rectangle 19">
            <a:extLst xmlns:a="http://schemas.openxmlformats.org/drawingml/2006/main">
              <a:ext uri="{FF2B5EF4-FFF2-40B4-BE49-F238E27FC236}">
                <a16:creationId xmlns:a16="http://schemas.microsoft.com/office/drawing/2014/main" id="{C43C809A-112A-45D9-9CA5-815B2C733A86}"/>
              </a:ext>
            </a:extLst>
          </p:cNvPr>
          <p:cNvSpPr>
            <a:spLocks xmlns:a="http://schemas.openxmlformats.org/drawingml/2006/main" noGrp="1"/>
          </p:cNvSpPr>
          <p:nvPr/>
        </p:nvSpPr>
        <p:spPr>
          <a:xfrm xmlns:a="http://schemas.openxmlformats.org/drawingml/2006/main">
            <a:off x="176212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5</a:t>
            </a:r>
          </a:p>
        </p:txBody>
      </p:sp>
      <p:sp>
        <p:nvSpPr>
          <p:cNvPr id="21" name="Rectangle 20">
            <a:extLst xmlns:a="http://schemas.openxmlformats.org/drawingml/2006/main">
              <a:ext uri="{FF2B5EF4-FFF2-40B4-BE49-F238E27FC236}">
                <a16:creationId xmlns:a16="http://schemas.microsoft.com/office/drawing/2014/main" id="{3952EA8C-78C8-46AC-B7F7-46BD2AF4F32C}"/>
              </a:ext>
            </a:extLst>
          </p:cNvPr>
          <p:cNvSpPr>
            <a:spLocks xmlns:a="http://schemas.openxmlformats.org/drawingml/2006/main" noGrp="1"/>
          </p:cNvSpPr>
          <p:nvPr/>
        </p:nvSpPr>
        <p:spPr>
          <a:xfrm xmlns:a="http://schemas.openxmlformats.org/drawingml/2006/main">
            <a:off x="223837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2" name="Rectangle 21">
            <a:extLst xmlns:a="http://schemas.openxmlformats.org/drawingml/2006/main">
              <a:ext uri="{FF2B5EF4-FFF2-40B4-BE49-F238E27FC236}">
                <a16:creationId xmlns:a16="http://schemas.microsoft.com/office/drawing/2014/main" id="{6B0B3E42-CBA6-49FC-8A32-050A504BD6DB}"/>
              </a:ext>
            </a:extLst>
          </p:cNvPr>
          <p:cNvSpPr>
            <a:spLocks xmlns:a="http://schemas.openxmlformats.org/drawingml/2006/main" noGrp="1"/>
          </p:cNvSpPr>
          <p:nvPr/>
        </p:nvSpPr>
        <p:spPr>
          <a:xfrm xmlns:a="http://schemas.openxmlformats.org/drawingml/2006/main">
            <a:off x="223837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-2</a:t>
            </a:r>
          </a:p>
        </p:txBody>
      </p:sp>
      <p:sp>
        <p:nvSpPr>
          <p:cNvPr id="23" name="Rectangle 22">
            <a:extLst xmlns:a="http://schemas.openxmlformats.org/drawingml/2006/main">
              <a:ext uri="{FF2B5EF4-FFF2-40B4-BE49-F238E27FC236}">
                <a16:creationId xmlns:a16="http://schemas.microsoft.com/office/drawing/2014/main" id="{F47813A0-CB10-4EA1-9F4E-9A47D85CE550}"/>
              </a:ext>
            </a:extLst>
          </p:cNvPr>
          <p:cNvSpPr>
            <a:spLocks xmlns:a="http://schemas.openxmlformats.org/drawingml/2006/main" noGrp="1"/>
          </p:cNvSpPr>
          <p:nvPr/>
        </p:nvSpPr>
        <p:spPr>
          <a:xfrm xmlns:a="http://schemas.openxmlformats.org/drawingml/2006/main">
            <a:off x="271462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4" name="Rectangle 23">
            <a:extLst xmlns:a="http://schemas.openxmlformats.org/drawingml/2006/main">
              <a:ext uri="{FF2B5EF4-FFF2-40B4-BE49-F238E27FC236}">
                <a16:creationId xmlns:a16="http://schemas.microsoft.com/office/drawing/2014/main" id="{58E073C3-F01A-40AF-96D5-151423A4D44F}"/>
              </a:ext>
            </a:extLst>
          </p:cNvPr>
          <p:cNvSpPr>
            <a:spLocks xmlns:a="http://schemas.openxmlformats.org/drawingml/2006/main" noGrp="1"/>
          </p:cNvSpPr>
          <p:nvPr/>
        </p:nvSpPr>
        <p:spPr>
          <a:xfrm xmlns:a="http://schemas.openxmlformats.org/drawingml/2006/main">
            <a:off x="271462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25" name="Rectangle 24">
            <a:extLst xmlns:a="http://schemas.openxmlformats.org/drawingml/2006/main">
              <a:ext uri="{FF2B5EF4-FFF2-40B4-BE49-F238E27FC236}">
                <a16:creationId xmlns:a16="http://schemas.microsoft.com/office/drawing/2014/main" id="{7C5F9D8B-2794-4D45-B5E9-A8BF4FDFD123}"/>
              </a:ext>
            </a:extLst>
          </p:cNvPr>
          <p:cNvSpPr>
            <a:spLocks xmlns:a="http://schemas.openxmlformats.org/drawingml/2006/main" noGrp="1"/>
          </p:cNvSpPr>
          <p:nvPr/>
        </p:nvSpPr>
        <p:spPr>
          <a:xfrm xmlns:a="http://schemas.openxmlformats.org/drawingml/2006/main">
            <a:off x="128587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6" name="Rectangle 25">
            <a:extLst xmlns:a="http://schemas.openxmlformats.org/drawingml/2006/main">
              <a:ext uri="{FF2B5EF4-FFF2-40B4-BE49-F238E27FC236}">
                <a16:creationId xmlns:a16="http://schemas.microsoft.com/office/drawing/2014/main" id="{AFD62EA7-83FE-407B-91CE-BF95E0DC7163}"/>
              </a:ext>
            </a:extLst>
          </p:cNvPr>
          <p:cNvSpPr>
            <a:spLocks xmlns:a="http://schemas.openxmlformats.org/drawingml/2006/main" noGrp="1"/>
          </p:cNvSpPr>
          <p:nvPr/>
        </p:nvSpPr>
        <p:spPr>
          <a:xfrm xmlns:a="http://schemas.openxmlformats.org/drawingml/2006/main">
            <a:off x="128587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3</a:t>
            </a:r>
          </a:p>
        </p:txBody>
      </p:sp>
      <p:sp>
        <p:nvSpPr>
          <p:cNvPr id="27" name="Rectangle 26">
            <a:extLst xmlns:a="http://schemas.openxmlformats.org/drawingml/2006/main">
              <a:ext uri="{FF2B5EF4-FFF2-40B4-BE49-F238E27FC236}">
                <a16:creationId xmlns:a16="http://schemas.microsoft.com/office/drawing/2014/main" id="{2EF7272B-6281-47A3-A677-45BA58E2C884}"/>
              </a:ext>
            </a:extLst>
          </p:cNvPr>
          <p:cNvSpPr>
            <a:spLocks xmlns:a="http://schemas.openxmlformats.org/drawingml/2006/main" noGrp="1"/>
          </p:cNvSpPr>
          <p:nvPr/>
        </p:nvSpPr>
        <p:spPr>
          <a:xfrm xmlns:a="http://schemas.openxmlformats.org/drawingml/2006/main">
            <a:off x="176212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28" name="Rectangle 27">
            <a:extLst xmlns:a="http://schemas.openxmlformats.org/drawingml/2006/main">
              <a:ext uri="{FF2B5EF4-FFF2-40B4-BE49-F238E27FC236}">
                <a16:creationId xmlns:a16="http://schemas.microsoft.com/office/drawing/2014/main" id="{133F4DCD-5070-414B-A180-EE06FDCFD869}"/>
              </a:ext>
            </a:extLst>
          </p:cNvPr>
          <p:cNvSpPr>
            <a:spLocks xmlns:a="http://schemas.openxmlformats.org/drawingml/2006/main" noGrp="1"/>
          </p:cNvSpPr>
          <p:nvPr/>
        </p:nvSpPr>
        <p:spPr>
          <a:xfrm xmlns:a="http://schemas.openxmlformats.org/drawingml/2006/main">
            <a:off x="176212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29" name="Rectangle 28">
            <a:extLst xmlns:a="http://schemas.openxmlformats.org/drawingml/2006/main">
              <a:ext uri="{FF2B5EF4-FFF2-40B4-BE49-F238E27FC236}">
                <a16:creationId xmlns:a16="http://schemas.microsoft.com/office/drawing/2014/main" id="{76359199-BDB1-4A7A-949C-40008A1A15C2}"/>
              </a:ext>
            </a:extLst>
          </p:cNvPr>
          <p:cNvSpPr>
            <a:spLocks xmlns:a="http://schemas.openxmlformats.org/drawingml/2006/main" noGrp="1"/>
          </p:cNvSpPr>
          <p:nvPr/>
        </p:nvSpPr>
        <p:spPr>
          <a:xfrm xmlns:a="http://schemas.openxmlformats.org/drawingml/2006/main">
            <a:off x="223837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0" name="Rectangle 29">
            <a:extLst xmlns:a="http://schemas.openxmlformats.org/drawingml/2006/main">
              <a:ext uri="{FF2B5EF4-FFF2-40B4-BE49-F238E27FC236}">
                <a16:creationId xmlns:a16="http://schemas.microsoft.com/office/drawing/2014/main" id="{DF6188E0-129C-446E-8968-2844F20C7089}"/>
              </a:ext>
            </a:extLst>
          </p:cNvPr>
          <p:cNvSpPr>
            <a:spLocks xmlns:a="http://schemas.openxmlformats.org/drawingml/2006/main" noGrp="1"/>
          </p:cNvSpPr>
          <p:nvPr/>
        </p:nvSpPr>
        <p:spPr>
          <a:xfrm xmlns:a="http://schemas.openxmlformats.org/drawingml/2006/main">
            <a:off x="223837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31" name="Rectangle 30">
            <a:extLst xmlns:a="http://schemas.openxmlformats.org/drawingml/2006/main">
              <a:ext uri="{FF2B5EF4-FFF2-40B4-BE49-F238E27FC236}">
                <a16:creationId xmlns:a16="http://schemas.microsoft.com/office/drawing/2014/main" id="{D5F7D852-2B2A-4290-A4F5-282B35C2A67F}"/>
              </a:ext>
            </a:extLst>
          </p:cNvPr>
          <p:cNvSpPr>
            <a:spLocks xmlns:a="http://schemas.openxmlformats.org/drawingml/2006/main" noGrp="1"/>
          </p:cNvSpPr>
          <p:nvPr/>
        </p:nvSpPr>
        <p:spPr>
          <a:xfrm xmlns:a="http://schemas.openxmlformats.org/drawingml/2006/main">
            <a:off x="271462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2" name="Rectangle 31">
            <a:extLst xmlns:a="http://schemas.openxmlformats.org/drawingml/2006/main">
              <a:ext uri="{FF2B5EF4-FFF2-40B4-BE49-F238E27FC236}">
                <a16:creationId xmlns:a16="http://schemas.microsoft.com/office/drawing/2014/main" id="{ABE1A8CC-D35A-4507-8959-917F81104A33}"/>
              </a:ext>
            </a:extLst>
          </p:cNvPr>
          <p:cNvSpPr>
            <a:spLocks xmlns:a="http://schemas.openxmlformats.org/drawingml/2006/main" noGrp="1"/>
          </p:cNvSpPr>
          <p:nvPr/>
        </p:nvSpPr>
        <p:spPr>
          <a:xfrm xmlns:a="http://schemas.openxmlformats.org/drawingml/2006/main">
            <a:off x="271462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3" name="Rectangle 32">
            <a:extLst xmlns:a="http://schemas.openxmlformats.org/drawingml/2006/main">
              <a:ext uri="{FF2B5EF4-FFF2-40B4-BE49-F238E27FC236}">
                <a16:creationId xmlns:a16="http://schemas.microsoft.com/office/drawing/2014/main" id="{C514BA0D-194C-41F3-AF6C-15B708B60929}"/>
              </a:ext>
            </a:extLst>
          </p:cNvPr>
          <p:cNvSpPr>
            <a:spLocks xmlns:a="http://schemas.openxmlformats.org/drawingml/2006/main" noGrp="1"/>
          </p:cNvSpPr>
          <p:nvPr/>
        </p:nvSpPr>
        <p:spPr>
          <a:xfrm xmlns:a="http://schemas.openxmlformats.org/drawingml/2006/main">
            <a:off x="128587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4" name="Rectangle 33">
            <a:extLst xmlns:a="http://schemas.openxmlformats.org/drawingml/2006/main">
              <a:ext uri="{FF2B5EF4-FFF2-40B4-BE49-F238E27FC236}">
                <a16:creationId xmlns:a16="http://schemas.microsoft.com/office/drawing/2014/main" id="{857B087F-4736-4F13-A8BE-CEE12A7F1C98}"/>
              </a:ext>
            </a:extLst>
          </p:cNvPr>
          <p:cNvSpPr>
            <a:spLocks xmlns:a="http://schemas.openxmlformats.org/drawingml/2006/main" noGrp="1"/>
          </p:cNvSpPr>
          <p:nvPr/>
        </p:nvSpPr>
        <p:spPr>
          <a:xfrm xmlns:a="http://schemas.openxmlformats.org/drawingml/2006/main">
            <a:off x="128587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35" name="Rectangle 34">
            <a:extLst xmlns:a="http://schemas.openxmlformats.org/drawingml/2006/main">
              <a:ext uri="{FF2B5EF4-FFF2-40B4-BE49-F238E27FC236}">
                <a16:creationId xmlns:a16="http://schemas.microsoft.com/office/drawing/2014/main" id="{FDC0116A-2262-49E6-BEE2-2C32DD50A03E}"/>
              </a:ext>
            </a:extLst>
          </p:cNvPr>
          <p:cNvSpPr>
            <a:spLocks xmlns:a="http://schemas.openxmlformats.org/drawingml/2006/main" noGrp="1"/>
          </p:cNvSpPr>
          <p:nvPr/>
        </p:nvSpPr>
        <p:spPr>
          <a:xfrm xmlns:a="http://schemas.openxmlformats.org/drawingml/2006/main">
            <a:off x="176212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6" name="Rectangle 35">
            <a:extLst xmlns:a="http://schemas.openxmlformats.org/drawingml/2006/main">
              <a:ext uri="{FF2B5EF4-FFF2-40B4-BE49-F238E27FC236}">
                <a16:creationId xmlns:a16="http://schemas.microsoft.com/office/drawing/2014/main" id="{565823C6-20BD-44B4-B3DF-D0FD50335645}"/>
              </a:ext>
            </a:extLst>
          </p:cNvPr>
          <p:cNvSpPr>
            <a:spLocks xmlns:a="http://schemas.openxmlformats.org/drawingml/2006/main" noGrp="1"/>
          </p:cNvSpPr>
          <p:nvPr/>
        </p:nvSpPr>
        <p:spPr>
          <a:xfrm xmlns:a="http://schemas.openxmlformats.org/drawingml/2006/main">
            <a:off x="176212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7" name="Rectangle 36">
            <a:extLst xmlns:a="http://schemas.openxmlformats.org/drawingml/2006/main">
              <a:ext uri="{FF2B5EF4-FFF2-40B4-BE49-F238E27FC236}">
                <a16:creationId xmlns:a16="http://schemas.microsoft.com/office/drawing/2014/main" id="{533E8260-6C67-4B64-ABD3-F134B1AE7D30}"/>
              </a:ext>
            </a:extLst>
          </p:cNvPr>
          <p:cNvSpPr>
            <a:spLocks xmlns:a="http://schemas.openxmlformats.org/drawingml/2006/main" noGrp="1"/>
          </p:cNvSpPr>
          <p:nvPr/>
        </p:nvSpPr>
        <p:spPr>
          <a:xfrm xmlns:a="http://schemas.openxmlformats.org/drawingml/2006/main">
            <a:off x="223837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38" name="Rectangle 37">
            <a:extLst xmlns:a="http://schemas.openxmlformats.org/drawingml/2006/main">
              <a:ext uri="{FF2B5EF4-FFF2-40B4-BE49-F238E27FC236}">
                <a16:creationId xmlns:a16="http://schemas.microsoft.com/office/drawing/2014/main" id="{79CE4FFA-28F3-4A47-8326-0A2D98AB84B4}"/>
              </a:ext>
            </a:extLst>
          </p:cNvPr>
          <p:cNvSpPr>
            <a:spLocks xmlns:a="http://schemas.openxmlformats.org/drawingml/2006/main" noGrp="1"/>
          </p:cNvSpPr>
          <p:nvPr/>
        </p:nvSpPr>
        <p:spPr>
          <a:xfrm xmlns:a="http://schemas.openxmlformats.org/drawingml/2006/main">
            <a:off x="223837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39" name="Rectangle 38">
            <a:extLst xmlns:a="http://schemas.openxmlformats.org/drawingml/2006/main">
              <a:ext uri="{FF2B5EF4-FFF2-40B4-BE49-F238E27FC236}">
                <a16:creationId xmlns:a16="http://schemas.microsoft.com/office/drawing/2014/main" id="{DAC9C570-F97D-46FB-9DA7-6A859052EF71}"/>
              </a:ext>
            </a:extLst>
          </p:cNvPr>
          <p:cNvSpPr>
            <a:spLocks xmlns:a="http://schemas.openxmlformats.org/drawingml/2006/main" noGrp="1"/>
          </p:cNvSpPr>
          <p:nvPr/>
        </p:nvSpPr>
        <p:spPr>
          <a:xfrm xmlns:a="http://schemas.openxmlformats.org/drawingml/2006/main">
            <a:off x="271462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40" name="Rectangle 39">
            <a:extLst xmlns:a="http://schemas.openxmlformats.org/drawingml/2006/main">
              <a:ext uri="{FF2B5EF4-FFF2-40B4-BE49-F238E27FC236}">
                <a16:creationId xmlns:a16="http://schemas.microsoft.com/office/drawing/2014/main" id="{CF78926E-003F-4B89-82B7-23180ABF59B1}"/>
              </a:ext>
            </a:extLst>
          </p:cNvPr>
          <p:cNvSpPr>
            <a:spLocks xmlns:a="http://schemas.openxmlformats.org/drawingml/2006/main" noGrp="1"/>
          </p:cNvSpPr>
          <p:nvPr/>
        </p:nvSpPr>
        <p:spPr>
          <a:xfrm xmlns:a="http://schemas.openxmlformats.org/drawingml/2006/main">
            <a:off x="271462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41" name="Rectangle 40">
            <a:extLst xmlns:a="http://schemas.openxmlformats.org/drawingml/2006/main">
              <a:ext uri="{FF2B5EF4-FFF2-40B4-BE49-F238E27FC236}">
                <a16:creationId xmlns:a16="http://schemas.microsoft.com/office/drawing/2014/main" id="{BC72FB10-7199-4528-86EC-8EBC9499A033}"/>
              </a:ext>
            </a:extLst>
          </p:cNvPr>
          <p:cNvSpPr>
            <a:spLocks xmlns:a="http://schemas.openxmlformats.org/drawingml/2006/main" noGrp="1"/>
          </p:cNvSpPr>
          <p:nvPr/>
        </p:nvSpPr>
        <p:spPr>
          <a:xfrm xmlns:a="http://schemas.openxmlformats.org/drawingml/2006/main">
            <a:off x="3667125" y="26193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596"/>
          </a:bodyPr>
          <a:lstStyle xmlns:a="http://schemas.openxmlformats.org/drawingml/2006/main"/>
          <a:p xmlns:a="http://schemas.openxmlformats.org/drawingml/2006/main">
            <a:pPr>
              <a:buNone/>
              <a:defRPr sz="2850" b="1">
                <a:solidFill>
                  <a:srgbClr val="F4F8FC"/>
                </a:solidFill>
                <a:latin typeface="Arial"/>
                <a:ea typeface="Arial"/>
                <a:cs typeface="Arial"/>
              </a:defRPr>
            </a:pPr>
            <a:r>
              <a:rPr sz="2850" b="1">
                <a:solidFill>
                  <a:srgbClr val="F4F8FC"/>
                </a:solidFill>
                <a:latin typeface="Arial"/>
                <a:ea typeface="Arial"/>
                <a:cs typeface="Arial"/>
              </a:rPr>
              <a:t>−</a:t>
            </a:r>
          </a:p>
        </p:txBody>
      </p:sp>
      <p:sp>
        <p:nvSpPr>
          <p:cNvPr id="42" name="Rectangle 41">
            <a:extLst xmlns:a="http://schemas.openxmlformats.org/drawingml/2006/main">
              <a:ext uri="{FF2B5EF4-FFF2-40B4-BE49-F238E27FC236}">
                <a16:creationId xmlns:a16="http://schemas.microsoft.com/office/drawing/2014/main" id="{50B6F4DE-EF69-4285-B206-F94A1FD824B7}"/>
              </a:ext>
            </a:extLst>
          </p:cNvPr>
          <p:cNvSpPr>
            <a:spLocks xmlns:a="http://schemas.openxmlformats.org/drawingml/2006/main" noGrp="1"/>
          </p:cNvSpPr>
          <p:nvPr/>
        </p:nvSpPr>
        <p:spPr>
          <a:xfrm xmlns:a="http://schemas.openxmlformats.org/drawingml/2006/main">
            <a:off x="4048125" y="14287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47E6A4"/>
                </a:solidFill>
                <a:latin typeface="Arial"/>
                <a:ea typeface="Arial"/>
                <a:cs typeface="Arial"/>
              </a:defRPr>
            </a:pPr>
            <a:r>
              <a:rPr sz="1425" b="1">
                <a:solidFill>
                  <a:srgbClr val="47E6A4"/>
                </a:solidFill>
                <a:latin typeface="Arial"/>
                <a:ea typeface="Arial"/>
                <a:cs typeface="Arial"/>
              </a:rPr>
              <a:t>DEQUANTIZED</a:t>
            </a:r>
          </a:p>
        </p:txBody>
      </p:sp>
      <p:sp>
        <p:nvSpPr>
          <p:cNvPr id="43" name="Rectangle 42">
            <a:extLst xmlns:a="http://schemas.openxmlformats.org/drawingml/2006/main">
              <a:ext uri="{FF2B5EF4-FFF2-40B4-BE49-F238E27FC236}">
                <a16:creationId xmlns:a16="http://schemas.microsoft.com/office/drawing/2014/main" id="{2961D867-3336-4481-9627-BCA018EE801B}"/>
              </a:ext>
            </a:extLst>
          </p:cNvPr>
          <p:cNvSpPr>
            <a:spLocks xmlns:a="http://schemas.openxmlformats.org/drawingml/2006/main" noGrp="1"/>
          </p:cNvSpPr>
          <p:nvPr/>
        </p:nvSpPr>
        <p:spPr>
          <a:xfrm xmlns:a="http://schemas.openxmlformats.org/drawingml/2006/main">
            <a:off x="461962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44" name="Rectangle 43">
            <a:extLst xmlns:a="http://schemas.openxmlformats.org/drawingml/2006/main">
              <a:ext uri="{FF2B5EF4-FFF2-40B4-BE49-F238E27FC236}">
                <a16:creationId xmlns:a16="http://schemas.microsoft.com/office/drawing/2014/main" id="{EF35AD3C-4901-4293-83B7-BE1EBB98B7EA}"/>
              </a:ext>
            </a:extLst>
          </p:cNvPr>
          <p:cNvSpPr>
            <a:spLocks xmlns:a="http://schemas.openxmlformats.org/drawingml/2006/main" noGrp="1"/>
          </p:cNvSpPr>
          <p:nvPr/>
        </p:nvSpPr>
        <p:spPr>
          <a:xfrm xmlns:a="http://schemas.openxmlformats.org/drawingml/2006/main">
            <a:off x="461962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40</a:t>
            </a:r>
          </a:p>
        </p:txBody>
      </p:sp>
      <p:sp>
        <p:nvSpPr>
          <p:cNvPr id="45" name="Rectangle 44">
            <a:extLst xmlns:a="http://schemas.openxmlformats.org/drawingml/2006/main">
              <a:ext uri="{FF2B5EF4-FFF2-40B4-BE49-F238E27FC236}">
                <a16:creationId xmlns:a16="http://schemas.microsoft.com/office/drawing/2014/main" id="{D3233505-DCBC-4ACC-946B-058794789772}"/>
              </a:ext>
            </a:extLst>
          </p:cNvPr>
          <p:cNvSpPr>
            <a:spLocks xmlns:a="http://schemas.openxmlformats.org/drawingml/2006/main" noGrp="1"/>
          </p:cNvSpPr>
          <p:nvPr/>
        </p:nvSpPr>
        <p:spPr>
          <a:xfrm xmlns:a="http://schemas.openxmlformats.org/drawingml/2006/main">
            <a:off x="509587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46" name="Rectangle 45">
            <a:extLst xmlns:a="http://schemas.openxmlformats.org/drawingml/2006/main">
              <a:ext uri="{FF2B5EF4-FFF2-40B4-BE49-F238E27FC236}">
                <a16:creationId xmlns:a16="http://schemas.microsoft.com/office/drawing/2014/main" id="{E581CFF0-25EB-42CD-8E1B-D7215B666307}"/>
              </a:ext>
            </a:extLst>
          </p:cNvPr>
          <p:cNvSpPr>
            <a:spLocks xmlns:a="http://schemas.openxmlformats.org/drawingml/2006/main" noGrp="1"/>
          </p:cNvSpPr>
          <p:nvPr/>
        </p:nvSpPr>
        <p:spPr>
          <a:xfrm xmlns:a="http://schemas.openxmlformats.org/drawingml/2006/main">
            <a:off x="509587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-16</a:t>
            </a:r>
          </a:p>
        </p:txBody>
      </p:sp>
      <p:sp>
        <p:nvSpPr>
          <p:cNvPr id="47" name="Rectangle 46">
            <a:extLst xmlns:a="http://schemas.openxmlformats.org/drawingml/2006/main">
              <a:ext uri="{FF2B5EF4-FFF2-40B4-BE49-F238E27FC236}">
                <a16:creationId xmlns:a16="http://schemas.microsoft.com/office/drawing/2014/main" id="{CD4C92B8-79C5-4DB3-A28C-2F159A4A81C6}"/>
              </a:ext>
            </a:extLst>
          </p:cNvPr>
          <p:cNvSpPr>
            <a:spLocks xmlns:a="http://schemas.openxmlformats.org/drawingml/2006/main" noGrp="1"/>
          </p:cNvSpPr>
          <p:nvPr/>
        </p:nvSpPr>
        <p:spPr>
          <a:xfrm xmlns:a="http://schemas.openxmlformats.org/drawingml/2006/main">
            <a:off x="557212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48" name="Rectangle 47">
            <a:extLst xmlns:a="http://schemas.openxmlformats.org/drawingml/2006/main">
              <a:ext uri="{FF2B5EF4-FFF2-40B4-BE49-F238E27FC236}">
                <a16:creationId xmlns:a16="http://schemas.microsoft.com/office/drawing/2014/main" id="{F1494D3C-346A-4967-8124-7550F4283CD7}"/>
              </a:ext>
            </a:extLst>
          </p:cNvPr>
          <p:cNvSpPr>
            <a:spLocks xmlns:a="http://schemas.openxmlformats.org/drawingml/2006/main" noGrp="1"/>
          </p:cNvSpPr>
          <p:nvPr/>
        </p:nvSpPr>
        <p:spPr>
          <a:xfrm xmlns:a="http://schemas.openxmlformats.org/drawingml/2006/main">
            <a:off x="557212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8</a:t>
            </a:r>
          </a:p>
        </p:txBody>
      </p:sp>
      <p:sp>
        <p:nvSpPr>
          <p:cNvPr id="49" name="Rectangle 48">
            <a:extLst xmlns:a="http://schemas.openxmlformats.org/drawingml/2006/main">
              <a:ext uri="{FF2B5EF4-FFF2-40B4-BE49-F238E27FC236}">
                <a16:creationId xmlns:a16="http://schemas.microsoft.com/office/drawing/2014/main" id="{9F4171E3-A5DE-4C51-8CC1-3B6569EA840C}"/>
              </a:ext>
            </a:extLst>
          </p:cNvPr>
          <p:cNvSpPr>
            <a:spLocks xmlns:a="http://schemas.openxmlformats.org/drawingml/2006/main" noGrp="1"/>
          </p:cNvSpPr>
          <p:nvPr/>
        </p:nvSpPr>
        <p:spPr>
          <a:xfrm xmlns:a="http://schemas.openxmlformats.org/drawingml/2006/main">
            <a:off x="604837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50" name="Rectangle 49">
            <a:extLst xmlns:a="http://schemas.openxmlformats.org/drawingml/2006/main">
              <a:ext uri="{FF2B5EF4-FFF2-40B4-BE49-F238E27FC236}">
                <a16:creationId xmlns:a16="http://schemas.microsoft.com/office/drawing/2014/main" id="{CDE5CC4E-E37B-4D61-B413-D992CE80894D}"/>
              </a:ext>
            </a:extLst>
          </p:cNvPr>
          <p:cNvSpPr>
            <a:spLocks xmlns:a="http://schemas.openxmlformats.org/drawingml/2006/main" noGrp="1"/>
          </p:cNvSpPr>
          <p:nvPr/>
        </p:nvSpPr>
        <p:spPr>
          <a:xfrm xmlns:a="http://schemas.openxmlformats.org/drawingml/2006/main">
            <a:off x="604837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51" name="Rectangle 50">
            <a:extLst xmlns:a="http://schemas.openxmlformats.org/drawingml/2006/main">
              <a:ext uri="{FF2B5EF4-FFF2-40B4-BE49-F238E27FC236}">
                <a16:creationId xmlns:a16="http://schemas.microsoft.com/office/drawing/2014/main" id="{F13B0129-07D2-4779-8E30-AFC16C31A8D1}"/>
              </a:ext>
            </a:extLst>
          </p:cNvPr>
          <p:cNvSpPr>
            <a:spLocks xmlns:a="http://schemas.openxmlformats.org/drawingml/2006/main" noGrp="1"/>
          </p:cNvSpPr>
          <p:nvPr/>
        </p:nvSpPr>
        <p:spPr>
          <a:xfrm xmlns:a="http://schemas.openxmlformats.org/drawingml/2006/main">
            <a:off x="461962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52" name="Rectangle 51">
            <a:extLst xmlns:a="http://schemas.openxmlformats.org/drawingml/2006/main">
              <a:ext uri="{FF2B5EF4-FFF2-40B4-BE49-F238E27FC236}">
                <a16:creationId xmlns:a16="http://schemas.microsoft.com/office/drawing/2014/main" id="{54BA73FB-666B-4366-986B-3223C814BF4E}"/>
              </a:ext>
            </a:extLst>
          </p:cNvPr>
          <p:cNvSpPr>
            <a:spLocks xmlns:a="http://schemas.openxmlformats.org/drawingml/2006/main" noGrp="1"/>
          </p:cNvSpPr>
          <p:nvPr/>
        </p:nvSpPr>
        <p:spPr>
          <a:xfrm xmlns:a="http://schemas.openxmlformats.org/drawingml/2006/main">
            <a:off x="461962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-8</a:t>
            </a:r>
          </a:p>
        </p:txBody>
      </p:sp>
      <p:sp>
        <p:nvSpPr>
          <p:cNvPr id="53" name="Rectangle 52">
            <a:extLst xmlns:a="http://schemas.openxmlformats.org/drawingml/2006/main">
              <a:ext uri="{FF2B5EF4-FFF2-40B4-BE49-F238E27FC236}">
                <a16:creationId xmlns:a16="http://schemas.microsoft.com/office/drawing/2014/main" id="{6B60FAC9-BBC0-413F-A5F6-C07AAAB6EE9F}"/>
              </a:ext>
            </a:extLst>
          </p:cNvPr>
          <p:cNvSpPr>
            <a:spLocks xmlns:a="http://schemas.openxmlformats.org/drawingml/2006/main" noGrp="1"/>
          </p:cNvSpPr>
          <p:nvPr/>
        </p:nvSpPr>
        <p:spPr>
          <a:xfrm xmlns:a="http://schemas.openxmlformats.org/drawingml/2006/main">
            <a:off x="509587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54" name="Rectangle 53">
            <a:extLst xmlns:a="http://schemas.openxmlformats.org/drawingml/2006/main">
              <a:ext uri="{FF2B5EF4-FFF2-40B4-BE49-F238E27FC236}">
                <a16:creationId xmlns:a16="http://schemas.microsoft.com/office/drawing/2014/main" id="{7E033C1B-C005-4583-BA1F-EBA3DC12CC2B}"/>
              </a:ext>
            </a:extLst>
          </p:cNvPr>
          <p:cNvSpPr>
            <a:spLocks xmlns:a="http://schemas.openxmlformats.org/drawingml/2006/main" noGrp="1"/>
          </p:cNvSpPr>
          <p:nvPr/>
        </p:nvSpPr>
        <p:spPr>
          <a:xfrm xmlns:a="http://schemas.openxmlformats.org/drawingml/2006/main">
            <a:off x="509587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8</a:t>
            </a:r>
          </a:p>
        </p:txBody>
      </p:sp>
      <p:sp>
        <p:nvSpPr>
          <p:cNvPr id="55" name="Rectangle 54">
            <a:extLst xmlns:a="http://schemas.openxmlformats.org/drawingml/2006/main">
              <a:ext uri="{FF2B5EF4-FFF2-40B4-BE49-F238E27FC236}">
                <a16:creationId xmlns:a16="http://schemas.microsoft.com/office/drawing/2014/main" id="{FCEE0541-CF5E-440D-86BE-BD48C7F04823}"/>
              </a:ext>
            </a:extLst>
          </p:cNvPr>
          <p:cNvSpPr>
            <a:spLocks xmlns:a="http://schemas.openxmlformats.org/drawingml/2006/main" noGrp="1"/>
          </p:cNvSpPr>
          <p:nvPr/>
        </p:nvSpPr>
        <p:spPr>
          <a:xfrm xmlns:a="http://schemas.openxmlformats.org/drawingml/2006/main">
            <a:off x="557212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56" name="Rectangle 55">
            <a:extLst xmlns:a="http://schemas.openxmlformats.org/drawingml/2006/main">
              <a:ext uri="{FF2B5EF4-FFF2-40B4-BE49-F238E27FC236}">
                <a16:creationId xmlns:a16="http://schemas.microsoft.com/office/drawing/2014/main" id="{2231B0C2-ADBA-4DB0-AF1B-CA738F726A79}"/>
              </a:ext>
            </a:extLst>
          </p:cNvPr>
          <p:cNvSpPr>
            <a:spLocks xmlns:a="http://schemas.openxmlformats.org/drawingml/2006/main" noGrp="1"/>
          </p:cNvSpPr>
          <p:nvPr/>
        </p:nvSpPr>
        <p:spPr>
          <a:xfrm xmlns:a="http://schemas.openxmlformats.org/drawingml/2006/main">
            <a:off x="557212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57" name="Rectangle 56">
            <a:extLst xmlns:a="http://schemas.openxmlformats.org/drawingml/2006/main">
              <a:ext uri="{FF2B5EF4-FFF2-40B4-BE49-F238E27FC236}">
                <a16:creationId xmlns:a16="http://schemas.microsoft.com/office/drawing/2014/main" id="{179CD2CC-56FD-4B4C-8626-BC447C0032C4}"/>
              </a:ext>
            </a:extLst>
          </p:cNvPr>
          <p:cNvSpPr>
            <a:spLocks xmlns:a="http://schemas.openxmlformats.org/drawingml/2006/main" noGrp="1"/>
          </p:cNvSpPr>
          <p:nvPr/>
        </p:nvSpPr>
        <p:spPr>
          <a:xfrm xmlns:a="http://schemas.openxmlformats.org/drawingml/2006/main">
            <a:off x="604837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58" name="Rectangle 57">
            <a:extLst xmlns:a="http://schemas.openxmlformats.org/drawingml/2006/main">
              <a:ext uri="{FF2B5EF4-FFF2-40B4-BE49-F238E27FC236}">
                <a16:creationId xmlns:a16="http://schemas.microsoft.com/office/drawing/2014/main" id="{F0143A83-1D73-4AC7-A303-A590EDC3A3D4}"/>
              </a:ext>
            </a:extLst>
          </p:cNvPr>
          <p:cNvSpPr>
            <a:spLocks xmlns:a="http://schemas.openxmlformats.org/drawingml/2006/main" noGrp="1"/>
          </p:cNvSpPr>
          <p:nvPr/>
        </p:nvSpPr>
        <p:spPr>
          <a:xfrm xmlns:a="http://schemas.openxmlformats.org/drawingml/2006/main">
            <a:off x="604837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59" name="Rectangle 58">
            <a:extLst xmlns:a="http://schemas.openxmlformats.org/drawingml/2006/main">
              <a:ext uri="{FF2B5EF4-FFF2-40B4-BE49-F238E27FC236}">
                <a16:creationId xmlns:a16="http://schemas.microsoft.com/office/drawing/2014/main" id="{DE8055D3-B7D5-40C6-B6D4-AE701C5D0FBF}"/>
              </a:ext>
            </a:extLst>
          </p:cNvPr>
          <p:cNvSpPr>
            <a:spLocks xmlns:a="http://schemas.openxmlformats.org/drawingml/2006/main" noGrp="1"/>
          </p:cNvSpPr>
          <p:nvPr/>
        </p:nvSpPr>
        <p:spPr>
          <a:xfrm xmlns:a="http://schemas.openxmlformats.org/drawingml/2006/main">
            <a:off x="461962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0" name="Rectangle 59">
            <a:extLst xmlns:a="http://schemas.openxmlformats.org/drawingml/2006/main">
              <a:ext uri="{FF2B5EF4-FFF2-40B4-BE49-F238E27FC236}">
                <a16:creationId xmlns:a16="http://schemas.microsoft.com/office/drawing/2014/main" id="{9F1AAD0C-D73B-4EAF-A8B4-332920F42B6E}"/>
              </a:ext>
            </a:extLst>
          </p:cNvPr>
          <p:cNvSpPr>
            <a:spLocks xmlns:a="http://schemas.openxmlformats.org/drawingml/2006/main" noGrp="1"/>
          </p:cNvSpPr>
          <p:nvPr/>
        </p:nvSpPr>
        <p:spPr>
          <a:xfrm xmlns:a="http://schemas.openxmlformats.org/drawingml/2006/main">
            <a:off x="461962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1" name="Rectangle 60">
            <a:extLst xmlns:a="http://schemas.openxmlformats.org/drawingml/2006/main">
              <a:ext uri="{FF2B5EF4-FFF2-40B4-BE49-F238E27FC236}">
                <a16:creationId xmlns:a16="http://schemas.microsoft.com/office/drawing/2014/main" id="{1EA11280-7E3C-4AEF-9C0E-AFB23913DE8F}"/>
              </a:ext>
            </a:extLst>
          </p:cNvPr>
          <p:cNvSpPr>
            <a:spLocks xmlns:a="http://schemas.openxmlformats.org/drawingml/2006/main" noGrp="1"/>
          </p:cNvSpPr>
          <p:nvPr/>
        </p:nvSpPr>
        <p:spPr>
          <a:xfrm xmlns:a="http://schemas.openxmlformats.org/drawingml/2006/main">
            <a:off x="509587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2" name="Rectangle 61">
            <a:extLst xmlns:a="http://schemas.openxmlformats.org/drawingml/2006/main">
              <a:ext uri="{FF2B5EF4-FFF2-40B4-BE49-F238E27FC236}">
                <a16:creationId xmlns:a16="http://schemas.microsoft.com/office/drawing/2014/main" id="{568849CE-F702-4205-90AA-544FEE2C4F6C}"/>
              </a:ext>
            </a:extLst>
          </p:cNvPr>
          <p:cNvSpPr>
            <a:spLocks xmlns:a="http://schemas.openxmlformats.org/drawingml/2006/main" noGrp="1"/>
          </p:cNvSpPr>
          <p:nvPr/>
        </p:nvSpPr>
        <p:spPr>
          <a:xfrm xmlns:a="http://schemas.openxmlformats.org/drawingml/2006/main">
            <a:off x="509587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3" name="Rectangle 62">
            <a:extLst xmlns:a="http://schemas.openxmlformats.org/drawingml/2006/main">
              <a:ext uri="{FF2B5EF4-FFF2-40B4-BE49-F238E27FC236}">
                <a16:creationId xmlns:a16="http://schemas.microsoft.com/office/drawing/2014/main" id="{01878125-320B-4FB4-B681-C8EADFD45A47}"/>
              </a:ext>
            </a:extLst>
          </p:cNvPr>
          <p:cNvSpPr>
            <a:spLocks xmlns:a="http://schemas.openxmlformats.org/drawingml/2006/main" noGrp="1"/>
          </p:cNvSpPr>
          <p:nvPr/>
        </p:nvSpPr>
        <p:spPr>
          <a:xfrm xmlns:a="http://schemas.openxmlformats.org/drawingml/2006/main">
            <a:off x="557212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4" name="Rectangle 63">
            <a:extLst xmlns:a="http://schemas.openxmlformats.org/drawingml/2006/main">
              <a:ext uri="{FF2B5EF4-FFF2-40B4-BE49-F238E27FC236}">
                <a16:creationId xmlns:a16="http://schemas.microsoft.com/office/drawing/2014/main" id="{5E987470-D4E3-420C-B529-2BB861C8211F}"/>
              </a:ext>
            </a:extLst>
          </p:cNvPr>
          <p:cNvSpPr>
            <a:spLocks xmlns:a="http://schemas.openxmlformats.org/drawingml/2006/main" noGrp="1"/>
          </p:cNvSpPr>
          <p:nvPr/>
        </p:nvSpPr>
        <p:spPr>
          <a:xfrm xmlns:a="http://schemas.openxmlformats.org/drawingml/2006/main">
            <a:off x="557212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5" name="Rectangle 64">
            <a:extLst xmlns:a="http://schemas.openxmlformats.org/drawingml/2006/main">
              <a:ext uri="{FF2B5EF4-FFF2-40B4-BE49-F238E27FC236}">
                <a16:creationId xmlns:a16="http://schemas.microsoft.com/office/drawing/2014/main" id="{F2457F4A-4607-49F6-A3B4-FD8B16BCB1EB}"/>
              </a:ext>
            </a:extLst>
          </p:cNvPr>
          <p:cNvSpPr>
            <a:spLocks xmlns:a="http://schemas.openxmlformats.org/drawingml/2006/main" noGrp="1"/>
          </p:cNvSpPr>
          <p:nvPr/>
        </p:nvSpPr>
        <p:spPr>
          <a:xfrm xmlns:a="http://schemas.openxmlformats.org/drawingml/2006/main">
            <a:off x="604837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6" name="Rectangle 65">
            <a:extLst xmlns:a="http://schemas.openxmlformats.org/drawingml/2006/main">
              <a:ext uri="{FF2B5EF4-FFF2-40B4-BE49-F238E27FC236}">
                <a16:creationId xmlns:a16="http://schemas.microsoft.com/office/drawing/2014/main" id="{F70C6CBE-420A-4EEE-8016-7D72B56031FB}"/>
              </a:ext>
            </a:extLst>
          </p:cNvPr>
          <p:cNvSpPr>
            <a:spLocks xmlns:a="http://schemas.openxmlformats.org/drawingml/2006/main" noGrp="1"/>
          </p:cNvSpPr>
          <p:nvPr/>
        </p:nvSpPr>
        <p:spPr>
          <a:xfrm xmlns:a="http://schemas.openxmlformats.org/drawingml/2006/main">
            <a:off x="604837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7" name="Rectangle 66">
            <a:extLst xmlns:a="http://schemas.openxmlformats.org/drawingml/2006/main">
              <a:ext uri="{FF2B5EF4-FFF2-40B4-BE49-F238E27FC236}">
                <a16:creationId xmlns:a16="http://schemas.microsoft.com/office/drawing/2014/main" id="{12C82FC5-8698-4B2C-9394-A3976D252E8E}"/>
              </a:ext>
            </a:extLst>
          </p:cNvPr>
          <p:cNvSpPr>
            <a:spLocks xmlns:a="http://schemas.openxmlformats.org/drawingml/2006/main" noGrp="1"/>
          </p:cNvSpPr>
          <p:nvPr/>
        </p:nvSpPr>
        <p:spPr>
          <a:xfrm xmlns:a="http://schemas.openxmlformats.org/drawingml/2006/main">
            <a:off x="461962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68" name="Rectangle 67">
            <a:extLst xmlns:a="http://schemas.openxmlformats.org/drawingml/2006/main">
              <a:ext uri="{FF2B5EF4-FFF2-40B4-BE49-F238E27FC236}">
                <a16:creationId xmlns:a16="http://schemas.microsoft.com/office/drawing/2014/main" id="{76CB328D-A91A-430C-9679-B90EF0330A5B}"/>
              </a:ext>
            </a:extLst>
          </p:cNvPr>
          <p:cNvSpPr>
            <a:spLocks xmlns:a="http://schemas.openxmlformats.org/drawingml/2006/main" noGrp="1"/>
          </p:cNvSpPr>
          <p:nvPr/>
        </p:nvSpPr>
        <p:spPr>
          <a:xfrm xmlns:a="http://schemas.openxmlformats.org/drawingml/2006/main">
            <a:off x="461962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69" name="Rectangle 68">
            <a:extLst xmlns:a="http://schemas.openxmlformats.org/drawingml/2006/main">
              <a:ext uri="{FF2B5EF4-FFF2-40B4-BE49-F238E27FC236}">
                <a16:creationId xmlns:a16="http://schemas.microsoft.com/office/drawing/2014/main" id="{7259758D-F60A-412B-BA8D-478F5F237C89}"/>
              </a:ext>
            </a:extLst>
          </p:cNvPr>
          <p:cNvSpPr>
            <a:spLocks xmlns:a="http://schemas.openxmlformats.org/drawingml/2006/main" noGrp="1"/>
          </p:cNvSpPr>
          <p:nvPr/>
        </p:nvSpPr>
        <p:spPr>
          <a:xfrm xmlns:a="http://schemas.openxmlformats.org/drawingml/2006/main">
            <a:off x="509587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0" name="Rectangle 69">
            <a:extLst xmlns:a="http://schemas.openxmlformats.org/drawingml/2006/main">
              <a:ext uri="{FF2B5EF4-FFF2-40B4-BE49-F238E27FC236}">
                <a16:creationId xmlns:a16="http://schemas.microsoft.com/office/drawing/2014/main" id="{CD3D06DC-B732-4E7D-9762-37C145C61947}"/>
              </a:ext>
            </a:extLst>
          </p:cNvPr>
          <p:cNvSpPr>
            <a:spLocks xmlns:a="http://schemas.openxmlformats.org/drawingml/2006/main" noGrp="1"/>
          </p:cNvSpPr>
          <p:nvPr/>
        </p:nvSpPr>
        <p:spPr>
          <a:xfrm xmlns:a="http://schemas.openxmlformats.org/drawingml/2006/main">
            <a:off x="509587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1" name="Rectangle 70">
            <a:extLst xmlns:a="http://schemas.openxmlformats.org/drawingml/2006/main">
              <a:ext uri="{FF2B5EF4-FFF2-40B4-BE49-F238E27FC236}">
                <a16:creationId xmlns:a16="http://schemas.microsoft.com/office/drawing/2014/main" id="{30B03011-071C-4540-855F-ECA4965B3CBC}"/>
              </a:ext>
            </a:extLst>
          </p:cNvPr>
          <p:cNvSpPr>
            <a:spLocks xmlns:a="http://schemas.openxmlformats.org/drawingml/2006/main" noGrp="1"/>
          </p:cNvSpPr>
          <p:nvPr/>
        </p:nvSpPr>
        <p:spPr>
          <a:xfrm xmlns:a="http://schemas.openxmlformats.org/drawingml/2006/main">
            <a:off x="557212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2" name="Rectangle 71">
            <a:extLst xmlns:a="http://schemas.openxmlformats.org/drawingml/2006/main">
              <a:ext uri="{FF2B5EF4-FFF2-40B4-BE49-F238E27FC236}">
                <a16:creationId xmlns:a16="http://schemas.microsoft.com/office/drawing/2014/main" id="{E887BEE8-B437-49E6-B090-C68E91B35C5D}"/>
              </a:ext>
            </a:extLst>
          </p:cNvPr>
          <p:cNvSpPr>
            <a:spLocks xmlns:a="http://schemas.openxmlformats.org/drawingml/2006/main" noGrp="1"/>
          </p:cNvSpPr>
          <p:nvPr/>
        </p:nvSpPr>
        <p:spPr>
          <a:xfrm xmlns:a="http://schemas.openxmlformats.org/drawingml/2006/main">
            <a:off x="557212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3" name="Rectangle 72">
            <a:extLst xmlns:a="http://schemas.openxmlformats.org/drawingml/2006/main">
              <a:ext uri="{FF2B5EF4-FFF2-40B4-BE49-F238E27FC236}">
                <a16:creationId xmlns:a16="http://schemas.microsoft.com/office/drawing/2014/main" id="{8847CC9D-6A1C-4622-AD2B-55E65DF5099A}"/>
              </a:ext>
            </a:extLst>
          </p:cNvPr>
          <p:cNvSpPr>
            <a:spLocks xmlns:a="http://schemas.openxmlformats.org/drawingml/2006/main" noGrp="1"/>
          </p:cNvSpPr>
          <p:nvPr/>
        </p:nvSpPr>
        <p:spPr>
          <a:xfrm xmlns:a="http://schemas.openxmlformats.org/drawingml/2006/main">
            <a:off x="604837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4" name="Rectangle 73">
            <a:extLst xmlns:a="http://schemas.openxmlformats.org/drawingml/2006/main">
              <a:ext uri="{FF2B5EF4-FFF2-40B4-BE49-F238E27FC236}">
                <a16:creationId xmlns:a16="http://schemas.microsoft.com/office/drawing/2014/main" id="{22E3C39B-C9A5-426F-81BD-A7A6495A256F}"/>
              </a:ext>
            </a:extLst>
          </p:cNvPr>
          <p:cNvSpPr>
            <a:spLocks xmlns:a="http://schemas.openxmlformats.org/drawingml/2006/main" noGrp="1"/>
          </p:cNvSpPr>
          <p:nvPr/>
        </p:nvSpPr>
        <p:spPr>
          <a:xfrm xmlns:a="http://schemas.openxmlformats.org/drawingml/2006/main">
            <a:off x="604837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75" name="Rectangle 74">
            <a:extLst xmlns:a="http://schemas.openxmlformats.org/drawingml/2006/main">
              <a:ext uri="{FF2B5EF4-FFF2-40B4-BE49-F238E27FC236}">
                <a16:creationId xmlns:a16="http://schemas.microsoft.com/office/drawing/2014/main" id="{06F5E59C-4215-4A62-B798-10B4CAE70E37}"/>
              </a:ext>
            </a:extLst>
          </p:cNvPr>
          <p:cNvSpPr>
            <a:spLocks xmlns:a="http://schemas.openxmlformats.org/drawingml/2006/main" noGrp="1"/>
          </p:cNvSpPr>
          <p:nvPr/>
        </p:nvSpPr>
        <p:spPr>
          <a:xfrm xmlns:a="http://schemas.openxmlformats.org/drawingml/2006/main">
            <a:off x="7048500" y="26193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596"/>
          </a:bodyPr>
          <a:lstStyle xmlns:a="http://schemas.openxmlformats.org/drawingml/2006/main"/>
          <a:p xmlns:a="http://schemas.openxmlformats.org/drawingml/2006/main">
            <a:pPr>
              <a:buNone/>
              <a:defRPr sz="2850" b="1">
                <a:solidFill>
                  <a:srgbClr val="F4F8FC"/>
                </a:solidFill>
                <a:latin typeface="Arial"/>
                <a:ea typeface="Arial"/>
                <a:cs typeface="Arial"/>
              </a:defRPr>
            </a:pPr>
            <a:r>
              <a:rPr sz="2850" b="1">
                <a:solidFill>
                  <a:srgbClr val="F4F8FC"/>
                </a:solidFill>
                <a:latin typeface="Arial"/>
                <a:ea typeface="Arial"/>
                <a:cs typeface="Arial"/>
              </a:rPr>
              <a:t>=</a:t>
            </a:r>
          </a:p>
        </p:txBody>
      </p:sp>
      <p:sp>
        <p:nvSpPr>
          <p:cNvPr id="76" name="Rectangle 75">
            <a:extLst xmlns:a="http://schemas.openxmlformats.org/drawingml/2006/main">
              <a:ext uri="{FF2B5EF4-FFF2-40B4-BE49-F238E27FC236}">
                <a16:creationId xmlns:a16="http://schemas.microsoft.com/office/drawing/2014/main" id="{77E93C66-3254-4EF0-BF44-324806EBE19F}"/>
              </a:ext>
            </a:extLst>
          </p:cNvPr>
          <p:cNvSpPr>
            <a:spLocks xmlns:a="http://schemas.openxmlformats.org/drawingml/2006/main" noGrp="1"/>
          </p:cNvSpPr>
          <p:nvPr/>
        </p:nvSpPr>
        <p:spPr>
          <a:xfrm xmlns:a="http://schemas.openxmlformats.org/drawingml/2006/main">
            <a:off x="7524750" y="14287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FF6577"/>
                </a:solidFill>
                <a:latin typeface="Arial"/>
                <a:ea typeface="Arial"/>
                <a:cs typeface="Arial"/>
              </a:defRPr>
            </a:pPr>
            <a:r>
              <a:rPr sz="1425" b="1">
                <a:solidFill>
                  <a:srgbClr val="FF6577"/>
                </a:solidFill>
                <a:latin typeface="Arial"/>
                <a:ea typeface="Arial"/>
                <a:cs typeface="Arial"/>
              </a:rPr>
              <a:t>COEFFICIENT ERROR</a:t>
            </a:r>
          </a:p>
        </p:txBody>
      </p:sp>
      <p:sp>
        <p:nvSpPr>
          <p:cNvPr id="77" name="Rectangle 76">
            <a:extLst xmlns:a="http://schemas.openxmlformats.org/drawingml/2006/main">
              <a:ext uri="{FF2B5EF4-FFF2-40B4-BE49-F238E27FC236}">
                <a16:creationId xmlns:a16="http://schemas.microsoft.com/office/drawing/2014/main" id="{ABFFAC08-F8DD-4042-B303-95A2BCA61FD6}"/>
              </a:ext>
            </a:extLst>
          </p:cNvPr>
          <p:cNvSpPr>
            <a:spLocks xmlns:a="http://schemas.openxmlformats.org/drawingml/2006/main" noGrp="1"/>
          </p:cNvSpPr>
          <p:nvPr/>
        </p:nvSpPr>
        <p:spPr>
          <a:xfrm xmlns:a="http://schemas.openxmlformats.org/drawingml/2006/main">
            <a:off x="814387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78" name="Rectangle 77">
            <a:extLst xmlns:a="http://schemas.openxmlformats.org/drawingml/2006/main">
              <a:ext uri="{FF2B5EF4-FFF2-40B4-BE49-F238E27FC236}">
                <a16:creationId xmlns:a16="http://schemas.microsoft.com/office/drawing/2014/main" id="{D4A10AA3-4CE5-4142-A956-7EAAA8A1D8C4}"/>
              </a:ext>
            </a:extLst>
          </p:cNvPr>
          <p:cNvSpPr>
            <a:spLocks xmlns:a="http://schemas.openxmlformats.org/drawingml/2006/main" noGrp="1"/>
          </p:cNvSpPr>
          <p:nvPr/>
        </p:nvSpPr>
        <p:spPr>
          <a:xfrm xmlns:a="http://schemas.openxmlformats.org/drawingml/2006/main">
            <a:off x="814387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2</a:t>
            </a:r>
          </a:p>
        </p:txBody>
      </p:sp>
      <p:sp>
        <p:nvSpPr>
          <p:cNvPr id="79" name="Rectangle 78">
            <a:extLst xmlns:a="http://schemas.openxmlformats.org/drawingml/2006/main">
              <a:ext uri="{FF2B5EF4-FFF2-40B4-BE49-F238E27FC236}">
                <a16:creationId xmlns:a16="http://schemas.microsoft.com/office/drawing/2014/main" id="{3E6918C2-8B8D-44C1-BCB6-0A4EE0BD1CC2}"/>
              </a:ext>
            </a:extLst>
          </p:cNvPr>
          <p:cNvSpPr>
            <a:spLocks xmlns:a="http://schemas.openxmlformats.org/drawingml/2006/main" noGrp="1"/>
          </p:cNvSpPr>
          <p:nvPr/>
        </p:nvSpPr>
        <p:spPr>
          <a:xfrm xmlns:a="http://schemas.openxmlformats.org/drawingml/2006/main">
            <a:off x="862012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80" name="Rectangle 79">
            <a:extLst xmlns:a="http://schemas.openxmlformats.org/drawingml/2006/main">
              <a:ext uri="{FF2B5EF4-FFF2-40B4-BE49-F238E27FC236}">
                <a16:creationId xmlns:a16="http://schemas.microsoft.com/office/drawing/2014/main" id="{0F4D26C0-B850-41AC-9817-B0797F9607FF}"/>
              </a:ext>
            </a:extLst>
          </p:cNvPr>
          <p:cNvSpPr>
            <a:spLocks xmlns:a="http://schemas.openxmlformats.org/drawingml/2006/main" noGrp="1"/>
          </p:cNvSpPr>
          <p:nvPr/>
        </p:nvSpPr>
        <p:spPr>
          <a:xfrm xmlns:a="http://schemas.openxmlformats.org/drawingml/2006/main">
            <a:off x="862012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4</a:t>
            </a:r>
          </a:p>
        </p:txBody>
      </p:sp>
      <p:sp>
        <p:nvSpPr>
          <p:cNvPr id="81" name="Rectangle 80">
            <a:extLst xmlns:a="http://schemas.openxmlformats.org/drawingml/2006/main">
              <a:ext uri="{FF2B5EF4-FFF2-40B4-BE49-F238E27FC236}">
                <a16:creationId xmlns:a16="http://schemas.microsoft.com/office/drawing/2014/main" id="{5B9B4B2F-C587-4A46-9E39-92CC056FEE76}"/>
              </a:ext>
            </a:extLst>
          </p:cNvPr>
          <p:cNvSpPr>
            <a:spLocks xmlns:a="http://schemas.openxmlformats.org/drawingml/2006/main" noGrp="1"/>
          </p:cNvSpPr>
          <p:nvPr/>
        </p:nvSpPr>
        <p:spPr>
          <a:xfrm xmlns:a="http://schemas.openxmlformats.org/drawingml/2006/main">
            <a:off x="909637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82" name="Rectangle 81">
            <a:extLst xmlns:a="http://schemas.openxmlformats.org/drawingml/2006/main">
              <a:ext uri="{FF2B5EF4-FFF2-40B4-BE49-F238E27FC236}">
                <a16:creationId xmlns:a16="http://schemas.microsoft.com/office/drawing/2014/main" id="{7FF72FA9-D3F0-40A4-9258-F4F84E029182}"/>
              </a:ext>
            </a:extLst>
          </p:cNvPr>
          <p:cNvSpPr>
            <a:spLocks xmlns:a="http://schemas.openxmlformats.org/drawingml/2006/main" noGrp="1"/>
          </p:cNvSpPr>
          <p:nvPr/>
        </p:nvSpPr>
        <p:spPr>
          <a:xfrm xmlns:a="http://schemas.openxmlformats.org/drawingml/2006/main">
            <a:off x="909637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-4</a:t>
            </a:r>
          </a:p>
        </p:txBody>
      </p:sp>
      <p:sp>
        <p:nvSpPr>
          <p:cNvPr id="83" name="Rectangle 82">
            <a:extLst xmlns:a="http://schemas.openxmlformats.org/drawingml/2006/main">
              <a:ext uri="{FF2B5EF4-FFF2-40B4-BE49-F238E27FC236}">
                <a16:creationId xmlns:a16="http://schemas.microsoft.com/office/drawing/2014/main" id="{B39121AA-3DB9-43F3-BA2C-EA4F9EF8F234}"/>
              </a:ext>
            </a:extLst>
          </p:cNvPr>
          <p:cNvSpPr>
            <a:spLocks xmlns:a="http://schemas.openxmlformats.org/drawingml/2006/main" noGrp="1"/>
          </p:cNvSpPr>
          <p:nvPr/>
        </p:nvSpPr>
        <p:spPr>
          <a:xfrm xmlns:a="http://schemas.openxmlformats.org/drawingml/2006/main">
            <a:off x="9572625" y="18573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84" name="Rectangle 83">
            <a:extLst xmlns:a="http://schemas.openxmlformats.org/drawingml/2006/main">
              <a:ext uri="{FF2B5EF4-FFF2-40B4-BE49-F238E27FC236}">
                <a16:creationId xmlns:a16="http://schemas.microsoft.com/office/drawing/2014/main" id="{A17844BE-6048-47DD-8802-D471EE7A528A}"/>
              </a:ext>
            </a:extLst>
          </p:cNvPr>
          <p:cNvSpPr>
            <a:spLocks xmlns:a="http://schemas.openxmlformats.org/drawingml/2006/main" noGrp="1"/>
          </p:cNvSpPr>
          <p:nvPr/>
        </p:nvSpPr>
        <p:spPr>
          <a:xfrm xmlns:a="http://schemas.openxmlformats.org/drawingml/2006/main">
            <a:off x="9572625" y="19050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85" name="Rectangle 84">
            <a:extLst xmlns:a="http://schemas.openxmlformats.org/drawingml/2006/main">
              <a:ext uri="{FF2B5EF4-FFF2-40B4-BE49-F238E27FC236}">
                <a16:creationId xmlns:a16="http://schemas.microsoft.com/office/drawing/2014/main" id="{B160AEFC-1C4C-4194-8E2D-7A8F2564BFEF}"/>
              </a:ext>
            </a:extLst>
          </p:cNvPr>
          <p:cNvSpPr>
            <a:spLocks xmlns:a="http://schemas.openxmlformats.org/drawingml/2006/main" noGrp="1"/>
          </p:cNvSpPr>
          <p:nvPr/>
        </p:nvSpPr>
        <p:spPr>
          <a:xfrm xmlns:a="http://schemas.openxmlformats.org/drawingml/2006/main">
            <a:off x="814387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86" name="Rectangle 85">
            <a:extLst xmlns:a="http://schemas.openxmlformats.org/drawingml/2006/main">
              <a:ext uri="{FF2B5EF4-FFF2-40B4-BE49-F238E27FC236}">
                <a16:creationId xmlns:a16="http://schemas.microsoft.com/office/drawing/2014/main" id="{2F0FC9C3-80C0-443E-9C74-C127B16C27BC}"/>
              </a:ext>
            </a:extLst>
          </p:cNvPr>
          <p:cNvSpPr>
            <a:spLocks xmlns:a="http://schemas.openxmlformats.org/drawingml/2006/main" noGrp="1"/>
          </p:cNvSpPr>
          <p:nvPr/>
        </p:nvSpPr>
        <p:spPr>
          <a:xfrm xmlns:a="http://schemas.openxmlformats.org/drawingml/2006/main">
            <a:off x="814387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87" name="Rectangle 86">
            <a:extLst xmlns:a="http://schemas.openxmlformats.org/drawingml/2006/main">
              <a:ext uri="{FF2B5EF4-FFF2-40B4-BE49-F238E27FC236}">
                <a16:creationId xmlns:a16="http://schemas.microsoft.com/office/drawing/2014/main" id="{52F78850-4179-4153-AABD-2FE2FAF0E97C}"/>
              </a:ext>
            </a:extLst>
          </p:cNvPr>
          <p:cNvSpPr>
            <a:spLocks xmlns:a="http://schemas.openxmlformats.org/drawingml/2006/main" noGrp="1"/>
          </p:cNvSpPr>
          <p:nvPr/>
        </p:nvSpPr>
        <p:spPr>
          <a:xfrm xmlns:a="http://schemas.openxmlformats.org/drawingml/2006/main">
            <a:off x="862012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88" name="Rectangle 87">
            <a:extLst xmlns:a="http://schemas.openxmlformats.org/drawingml/2006/main">
              <a:ext uri="{FF2B5EF4-FFF2-40B4-BE49-F238E27FC236}">
                <a16:creationId xmlns:a16="http://schemas.microsoft.com/office/drawing/2014/main" id="{8E9874D7-456E-40BC-87D5-74408EF22650}"/>
              </a:ext>
            </a:extLst>
          </p:cNvPr>
          <p:cNvSpPr>
            <a:spLocks xmlns:a="http://schemas.openxmlformats.org/drawingml/2006/main" noGrp="1"/>
          </p:cNvSpPr>
          <p:nvPr/>
        </p:nvSpPr>
        <p:spPr>
          <a:xfrm xmlns:a="http://schemas.openxmlformats.org/drawingml/2006/main">
            <a:off x="862012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-3</a:t>
            </a:r>
          </a:p>
        </p:txBody>
      </p:sp>
      <p:sp>
        <p:nvSpPr>
          <p:cNvPr id="89" name="Rectangle 88">
            <a:extLst xmlns:a="http://schemas.openxmlformats.org/drawingml/2006/main">
              <a:ext uri="{FF2B5EF4-FFF2-40B4-BE49-F238E27FC236}">
                <a16:creationId xmlns:a16="http://schemas.microsoft.com/office/drawing/2014/main" id="{44C9868A-64E6-4630-97B9-44B2367D63D8}"/>
              </a:ext>
            </a:extLst>
          </p:cNvPr>
          <p:cNvSpPr>
            <a:spLocks xmlns:a="http://schemas.openxmlformats.org/drawingml/2006/main" noGrp="1"/>
          </p:cNvSpPr>
          <p:nvPr/>
        </p:nvSpPr>
        <p:spPr>
          <a:xfrm xmlns:a="http://schemas.openxmlformats.org/drawingml/2006/main">
            <a:off x="909637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0" name="Rectangle 89">
            <a:extLst xmlns:a="http://schemas.openxmlformats.org/drawingml/2006/main">
              <a:ext uri="{FF2B5EF4-FFF2-40B4-BE49-F238E27FC236}">
                <a16:creationId xmlns:a16="http://schemas.microsoft.com/office/drawing/2014/main" id="{8D235AB4-4D96-4160-B0C4-8F842838CAA5}"/>
              </a:ext>
            </a:extLst>
          </p:cNvPr>
          <p:cNvSpPr>
            <a:spLocks xmlns:a="http://schemas.openxmlformats.org/drawingml/2006/main" noGrp="1"/>
          </p:cNvSpPr>
          <p:nvPr/>
        </p:nvSpPr>
        <p:spPr>
          <a:xfrm xmlns:a="http://schemas.openxmlformats.org/drawingml/2006/main">
            <a:off x="909637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-2</a:t>
            </a:r>
          </a:p>
        </p:txBody>
      </p:sp>
      <p:sp>
        <p:nvSpPr>
          <p:cNvPr id="91" name="Rectangle 90">
            <a:extLst xmlns:a="http://schemas.openxmlformats.org/drawingml/2006/main">
              <a:ext uri="{FF2B5EF4-FFF2-40B4-BE49-F238E27FC236}">
                <a16:creationId xmlns:a16="http://schemas.microsoft.com/office/drawing/2014/main" id="{86FEEED5-5969-453F-93A7-D736D5EF1934}"/>
              </a:ext>
            </a:extLst>
          </p:cNvPr>
          <p:cNvSpPr>
            <a:spLocks xmlns:a="http://schemas.openxmlformats.org/drawingml/2006/main" noGrp="1"/>
          </p:cNvSpPr>
          <p:nvPr/>
        </p:nvSpPr>
        <p:spPr>
          <a:xfrm xmlns:a="http://schemas.openxmlformats.org/drawingml/2006/main">
            <a:off x="9572625" y="23336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2" name="Rectangle 91">
            <a:extLst xmlns:a="http://schemas.openxmlformats.org/drawingml/2006/main">
              <a:ext uri="{FF2B5EF4-FFF2-40B4-BE49-F238E27FC236}">
                <a16:creationId xmlns:a16="http://schemas.microsoft.com/office/drawing/2014/main" id="{64332E85-856A-465B-BF49-3C0E2146C936}"/>
              </a:ext>
            </a:extLst>
          </p:cNvPr>
          <p:cNvSpPr>
            <a:spLocks xmlns:a="http://schemas.openxmlformats.org/drawingml/2006/main" noGrp="1"/>
          </p:cNvSpPr>
          <p:nvPr/>
        </p:nvSpPr>
        <p:spPr>
          <a:xfrm xmlns:a="http://schemas.openxmlformats.org/drawingml/2006/main">
            <a:off x="9572625" y="2381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93" name="Rectangle 92">
            <a:extLst xmlns:a="http://schemas.openxmlformats.org/drawingml/2006/main">
              <a:ext uri="{FF2B5EF4-FFF2-40B4-BE49-F238E27FC236}">
                <a16:creationId xmlns:a16="http://schemas.microsoft.com/office/drawing/2014/main" id="{8A4F5D93-5AA9-4226-9971-30AEE138BE61}"/>
              </a:ext>
            </a:extLst>
          </p:cNvPr>
          <p:cNvSpPr>
            <a:spLocks xmlns:a="http://schemas.openxmlformats.org/drawingml/2006/main" noGrp="1"/>
          </p:cNvSpPr>
          <p:nvPr/>
        </p:nvSpPr>
        <p:spPr>
          <a:xfrm xmlns:a="http://schemas.openxmlformats.org/drawingml/2006/main">
            <a:off x="814387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4" name="Rectangle 93">
            <a:extLst xmlns:a="http://schemas.openxmlformats.org/drawingml/2006/main">
              <a:ext uri="{FF2B5EF4-FFF2-40B4-BE49-F238E27FC236}">
                <a16:creationId xmlns:a16="http://schemas.microsoft.com/office/drawing/2014/main" id="{753D16EF-2220-44AD-8C3E-326CB07774F1}"/>
              </a:ext>
            </a:extLst>
          </p:cNvPr>
          <p:cNvSpPr>
            <a:spLocks xmlns:a="http://schemas.openxmlformats.org/drawingml/2006/main" noGrp="1"/>
          </p:cNvSpPr>
          <p:nvPr/>
        </p:nvSpPr>
        <p:spPr>
          <a:xfrm xmlns:a="http://schemas.openxmlformats.org/drawingml/2006/main">
            <a:off x="814387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3</a:t>
            </a:r>
          </a:p>
        </p:txBody>
      </p:sp>
      <p:sp>
        <p:nvSpPr>
          <p:cNvPr id="95" name="Rectangle 94">
            <a:extLst xmlns:a="http://schemas.openxmlformats.org/drawingml/2006/main">
              <a:ext uri="{FF2B5EF4-FFF2-40B4-BE49-F238E27FC236}">
                <a16:creationId xmlns:a16="http://schemas.microsoft.com/office/drawing/2014/main" id="{0569B619-C6FD-470E-A65A-31CBDA8F07C8}"/>
              </a:ext>
            </a:extLst>
          </p:cNvPr>
          <p:cNvSpPr>
            <a:spLocks xmlns:a="http://schemas.openxmlformats.org/drawingml/2006/main" noGrp="1"/>
          </p:cNvSpPr>
          <p:nvPr/>
        </p:nvSpPr>
        <p:spPr>
          <a:xfrm xmlns:a="http://schemas.openxmlformats.org/drawingml/2006/main">
            <a:off x="862012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6" name="Rectangle 95">
            <a:extLst xmlns:a="http://schemas.openxmlformats.org/drawingml/2006/main">
              <a:ext uri="{FF2B5EF4-FFF2-40B4-BE49-F238E27FC236}">
                <a16:creationId xmlns:a16="http://schemas.microsoft.com/office/drawing/2014/main" id="{C5EFC497-04A0-4024-916C-D88A7FB284DC}"/>
              </a:ext>
            </a:extLst>
          </p:cNvPr>
          <p:cNvSpPr>
            <a:spLocks xmlns:a="http://schemas.openxmlformats.org/drawingml/2006/main" noGrp="1"/>
          </p:cNvSpPr>
          <p:nvPr/>
        </p:nvSpPr>
        <p:spPr>
          <a:xfrm xmlns:a="http://schemas.openxmlformats.org/drawingml/2006/main">
            <a:off x="862012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97" name="Rectangle 96">
            <a:extLst xmlns:a="http://schemas.openxmlformats.org/drawingml/2006/main">
              <a:ext uri="{FF2B5EF4-FFF2-40B4-BE49-F238E27FC236}">
                <a16:creationId xmlns:a16="http://schemas.microsoft.com/office/drawing/2014/main" id="{A4B07A17-B391-4982-BBF1-037210EBB12C}"/>
              </a:ext>
            </a:extLst>
          </p:cNvPr>
          <p:cNvSpPr>
            <a:spLocks xmlns:a="http://schemas.openxmlformats.org/drawingml/2006/main" noGrp="1"/>
          </p:cNvSpPr>
          <p:nvPr/>
        </p:nvSpPr>
        <p:spPr>
          <a:xfrm xmlns:a="http://schemas.openxmlformats.org/drawingml/2006/main">
            <a:off x="909637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98" name="Rectangle 97">
            <a:extLst xmlns:a="http://schemas.openxmlformats.org/drawingml/2006/main">
              <a:ext uri="{FF2B5EF4-FFF2-40B4-BE49-F238E27FC236}">
                <a16:creationId xmlns:a16="http://schemas.microsoft.com/office/drawing/2014/main" id="{1EDF5B11-DB0F-457A-9B46-FB0BC935BF82}"/>
              </a:ext>
            </a:extLst>
          </p:cNvPr>
          <p:cNvSpPr>
            <a:spLocks xmlns:a="http://schemas.openxmlformats.org/drawingml/2006/main" noGrp="1"/>
          </p:cNvSpPr>
          <p:nvPr/>
        </p:nvSpPr>
        <p:spPr>
          <a:xfrm xmlns:a="http://schemas.openxmlformats.org/drawingml/2006/main">
            <a:off x="909637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99" name="Rectangle 98">
            <a:extLst xmlns:a="http://schemas.openxmlformats.org/drawingml/2006/main">
              <a:ext uri="{FF2B5EF4-FFF2-40B4-BE49-F238E27FC236}">
                <a16:creationId xmlns:a16="http://schemas.microsoft.com/office/drawing/2014/main" id="{70706A1E-AC19-4A90-BF8C-65CA7A72D49C}"/>
              </a:ext>
            </a:extLst>
          </p:cNvPr>
          <p:cNvSpPr>
            <a:spLocks xmlns:a="http://schemas.openxmlformats.org/drawingml/2006/main" noGrp="1"/>
          </p:cNvSpPr>
          <p:nvPr/>
        </p:nvSpPr>
        <p:spPr>
          <a:xfrm xmlns:a="http://schemas.openxmlformats.org/drawingml/2006/main">
            <a:off x="9572625" y="280987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0" name="Rectangle 99">
            <a:extLst xmlns:a="http://schemas.openxmlformats.org/drawingml/2006/main">
              <a:ext uri="{FF2B5EF4-FFF2-40B4-BE49-F238E27FC236}">
                <a16:creationId xmlns:a16="http://schemas.microsoft.com/office/drawing/2014/main" id="{7E6F3095-50CC-44CF-BE38-4D3808B404F5}"/>
              </a:ext>
            </a:extLst>
          </p:cNvPr>
          <p:cNvSpPr>
            <a:spLocks xmlns:a="http://schemas.openxmlformats.org/drawingml/2006/main" noGrp="1"/>
          </p:cNvSpPr>
          <p:nvPr/>
        </p:nvSpPr>
        <p:spPr>
          <a:xfrm xmlns:a="http://schemas.openxmlformats.org/drawingml/2006/main">
            <a:off x="9572625" y="285750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1" name="Rectangle 100">
            <a:extLst xmlns:a="http://schemas.openxmlformats.org/drawingml/2006/main">
              <a:ext uri="{FF2B5EF4-FFF2-40B4-BE49-F238E27FC236}">
                <a16:creationId xmlns:a16="http://schemas.microsoft.com/office/drawing/2014/main" id="{DAFDEB4A-3509-4FDF-A5D5-930E48C23630}"/>
              </a:ext>
            </a:extLst>
          </p:cNvPr>
          <p:cNvSpPr>
            <a:spLocks xmlns:a="http://schemas.openxmlformats.org/drawingml/2006/main" noGrp="1"/>
          </p:cNvSpPr>
          <p:nvPr/>
        </p:nvSpPr>
        <p:spPr>
          <a:xfrm xmlns:a="http://schemas.openxmlformats.org/drawingml/2006/main">
            <a:off x="814387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2" name="Rectangle 101">
            <a:extLst xmlns:a="http://schemas.openxmlformats.org/drawingml/2006/main">
              <a:ext uri="{FF2B5EF4-FFF2-40B4-BE49-F238E27FC236}">
                <a16:creationId xmlns:a16="http://schemas.microsoft.com/office/drawing/2014/main" id="{E14EBD62-FC33-4C46-A43C-D4BD6C1FF9F3}"/>
              </a:ext>
            </a:extLst>
          </p:cNvPr>
          <p:cNvSpPr>
            <a:spLocks xmlns:a="http://schemas.openxmlformats.org/drawingml/2006/main" noGrp="1"/>
          </p:cNvSpPr>
          <p:nvPr/>
        </p:nvSpPr>
        <p:spPr>
          <a:xfrm xmlns:a="http://schemas.openxmlformats.org/drawingml/2006/main">
            <a:off x="814387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1</a:t>
            </a:r>
          </a:p>
        </p:txBody>
      </p:sp>
      <p:sp>
        <p:nvSpPr>
          <p:cNvPr id="103" name="Rectangle 102">
            <a:extLst xmlns:a="http://schemas.openxmlformats.org/drawingml/2006/main">
              <a:ext uri="{FF2B5EF4-FFF2-40B4-BE49-F238E27FC236}">
                <a16:creationId xmlns:a16="http://schemas.microsoft.com/office/drawing/2014/main" id="{350EE2F1-F687-488A-8D40-4155554EA429}"/>
              </a:ext>
            </a:extLst>
          </p:cNvPr>
          <p:cNvSpPr>
            <a:spLocks xmlns:a="http://schemas.openxmlformats.org/drawingml/2006/main" noGrp="1"/>
          </p:cNvSpPr>
          <p:nvPr/>
        </p:nvSpPr>
        <p:spPr>
          <a:xfrm xmlns:a="http://schemas.openxmlformats.org/drawingml/2006/main">
            <a:off x="862012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4" name="Rectangle 103">
            <a:extLst xmlns:a="http://schemas.openxmlformats.org/drawingml/2006/main">
              <a:ext uri="{FF2B5EF4-FFF2-40B4-BE49-F238E27FC236}">
                <a16:creationId xmlns:a16="http://schemas.microsoft.com/office/drawing/2014/main" id="{EF354D36-630C-4D85-B385-31A4E4EA2096}"/>
              </a:ext>
            </a:extLst>
          </p:cNvPr>
          <p:cNvSpPr>
            <a:spLocks xmlns:a="http://schemas.openxmlformats.org/drawingml/2006/main" noGrp="1"/>
          </p:cNvSpPr>
          <p:nvPr/>
        </p:nvSpPr>
        <p:spPr>
          <a:xfrm xmlns:a="http://schemas.openxmlformats.org/drawingml/2006/main">
            <a:off x="862012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5" name="Rectangle 104">
            <a:extLst xmlns:a="http://schemas.openxmlformats.org/drawingml/2006/main">
              <a:ext uri="{FF2B5EF4-FFF2-40B4-BE49-F238E27FC236}">
                <a16:creationId xmlns:a16="http://schemas.microsoft.com/office/drawing/2014/main" id="{A50942E3-B758-4814-9B16-A4C5AED60B95}"/>
              </a:ext>
            </a:extLst>
          </p:cNvPr>
          <p:cNvSpPr>
            <a:spLocks xmlns:a="http://schemas.openxmlformats.org/drawingml/2006/main" noGrp="1"/>
          </p:cNvSpPr>
          <p:nvPr/>
        </p:nvSpPr>
        <p:spPr>
          <a:xfrm xmlns:a="http://schemas.openxmlformats.org/drawingml/2006/main">
            <a:off x="909637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6" name="Rectangle 105">
            <a:extLst xmlns:a="http://schemas.openxmlformats.org/drawingml/2006/main">
              <a:ext uri="{FF2B5EF4-FFF2-40B4-BE49-F238E27FC236}">
                <a16:creationId xmlns:a16="http://schemas.microsoft.com/office/drawing/2014/main" id="{B5455349-AF97-4F35-B73C-7153ADE17565}"/>
              </a:ext>
            </a:extLst>
          </p:cNvPr>
          <p:cNvSpPr>
            <a:spLocks xmlns:a="http://schemas.openxmlformats.org/drawingml/2006/main" noGrp="1"/>
          </p:cNvSpPr>
          <p:nvPr/>
        </p:nvSpPr>
        <p:spPr>
          <a:xfrm xmlns:a="http://schemas.openxmlformats.org/drawingml/2006/main">
            <a:off x="909637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7" name="Rectangle 106">
            <a:extLst xmlns:a="http://schemas.openxmlformats.org/drawingml/2006/main">
              <a:ext uri="{FF2B5EF4-FFF2-40B4-BE49-F238E27FC236}">
                <a16:creationId xmlns:a16="http://schemas.microsoft.com/office/drawing/2014/main" id="{9DC86784-E896-4315-B027-AE5CF9CBE95C}"/>
              </a:ext>
            </a:extLst>
          </p:cNvPr>
          <p:cNvSpPr>
            <a:spLocks xmlns:a="http://schemas.openxmlformats.org/drawingml/2006/main" noGrp="1"/>
          </p:cNvSpPr>
          <p:nvPr/>
        </p:nvSpPr>
        <p:spPr>
          <a:xfrm xmlns:a="http://schemas.openxmlformats.org/drawingml/2006/main">
            <a:off x="9572625" y="3286125"/>
            <a:ext cx="476250" cy="476250"/>
          </a:xfrm>
          <a:prstGeom xmlns:a="http://schemas.openxmlformats.org/drawingml/2006/main" prst="rect">
            <a:avLst/>
          </a:prstGeom>
          <a:solidFill xmlns:a="http://schemas.openxmlformats.org/drawingml/2006/main">
            <a:srgbClr val="102A40"/>
          </a:solidFill>
          <a:ln xmlns:a="http://schemas.openxmlformats.org/drawingml/2006/main" w="9525">
            <a:solidFill>
              <a:srgbClr val="1E4968"/>
            </a:solidFill>
            <a:prstDash val="solid"/>
          </a:ln>
        </p:spPr>
      </p:sp>
      <p:sp>
        <p:nvSpPr>
          <p:cNvPr id="108" name="Rectangle 107">
            <a:extLst xmlns:a="http://schemas.openxmlformats.org/drawingml/2006/main">
              <a:ext uri="{FF2B5EF4-FFF2-40B4-BE49-F238E27FC236}">
                <a16:creationId xmlns:a16="http://schemas.microsoft.com/office/drawing/2014/main" id="{958FD1B9-DDF4-4AAD-AC41-E685DD433296}"/>
              </a:ext>
            </a:extLst>
          </p:cNvPr>
          <p:cNvSpPr>
            <a:spLocks xmlns:a="http://schemas.openxmlformats.org/drawingml/2006/main" noGrp="1"/>
          </p:cNvSpPr>
          <p:nvPr/>
        </p:nvSpPr>
        <p:spPr>
          <a:xfrm xmlns:a="http://schemas.openxmlformats.org/drawingml/2006/main">
            <a:off x="9572625" y="33337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900" b="1">
                <a:solidFill>
                  <a:srgbClr val="F4F8FC"/>
                </a:solidFill>
                <a:latin typeface="Arial"/>
                <a:ea typeface="Arial"/>
                <a:cs typeface="Arial"/>
              </a:defRPr>
            </a:pPr>
            <a:r>
              <a:rPr sz="900" b="1">
                <a:solidFill>
                  <a:srgbClr val="F4F8FC"/>
                </a:solidFill>
                <a:latin typeface="Arial"/>
                <a:ea typeface="Arial"/>
                <a:cs typeface="Arial"/>
              </a:rPr>
              <a:t>0</a:t>
            </a:r>
          </a:p>
        </p:txBody>
      </p:sp>
      <p:sp>
        <p:nvSpPr>
          <p:cNvPr id="109" name="Rectangle 108">
            <a:extLst xmlns:a="http://schemas.openxmlformats.org/drawingml/2006/main">
              <a:ext uri="{FF2B5EF4-FFF2-40B4-BE49-F238E27FC236}">
                <a16:creationId xmlns:a16="http://schemas.microsoft.com/office/drawing/2014/main" id="{85C4CDCF-6B8E-4C32-BDA9-4E156F3C23C6}"/>
              </a:ext>
            </a:extLst>
          </p:cNvPr>
          <p:cNvSpPr>
            <a:spLocks xmlns:a="http://schemas.openxmlformats.org/drawingml/2006/main" noGrp="1"/>
          </p:cNvSpPr>
          <p:nvPr/>
        </p:nvSpPr>
        <p:spPr>
          <a:xfrm xmlns:a="http://schemas.openxmlformats.org/drawingml/2006/main">
            <a:off x="1381125" y="42386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FFB84D"/>
                </a:solidFill>
                <a:latin typeface="Arial"/>
                <a:ea typeface="Arial"/>
                <a:cs typeface="Arial"/>
              </a:defRPr>
            </a:pPr>
            <a:r>
              <a:rPr sz="1725" b="1">
                <a:solidFill>
                  <a:srgbClr val="FFB84D"/>
                </a:solidFill>
                <a:latin typeface="Arial"/>
                <a:ea typeface="Arial"/>
                <a:cs typeface="Arial"/>
              </a:rPr>
              <a:t>Square every error and add</a:t>
            </a:r>
          </a:p>
        </p:txBody>
      </p:sp>
      <p:sp>
        <p:nvSpPr>
          <p:cNvPr id="110" name="Rectangle 109">
            <a:extLst xmlns:a="http://schemas.openxmlformats.org/drawingml/2006/main">
              <a:ext uri="{FF2B5EF4-FFF2-40B4-BE49-F238E27FC236}">
                <a16:creationId xmlns:a16="http://schemas.microsoft.com/office/drawing/2014/main" id="{376700DB-8C01-451B-AEBB-B07249AC9EF3}"/>
              </a:ext>
            </a:extLst>
          </p:cNvPr>
          <p:cNvSpPr>
            <a:spLocks xmlns:a="http://schemas.openxmlformats.org/drawingml/2006/main" noGrp="1"/>
          </p:cNvSpPr>
          <p:nvPr/>
        </p:nvSpPr>
        <p:spPr>
          <a:xfrm xmlns:a="http://schemas.openxmlformats.org/drawingml/2006/main">
            <a:off x="1143000" y="4714875"/>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2² + 4² + (−4)² + 1² + (−1)² + (−3)² + (−2)² + 3² + (−1)² + 1² + 1²</a:t>
            </a:r>
          </a:p>
        </p:txBody>
      </p:sp>
      <p:sp>
        <p:nvSpPr>
          <p:cNvPr id="111" name="Rectangle: Rounded Corners 110">
            <a:extLst xmlns:a="http://schemas.openxmlformats.org/drawingml/2006/main">
              <a:ext uri="{FF2B5EF4-FFF2-40B4-BE49-F238E27FC236}">
                <a16:creationId xmlns:a16="http://schemas.microsoft.com/office/drawing/2014/main" id="{5EA8FD10-A693-42DC-AFA2-DC6A859396AC}"/>
              </a:ext>
            </a:extLst>
          </p:cNvPr>
          <p:cNvSpPr>
            <a:spLocks xmlns:a="http://schemas.openxmlformats.org/drawingml/2006/main" noGrp="1"/>
          </p:cNvSpPr>
          <p:nvPr/>
        </p:nvSpPr>
        <p:spPr>
          <a:xfrm xmlns:a="http://schemas.openxmlformats.org/drawingml/2006/main">
            <a:off x="2333625" y="5429250"/>
            <a:ext cx="3333750" cy="609600"/>
          </a:xfrm>
          <a:prstGeom xmlns:a="http://schemas.openxmlformats.org/drawingml/2006/main" prst="roundRect">
            <a:avLst>
              <a:gd name="adj" fmla="val 18750"/>
            </a:avLst>
          </a:prstGeom>
          <a:solidFill xmlns:a="http://schemas.openxmlformats.org/drawingml/2006/main">
            <a:srgbClr val="0A2830"/>
          </a:solidFill>
          <a:ln xmlns:a="http://schemas.openxmlformats.org/drawingml/2006/main" w="19050">
            <a:solidFill>
              <a:srgbClr val="47E6A4"/>
            </a:solidFill>
            <a:prstDash val="solid"/>
          </a:ln>
        </p:spPr>
      </p:sp>
      <p:sp>
        <p:nvSpPr>
          <p:cNvPr id="112" name="Rectangle 111">
            <a:extLst xmlns:a="http://schemas.openxmlformats.org/drawingml/2006/main">
              <a:ext uri="{FF2B5EF4-FFF2-40B4-BE49-F238E27FC236}">
                <a16:creationId xmlns:a16="http://schemas.microsoft.com/office/drawing/2014/main" id="{18342670-0928-4A93-80B2-212A50FD4DDC}"/>
              </a:ext>
            </a:extLst>
          </p:cNvPr>
          <p:cNvSpPr>
            <a:spLocks xmlns:a="http://schemas.openxmlformats.org/drawingml/2006/main" noGrp="1"/>
          </p:cNvSpPr>
          <p:nvPr/>
        </p:nvSpPr>
        <p:spPr>
          <a:xfrm xmlns:a="http://schemas.openxmlformats.org/drawingml/2006/main">
            <a:off x="2447925" y="5524500"/>
            <a:ext cx="3105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2319"/>
          </a:bodyPr>
          <a:lstStyle xmlns:a="http://schemas.openxmlformats.org/drawingml/2006/main"/>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STEP 8</a:t>
            </a:r>
          </a:p>
          <a:p xmlns:a="http://schemas.openxmlformats.org/drawingml/2006/main">
            <a:pPr>
              <a:buNone/>
              <a:defRPr sz="1725" b="1">
                <a:solidFill>
                  <a:srgbClr val="F4F8FC"/>
                </a:solidFill>
                <a:latin typeface="Arial"/>
                <a:ea typeface="Arial"/>
                <a:cs typeface="Arial"/>
              </a:defRPr>
            </a:pPr>
            <a:r>
              <a:rPr sz="1725" b="1">
                <a:solidFill>
                  <a:srgbClr val="F4F8FC"/>
                </a:solidFill>
                <a:latin typeface="Arial"/>
                <a:ea typeface="Arial"/>
                <a:cs typeface="Arial"/>
              </a:rPr>
              <a:t>D = 63</a:t>
            </a:r>
          </a:p>
        </p:txBody>
      </p:sp>
      <p:sp>
        <p:nvSpPr>
          <p:cNvPr id="113" name="Rectangle: Rounded Corners 112">
            <a:extLst xmlns:a="http://schemas.openxmlformats.org/drawingml/2006/main">
              <a:ext uri="{FF2B5EF4-FFF2-40B4-BE49-F238E27FC236}">
                <a16:creationId xmlns:a16="http://schemas.microsoft.com/office/drawing/2014/main" id="{3B63C181-EBA2-4714-A304-DFF289304C41}"/>
              </a:ext>
            </a:extLst>
          </p:cNvPr>
          <p:cNvSpPr>
            <a:spLocks xmlns:a="http://schemas.openxmlformats.org/drawingml/2006/main" noGrp="1"/>
          </p:cNvSpPr>
          <p:nvPr/>
        </p:nvSpPr>
        <p:spPr>
          <a:xfrm xmlns:a="http://schemas.openxmlformats.org/drawingml/2006/main">
            <a:off x="6524625" y="5429250"/>
            <a:ext cx="3333750" cy="609600"/>
          </a:xfrm>
          <a:prstGeom xmlns:a="http://schemas.openxmlformats.org/drawingml/2006/main" prst="roundRect">
            <a:avLst>
              <a:gd name="adj" fmla="val 18750"/>
            </a:avLst>
          </a:prstGeom>
          <a:solidFill xmlns:a="http://schemas.openxmlformats.org/drawingml/2006/main">
            <a:srgbClr val="132536"/>
          </a:solidFill>
          <a:ln xmlns:a="http://schemas.openxmlformats.org/drawingml/2006/main" w="19050">
            <a:solidFill>
              <a:srgbClr val="FFB84D"/>
            </a:solidFill>
            <a:prstDash val="solid"/>
          </a:ln>
        </p:spPr>
      </p:sp>
      <p:sp>
        <p:nvSpPr>
          <p:cNvPr id="114" name="Rectangle 113">
            <a:extLst xmlns:a="http://schemas.openxmlformats.org/drawingml/2006/main">
              <a:ext uri="{FF2B5EF4-FFF2-40B4-BE49-F238E27FC236}">
                <a16:creationId xmlns:a16="http://schemas.microsoft.com/office/drawing/2014/main" id="{D2DE3B6D-7824-4B9A-B154-E0A08331C47C}"/>
              </a:ext>
            </a:extLst>
          </p:cNvPr>
          <p:cNvSpPr>
            <a:spLocks xmlns:a="http://schemas.openxmlformats.org/drawingml/2006/main" noGrp="1"/>
          </p:cNvSpPr>
          <p:nvPr/>
        </p:nvSpPr>
        <p:spPr>
          <a:xfrm xmlns:a="http://schemas.openxmlformats.org/drawingml/2006/main">
            <a:off x="6638925" y="5524500"/>
            <a:ext cx="3105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5151"/>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COARSER STEP 16</a:t>
            </a:r>
          </a:p>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D = 159</a:t>
            </a:r>
          </a:p>
        </p:txBody>
      </p:sp>
      <p:sp>
        <p:nvSpPr>
          <p:cNvPr id="115" name="Rectangle 114">
            <a:extLst xmlns:a="http://schemas.openxmlformats.org/drawingml/2006/main">
              <a:ext uri="{FF2B5EF4-FFF2-40B4-BE49-F238E27FC236}">
                <a16:creationId xmlns:a16="http://schemas.microsoft.com/office/drawing/2014/main" id="{C27486CF-B0FB-47DC-8D4B-B551D49D09A8}"/>
              </a:ext>
            </a:extLst>
          </p:cNvPr>
          <p:cNvSpPr>
            <a:spLocks xmlns:a="http://schemas.openxmlformats.org/drawingml/2006/main" noGrp="1"/>
          </p:cNvSpPr>
          <p:nvPr/>
        </p:nvSpPr>
        <p:spPr>
          <a:xfrm xmlns:a="http://schemas.openxmlformats.org/drawingml/2006/main">
            <a:off x="1952625" y="619125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AFC0D0"/>
                </a:solidFill>
                <a:latin typeface="Arial"/>
                <a:ea typeface="Arial"/>
                <a:cs typeface="Arial"/>
              </a:defRPr>
            </a:pPr>
            <a:r>
              <a:rPr sz="1125" b="1">
                <a:solidFill>
                  <a:srgbClr val="AFC0D0"/>
                </a:solidFill>
                <a:latin typeface="Arial"/>
                <a:ea typeface="Arial"/>
                <a:cs typeface="Arial"/>
              </a:rPr>
              <a:t>Teaching caveat: HEVC's scaled integer transform requires consistent normalization before using this shortcut.</a:t>
            </a:r>
          </a:p>
        </p:txBody>
      </p:sp>
    </p:spTree>
    <p:extLst>
      <p:ext uri="{BB962C8B-B14F-4D97-AF65-F5344CB8AC3E}">
        <p14:creationId xmlns:p14="http://schemas.microsoft.com/office/powerpoint/2010/main" val="435389291"/>
      </p:ext>
    </p:extLst>
  </p:cSld>
</p:sld>
</file>

<file path=ppt/slides/slide44.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3" name="Oval 22">
            <a:extLst xmlns:a="http://schemas.openxmlformats.org/drawingml/2006/main">
              <a:ext uri="{FF2B5EF4-FFF2-40B4-BE49-F238E27FC236}">
                <a16:creationId xmlns:a16="http://schemas.microsoft.com/office/drawing/2014/main" id="{996F42E3-54A3-4E2A-A1B8-01EB0CA87580}"/>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799A45ED-40C8-447B-8F01-C0F164D69901}"/>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0F570F9E-2010-4CCD-A16D-9519B2CAC3FC}"/>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RDO resolves the encoder's local structural choices</a:t>
            </a:r>
          </a:p>
        </p:txBody>
      </p:sp>
      <p:sp>
        <p:nvSpPr>
          <p:cNvPr id="4" name="Straight Connector 3">
            <a:extLst xmlns:a="http://schemas.openxmlformats.org/drawingml/2006/main">
              <a:ext uri="{FF2B5EF4-FFF2-40B4-BE49-F238E27FC236}">
                <a16:creationId xmlns:a16="http://schemas.microsoft.com/office/drawing/2014/main" id="{6DDB29C7-32EB-4E19-B749-36542FD7281E}"/>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C2E7362A-4C1A-4706-9D43-68068FC56850}"/>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Rate–Distortion Optimization is the common comparison framework, while rate control sets the operating quality target</a:t>
            </a:r>
          </a:p>
        </p:txBody>
      </p:sp>
      <p:sp>
        <p:nvSpPr>
          <p:cNvPr id="6" name="Rectangle 5">
            <a:extLst xmlns:a="http://schemas.openxmlformats.org/drawingml/2006/main">
              <a:ext uri="{FF2B5EF4-FFF2-40B4-BE49-F238E27FC236}">
                <a16:creationId xmlns:a16="http://schemas.microsoft.com/office/drawing/2014/main" id="{C02AE7CB-1F80-4F04-B0C0-1FE22B592883}"/>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8CC5AED4-D4B9-42A2-BBDE-C0B31F1CD0B9}"/>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44 / 49</a:t>
            </a:r>
          </a:p>
        </p:txBody>
      </p:sp>
      <p:sp>
        <p:nvSpPr>
          <p:cNvPr id="8" name="Oval 7">
            <a:extLst xmlns:a="http://schemas.openxmlformats.org/drawingml/2006/main">
              <a:ext uri="{FF2B5EF4-FFF2-40B4-BE49-F238E27FC236}">
                <a16:creationId xmlns:a16="http://schemas.microsoft.com/office/drawing/2014/main" id="{9B0C34A6-022A-4A7D-B086-C6D3C2200FA0}"/>
              </a:ext>
            </a:extLst>
          </p:cNvPr>
          <p:cNvSpPr>
            <a:spLocks xmlns:a="http://schemas.openxmlformats.org/drawingml/2006/main" noGrp="1"/>
          </p:cNvSpPr>
          <p:nvPr/>
        </p:nvSpPr>
        <p:spPr>
          <a:xfrm xmlns:a="http://schemas.openxmlformats.org/drawingml/2006/main">
            <a:off x="666750" y="1476375"/>
            <a:ext cx="495300" cy="495300"/>
          </a:xfrm>
          <a:prstGeom xmlns:a="http://schemas.openxmlformats.org/drawingml/2006/main" prst="ellipse">
            <a:avLst/>
          </a:prstGeom>
          <a:solidFill xmlns:a="http://schemas.openxmlformats.org/drawingml/2006/main">
            <a:srgbClr val="0B2033"/>
          </a:solidFill>
          <a:ln xmlns:a="http://schemas.openxmlformats.org/drawingml/2006/main" w="28575">
            <a:solidFill>
              <a:srgbClr val="22D3EE"/>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2D3EE"/>
                </a:solidFill>
                <a:latin typeface="Arial"/>
                <a:ea typeface="Arial"/>
                <a:cs typeface="Arial"/>
              </a:defRPr>
            </a:pPr>
            <a:r>
              <a:rPr sz="1200" b="1">
                <a:solidFill>
                  <a:srgbClr val="22D3EE"/>
                </a:solidFill>
                <a:latin typeface="Arial"/>
                <a:ea typeface="Arial"/>
                <a:cs typeface="Arial"/>
              </a:rPr>
              <a:t>1</a:t>
            </a:r>
          </a:p>
        </p:txBody>
      </p:sp>
      <p:sp>
        <p:nvSpPr>
          <p:cNvPr id="9" name="Rectangle 8">
            <a:extLst xmlns:a="http://schemas.openxmlformats.org/drawingml/2006/main">
              <a:ext uri="{FF2B5EF4-FFF2-40B4-BE49-F238E27FC236}">
                <a16:creationId xmlns:a16="http://schemas.microsoft.com/office/drawing/2014/main" id="{E9DA8267-EBD4-4E79-9E44-DCD4E62A57E2}"/>
              </a:ext>
            </a:extLst>
          </p:cNvPr>
          <p:cNvSpPr>
            <a:spLocks xmlns:a="http://schemas.openxmlformats.org/drawingml/2006/main" noGrp="1"/>
          </p:cNvSpPr>
          <p:nvPr/>
        </p:nvSpPr>
        <p:spPr>
          <a:xfrm xmlns:a="http://schemas.openxmlformats.org/drawingml/2006/main">
            <a:off x="1381125" y="13811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22D3EE"/>
                </a:solidFill>
                <a:latin typeface="Arial"/>
                <a:ea typeface="Arial"/>
                <a:cs typeface="Arial"/>
              </a:defRPr>
            </a:pPr>
            <a:r>
              <a:rPr sz="1425" b="1">
                <a:solidFill>
                  <a:srgbClr val="22D3EE"/>
                </a:solidFill>
                <a:latin typeface="Arial"/>
                <a:ea typeface="Arial"/>
                <a:cs typeface="Arial"/>
              </a:rPr>
              <a:t>CODING UNIT (CU)</a:t>
            </a:r>
          </a:p>
        </p:txBody>
      </p:sp>
      <p:sp>
        <p:nvSpPr>
          <p:cNvPr id="10" name="Rectangle 9">
            <a:extLst xmlns:a="http://schemas.openxmlformats.org/drawingml/2006/main">
              <a:ext uri="{FF2B5EF4-FFF2-40B4-BE49-F238E27FC236}">
                <a16:creationId xmlns:a16="http://schemas.microsoft.com/office/drawing/2014/main" id="{6D87FBBE-99D3-4FFC-A7AE-901066233B37}"/>
              </a:ext>
            </a:extLst>
          </p:cNvPr>
          <p:cNvSpPr>
            <a:spLocks xmlns:a="http://schemas.openxmlformats.org/drawingml/2006/main" noGrp="1"/>
          </p:cNvSpPr>
          <p:nvPr/>
        </p:nvSpPr>
        <p:spPr>
          <a:xfrm xmlns:a="http://schemas.openxmlformats.org/drawingml/2006/main">
            <a:off x="1381125" y="1724025"/>
            <a:ext cx="962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Compare the unsplit Coding Unit with legal split trees. Keep the lowest-cost structure.</a:t>
            </a:r>
          </a:p>
        </p:txBody>
      </p:sp>
      <p:sp>
        <p:nvSpPr>
          <p:cNvPr id="11" name="Oval 10">
            <a:extLst xmlns:a="http://schemas.openxmlformats.org/drawingml/2006/main">
              <a:ext uri="{FF2B5EF4-FFF2-40B4-BE49-F238E27FC236}">
                <a16:creationId xmlns:a16="http://schemas.microsoft.com/office/drawing/2014/main" id="{659C595F-71C9-4260-A0C7-3F724D71CDCF}"/>
              </a:ext>
            </a:extLst>
          </p:cNvPr>
          <p:cNvSpPr>
            <a:spLocks xmlns:a="http://schemas.openxmlformats.org/drawingml/2006/main" noGrp="1"/>
          </p:cNvSpPr>
          <p:nvPr/>
        </p:nvSpPr>
        <p:spPr>
          <a:xfrm xmlns:a="http://schemas.openxmlformats.org/drawingml/2006/main">
            <a:off x="666750" y="2543175"/>
            <a:ext cx="495300" cy="495300"/>
          </a:xfrm>
          <a:prstGeom xmlns:a="http://schemas.openxmlformats.org/drawingml/2006/main" prst="ellipse">
            <a:avLst/>
          </a:prstGeom>
          <a:solidFill xmlns:a="http://schemas.openxmlformats.org/drawingml/2006/main">
            <a:srgbClr val="0B2033"/>
          </a:solidFill>
          <a:ln xmlns:a="http://schemas.openxmlformats.org/drawingml/2006/main" w="28575">
            <a:solidFill>
              <a:srgbClr val="2E9BFF"/>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E9BFF"/>
                </a:solidFill>
                <a:latin typeface="Arial"/>
                <a:ea typeface="Arial"/>
                <a:cs typeface="Arial"/>
              </a:defRPr>
            </a:pPr>
            <a:r>
              <a:rPr sz="1200" b="1">
                <a:solidFill>
                  <a:srgbClr val="2E9BFF"/>
                </a:solidFill>
                <a:latin typeface="Arial"/>
                <a:ea typeface="Arial"/>
                <a:cs typeface="Arial"/>
              </a:rPr>
              <a:t>2</a:t>
            </a:r>
          </a:p>
        </p:txBody>
      </p:sp>
      <p:sp>
        <p:nvSpPr>
          <p:cNvPr id="12" name="Rectangle 11">
            <a:extLst xmlns:a="http://schemas.openxmlformats.org/drawingml/2006/main">
              <a:ext uri="{FF2B5EF4-FFF2-40B4-BE49-F238E27FC236}">
                <a16:creationId xmlns:a16="http://schemas.microsoft.com/office/drawing/2014/main" id="{EF5F641A-A1E1-488B-98AB-4C6C483720D6}"/>
              </a:ext>
            </a:extLst>
          </p:cNvPr>
          <p:cNvSpPr>
            <a:spLocks xmlns:a="http://schemas.openxmlformats.org/drawingml/2006/main" noGrp="1"/>
          </p:cNvSpPr>
          <p:nvPr/>
        </p:nvSpPr>
        <p:spPr>
          <a:xfrm xmlns:a="http://schemas.openxmlformats.org/drawingml/2006/main">
            <a:off x="1381125" y="24479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2E9BFF"/>
                </a:solidFill>
                <a:latin typeface="Arial"/>
                <a:ea typeface="Arial"/>
                <a:cs typeface="Arial"/>
              </a:defRPr>
            </a:pPr>
            <a:r>
              <a:rPr sz="1425" b="1">
                <a:solidFill>
                  <a:srgbClr val="2E9BFF"/>
                </a:solidFill>
                <a:latin typeface="Arial"/>
                <a:ea typeface="Arial"/>
                <a:cs typeface="Arial"/>
              </a:rPr>
              <a:t>PREDICTION UNIT (PU)</a:t>
            </a:r>
          </a:p>
        </p:txBody>
      </p:sp>
      <p:sp>
        <p:nvSpPr>
          <p:cNvPr id="13" name="Rectangle 12">
            <a:extLst xmlns:a="http://schemas.openxmlformats.org/drawingml/2006/main">
              <a:ext uri="{FF2B5EF4-FFF2-40B4-BE49-F238E27FC236}">
                <a16:creationId xmlns:a16="http://schemas.microsoft.com/office/drawing/2014/main" id="{10C75E11-6576-4E20-814B-22C556584AA3}"/>
              </a:ext>
            </a:extLst>
          </p:cNvPr>
          <p:cNvSpPr>
            <a:spLocks xmlns:a="http://schemas.openxmlformats.org/drawingml/2006/main" noGrp="1"/>
          </p:cNvSpPr>
          <p:nvPr/>
        </p:nvSpPr>
        <p:spPr>
          <a:xfrm xmlns:a="http://schemas.openxmlformats.org/drawingml/2006/main">
            <a:off x="1381125" y="2790825"/>
            <a:ext cx="962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Compare legal partitions, intra or inter modes, references, and motion descriptions.</a:t>
            </a:r>
          </a:p>
        </p:txBody>
      </p:sp>
      <p:sp>
        <p:nvSpPr>
          <p:cNvPr id="14" name="Oval 13">
            <a:extLst xmlns:a="http://schemas.openxmlformats.org/drawingml/2006/main">
              <a:ext uri="{FF2B5EF4-FFF2-40B4-BE49-F238E27FC236}">
                <a16:creationId xmlns:a16="http://schemas.microsoft.com/office/drawing/2014/main" id="{5CB63D4A-5DBF-47EC-8EDB-6CB0F314C3E2}"/>
              </a:ext>
            </a:extLst>
          </p:cNvPr>
          <p:cNvSpPr>
            <a:spLocks xmlns:a="http://schemas.openxmlformats.org/drawingml/2006/main" noGrp="1"/>
          </p:cNvSpPr>
          <p:nvPr/>
        </p:nvSpPr>
        <p:spPr>
          <a:xfrm xmlns:a="http://schemas.openxmlformats.org/drawingml/2006/main">
            <a:off x="666750" y="3609975"/>
            <a:ext cx="495300" cy="495300"/>
          </a:xfrm>
          <a:prstGeom xmlns:a="http://schemas.openxmlformats.org/drawingml/2006/main" prst="ellipse">
            <a:avLst/>
          </a:prstGeom>
          <a:solidFill xmlns:a="http://schemas.openxmlformats.org/drawingml/2006/main">
            <a:srgbClr val="0B2033"/>
          </a:solidFill>
          <a:ln xmlns:a="http://schemas.openxmlformats.org/drawingml/2006/main" w="28575">
            <a:solidFill>
              <a:srgbClr val="47E6A4"/>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47E6A4"/>
                </a:solidFill>
                <a:latin typeface="Arial"/>
                <a:ea typeface="Arial"/>
                <a:cs typeface="Arial"/>
              </a:defRPr>
            </a:pPr>
            <a:r>
              <a:rPr sz="1200" b="1">
                <a:solidFill>
                  <a:srgbClr val="47E6A4"/>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61DFAFDF-0627-411C-BE4D-6D86322964AF}"/>
              </a:ext>
            </a:extLst>
          </p:cNvPr>
          <p:cNvSpPr>
            <a:spLocks xmlns:a="http://schemas.openxmlformats.org/drawingml/2006/main" noGrp="1"/>
          </p:cNvSpPr>
          <p:nvPr/>
        </p:nvSpPr>
        <p:spPr>
          <a:xfrm xmlns:a="http://schemas.openxmlformats.org/drawingml/2006/main">
            <a:off x="1381125" y="35147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47E6A4"/>
                </a:solidFill>
                <a:latin typeface="Arial"/>
                <a:ea typeface="Arial"/>
                <a:cs typeface="Arial"/>
              </a:defRPr>
            </a:pPr>
            <a:r>
              <a:rPr sz="1425" b="1">
                <a:solidFill>
                  <a:srgbClr val="47E6A4"/>
                </a:solidFill>
                <a:latin typeface="Arial"/>
                <a:ea typeface="Arial"/>
                <a:cs typeface="Arial"/>
              </a:rPr>
              <a:t>TRANSFORM UNIT (TU)</a:t>
            </a:r>
          </a:p>
        </p:txBody>
      </p:sp>
      <p:sp>
        <p:nvSpPr>
          <p:cNvPr id="16" name="Rectangle 15">
            <a:extLst xmlns:a="http://schemas.openxmlformats.org/drawingml/2006/main">
              <a:ext uri="{FF2B5EF4-FFF2-40B4-BE49-F238E27FC236}">
                <a16:creationId xmlns:a16="http://schemas.microsoft.com/office/drawing/2014/main" id="{92F6DC85-B848-48C5-BB9B-5FE2A369D3EC}"/>
              </a:ext>
            </a:extLst>
          </p:cNvPr>
          <p:cNvSpPr>
            <a:spLocks xmlns:a="http://schemas.openxmlformats.org/drawingml/2006/main" noGrp="1"/>
          </p:cNvSpPr>
          <p:nvPr/>
        </p:nvSpPr>
        <p:spPr>
          <a:xfrm xmlns:a="http://schemas.openxmlformats.org/drawingml/2006/main">
            <a:off x="1381125" y="3857625"/>
            <a:ext cx="962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After prediction, compare legal residual transform trees. PU and TU boundaries may differ.</a:t>
            </a:r>
          </a:p>
        </p:txBody>
      </p:sp>
      <p:sp>
        <p:nvSpPr>
          <p:cNvPr id="17" name="Oval 16">
            <a:extLst xmlns:a="http://schemas.openxmlformats.org/drawingml/2006/main">
              <a:ext uri="{FF2B5EF4-FFF2-40B4-BE49-F238E27FC236}">
                <a16:creationId xmlns:a16="http://schemas.microsoft.com/office/drawing/2014/main" id="{7F8BBCDB-02B0-467F-951A-65FB8A3E2A0A}"/>
              </a:ext>
            </a:extLst>
          </p:cNvPr>
          <p:cNvSpPr>
            <a:spLocks xmlns:a="http://schemas.openxmlformats.org/drawingml/2006/main" noGrp="1"/>
          </p:cNvSpPr>
          <p:nvPr/>
        </p:nvSpPr>
        <p:spPr>
          <a:xfrm xmlns:a="http://schemas.openxmlformats.org/drawingml/2006/main">
            <a:off x="666750" y="4676775"/>
            <a:ext cx="495300" cy="49530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B84D"/>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B84D"/>
                </a:solidFill>
                <a:latin typeface="Arial"/>
                <a:ea typeface="Arial"/>
                <a:cs typeface="Arial"/>
              </a:defRPr>
            </a:pPr>
            <a:r>
              <a:rPr sz="1200" b="1">
                <a:solidFill>
                  <a:srgbClr val="FFB84D"/>
                </a:solidFill>
                <a:latin typeface="Arial"/>
                <a:ea typeface="Arial"/>
                <a:cs typeface="Arial"/>
              </a:rPr>
              <a:t>4</a:t>
            </a:r>
          </a:p>
        </p:txBody>
      </p:sp>
      <p:sp>
        <p:nvSpPr>
          <p:cNvPr id="18" name="Rectangle 17">
            <a:extLst xmlns:a="http://schemas.openxmlformats.org/drawingml/2006/main">
              <a:ext uri="{FF2B5EF4-FFF2-40B4-BE49-F238E27FC236}">
                <a16:creationId xmlns:a16="http://schemas.microsoft.com/office/drawing/2014/main" id="{E888FDF7-3521-4E68-BC64-B4B41A94C560}"/>
              </a:ext>
            </a:extLst>
          </p:cNvPr>
          <p:cNvSpPr>
            <a:spLocks xmlns:a="http://schemas.openxmlformats.org/drawingml/2006/main" noGrp="1"/>
          </p:cNvSpPr>
          <p:nvPr/>
        </p:nvSpPr>
        <p:spPr>
          <a:xfrm xmlns:a="http://schemas.openxmlformats.org/drawingml/2006/main">
            <a:off x="1381125" y="45815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FFB84D"/>
                </a:solidFill>
                <a:latin typeface="Arial"/>
                <a:ea typeface="Arial"/>
                <a:cs typeface="Arial"/>
              </a:defRPr>
            </a:pPr>
            <a:r>
              <a:rPr sz="1425" b="1">
                <a:solidFill>
                  <a:srgbClr val="FFB84D"/>
                </a:solidFill>
                <a:latin typeface="Arial"/>
                <a:ea typeface="Arial"/>
                <a:cs typeface="Arial"/>
              </a:rPr>
              <a:t>QUANTIZATION PARAMETER (QP)</a:t>
            </a:r>
          </a:p>
        </p:txBody>
      </p:sp>
      <p:sp>
        <p:nvSpPr>
          <p:cNvPr id="19" name="Rectangle 18">
            <a:extLst xmlns:a="http://schemas.openxmlformats.org/drawingml/2006/main">
              <a:ext uri="{FF2B5EF4-FFF2-40B4-BE49-F238E27FC236}">
                <a16:creationId xmlns:a16="http://schemas.microsoft.com/office/drawing/2014/main" id="{60EBEEDB-0DC2-431E-901C-4DC06ADBB6F4}"/>
              </a:ext>
            </a:extLst>
          </p:cNvPr>
          <p:cNvSpPr>
            <a:spLocks xmlns:a="http://schemas.openxmlformats.org/drawingml/2006/main" noGrp="1"/>
          </p:cNvSpPr>
          <p:nvPr/>
        </p:nvSpPr>
        <p:spPr>
          <a:xfrm xmlns:a="http://schemas.openxmlformats.org/drawingml/2006/main">
            <a:off x="1381125" y="4924425"/>
            <a:ext cx="962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0">
                <a:solidFill>
                  <a:srgbClr val="F4F8FC"/>
                </a:solidFill>
                <a:latin typeface="Arial"/>
                <a:ea typeface="Arial"/>
                <a:cs typeface="Arial"/>
              </a:defRPr>
            </a:pPr>
            <a:r>
              <a:rPr sz="1350" b="0">
                <a:solidFill>
                  <a:srgbClr val="F4F8FC"/>
                </a:solidFill>
                <a:latin typeface="Arial"/>
                <a:ea typeface="Arial"/>
                <a:cs typeface="Arial"/>
              </a:rPr>
              <a:t>Fixed QP, Constant Rate Factor, or bitrate control sets the base operating point. Local QP changes may also be optimized.</a:t>
            </a:r>
          </a:p>
        </p:txBody>
      </p:sp>
      <p:sp>
        <p:nvSpPr>
          <p:cNvPr id="20" name="Rectangle: Rounded Corners 19">
            <a:extLst xmlns:a="http://schemas.openxmlformats.org/drawingml/2006/main">
              <a:ext uri="{FF2B5EF4-FFF2-40B4-BE49-F238E27FC236}">
                <a16:creationId xmlns:a16="http://schemas.microsoft.com/office/drawing/2014/main" id="{5C6F1D02-1E03-49EB-9F87-CC4BC620F8FC}"/>
              </a:ext>
            </a:extLst>
          </p:cNvPr>
          <p:cNvSpPr>
            <a:spLocks xmlns:a="http://schemas.openxmlformats.org/drawingml/2006/main" noGrp="1"/>
          </p:cNvSpPr>
          <p:nvPr/>
        </p:nvSpPr>
        <p:spPr>
          <a:xfrm xmlns:a="http://schemas.openxmlformats.org/drawingml/2006/main">
            <a:off x="1619250" y="5715000"/>
            <a:ext cx="8953500" cy="571500"/>
          </a:xfrm>
          <a:prstGeom xmlns:a="http://schemas.openxmlformats.org/drawingml/2006/main" prst="roundRect">
            <a:avLst>
              <a:gd name="adj" fmla="val 20000"/>
            </a:avLst>
          </a:prstGeom>
          <a:solidFill xmlns:a="http://schemas.openxmlformats.org/drawingml/2006/main">
            <a:srgbClr val="2A1720"/>
          </a:solidFill>
          <a:ln xmlns:a="http://schemas.openxmlformats.org/drawingml/2006/main" w="19050">
            <a:solidFill>
              <a:srgbClr val="FF6577"/>
            </a:solidFill>
            <a:prstDash val="solid"/>
          </a:ln>
        </p:spPr>
      </p:sp>
      <p:sp>
        <p:nvSpPr>
          <p:cNvPr id="21" name="Rectangle 20">
            <a:extLst xmlns:a="http://schemas.openxmlformats.org/drawingml/2006/main">
              <a:ext uri="{FF2B5EF4-FFF2-40B4-BE49-F238E27FC236}">
                <a16:creationId xmlns:a16="http://schemas.microsoft.com/office/drawing/2014/main" id="{C89CD953-E293-43D9-856D-1FE58ACD3B98}"/>
              </a:ext>
            </a:extLst>
          </p:cNvPr>
          <p:cNvSpPr>
            <a:spLocks xmlns:a="http://schemas.openxmlformats.org/drawingml/2006/main" noGrp="1"/>
          </p:cNvSpPr>
          <p:nvPr/>
        </p:nvSpPr>
        <p:spPr>
          <a:xfrm xmlns:a="http://schemas.openxmlformats.org/drawingml/2006/main">
            <a:off x="1733550" y="5810250"/>
            <a:ext cx="8724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234"/>
          </a:bodyPr>
          <a:lstStyle xmlns:a="http://schemas.openxmlformats.org/drawingml/2006/main"/>
          <a:p xmlns:a="http://schemas.openxmlformats.org/drawingml/2006/main">
            <a:pPr>
              <a:buNone/>
              <a:defRPr sz="1425" b="1">
                <a:solidFill>
                  <a:srgbClr val="F4F8FC"/>
                </a:solidFill>
                <a:latin typeface="Arial"/>
                <a:ea typeface="Arial"/>
                <a:cs typeface="Arial"/>
              </a:defRPr>
            </a:pPr>
            <a:r>
              <a:rPr sz="1425" b="1">
                <a:solidFill>
                  <a:srgbClr val="F4F8FC"/>
                </a:solidFill>
                <a:latin typeface="Arial"/>
                <a:ea typeface="Arial"/>
                <a:cs typeface="Arial"/>
              </a:rPr>
              <a:t>QP sets the operating region and influences λ. RDO then compares legal candidates around that operating point.</a:t>
            </a:r>
          </a:p>
        </p:txBody>
      </p:sp>
      <p:sp>
        <p:nvSpPr>
          <p:cNvPr id="22" name="Rectangle 21">
            <a:extLst xmlns:a="http://schemas.openxmlformats.org/drawingml/2006/main">
              <a:ext uri="{FF2B5EF4-FFF2-40B4-BE49-F238E27FC236}">
                <a16:creationId xmlns:a16="http://schemas.microsoft.com/office/drawing/2014/main" id="{424C464B-DE36-40F8-9E3C-B881901EADE6}"/>
              </a:ext>
            </a:extLst>
          </p:cNvPr>
          <p:cNvSpPr>
            <a:spLocks xmlns:a="http://schemas.openxmlformats.org/drawingml/2006/main" noGrp="1"/>
          </p:cNvSpPr>
          <p:nvPr/>
        </p:nvSpPr>
        <p:spPr>
          <a:xfrm xmlns:a="http://schemas.openxmlformats.org/drawingml/2006/main">
            <a:off x="1809750" y="63627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p xmlns:a="http://schemas.openxmlformats.org/drawingml/2006/main">
            <a:pPr>
              <a:buNone/>
              <a:defRPr sz="1125" b="1">
                <a:solidFill>
                  <a:srgbClr val="AFC0D0"/>
                </a:solidFill>
                <a:latin typeface="Arial"/>
                <a:ea typeface="Arial"/>
                <a:cs typeface="Arial"/>
              </a:defRPr>
            </a:pPr>
            <a:r>
              <a:rPr sz="1125" b="1">
                <a:solidFill>
                  <a:srgbClr val="AFC0D0"/>
                </a:solidFill>
                <a:latin typeface="Arial"/>
                <a:ea typeface="Arial"/>
                <a:cs typeface="Arial"/>
              </a:rPr>
              <a:t>Practical encoders use pruning and heuristics, so they seek a strong solution without evaluating every legal combination.</a:t>
            </a:r>
          </a:p>
        </p:txBody>
      </p:sp>
    </p:spTree>
    <p:extLst>
      <p:ext uri="{BB962C8B-B14F-4D97-AF65-F5344CB8AC3E}">
        <p14:creationId xmlns:p14="http://schemas.microsoft.com/office/powerpoint/2010/main" val="1295563378"/>
      </p:ext>
    </p:extLst>
  </p:cSld>
</p:sld>
</file>

<file path=ppt/slides/slide45.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3" name="Oval 42">
            <a:extLst xmlns:a="http://schemas.openxmlformats.org/drawingml/2006/main">
              <a:ext uri="{FF2B5EF4-FFF2-40B4-BE49-F238E27FC236}">
                <a16:creationId xmlns:a16="http://schemas.microsoft.com/office/drawing/2014/main" id="{03E17F75-1E34-4287-A115-B330968B549B}"/>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536F85CE-10D4-457C-AFD9-5E64D4036020}"/>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11B37074-7808-415C-9C71-89DC46A15A02}"/>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How bitrate rate control selects a working QP</a:t>
            </a:r>
          </a:p>
        </p:txBody>
      </p:sp>
      <p:sp>
        <p:nvSpPr>
          <p:cNvPr id="4" name="Straight Connector 3">
            <a:extLst xmlns:a="http://schemas.openxmlformats.org/drawingml/2006/main">
              <a:ext uri="{FF2B5EF4-FFF2-40B4-BE49-F238E27FC236}">
                <a16:creationId xmlns:a16="http://schemas.microsoft.com/office/drawing/2014/main" id="{68FF0126-02C3-4E9E-83DB-0CFC71EF34A8}"/>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47A4FA83-5971-490E-B0FF-873F03181418}"/>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Quantization Parameter (QP) is chosen before encoding, then the model learns from the measured result</a:t>
            </a:r>
          </a:p>
        </p:txBody>
      </p:sp>
      <p:sp>
        <p:nvSpPr>
          <p:cNvPr id="6" name="Rectangle 5">
            <a:extLst xmlns:a="http://schemas.openxmlformats.org/drawingml/2006/main">
              <a:ext uri="{FF2B5EF4-FFF2-40B4-BE49-F238E27FC236}">
                <a16:creationId xmlns:a16="http://schemas.microsoft.com/office/drawing/2014/main" id="{0EF400F4-299F-4802-A738-42AF976081E3}"/>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CBBCA04E-E683-4773-AC03-458225FBC71D}"/>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45 / 49</a:t>
            </a:r>
          </a:p>
        </p:txBody>
      </p:sp>
      <p:sp>
        <p:nvSpPr>
          <p:cNvPr id="8" name="Oval 7">
            <a:extLst xmlns:a="http://schemas.openxmlformats.org/drawingml/2006/main">
              <a:ext uri="{FF2B5EF4-FFF2-40B4-BE49-F238E27FC236}">
                <a16:creationId xmlns:a16="http://schemas.microsoft.com/office/drawing/2014/main" id="{0AC391BC-BCBB-455D-B997-B31E2CBF9E14}"/>
              </a:ext>
            </a:extLst>
          </p:cNvPr>
          <p:cNvSpPr>
            <a:spLocks xmlns:a="http://schemas.openxmlformats.org/drawingml/2006/main" noGrp="1"/>
          </p:cNvSpPr>
          <p:nvPr/>
        </p:nvSpPr>
        <p:spPr>
          <a:xfrm xmlns:a="http://schemas.openxmlformats.org/drawingml/2006/main">
            <a:off x="1047750" y="1571625"/>
            <a:ext cx="571500" cy="571500"/>
          </a:xfrm>
          <a:prstGeom xmlns:a="http://schemas.openxmlformats.org/drawingml/2006/main" prst="ellipse">
            <a:avLst/>
          </a:prstGeom>
          <a:solidFill xmlns:a="http://schemas.openxmlformats.org/drawingml/2006/main">
            <a:srgbClr val="0B2033"/>
          </a:solidFill>
          <a:ln xmlns:a="http://schemas.openxmlformats.org/drawingml/2006/main" w="28575">
            <a:solidFill>
              <a:srgbClr val="22D3EE"/>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2D3EE"/>
                </a:solidFill>
                <a:latin typeface="Arial"/>
                <a:ea typeface="Arial"/>
                <a:cs typeface="Arial"/>
              </a:defRPr>
            </a:pPr>
            <a:r>
              <a:rPr sz="1200" b="1">
                <a:solidFill>
                  <a:srgbClr val="22D3EE"/>
                </a:solidFill>
                <a:latin typeface="Arial"/>
                <a:ea typeface="Arial"/>
                <a:cs typeface="Arial"/>
              </a:rPr>
              <a:t>1</a:t>
            </a:r>
          </a:p>
        </p:txBody>
      </p:sp>
      <p:sp>
        <p:nvSpPr>
          <p:cNvPr id="9" name="Rectangle 8">
            <a:extLst xmlns:a="http://schemas.openxmlformats.org/drawingml/2006/main">
              <a:ext uri="{FF2B5EF4-FFF2-40B4-BE49-F238E27FC236}">
                <a16:creationId xmlns:a16="http://schemas.microsoft.com/office/drawing/2014/main" id="{BCD67344-1DDC-408D-8DF9-F2BAA3D5AB05}"/>
              </a:ext>
            </a:extLst>
          </p:cNvPr>
          <p:cNvSpPr>
            <a:spLocks xmlns:a="http://schemas.openxmlformats.org/drawingml/2006/main" noGrp="1"/>
          </p:cNvSpPr>
          <p:nvPr/>
        </p:nvSpPr>
        <p:spPr>
          <a:xfrm xmlns:a="http://schemas.openxmlformats.org/drawingml/2006/main">
            <a:off x="333375" y="23336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22D3EE"/>
                </a:solidFill>
                <a:latin typeface="Arial"/>
                <a:ea typeface="Arial"/>
                <a:cs typeface="Arial"/>
              </a:defRPr>
            </a:pPr>
            <a:r>
              <a:rPr sz="1275" b="1">
                <a:solidFill>
                  <a:srgbClr val="22D3EE"/>
                </a:solidFill>
                <a:latin typeface="Arial"/>
                <a:ea typeface="Arial"/>
                <a:cs typeface="Arial"/>
              </a:rPr>
              <a:t>SET TARGET</a:t>
            </a:r>
          </a:p>
        </p:txBody>
      </p:sp>
      <p:sp>
        <p:nvSpPr>
          <p:cNvPr id="10" name="Rectangle 9">
            <a:extLst xmlns:a="http://schemas.openxmlformats.org/drawingml/2006/main">
              <a:ext uri="{FF2B5EF4-FFF2-40B4-BE49-F238E27FC236}">
                <a16:creationId xmlns:a16="http://schemas.microsoft.com/office/drawing/2014/main" id="{1E88F741-86B2-48EF-A6FD-1BCFDEF4AA01}"/>
              </a:ext>
            </a:extLst>
          </p:cNvPr>
          <p:cNvSpPr>
            <a:spLocks xmlns:a="http://schemas.openxmlformats.org/drawingml/2006/main" noGrp="1"/>
          </p:cNvSpPr>
          <p:nvPr/>
        </p:nvSpPr>
        <p:spPr>
          <a:xfrm xmlns:a="http://schemas.openxmlformats.org/drawingml/2006/main">
            <a:off x="381000" y="2714625"/>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Bitrate, frame budget, and buffer constraints</a:t>
            </a:r>
          </a:p>
        </p:txBody>
      </p:sp>
      <p:sp>
        <p:nvSpPr>
          <p:cNvPr id="11" name="Rectangle 10">
            <a:extLst xmlns:a="http://schemas.openxmlformats.org/drawingml/2006/main">
              <a:ext uri="{FF2B5EF4-FFF2-40B4-BE49-F238E27FC236}">
                <a16:creationId xmlns:a16="http://schemas.microsoft.com/office/drawing/2014/main" id="{94D86667-91FE-46AE-9DDF-22FF375C5DE1}"/>
              </a:ext>
            </a:extLst>
          </p:cNvPr>
          <p:cNvSpPr>
            <a:spLocks xmlns:a="http://schemas.openxmlformats.org/drawingml/2006/main" noGrp="1"/>
          </p:cNvSpPr>
          <p:nvPr/>
        </p:nvSpPr>
        <p:spPr>
          <a:xfrm xmlns:a="http://schemas.openxmlformats.org/drawingml/2006/main">
            <a:off x="26384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Rectangle 11">
            <a:extLst xmlns:a="http://schemas.openxmlformats.org/drawingml/2006/main">
              <a:ext uri="{FF2B5EF4-FFF2-40B4-BE49-F238E27FC236}">
                <a16:creationId xmlns:a16="http://schemas.microsoft.com/office/drawing/2014/main" id="{F6EBB394-87D7-4101-B37E-F743E3A64E1A}"/>
              </a:ext>
            </a:extLst>
          </p:cNvPr>
          <p:cNvSpPr>
            <a:spLocks xmlns:a="http://schemas.openxmlformats.org/drawingml/2006/main" noGrp="1"/>
          </p:cNvSpPr>
          <p:nvPr/>
        </p:nvSpPr>
        <p:spPr>
          <a:xfrm xmlns:a="http://schemas.openxmlformats.org/drawingml/2006/main">
            <a:off x="23336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86" name="Straight Arrow Connector 54"/>
          <p:cNvCxnSpPr>
            <a:stCxn xmlns:a="http://schemas.openxmlformats.org/drawingml/2006/main" id="11" idx="1"/>
            <a:endCxn xmlns:a="http://schemas.openxmlformats.org/drawingml/2006/main" id="12" idx="3"/>
          </p:cNvCxnSpPr>
          <p:nvPr/>
        </p:nvCxnSpPr>
        <p:spPr>
          <a:xfrm xmlns:a="http://schemas.openxmlformats.org/drawingml/2006/main" flipH="1">
            <a:off x="2352675" y="1914525"/>
            <a:ext cx="2857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4" name="Oval 13">
            <a:extLst xmlns:a="http://schemas.openxmlformats.org/drawingml/2006/main">
              <a:ext uri="{FF2B5EF4-FFF2-40B4-BE49-F238E27FC236}">
                <a16:creationId xmlns:a16="http://schemas.microsoft.com/office/drawing/2014/main" id="{66C1F0D5-FDDF-4591-BDDC-427A5C9E17CE}"/>
              </a:ext>
            </a:extLst>
          </p:cNvPr>
          <p:cNvSpPr>
            <a:spLocks xmlns:a="http://schemas.openxmlformats.org/drawingml/2006/main" noGrp="1"/>
          </p:cNvSpPr>
          <p:nvPr/>
        </p:nvSpPr>
        <p:spPr>
          <a:xfrm xmlns:a="http://schemas.openxmlformats.org/drawingml/2006/main">
            <a:off x="3409950" y="1571625"/>
            <a:ext cx="571500" cy="571500"/>
          </a:xfrm>
          <a:prstGeom xmlns:a="http://schemas.openxmlformats.org/drawingml/2006/main" prst="ellipse">
            <a:avLst/>
          </a:prstGeom>
          <a:solidFill xmlns:a="http://schemas.openxmlformats.org/drawingml/2006/main">
            <a:srgbClr val="0B2033"/>
          </a:solidFill>
          <a:ln xmlns:a="http://schemas.openxmlformats.org/drawingml/2006/main" w="28575">
            <a:solidFill>
              <a:srgbClr val="2E9BFF"/>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2E9BFF"/>
                </a:solidFill>
                <a:latin typeface="Arial"/>
                <a:ea typeface="Arial"/>
                <a:cs typeface="Arial"/>
              </a:defRPr>
            </a:pPr>
            <a:r>
              <a:rPr sz="1200" b="1">
                <a:solidFill>
                  <a:srgbClr val="2E9BFF"/>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A3479E6B-E807-4BB6-BD5F-4433BEA6C576}"/>
              </a:ext>
            </a:extLst>
          </p:cNvPr>
          <p:cNvSpPr>
            <a:spLocks xmlns:a="http://schemas.openxmlformats.org/drawingml/2006/main" noGrp="1"/>
          </p:cNvSpPr>
          <p:nvPr/>
        </p:nvSpPr>
        <p:spPr>
          <a:xfrm xmlns:a="http://schemas.openxmlformats.org/drawingml/2006/main">
            <a:off x="2695575" y="23336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2E9BFF"/>
                </a:solidFill>
                <a:latin typeface="Arial"/>
                <a:ea typeface="Arial"/>
                <a:cs typeface="Arial"/>
              </a:defRPr>
            </a:pPr>
            <a:r>
              <a:rPr sz="1275" b="1">
                <a:solidFill>
                  <a:srgbClr val="2E9BFF"/>
                </a:solidFill>
                <a:latin typeface="Arial"/>
                <a:ea typeface="Arial"/>
                <a:cs typeface="Arial"/>
              </a:rPr>
              <a:t>ESTIMATE</a:t>
            </a:r>
          </a:p>
        </p:txBody>
      </p:sp>
      <p:sp>
        <p:nvSpPr>
          <p:cNvPr id="16" name="Rectangle 15">
            <a:extLst xmlns:a="http://schemas.openxmlformats.org/drawingml/2006/main">
              <a:ext uri="{FF2B5EF4-FFF2-40B4-BE49-F238E27FC236}">
                <a16:creationId xmlns:a16="http://schemas.microsoft.com/office/drawing/2014/main" id="{D7BDE405-7A65-43A5-ADAC-E89B28564764}"/>
              </a:ext>
            </a:extLst>
          </p:cNvPr>
          <p:cNvSpPr>
            <a:spLocks xmlns:a="http://schemas.openxmlformats.org/drawingml/2006/main" noGrp="1"/>
          </p:cNvSpPr>
          <p:nvPr/>
        </p:nvSpPr>
        <p:spPr>
          <a:xfrm xmlns:a="http://schemas.openxmlformats.org/drawingml/2006/main">
            <a:off x="2743200" y="2714625"/>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Use earlier frames, frame complexity, and optional lookahead</a:t>
            </a:r>
          </a:p>
        </p:txBody>
      </p:sp>
      <p:sp>
        <p:nvSpPr>
          <p:cNvPr id="17" name="Rectangle 16">
            <a:extLst xmlns:a="http://schemas.openxmlformats.org/drawingml/2006/main">
              <a:ext uri="{FF2B5EF4-FFF2-40B4-BE49-F238E27FC236}">
                <a16:creationId xmlns:a16="http://schemas.microsoft.com/office/drawing/2014/main" id="{42DC55C2-8A11-425C-AFBC-8EF1BB70424E}"/>
              </a:ext>
            </a:extLst>
          </p:cNvPr>
          <p:cNvSpPr>
            <a:spLocks xmlns:a="http://schemas.openxmlformats.org/drawingml/2006/main" noGrp="1"/>
          </p:cNvSpPr>
          <p:nvPr/>
        </p:nvSpPr>
        <p:spPr>
          <a:xfrm xmlns:a="http://schemas.openxmlformats.org/drawingml/2006/main">
            <a:off x="50006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8" name="Rectangle 17">
            <a:extLst xmlns:a="http://schemas.openxmlformats.org/drawingml/2006/main">
              <a:ext uri="{FF2B5EF4-FFF2-40B4-BE49-F238E27FC236}">
                <a16:creationId xmlns:a16="http://schemas.microsoft.com/office/drawing/2014/main" id="{CC2A0D51-F996-4F49-8CBF-7DB8287E894F}"/>
              </a:ext>
            </a:extLst>
          </p:cNvPr>
          <p:cNvSpPr>
            <a:spLocks xmlns:a="http://schemas.openxmlformats.org/drawingml/2006/main" noGrp="1"/>
          </p:cNvSpPr>
          <p:nvPr/>
        </p:nvSpPr>
        <p:spPr>
          <a:xfrm xmlns:a="http://schemas.openxmlformats.org/drawingml/2006/main">
            <a:off x="46958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2" name="Straight Arrow Connector 60"/>
          <p:cNvCxnSpPr>
            <a:stCxn xmlns:a="http://schemas.openxmlformats.org/drawingml/2006/main" id="17" idx="1"/>
            <a:endCxn xmlns:a="http://schemas.openxmlformats.org/drawingml/2006/main" id="18" idx="3"/>
          </p:cNvCxnSpPr>
          <p:nvPr/>
        </p:nvCxnSpPr>
        <p:spPr>
          <a:xfrm xmlns:a="http://schemas.openxmlformats.org/drawingml/2006/main" flipH="1">
            <a:off x="4714875" y="1914525"/>
            <a:ext cx="2857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0" name="Oval 19">
            <a:extLst xmlns:a="http://schemas.openxmlformats.org/drawingml/2006/main">
              <a:ext uri="{FF2B5EF4-FFF2-40B4-BE49-F238E27FC236}">
                <a16:creationId xmlns:a16="http://schemas.microsoft.com/office/drawing/2014/main" id="{E81E0F0E-3674-4850-A9B2-465C3C9DC30D}"/>
              </a:ext>
            </a:extLst>
          </p:cNvPr>
          <p:cNvSpPr>
            <a:spLocks xmlns:a="http://schemas.openxmlformats.org/drawingml/2006/main" noGrp="1"/>
          </p:cNvSpPr>
          <p:nvPr/>
        </p:nvSpPr>
        <p:spPr>
          <a:xfrm xmlns:a="http://schemas.openxmlformats.org/drawingml/2006/main">
            <a:off x="5772150" y="1571625"/>
            <a:ext cx="571500" cy="57150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B84D"/>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B84D"/>
                </a:solidFill>
                <a:latin typeface="Arial"/>
                <a:ea typeface="Arial"/>
                <a:cs typeface="Arial"/>
              </a:defRPr>
            </a:pPr>
            <a:r>
              <a:rPr sz="1200" b="1">
                <a:solidFill>
                  <a:srgbClr val="FFB84D"/>
                </a:solidFill>
                <a:latin typeface="Arial"/>
                <a:ea typeface="Arial"/>
                <a:cs typeface="Arial"/>
              </a:rPr>
              <a:t>3</a:t>
            </a:r>
          </a:p>
        </p:txBody>
      </p:sp>
      <p:sp>
        <p:nvSpPr>
          <p:cNvPr id="21" name="Rectangle 20">
            <a:extLst xmlns:a="http://schemas.openxmlformats.org/drawingml/2006/main">
              <a:ext uri="{FF2B5EF4-FFF2-40B4-BE49-F238E27FC236}">
                <a16:creationId xmlns:a16="http://schemas.microsoft.com/office/drawing/2014/main" id="{6132388A-06F1-43DB-95E9-9211A45A6FE4}"/>
              </a:ext>
            </a:extLst>
          </p:cNvPr>
          <p:cNvSpPr>
            <a:spLocks xmlns:a="http://schemas.openxmlformats.org/drawingml/2006/main" noGrp="1"/>
          </p:cNvSpPr>
          <p:nvPr/>
        </p:nvSpPr>
        <p:spPr>
          <a:xfrm xmlns:a="http://schemas.openxmlformats.org/drawingml/2006/main">
            <a:off x="5057775" y="23336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FFB84D"/>
                </a:solidFill>
                <a:latin typeface="Arial"/>
                <a:ea typeface="Arial"/>
                <a:cs typeface="Arial"/>
              </a:defRPr>
            </a:pPr>
            <a:r>
              <a:rPr sz="1275" b="1">
                <a:solidFill>
                  <a:srgbClr val="FFB84D"/>
                </a:solidFill>
                <a:latin typeface="Arial"/>
                <a:ea typeface="Arial"/>
                <a:cs typeface="Arial"/>
              </a:rPr>
              <a:t>CHOOSE QP</a:t>
            </a:r>
          </a:p>
        </p:txBody>
      </p:sp>
      <p:sp>
        <p:nvSpPr>
          <p:cNvPr id="22" name="Rectangle 21">
            <a:extLst xmlns:a="http://schemas.openxmlformats.org/drawingml/2006/main">
              <a:ext uri="{FF2B5EF4-FFF2-40B4-BE49-F238E27FC236}">
                <a16:creationId xmlns:a16="http://schemas.microsoft.com/office/drawing/2014/main" id="{B52C57B8-DC69-4897-A37D-9C4795A0DA12}"/>
              </a:ext>
            </a:extLst>
          </p:cNvPr>
          <p:cNvSpPr>
            <a:spLocks xmlns:a="http://schemas.openxmlformats.org/drawingml/2006/main" noGrp="1"/>
          </p:cNvSpPr>
          <p:nvPr/>
        </p:nvSpPr>
        <p:spPr>
          <a:xfrm xmlns:a="http://schemas.openxmlformats.org/drawingml/2006/main">
            <a:off x="5105400" y="2714625"/>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Select a starting QP for the current picture or region</a:t>
            </a:r>
          </a:p>
        </p:txBody>
      </p:sp>
      <p:sp>
        <p:nvSpPr>
          <p:cNvPr id="23" name="Rectangle 22">
            <a:extLst xmlns:a="http://schemas.openxmlformats.org/drawingml/2006/main">
              <a:ext uri="{FF2B5EF4-FFF2-40B4-BE49-F238E27FC236}">
                <a16:creationId xmlns:a16="http://schemas.microsoft.com/office/drawing/2014/main" id="{5049B0CD-6FC8-46A0-997A-4BA96371BF22}"/>
              </a:ext>
            </a:extLst>
          </p:cNvPr>
          <p:cNvSpPr>
            <a:spLocks xmlns:a="http://schemas.openxmlformats.org/drawingml/2006/main" noGrp="1"/>
          </p:cNvSpPr>
          <p:nvPr/>
        </p:nvSpPr>
        <p:spPr>
          <a:xfrm xmlns:a="http://schemas.openxmlformats.org/drawingml/2006/main">
            <a:off x="73628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7F63A5D-5F99-446B-B062-76C7A36E3F4D}"/>
              </a:ext>
            </a:extLst>
          </p:cNvPr>
          <p:cNvSpPr>
            <a:spLocks xmlns:a="http://schemas.openxmlformats.org/drawingml/2006/main" noGrp="1"/>
          </p:cNvSpPr>
          <p:nvPr/>
        </p:nvSpPr>
        <p:spPr>
          <a:xfrm xmlns:a="http://schemas.openxmlformats.org/drawingml/2006/main">
            <a:off x="70580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8" name="Straight Arrow Connector 66"/>
          <p:cNvCxnSpPr>
            <a:stCxn xmlns:a="http://schemas.openxmlformats.org/drawingml/2006/main" id="23" idx="1"/>
            <a:endCxn xmlns:a="http://schemas.openxmlformats.org/drawingml/2006/main" id="24" idx="3"/>
          </p:cNvCxnSpPr>
          <p:nvPr/>
        </p:nvCxnSpPr>
        <p:spPr>
          <a:xfrm xmlns:a="http://schemas.openxmlformats.org/drawingml/2006/main" flipH="1">
            <a:off x="7077075" y="1914525"/>
            <a:ext cx="2857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6" name="Oval 25">
            <a:extLst xmlns:a="http://schemas.openxmlformats.org/drawingml/2006/main">
              <a:ext uri="{FF2B5EF4-FFF2-40B4-BE49-F238E27FC236}">
                <a16:creationId xmlns:a16="http://schemas.microsoft.com/office/drawing/2014/main" id="{50CA53CB-5B08-4066-AD9E-33196CF0831B}"/>
              </a:ext>
            </a:extLst>
          </p:cNvPr>
          <p:cNvSpPr>
            <a:spLocks xmlns:a="http://schemas.openxmlformats.org/drawingml/2006/main" noGrp="1"/>
          </p:cNvSpPr>
          <p:nvPr/>
        </p:nvSpPr>
        <p:spPr>
          <a:xfrm xmlns:a="http://schemas.openxmlformats.org/drawingml/2006/main">
            <a:off x="8134350" y="1571625"/>
            <a:ext cx="571500" cy="571500"/>
          </a:xfrm>
          <a:prstGeom xmlns:a="http://schemas.openxmlformats.org/drawingml/2006/main" prst="ellipse">
            <a:avLst/>
          </a:prstGeom>
          <a:solidFill xmlns:a="http://schemas.openxmlformats.org/drawingml/2006/main">
            <a:srgbClr val="0B2033"/>
          </a:solidFill>
          <a:ln xmlns:a="http://schemas.openxmlformats.org/drawingml/2006/main" w="28575">
            <a:solidFill>
              <a:srgbClr val="47E6A4"/>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47E6A4"/>
                </a:solidFill>
                <a:latin typeface="Arial"/>
                <a:ea typeface="Arial"/>
                <a:cs typeface="Arial"/>
              </a:defRPr>
            </a:pPr>
            <a:r>
              <a:rPr sz="1200" b="1">
                <a:solidFill>
                  <a:srgbClr val="47E6A4"/>
                </a:solidFill>
                <a:latin typeface="Arial"/>
                <a:ea typeface="Arial"/>
                <a:cs typeface="Arial"/>
              </a:rPr>
              <a:t>4</a:t>
            </a:r>
          </a:p>
        </p:txBody>
      </p:sp>
      <p:sp>
        <p:nvSpPr>
          <p:cNvPr id="27" name="Rectangle 26">
            <a:extLst xmlns:a="http://schemas.openxmlformats.org/drawingml/2006/main">
              <a:ext uri="{FF2B5EF4-FFF2-40B4-BE49-F238E27FC236}">
                <a16:creationId xmlns:a16="http://schemas.microsoft.com/office/drawing/2014/main" id="{6E5D5694-A6DD-4E59-941A-E449068145A4}"/>
              </a:ext>
            </a:extLst>
          </p:cNvPr>
          <p:cNvSpPr>
            <a:spLocks xmlns:a="http://schemas.openxmlformats.org/drawingml/2006/main" noGrp="1"/>
          </p:cNvSpPr>
          <p:nvPr/>
        </p:nvSpPr>
        <p:spPr>
          <a:xfrm xmlns:a="http://schemas.openxmlformats.org/drawingml/2006/main">
            <a:off x="7419975" y="23336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47E6A4"/>
                </a:solidFill>
                <a:latin typeface="Arial"/>
                <a:ea typeface="Arial"/>
                <a:cs typeface="Arial"/>
              </a:defRPr>
            </a:pPr>
            <a:r>
              <a:rPr sz="1275" b="1">
                <a:solidFill>
                  <a:srgbClr val="47E6A4"/>
                </a:solidFill>
                <a:latin typeface="Arial"/>
                <a:ea typeface="Arial"/>
                <a:cs typeface="Arial"/>
              </a:rPr>
              <a:t>ENCODE</a:t>
            </a:r>
          </a:p>
        </p:txBody>
      </p:sp>
      <p:sp>
        <p:nvSpPr>
          <p:cNvPr id="28" name="Rectangle 27">
            <a:extLst xmlns:a="http://schemas.openxmlformats.org/drawingml/2006/main">
              <a:ext uri="{FF2B5EF4-FFF2-40B4-BE49-F238E27FC236}">
                <a16:creationId xmlns:a16="http://schemas.microsoft.com/office/drawing/2014/main" id="{BF1184A4-321D-4FC4-91CF-058B0B246DB8}"/>
              </a:ext>
            </a:extLst>
          </p:cNvPr>
          <p:cNvSpPr>
            <a:spLocks xmlns:a="http://schemas.openxmlformats.org/drawingml/2006/main" noGrp="1"/>
          </p:cNvSpPr>
          <p:nvPr/>
        </p:nvSpPr>
        <p:spPr>
          <a:xfrm xmlns:a="http://schemas.openxmlformats.org/drawingml/2006/main">
            <a:off x="7467600" y="2714625"/>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The encoder produces a real number of bits</a:t>
            </a:r>
          </a:p>
        </p:txBody>
      </p:sp>
      <p:sp>
        <p:nvSpPr>
          <p:cNvPr id="29" name="Rectangle 28">
            <a:extLst xmlns:a="http://schemas.openxmlformats.org/drawingml/2006/main">
              <a:ext uri="{FF2B5EF4-FFF2-40B4-BE49-F238E27FC236}">
                <a16:creationId xmlns:a16="http://schemas.microsoft.com/office/drawing/2014/main" id="{B9F793CE-2E94-43A3-B852-EC7DC24BDDF7}"/>
              </a:ext>
            </a:extLst>
          </p:cNvPr>
          <p:cNvSpPr>
            <a:spLocks xmlns:a="http://schemas.openxmlformats.org/drawingml/2006/main" noGrp="1"/>
          </p:cNvSpPr>
          <p:nvPr/>
        </p:nvSpPr>
        <p:spPr>
          <a:xfrm xmlns:a="http://schemas.openxmlformats.org/drawingml/2006/main">
            <a:off x="97250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7D4F892-DD6F-4E7C-B959-27FF7F94DF3E}"/>
              </a:ext>
            </a:extLst>
          </p:cNvPr>
          <p:cNvSpPr>
            <a:spLocks xmlns:a="http://schemas.openxmlformats.org/drawingml/2006/main" noGrp="1"/>
          </p:cNvSpPr>
          <p:nvPr/>
        </p:nvSpPr>
        <p:spPr>
          <a:xfrm xmlns:a="http://schemas.openxmlformats.org/drawingml/2006/main">
            <a:off x="9420225" y="1905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4" name="Straight Arrow Connector 72"/>
          <p:cNvCxnSpPr>
            <a:stCxn xmlns:a="http://schemas.openxmlformats.org/drawingml/2006/main" id="29" idx="1"/>
            <a:endCxn xmlns:a="http://schemas.openxmlformats.org/drawingml/2006/main" id="30" idx="3"/>
          </p:cNvCxnSpPr>
          <p:nvPr/>
        </p:nvCxnSpPr>
        <p:spPr>
          <a:xfrm xmlns:a="http://schemas.openxmlformats.org/drawingml/2006/main" flipH="1">
            <a:off x="9439275" y="1914525"/>
            <a:ext cx="28575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32" name="Oval 31">
            <a:extLst xmlns:a="http://schemas.openxmlformats.org/drawingml/2006/main">
              <a:ext uri="{FF2B5EF4-FFF2-40B4-BE49-F238E27FC236}">
                <a16:creationId xmlns:a16="http://schemas.microsoft.com/office/drawing/2014/main" id="{3AC4AB59-BD6A-48CC-ACE3-96B837207AB6}"/>
              </a:ext>
            </a:extLst>
          </p:cNvPr>
          <p:cNvSpPr>
            <a:spLocks xmlns:a="http://schemas.openxmlformats.org/drawingml/2006/main" noGrp="1"/>
          </p:cNvSpPr>
          <p:nvPr/>
        </p:nvSpPr>
        <p:spPr>
          <a:xfrm xmlns:a="http://schemas.openxmlformats.org/drawingml/2006/main">
            <a:off x="10496550" y="1571625"/>
            <a:ext cx="571500" cy="571500"/>
          </a:xfrm>
          <a:prstGeom xmlns:a="http://schemas.openxmlformats.org/drawingml/2006/main" prst="ellipse">
            <a:avLst/>
          </a:prstGeom>
          <a:solidFill xmlns:a="http://schemas.openxmlformats.org/drawingml/2006/main">
            <a:srgbClr val="0B2033"/>
          </a:solidFill>
          <a:ln xmlns:a="http://schemas.openxmlformats.org/drawingml/2006/main" w="28575">
            <a:solidFill>
              <a:srgbClr val="FF6577"/>
            </a:solid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1200" b="1">
                <a:solidFill>
                  <a:srgbClr val="FF6577"/>
                </a:solidFill>
                <a:latin typeface="Arial"/>
                <a:ea typeface="Arial"/>
                <a:cs typeface="Arial"/>
              </a:defRPr>
            </a:pPr>
            <a:r>
              <a:rPr sz="1200" b="1">
                <a:solidFill>
                  <a:srgbClr val="FF6577"/>
                </a:solidFill>
                <a:latin typeface="Arial"/>
                <a:ea typeface="Arial"/>
                <a:cs typeface="Arial"/>
              </a:rPr>
              <a:t>5</a:t>
            </a:r>
          </a:p>
        </p:txBody>
      </p:sp>
      <p:sp>
        <p:nvSpPr>
          <p:cNvPr id="33" name="Rectangle 32">
            <a:extLst xmlns:a="http://schemas.openxmlformats.org/drawingml/2006/main">
              <a:ext uri="{FF2B5EF4-FFF2-40B4-BE49-F238E27FC236}">
                <a16:creationId xmlns:a16="http://schemas.microsoft.com/office/drawing/2014/main" id="{04116D87-9FDB-44F7-AB6F-5CE95DA0C408}"/>
              </a:ext>
            </a:extLst>
          </p:cNvPr>
          <p:cNvSpPr>
            <a:spLocks xmlns:a="http://schemas.openxmlformats.org/drawingml/2006/main" noGrp="1"/>
          </p:cNvSpPr>
          <p:nvPr/>
        </p:nvSpPr>
        <p:spPr>
          <a:xfrm xmlns:a="http://schemas.openxmlformats.org/drawingml/2006/main">
            <a:off x="9782175" y="23336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p xmlns:a="http://schemas.openxmlformats.org/drawingml/2006/main">
            <a:pPr>
              <a:buNone/>
              <a:defRPr sz="1275" b="1">
                <a:solidFill>
                  <a:srgbClr val="FF6577"/>
                </a:solidFill>
                <a:latin typeface="Arial"/>
                <a:ea typeface="Arial"/>
                <a:cs typeface="Arial"/>
              </a:defRPr>
            </a:pPr>
            <a:r>
              <a:rPr sz="1275" b="1">
                <a:solidFill>
                  <a:srgbClr val="FF6577"/>
                </a:solidFill>
                <a:latin typeface="Arial"/>
                <a:ea typeface="Arial"/>
                <a:cs typeface="Arial"/>
              </a:rPr>
              <a:t>UPDATE</a:t>
            </a:r>
          </a:p>
        </p:txBody>
      </p:sp>
      <p:sp>
        <p:nvSpPr>
          <p:cNvPr id="34" name="Rectangle 33">
            <a:extLst xmlns:a="http://schemas.openxmlformats.org/drawingml/2006/main">
              <a:ext uri="{FF2B5EF4-FFF2-40B4-BE49-F238E27FC236}">
                <a16:creationId xmlns:a16="http://schemas.microsoft.com/office/drawing/2014/main" id="{21D0F63A-1088-4710-8BB0-6F0E6848AC69}"/>
              </a:ext>
            </a:extLst>
          </p:cNvPr>
          <p:cNvSpPr>
            <a:spLocks xmlns:a="http://schemas.openxmlformats.org/drawingml/2006/main" noGrp="1"/>
          </p:cNvSpPr>
          <p:nvPr/>
        </p:nvSpPr>
        <p:spPr>
          <a:xfrm xmlns:a="http://schemas.openxmlformats.org/drawingml/2006/main">
            <a:off x="9829800" y="2714625"/>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Measured bits and distortion refine the model</a:t>
            </a:r>
          </a:p>
        </p:txBody>
      </p:sp>
      <p:sp>
        <p:nvSpPr>
          <p:cNvPr id="35" name="Straight Connector 34">
            <a:extLst xmlns:a="http://schemas.openxmlformats.org/drawingml/2006/main">
              <a:ext uri="{FF2B5EF4-FFF2-40B4-BE49-F238E27FC236}">
                <a16:creationId xmlns:a16="http://schemas.microsoft.com/office/drawing/2014/main" id="{3DB3BA74-28EF-457B-8DDE-17814A04F0EA}"/>
              </a:ext>
            </a:extLst>
          </p:cNvPr>
          <p:cNvSpPr>
            <a:spLocks xmlns:a="http://schemas.openxmlformats.org/drawingml/2006/main" noGrp="1"/>
          </p:cNvSpPr>
          <p:nvPr/>
        </p:nvSpPr>
        <p:spPr>
          <a:xfrm xmlns:a="http://schemas.openxmlformats.org/drawingml/2006/main">
            <a:off x="10763250" y="3905250"/>
            <a:ext cx="9525" cy="619125"/>
          </a:xfrm>
          <a:prstGeom xmlns:a="http://schemas.openxmlformats.org/drawingml/2006/main" prst="line">
            <a:avLst/>
          </a:prstGeom>
          <a:noFill xmlns:a="http://schemas.openxmlformats.org/drawingml/2006/main"/>
          <a:ln xmlns:a="http://schemas.openxmlformats.org/drawingml/2006/main" w="19050">
            <a:solidFill>
              <a:srgbClr val="FF6577"/>
            </a:solidFill>
            <a:prstDash val="solid"/>
          </a:ln>
        </p:spPr>
      </p:sp>
      <p:sp>
        <p:nvSpPr>
          <p:cNvPr id="36" name="Straight Connector 35">
            <a:extLst xmlns:a="http://schemas.openxmlformats.org/drawingml/2006/main">
              <a:ext uri="{FF2B5EF4-FFF2-40B4-BE49-F238E27FC236}">
                <a16:creationId xmlns:a16="http://schemas.microsoft.com/office/drawing/2014/main" id="{C591714F-3E80-4B7A-9753-7E4C511794A5}"/>
              </a:ext>
            </a:extLst>
          </p:cNvPr>
          <p:cNvSpPr>
            <a:spLocks xmlns:a="http://schemas.openxmlformats.org/drawingml/2006/main" noGrp="1"/>
          </p:cNvSpPr>
          <p:nvPr/>
        </p:nvSpPr>
        <p:spPr>
          <a:xfrm xmlns:a="http://schemas.openxmlformats.org/drawingml/2006/main" flipH="1">
            <a:off x="1381125" y="4524375"/>
            <a:ext cx="9382125" cy="9525"/>
          </a:xfrm>
          <a:prstGeom xmlns:a="http://schemas.openxmlformats.org/drawingml/2006/main" prst="line">
            <a:avLst/>
          </a:prstGeom>
          <a:noFill xmlns:a="http://schemas.openxmlformats.org/drawingml/2006/main"/>
          <a:ln xmlns:a="http://schemas.openxmlformats.org/drawingml/2006/main" w="19050">
            <a:solidFill>
              <a:srgbClr val="FF6577"/>
            </a:solidFill>
            <a:prstDash val="solid"/>
          </a:ln>
        </p:spPr>
      </p:sp>
      <p:sp>
        <p:nvSpPr>
          <p:cNvPr id="37" name="Straight Connector 36">
            <a:extLst xmlns:a="http://schemas.openxmlformats.org/drawingml/2006/main">
              <a:ext uri="{FF2B5EF4-FFF2-40B4-BE49-F238E27FC236}">
                <a16:creationId xmlns:a16="http://schemas.microsoft.com/office/drawing/2014/main" id="{6301399D-EFC7-47AC-A8AD-677F256B7EE1}"/>
              </a:ext>
            </a:extLst>
          </p:cNvPr>
          <p:cNvSpPr>
            <a:spLocks xmlns:a="http://schemas.openxmlformats.org/drawingml/2006/main" noGrp="1"/>
          </p:cNvSpPr>
          <p:nvPr/>
        </p:nvSpPr>
        <p:spPr>
          <a:xfrm xmlns:a="http://schemas.openxmlformats.org/drawingml/2006/main" flipV="1">
            <a:off x="1381125" y="3857625"/>
            <a:ext cx="9525" cy="666750"/>
          </a:xfrm>
          <a:prstGeom xmlns:a="http://schemas.openxmlformats.org/drawingml/2006/main" prst="line">
            <a:avLst/>
          </a:prstGeom>
          <a:noFill xmlns:a="http://schemas.openxmlformats.org/drawingml/2006/main"/>
          <a:ln xmlns:a="http://schemas.openxmlformats.org/drawingml/2006/main" w="19050">
            <a:solidFill>
              <a:srgbClr val="FF6577"/>
            </a:solidFill>
            <a:prstDash val="solid"/>
          </a:ln>
        </p:spPr>
      </p:sp>
      <p:sp>
        <p:nvSpPr>
          <p:cNvPr id="38" name="Rectangle: Rounded Corners 37">
            <a:extLst xmlns:a="http://schemas.openxmlformats.org/drawingml/2006/main">
              <a:ext uri="{FF2B5EF4-FFF2-40B4-BE49-F238E27FC236}">
                <a16:creationId xmlns:a16="http://schemas.microsoft.com/office/drawing/2014/main" id="{6DC7FDEC-FC01-4389-9362-B6384CDDEDE9}"/>
              </a:ext>
            </a:extLst>
          </p:cNvPr>
          <p:cNvSpPr>
            <a:spLocks xmlns:a="http://schemas.openxmlformats.org/drawingml/2006/main" noGrp="1"/>
          </p:cNvSpPr>
          <p:nvPr/>
        </p:nvSpPr>
        <p:spPr>
          <a:xfrm xmlns:a="http://schemas.openxmlformats.org/drawingml/2006/main">
            <a:off x="4762500" y="4267200"/>
            <a:ext cx="2667000" cy="495300"/>
          </a:xfrm>
          <a:prstGeom xmlns:a="http://schemas.openxmlformats.org/drawingml/2006/main" prst="roundRect">
            <a:avLst>
              <a:gd name="adj" fmla="val 23077"/>
            </a:avLst>
          </a:prstGeom>
          <a:solidFill xmlns:a="http://schemas.openxmlformats.org/drawingml/2006/main">
            <a:srgbClr val="06131F"/>
          </a:solidFill>
          <a:ln xmlns:a="http://schemas.openxmlformats.org/drawingml/2006/main" w="19050">
            <a:solidFill>
              <a:srgbClr val="FF6577"/>
            </a:solidFill>
            <a:prstDash val="solid"/>
          </a:ln>
        </p:spPr>
      </p:sp>
      <p:sp>
        <p:nvSpPr>
          <p:cNvPr id="39" name="Rectangle 38">
            <a:extLst xmlns:a="http://schemas.openxmlformats.org/drawingml/2006/main">
              <a:ext uri="{FF2B5EF4-FFF2-40B4-BE49-F238E27FC236}">
                <a16:creationId xmlns:a16="http://schemas.microsoft.com/office/drawing/2014/main" id="{03B6EABD-CDA5-478F-91DC-C5E593994CD9}"/>
              </a:ext>
            </a:extLst>
          </p:cNvPr>
          <p:cNvSpPr>
            <a:spLocks xmlns:a="http://schemas.openxmlformats.org/drawingml/2006/main" noGrp="1"/>
          </p:cNvSpPr>
          <p:nvPr/>
        </p:nvSpPr>
        <p:spPr>
          <a:xfrm xmlns:a="http://schemas.openxmlformats.org/drawingml/2006/main">
            <a:off x="4876800" y="43624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FEEDBACK LOOP</a:t>
            </a:r>
          </a:p>
        </p:txBody>
      </p:sp>
      <p:sp>
        <p:nvSpPr>
          <p:cNvPr id="40" name="Rectangle: Rounded Corners 39">
            <a:extLst xmlns:a="http://schemas.openxmlformats.org/drawingml/2006/main">
              <a:ext uri="{FF2B5EF4-FFF2-40B4-BE49-F238E27FC236}">
                <a16:creationId xmlns:a16="http://schemas.microsoft.com/office/drawing/2014/main" id="{B9CC877E-AA34-467E-B0BB-09BA33249956}"/>
              </a:ext>
            </a:extLst>
          </p:cNvPr>
          <p:cNvSpPr>
            <a:spLocks xmlns:a="http://schemas.openxmlformats.org/drawingml/2006/main" noGrp="1"/>
          </p:cNvSpPr>
          <p:nvPr/>
        </p:nvSpPr>
        <p:spPr>
          <a:xfrm xmlns:a="http://schemas.openxmlformats.org/drawingml/2006/main">
            <a:off x="1285875" y="5286375"/>
            <a:ext cx="9620250" cy="723900"/>
          </a:xfrm>
          <a:prstGeom xmlns:a="http://schemas.openxmlformats.org/drawingml/2006/main" prst="roundRect">
            <a:avLst>
              <a:gd name="adj" fmla="val 15789"/>
            </a:avLst>
          </a:prstGeom>
          <a:solidFill xmlns:a="http://schemas.openxmlformats.org/drawingml/2006/main">
            <a:srgbClr val="092034"/>
          </a:solidFill>
          <a:ln xmlns:a="http://schemas.openxmlformats.org/drawingml/2006/main" w="19050">
            <a:solidFill>
              <a:srgbClr val="22D3EE"/>
            </a:solidFill>
            <a:prstDash val="solid"/>
          </a:ln>
        </p:spPr>
      </p:sp>
      <p:sp>
        <p:nvSpPr>
          <p:cNvPr id="41" name="Rectangle 40">
            <a:extLst xmlns:a="http://schemas.openxmlformats.org/drawingml/2006/main">
              <a:ext uri="{FF2B5EF4-FFF2-40B4-BE49-F238E27FC236}">
                <a16:creationId xmlns:a16="http://schemas.microsoft.com/office/drawing/2014/main" id="{8DEEFE9F-CE5B-4020-999C-7BCD82B0A090}"/>
              </a:ext>
            </a:extLst>
          </p:cNvPr>
          <p:cNvSpPr>
            <a:spLocks xmlns:a="http://schemas.openxmlformats.org/drawingml/2006/main" noGrp="1"/>
          </p:cNvSpPr>
          <p:nvPr/>
        </p:nvSpPr>
        <p:spPr>
          <a:xfrm xmlns:a="http://schemas.openxmlformats.org/drawingml/2006/main">
            <a:off x="1400175" y="5381625"/>
            <a:ext cx="9391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The controller predicts first, measures afterward, and corrects the next decision—similar to a thermostat with a content model.</a:t>
            </a:r>
          </a:p>
        </p:txBody>
      </p:sp>
      <p:sp>
        <p:nvSpPr>
          <p:cNvPr id="42" name="Rectangle 41">
            <a:extLst xmlns:a="http://schemas.openxmlformats.org/drawingml/2006/main">
              <a:ext uri="{FF2B5EF4-FFF2-40B4-BE49-F238E27FC236}">
                <a16:creationId xmlns:a16="http://schemas.microsoft.com/office/drawing/2014/main" id="{B9941A0B-D86E-4226-AFC6-F161DEEE62D5}"/>
              </a:ext>
            </a:extLst>
          </p:cNvPr>
          <p:cNvSpPr>
            <a:spLocks xmlns:a="http://schemas.openxmlformats.org/drawingml/2006/main" noGrp="1"/>
          </p:cNvSpPr>
          <p:nvPr/>
        </p:nvSpPr>
        <p:spPr>
          <a:xfrm xmlns:a="http://schemas.openxmlformats.org/drawingml/2006/main">
            <a:off x="1809750" y="62293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buNone/>
              <a:defRPr sz="1050" b="1">
                <a:solidFill>
                  <a:srgbClr val="AFC0D0"/>
                </a:solidFill>
                <a:latin typeface="Arial"/>
                <a:ea typeface="Arial"/>
                <a:cs typeface="Arial"/>
              </a:defRPr>
            </a:pPr>
            <a:r>
              <a:rPr sz="1050" b="1">
                <a:solidFill>
                  <a:srgbClr val="AFC0D0"/>
                </a:solidFill>
                <a:latin typeface="Arial"/>
                <a:ea typeface="Arial"/>
                <a:cs typeface="Arial"/>
              </a:rPr>
              <a:t>HEVC defines how QP affects decoding; the standard does not require one universal encoder rate-control algorithm.</a:t>
            </a:r>
          </a:p>
        </p:txBody>
      </p:sp>
    </p:spTree>
    <p:extLst>
      <p:ext uri="{BB962C8B-B14F-4D97-AF65-F5344CB8AC3E}">
        <p14:creationId xmlns:p14="http://schemas.microsoft.com/office/powerpoint/2010/main" val="1158350114"/>
      </p:ext>
    </p:extLst>
  </p:cSld>
</p:sld>
</file>

<file path=ppt/slides/slide46.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2" name="Oval 11">
            <a:extLst xmlns:a="http://schemas.openxmlformats.org/drawingml/2006/main">
              <a:ext uri="{FF2B5EF4-FFF2-40B4-BE49-F238E27FC236}">
                <a16:creationId xmlns:a16="http://schemas.microsoft.com/office/drawing/2014/main" id="{62B9845C-B897-427C-9ED6-772CDE1B91D1}"/>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CA79C821-990A-4A7C-9381-A986BE6D999F}"/>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0E72F4FF-C7B7-41D6-B4D1-760D9EDD4FB5}"/>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Illustrative rate-control feedback: one frame at a time</a:t>
            </a:r>
          </a:p>
        </p:txBody>
      </p:sp>
      <p:sp>
        <p:nvSpPr>
          <p:cNvPr id="4" name="Straight Connector 3">
            <a:extLst xmlns:a="http://schemas.openxmlformats.org/drawingml/2006/main">
              <a:ext uri="{FF2B5EF4-FFF2-40B4-BE49-F238E27FC236}">
                <a16:creationId xmlns:a16="http://schemas.microsoft.com/office/drawing/2014/main" id="{F319DF0B-92EF-46D5-BE24-BA97AB53C855}"/>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56C5A65C-9BF1-4478-AB57-C42824562156}"/>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Target = 1000 bits per frame; positive running balance means the encoder has overspent overall</a:t>
            </a:r>
          </a:p>
        </p:txBody>
      </p:sp>
      <p:sp>
        <p:nvSpPr>
          <p:cNvPr id="6" name="Rectangle 5">
            <a:extLst xmlns:a="http://schemas.openxmlformats.org/drawingml/2006/main">
              <a:ext uri="{FF2B5EF4-FFF2-40B4-BE49-F238E27FC236}">
                <a16:creationId xmlns:a16="http://schemas.microsoft.com/office/drawing/2014/main" id="{54AD36DE-BC47-4141-881D-4CC568024394}"/>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96494E77-740F-4E19-AD83-9915513355E7}"/>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46 / 49</a:t>
            </a:r>
          </a:p>
        </p:txBody>
      </p:sp>
      <p:graphicFrame>
        <p:nvGraphicFramePr>
          <p:cNvPr id="21" name="Table 18"/>
          <p:cNvGraphicFramePr/>
          <p:nvPr/>
        </p:nvGraphicFramePr>
        <p:xfrm>
          <a:off xmlns:a="http://schemas.openxmlformats.org/drawingml/2006/main" x="571500" y="1571625"/>
          <a:ext xmlns:a="http://schemas.openxmlformats.org/drawingml/2006/main" cx="11049000" cy="3143250"/>
        </p:xfrm>
        <a:graphic xmlns:a="http://schemas.openxmlformats.org/drawingml/2006/main">
          <a:graphicData uri="http://schemas.openxmlformats.org/drawingml/2006/table">
            <a:tbl>
              <a:tblPr/>
              <a:tblGrid>
                <a:gridCol w="1047750"/>
                <a:gridCol w="1333500"/>
                <a:gridCol w="1619250"/>
                <a:gridCol w="2381250"/>
                <a:gridCol w="2571750"/>
                <a:gridCol w="2095500"/>
              </a:tblGrid>
              <a:tr h="628650">
                <a:tc>
                  <a:txBody>
                    <a:bodyPr/>
                    <a:lstStyle/>
                    <a:p>
                      <a:r>
                        <a:rPr sz="1275" b="1">
                          <a:solidFill>
                            <a:srgbClr val="22D3EE"/>
                          </a:solidFill>
                          <a:latin typeface="Arial"/>
                          <a:ea typeface="Arial"/>
                          <a:cs typeface="Arial"/>
                        </a:rPr>
                        <a:t>Frame</a:t>
                      </a:r>
                    </a:p>
                  </a:txBody>
                  <a:tcPr marL="57150" marR="57150" marT="28575" marB="28575" anchor="ctr">
                    <a:solidFill>
                      <a:srgbClr val="102A40"/>
                    </a:solidFill>
                  </a:tcPr>
                </a:tc>
                <a:tc>
                  <a:txBody>
                    <a:bodyPr/>
                    <a:lstStyle/>
                    <a:p>
                      <a:r>
                        <a:rPr sz="1275" b="1">
                          <a:solidFill>
                            <a:srgbClr val="22D3EE"/>
                          </a:solidFill>
                          <a:latin typeface="Arial"/>
                          <a:ea typeface="Arial"/>
                          <a:cs typeface="Arial"/>
                        </a:rPr>
                        <a:t>QP used</a:t>
                      </a:r>
                    </a:p>
                  </a:txBody>
                  <a:tcPr marL="57150" marR="57150" marT="28575" marB="28575" anchor="ctr">
                    <a:solidFill>
                      <a:srgbClr val="102A40"/>
                    </a:solidFill>
                  </a:tcPr>
                </a:tc>
                <a:tc>
                  <a:txBody>
                    <a:bodyPr/>
                    <a:lstStyle/>
                    <a:p>
                      <a:r>
                        <a:rPr sz="1275" b="1">
                          <a:solidFill>
                            <a:srgbClr val="22D3EE"/>
                          </a:solidFill>
                          <a:latin typeface="Arial"/>
                          <a:ea typeface="Arial"/>
                          <a:cs typeface="Arial"/>
                        </a:rPr>
                        <a:t>Actual bits</a:t>
                      </a:r>
                    </a:p>
                  </a:txBody>
                  <a:tcPr marL="57150" marR="57150" marT="28575" marB="28575" anchor="ctr">
                    <a:solidFill>
                      <a:srgbClr val="102A40"/>
                    </a:solidFill>
                  </a:tcPr>
                </a:tc>
                <a:tc>
                  <a:txBody>
                    <a:bodyPr/>
                    <a:lstStyle/>
                    <a:p>
                      <a:r>
                        <a:rPr sz="1275" b="1">
                          <a:solidFill>
                            <a:srgbClr val="22D3EE"/>
                          </a:solidFill>
                          <a:latin typeface="Arial"/>
                          <a:ea typeface="Arial"/>
                          <a:cs typeface="Arial"/>
                        </a:rPr>
                        <a:t>Frame error</a:t>
                      </a:r>
                    </a:p>
                    <a:p>
                      <a:r>
                        <a:rPr sz="1275" b="1">
                          <a:solidFill>
                            <a:srgbClr val="22D3EE"/>
                          </a:solidFill>
                          <a:latin typeface="Arial"/>
                          <a:ea typeface="Arial"/>
                          <a:cs typeface="Arial"/>
                        </a:rPr>
                        <a:t>(actual − 1000)</a:t>
                      </a:r>
                    </a:p>
                  </a:txBody>
                  <a:tcPr marL="57150" marR="57150" marT="28575" marB="28575" anchor="ctr">
                    <a:solidFill>
                      <a:srgbClr val="102A40"/>
                    </a:solidFill>
                  </a:tcPr>
                </a:tc>
                <a:tc>
                  <a:txBody>
                    <a:bodyPr/>
                    <a:lstStyle/>
                    <a:p>
                      <a:r>
                        <a:rPr sz="1275" b="1">
                          <a:solidFill>
                            <a:srgbClr val="22D3EE"/>
                          </a:solidFill>
                          <a:latin typeface="Arial"/>
                          <a:ea typeface="Arial"/>
                          <a:cs typeface="Arial"/>
                        </a:rPr>
                        <a:t>Running balance</a:t>
                      </a:r>
                    </a:p>
                  </a:txBody>
                  <a:tcPr marL="57150" marR="57150" marT="28575" marB="28575" anchor="ctr">
                    <a:solidFill>
                      <a:srgbClr val="102A40"/>
                    </a:solidFill>
                  </a:tcPr>
                </a:tc>
                <a:tc>
                  <a:txBody>
                    <a:bodyPr/>
                    <a:lstStyle/>
                    <a:p>
                      <a:r>
                        <a:rPr sz="1275" b="1">
                          <a:solidFill>
                            <a:srgbClr val="22D3EE"/>
                          </a:solidFill>
                          <a:latin typeface="Arial"/>
                          <a:ea typeface="Arial"/>
                          <a:cs typeface="Arial"/>
                        </a:rPr>
                        <a:t>QP chosen next</a:t>
                      </a:r>
                    </a:p>
                  </a:txBody>
                  <a:tcPr marL="57150" marR="57150" marT="28575" marB="28575" anchor="ctr">
                    <a:solidFill>
                      <a:srgbClr val="102A40"/>
                    </a:solidFill>
                  </a:tcPr>
                </a:tc>
              </a:tr>
              <a:tr h="628650">
                <a:tc>
                  <a:txBody>
                    <a:bodyPr/>
                    <a:lstStyle/>
                    <a:p>
                      <a:r>
                        <a:rPr sz="1275" b="1">
                          <a:solidFill>
                            <a:srgbClr val="FFB84D"/>
                          </a:solidFill>
                          <a:latin typeface="Arial"/>
                          <a:ea typeface="Arial"/>
                          <a:cs typeface="Arial"/>
                        </a:rPr>
                        <a:t>1</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30</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1300</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+300</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0 + 300 = 300</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32</a:t>
                      </a:r>
                    </a:p>
                  </a:txBody>
                  <a:tcPr marL="57150" marR="57150" marT="28575" marB="28575" anchor="ctr">
                    <a:solidFill>
                      <a:srgbClr val="2A1720"/>
                    </a:solidFill>
                  </a:tcPr>
                </a:tc>
              </a:tr>
              <a:tr h="628650">
                <a:tc>
                  <a:txBody>
                    <a:bodyPr/>
                    <a:lstStyle/>
                    <a:p>
                      <a:r>
                        <a:rPr sz="1275">
                          <a:solidFill>
                            <a:srgbClr val="F4F8FC"/>
                          </a:solidFill>
                          <a:latin typeface="Arial"/>
                          <a:ea typeface="Arial"/>
                          <a:cs typeface="Arial"/>
                        </a:rPr>
                        <a:t>2</a:t>
                      </a:r>
                    </a:p>
                  </a:txBody>
                  <a:tcPr marL="57150" marR="57150" marT="28575" marB="28575" anchor="ctr">
                    <a:solidFill>
                      <a:srgbClr val="0B2033"/>
                    </a:solidFill>
                  </a:tcPr>
                </a:tc>
                <a:tc>
                  <a:txBody>
                    <a:bodyPr/>
                    <a:lstStyle/>
                    <a:p>
                      <a:r>
                        <a:rPr sz="1275">
                          <a:solidFill>
                            <a:srgbClr val="F4F8FC"/>
                          </a:solidFill>
                          <a:latin typeface="Arial"/>
                          <a:ea typeface="Arial"/>
                          <a:cs typeface="Arial"/>
                        </a:rPr>
                        <a:t>32</a:t>
                      </a:r>
                    </a:p>
                  </a:txBody>
                  <a:tcPr marL="57150" marR="57150" marT="28575" marB="28575" anchor="ctr">
                    <a:solidFill>
                      <a:srgbClr val="0B2033"/>
                    </a:solidFill>
                  </a:tcPr>
                </a:tc>
                <a:tc>
                  <a:txBody>
                    <a:bodyPr/>
                    <a:lstStyle/>
                    <a:p>
                      <a:r>
                        <a:rPr sz="1275">
                          <a:solidFill>
                            <a:srgbClr val="F4F8FC"/>
                          </a:solidFill>
                          <a:latin typeface="Arial"/>
                          <a:ea typeface="Arial"/>
                          <a:cs typeface="Arial"/>
                        </a:rPr>
                        <a:t>950</a:t>
                      </a:r>
                    </a:p>
                  </a:txBody>
                  <a:tcPr marL="57150" marR="57150" marT="28575" marB="28575" anchor="ctr">
                    <a:solidFill>
                      <a:srgbClr val="0B2033"/>
                    </a:solidFill>
                  </a:tcPr>
                </a:tc>
                <a:tc>
                  <a:txBody>
                    <a:bodyPr/>
                    <a:lstStyle/>
                    <a:p>
                      <a:r>
                        <a:rPr sz="1275">
                          <a:solidFill>
                            <a:srgbClr val="F4F8FC"/>
                          </a:solidFill>
                          <a:latin typeface="Arial"/>
                          <a:ea typeface="Arial"/>
                          <a:cs typeface="Arial"/>
                        </a:rPr>
                        <a:t>−50</a:t>
                      </a:r>
                    </a:p>
                  </a:txBody>
                  <a:tcPr marL="57150" marR="57150" marT="28575" marB="28575" anchor="ctr">
                    <a:solidFill>
                      <a:srgbClr val="0B2033"/>
                    </a:solidFill>
                  </a:tcPr>
                </a:tc>
                <a:tc>
                  <a:txBody>
                    <a:bodyPr/>
                    <a:lstStyle/>
                    <a:p>
                      <a:r>
                        <a:rPr sz="1275">
                          <a:solidFill>
                            <a:srgbClr val="F4F8FC"/>
                          </a:solidFill>
                          <a:latin typeface="Arial"/>
                          <a:ea typeface="Arial"/>
                          <a:cs typeface="Arial"/>
                        </a:rPr>
                        <a:t>300 − 50 = 250</a:t>
                      </a:r>
                    </a:p>
                  </a:txBody>
                  <a:tcPr marL="57150" marR="57150" marT="28575" marB="28575" anchor="ctr">
                    <a:solidFill>
                      <a:srgbClr val="0B2033"/>
                    </a:solidFill>
                  </a:tcPr>
                </a:tc>
                <a:tc>
                  <a:txBody>
                    <a:bodyPr/>
                    <a:lstStyle/>
                    <a:p>
                      <a:r>
                        <a:rPr sz="1275">
                          <a:solidFill>
                            <a:srgbClr val="F4F8FC"/>
                          </a:solidFill>
                          <a:latin typeface="Arial"/>
                          <a:ea typeface="Arial"/>
                          <a:cs typeface="Arial"/>
                        </a:rPr>
                        <a:t>32</a:t>
                      </a:r>
                    </a:p>
                  </a:txBody>
                  <a:tcPr marL="57150" marR="57150" marT="28575" marB="28575" anchor="ctr">
                    <a:solidFill>
                      <a:srgbClr val="0B2033"/>
                    </a:solidFill>
                  </a:tcPr>
                </a:tc>
              </a:tr>
              <a:tr h="628650">
                <a:tc>
                  <a:txBody>
                    <a:bodyPr/>
                    <a:lstStyle/>
                    <a:p>
                      <a:r>
                        <a:rPr sz="1275">
                          <a:solidFill>
                            <a:srgbClr val="F4F8FC"/>
                          </a:solidFill>
                          <a:latin typeface="Arial"/>
                          <a:ea typeface="Arial"/>
                          <a:cs typeface="Arial"/>
                        </a:rPr>
                        <a:t>3</a:t>
                      </a:r>
                    </a:p>
                  </a:txBody>
                  <a:tcPr marL="57150" marR="57150" marT="28575" marB="28575" anchor="ctr">
                    <a:solidFill>
                      <a:srgbClr val="0B2033"/>
                    </a:solidFill>
                  </a:tcPr>
                </a:tc>
                <a:tc>
                  <a:txBody>
                    <a:bodyPr/>
                    <a:lstStyle/>
                    <a:p>
                      <a:r>
                        <a:rPr sz="1275">
                          <a:solidFill>
                            <a:srgbClr val="F4F8FC"/>
                          </a:solidFill>
                          <a:latin typeface="Arial"/>
                          <a:ea typeface="Arial"/>
                          <a:cs typeface="Arial"/>
                        </a:rPr>
                        <a:t>32</a:t>
                      </a:r>
                    </a:p>
                  </a:txBody>
                  <a:tcPr marL="57150" marR="57150" marT="28575" marB="28575" anchor="ctr">
                    <a:solidFill>
                      <a:srgbClr val="0B2033"/>
                    </a:solidFill>
                  </a:tcPr>
                </a:tc>
                <a:tc>
                  <a:txBody>
                    <a:bodyPr/>
                    <a:lstStyle/>
                    <a:p>
                      <a:r>
                        <a:rPr sz="1275">
                          <a:solidFill>
                            <a:srgbClr val="F4F8FC"/>
                          </a:solidFill>
                          <a:latin typeface="Arial"/>
                          <a:ea typeface="Arial"/>
                          <a:cs typeface="Arial"/>
                        </a:rPr>
                        <a:t>1100</a:t>
                      </a:r>
                    </a:p>
                  </a:txBody>
                  <a:tcPr marL="57150" marR="57150" marT="28575" marB="28575" anchor="ctr">
                    <a:solidFill>
                      <a:srgbClr val="0B2033"/>
                    </a:solidFill>
                  </a:tcPr>
                </a:tc>
                <a:tc>
                  <a:txBody>
                    <a:bodyPr/>
                    <a:lstStyle/>
                    <a:p>
                      <a:r>
                        <a:rPr sz="1275">
                          <a:solidFill>
                            <a:srgbClr val="F4F8FC"/>
                          </a:solidFill>
                          <a:latin typeface="Arial"/>
                          <a:ea typeface="Arial"/>
                          <a:cs typeface="Arial"/>
                        </a:rPr>
                        <a:t>+100</a:t>
                      </a:r>
                    </a:p>
                  </a:txBody>
                  <a:tcPr marL="57150" marR="57150" marT="28575" marB="28575" anchor="ctr">
                    <a:solidFill>
                      <a:srgbClr val="0B2033"/>
                    </a:solidFill>
                  </a:tcPr>
                </a:tc>
                <a:tc>
                  <a:txBody>
                    <a:bodyPr/>
                    <a:lstStyle/>
                    <a:p>
                      <a:r>
                        <a:rPr sz="1275">
                          <a:solidFill>
                            <a:srgbClr val="F4F8FC"/>
                          </a:solidFill>
                          <a:latin typeface="Arial"/>
                          <a:ea typeface="Arial"/>
                          <a:cs typeface="Arial"/>
                        </a:rPr>
                        <a:t>250 + 100 = 350</a:t>
                      </a:r>
                    </a:p>
                  </a:txBody>
                  <a:tcPr marL="57150" marR="57150" marT="28575" marB="28575" anchor="ctr">
                    <a:solidFill>
                      <a:srgbClr val="0B2033"/>
                    </a:solidFill>
                  </a:tcPr>
                </a:tc>
                <a:tc>
                  <a:txBody>
                    <a:bodyPr/>
                    <a:lstStyle/>
                    <a:p>
                      <a:r>
                        <a:rPr sz="1275">
                          <a:solidFill>
                            <a:srgbClr val="F4F8FC"/>
                          </a:solidFill>
                          <a:latin typeface="Arial"/>
                          <a:ea typeface="Arial"/>
                          <a:cs typeface="Arial"/>
                        </a:rPr>
                        <a:t>33</a:t>
                      </a:r>
                    </a:p>
                  </a:txBody>
                  <a:tcPr marL="57150" marR="57150" marT="28575" marB="28575" anchor="ctr">
                    <a:solidFill>
                      <a:srgbClr val="0B2033"/>
                    </a:solidFill>
                  </a:tcPr>
                </a:tc>
              </a:tr>
              <a:tr h="628650">
                <a:tc>
                  <a:txBody>
                    <a:bodyPr/>
                    <a:lstStyle/>
                    <a:p>
                      <a:r>
                        <a:rPr sz="1275" b="1">
                          <a:solidFill>
                            <a:srgbClr val="FFB84D"/>
                          </a:solidFill>
                          <a:latin typeface="Arial"/>
                          <a:ea typeface="Arial"/>
                          <a:cs typeface="Arial"/>
                        </a:rPr>
                        <a:t>4</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33</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850</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−150</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350 − 150 = 200</a:t>
                      </a:r>
                    </a:p>
                  </a:txBody>
                  <a:tcPr marL="57150" marR="57150" marT="28575" marB="28575" anchor="ctr">
                    <a:solidFill>
                      <a:srgbClr val="2A1720"/>
                    </a:solidFill>
                  </a:tcPr>
                </a:tc>
                <a:tc>
                  <a:txBody>
                    <a:bodyPr/>
                    <a:lstStyle/>
                    <a:p>
                      <a:r>
                        <a:rPr sz="1275" b="1">
                          <a:solidFill>
                            <a:srgbClr val="FFB84D"/>
                          </a:solidFill>
                          <a:latin typeface="Arial"/>
                          <a:ea typeface="Arial"/>
                          <a:cs typeface="Arial"/>
                        </a:rPr>
                        <a:t>32</a:t>
                      </a:r>
                    </a:p>
                  </a:txBody>
                  <a:tcPr marL="57150" marR="57150" marT="28575" marB="28575" anchor="ctr">
                    <a:solidFill>
                      <a:srgbClr val="2A1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F7B11889-9464-416C-9EE3-C26073302E77}"/>
              </a:ext>
            </a:extLst>
          </p:cNvPr>
          <p:cNvSpPr>
            <a:spLocks xmlns:a="http://schemas.openxmlformats.org/drawingml/2006/main" noGrp="1"/>
          </p:cNvSpPr>
          <p:nvPr/>
        </p:nvSpPr>
        <p:spPr>
          <a:xfrm xmlns:a="http://schemas.openxmlformats.org/drawingml/2006/main">
            <a:off x="1095375" y="5095875"/>
            <a:ext cx="10001250" cy="742950"/>
          </a:xfrm>
          <a:prstGeom xmlns:a="http://schemas.openxmlformats.org/drawingml/2006/main" prst="roundRect">
            <a:avLst>
              <a:gd name="adj" fmla="val 15385"/>
            </a:avLst>
          </a:prstGeom>
          <a:solidFill xmlns:a="http://schemas.openxmlformats.org/drawingml/2006/main">
            <a:srgbClr val="0A2830"/>
          </a:solidFill>
          <a:ln xmlns:a="http://schemas.openxmlformats.org/drawingml/2006/main" w="19050">
            <a:solidFill>
              <a:srgbClr val="47E6A4"/>
            </a:solidFill>
            <a:prstDash val="solid"/>
          </a:ln>
        </p:spPr>
      </p:sp>
      <p:sp>
        <p:nvSpPr>
          <p:cNvPr id="10" name="Rectangle 9">
            <a:extLst xmlns:a="http://schemas.openxmlformats.org/drawingml/2006/main">
              <a:ext uri="{FF2B5EF4-FFF2-40B4-BE49-F238E27FC236}">
                <a16:creationId xmlns:a16="http://schemas.microsoft.com/office/drawing/2014/main" id="{9F0723F5-0D97-4380-93C4-55DA0CC320E1}"/>
              </a:ext>
            </a:extLst>
          </p:cNvPr>
          <p:cNvSpPr>
            <a:spLocks xmlns:a="http://schemas.openxmlformats.org/drawingml/2006/main" noGrp="1"/>
          </p:cNvSpPr>
          <p:nvPr/>
        </p:nvSpPr>
        <p:spPr>
          <a:xfrm xmlns:a="http://schemas.openxmlformats.org/drawingml/2006/main">
            <a:off x="1209675" y="5191125"/>
            <a:ext cx="977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CAUSE → EFFECT: overspend raises pressure for a coarser QP; underspend reduces that pressure. The next QP also depends on content and controller policy.</a:t>
            </a:r>
          </a:p>
        </p:txBody>
      </p:sp>
      <p:sp>
        <p:nvSpPr>
          <p:cNvPr id="11" name="Rectangle 10">
            <a:extLst xmlns:a="http://schemas.openxmlformats.org/drawingml/2006/main">
              <a:ext uri="{FF2B5EF4-FFF2-40B4-BE49-F238E27FC236}">
                <a16:creationId xmlns:a16="http://schemas.microsoft.com/office/drawing/2014/main" id="{C5CBFC63-F4E6-4867-BCA8-3422B2E77B29}"/>
              </a:ext>
            </a:extLst>
          </p:cNvPr>
          <p:cNvSpPr>
            <a:spLocks xmlns:a="http://schemas.openxmlformats.org/drawingml/2006/main" noGrp="1"/>
          </p:cNvSpPr>
          <p:nvPr/>
        </p:nvSpPr>
        <p:spPr>
          <a:xfrm xmlns:a="http://schemas.openxmlformats.org/drawingml/2006/main">
            <a:off x="1190625" y="6143625"/>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418"/>
          </a:bodyPr>
          <a:lstStyle xmlns:a="http://schemas.openxmlformats.org/drawingml/2006/main"/>
          <a:p xmlns:a="http://schemas.openxmlformats.org/drawingml/2006/main">
            <a:pPr>
              <a:buNone/>
              <a:defRPr sz="1050" b="1">
                <a:solidFill>
                  <a:srgbClr val="FFB84D"/>
                </a:solidFill>
                <a:latin typeface="Arial"/>
                <a:ea typeface="Arial"/>
                <a:cs typeface="Arial"/>
              </a:defRPr>
            </a:pPr>
            <a:r>
              <a:rPr sz="1050" b="1">
                <a:solidFill>
                  <a:srgbClr val="FFB84D"/>
                </a:solidFill>
                <a:latin typeface="Arial"/>
                <a:ea typeface="Arial"/>
                <a:cs typeface="Arial"/>
              </a:rPr>
              <a:t>This is a deliberately simple teaching controller—not the normative HEVC algorithm and not a promise that every QP change produces the shown bit count.</a:t>
            </a:r>
          </a:p>
        </p:txBody>
      </p:sp>
    </p:spTree>
    <p:extLst>
      <p:ext uri="{BB962C8B-B14F-4D97-AF65-F5344CB8AC3E}">
        <p14:creationId xmlns:p14="http://schemas.microsoft.com/office/powerpoint/2010/main" val="1792384708"/>
      </p:ext>
    </p:extLst>
  </p:cSld>
</p:sld>
</file>

<file path=ppt/slides/slide47.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2" name="Oval 31">
            <a:extLst xmlns:a="http://schemas.openxmlformats.org/drawingml/2006/main">
              <a:ext uri="{FF2B5EF4-FFF2-40B4-BE49-F238E27FC236}">
                <a16:creationId xmlns:a16="http://schemas.microsoft.com/office/drawing/2014/main" id="{A0120C98-FF68-4C72-8152-5AAED4612C8C}"/>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42F6AB65-7E27-482D-9E72-432618E37C89}"/>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763A0D7A-E3F4-47DE-9D59-C581450E7888}"/>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325" b="1">
                <a:solidFill>
                  <a:srgbClr val="F4F8FC"/>
                </a:solidFill>
                <a:latin typeface="Arial"/>
                <a:ea typeface="Arial"/>
                <a:cs typeface="Arial"/>
              </a:defRPr>
            </a:pPr>
            <a:r>
              <a:rPr sz="2325" b="1">
                <a:solidFill>
                  <a:srgbClr val="F4F8FC"/>
                </a:solidFill>
                <a:latin typeface="Arial"/>
                <a:ea typeface="Arial"/>
                <a:cs typeface="Arial"/>
              </a:rPr>
              <a:t>Continue the feedback example: what happens at frame 5?</a:t>
            </a:r>
          </a:p>
        </p:txBody>
      </p:sp>
      <p:sp>
        <p:nvSpPr>
          <p:cNvPr id="4" name="Straight Connector 3">
            <a:extLst xmlns:a="http://schemas.openxmlformats.org/drawingml/2006/main">
              <a:ext uri="{FF2B5EF4-FFF2-40B4-BE49-F238E27FC236}">
                <a16:creationId xmlns:a16="http://schemas.microsoft.com/office/drawing/2014/main" id="{FD9D6FEA-606A-4948-9388-472E8D6DBAAD}"/>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E811E9ED-DFDA-41F1-A080-5500F531D967}"/>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The arithmetic is definite; the next control action requires a stated policy</a:t>
            </a:r>
          </a:p>
        </p:txBody>
      </p:sp>
      <p:sp>
        <p:nvSpPr>
          <p:cNvPr id="6" name="Rectangle 5">
            <a:extLst xmlns:a="http://schemas.openxmlformats.org/drawingml/2006/main">
              <a:ext uri="{FF2B5EF4-FFF2-40B4-BE49-F238E27FC236}">
                <a16:creationId xmlns:a16="http://schemas.microsoft.com/office/drawing/2014/main" id="{E2392F02-B144-4C3A-8E01-86FD4D353775}"/>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732E4D22-B48B-4C4B-AD6B-9A222D6A6943}"/>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47 / 49</a:t>
            </a:r>
          </a:p>
        </p:txBody>
      </p:sp>
      <p:sp>
        <p:nvSpPr>
          <p:cNvPr id="8" name="Rectangle 7">
            <a:extLst xmlns:a="http://schemas.openxmlformats.org/drawingml/2006/main">
              <a:ext uri="{FF2B5EF4-FFF2-40B4-BE49-F238E27FC236}">
                <a16:creationId xmlns:a16="http://schemas.microsoft.com/office/drawing/2014/main" id="{48C2E41A-B527-4444-9218-171B3DA4EB98}"/>
              </a:ext>
            </a:extLst>
          </p:cNvPr>
          <p:cNvSpPr>
            <a:spLocks xmlns:a="http://schemas.openxmlformats.org/drawingml/2006/main" noGrp="1"/>
          </p:cNvSpPr>
          <p:nvPr/>
        </p:nvSpPr>
        <p:spPr>
          <a:xfrm xmlns:a="http://schemas.openxmlformats.org/drawingml/2006/main">
            <a:off x="857250" y="14763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22D3EE"/>
                </a:solidFill>
                <a:latin typeface="Arial"/>
                <a:ea typeface="Arial"/>
                <a:cs typeface="Arial"/>
              </a:defRPr>
            </a:pPr>
            <a:r>
              <a:rPr sz="1425" b="1">
                <a:solidFill>
                  <a:srgbClr val="22D3EE"/>
                </a:solidFill>
                <a:latin typeface="Arial"/>
                <a:ea typeface="Arial"/>
                <a:cs typeface="Arial"/>
              </a:rPr>
              <a:t>FRAME 5 INPUT</a:t>
            </a:r>
          </a:p>
        </p:txBody>
      </p:sp>
      <p:sp>
        <p:nvSpPr>
          <p:cNvPr id="9" name="Rectangle: Rounded Corners 8">
            <a:extLst xmlns:a="http://schemas.openxmlformats.org/drawingml/2006/main">
              <a:ext uri="{FF2B5EF4-FFF2-40B4-BE49-F238E27FC236}">
                <a16:creationId xmlns:a16="http://schemas.microsoft.com/office/drawing/2014/main" id="{C6E356DD-769C-47F3-B6F3-1A1E8CDC3791}"/>
              </a:ext>
            </a:extLst>
          </p:cNvPr>
          <p:cNvSpPr>
            <a:spLocks xmlns:a="http://schemas.openxmlformats.org/drawingml/2006/main" noGrp="1"/>
          </p:cNvSpPr>
          <p:nvPr/>
        </p:nvSpPr>
        <p:spPr>
          <a:xfrm xmlns:a="http://schemas.openxmlformats.org/drawingml/2006/main">
            <a:off x="762000" y="1952625"/>
            <a:ext cx="2571750" cy="1028700"/>
          </a:xfrm>
          <a:prstGeom xmlns:a="http://schemas.openxmlformats.org/drawingml/2006/main" prst="roundRect">
            <a:avLst>
              <a:gd name="adj" fmla="val 11111"/>
            </a:avLst>
          </a:prstGeom>
          <a:solidFill xmlns:a="http://schemas.openxmlformats.org/drawingml/2006/main">
            <a:srgbClr val="0B2033"/>
          </a:solidFill>
          <a:ln xmlns:a="http://schemas.openxmlformats.org/drawingml/2006/main" w="19050">
            <a:solidFill>
              <a:srgbClr val="22D3EE"/>
            </a:solidFill>
            <a:prstDash val="solid"/>
          </a:ln>
        </p:spPr>
      </p:sp>
      <p:sp>
        <p:nvSpPr>
          <p:cNvPr id="10" name="Rectangle 9">
            <a:extLst xmlns:a="http://schemas.openxmlformats.org/drawingml/2006/main">
              <a:ext uri="{FF2B5EF4-FFF2-40B4-BE49-F238E27FC236}">
                <a16:creationId xmlns:a16="http://schemas.microsoft.com/office/drawing/2014/main" id="{2FFC5226-14E0-41F8-96D5-B77A9D6009F7}"/>
              </a:ext>
            </a:extLst>
          </p:cNvPr>
          <p:cNvSpPr>
            <a:spLocks xmlns:a="http://schemas.openxmlformats.org/drawingml/2006/main" noGrp="1"/>
          </p:cNvSpPr>
          <p:nvPr/>
        </p:nvSpPr>
        <p:spPr>
          <a:xfrm xmlns:a="http://schemas.openxmlformats.org/drawingml/2006/main">
            <a:off x="876300" y="2047875"/>
            <a:ext cx="23431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QP used = 32</a:t>
            </a:r>
          </a:p>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Actual bits = 1050</a:t>
            </a:r>
          </a:p>
        </p:txBody>
      </p:sp>
      <p:sp>
        <p:nvSpPr>
          <p:cNvPr id="11" name="Rectangle 10">
            <a:extLst xmlns:a="http://schemas.openxmlformats.org/drawingml/2006/main">
              <a:ext uri="{FF2B5EF4-FFF2-40B4-BE49-F238E27FC236}">
                <a16:creationId xmlns:a16="http://schemas.microsoft.com/office/drawing/2014/main" id="{0CC214BD-BC4B-4192-815D-8B75279A7AAA}"/>
              </a:ext>
            </a:extLst>
          </p:cNvPr>
          <p:cNvSpPr>
            <a:spLocks xmlns:a="http://schemas.openxmlformats.org/drawingml/2006/main" noGrp="1"/>
          </p:cNvSpPr>
          <p:nvPr/>
        </p:nvSpPr>
        <p:spPr>
          <a:xfrm xmlns:a="http://schemas.openxmlformats.org/drawingml/2006/main">
            <a:off x="4524375" y="24384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Rectangle 11">
            <a:extLst xmlns:a="http://schemas.openxmlformats.org/drawingml/2006/main">
              <a:ext uri="{FF2B5EF4-FFF2-40B4-BE49-F238E27FC236}">
                <a16:creationId xmlns:a16="http://schemas.microsoft.com/office/drawing/2014/main" id="{0550823D-476A-4DD4-AAF0-66170BB2D0BE}"/>
              </a:ext>
            </a:extLst>
          </p:cNvPr>
          <p:cNvSpPr>
            <a:spLocks xmlns:a="http://schemas.openxmlformats.org/drawingml/2006/main" noGrp="1"/>
          </p:cNvSpPr>
          <p:nvPr/>
        </p:nvSpPr>
        <p:spPr>
          <a:xfrm xmlns:a="http://schemas.openxmlformats.org/drawingml/2006/main">
            <a:off x="3667125" y="24384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3" name="Straight Arrow Connector 43"/>
          <p:cNvCxnSpPr>
            <a:stCxn xmlns:a="http://schemas.openxmlformats.org/drawingml/2006/main" id="11" idx="1"/>
            <a:endCxn xmlns:a="http://schemas.openxmlformats.org/drawingml/2006/main" id="12" idx="3"/>
          </p:cNvCxnSpPr>
          <p:nvPr/>
        </p:nvCxnSpPr>
        <p:spPr>
          <a:xfrm xmlns:a="http://schemas.openxmlformats.org/drawingml/2006/main" flipH="1">
            <a:off x="3686175" y="2447925"/>
            <a:ext cx="8382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14" name="Rectangle 13">
            <a:extLst xmlns:a="http://schemas.openxmlformats.org/drawingml/2006/main">
              <a:ext uri="{FF2B5EF4-FFF2-40B4-BE49-F238E27FC236}">
                <a16:creationId xmlns:a16="http://schemas.microsoft.com/office/drawing/2014/main" id="{917CB818-AE80-429C-A658-FA0F651B9A3C}"/>
              </a:ext>
            </a:extLst>
          </p:cNvPr>
          <p:cNvSpPr>
            <a:spLocks xmlns:a="http://schemas.openxmlformats.org/drawingml/2006/main" noGrp="1"/>
          </p:cNvSpPr>
          <p:nvPr/>
        </p:nvSpPr>
        <p:spPr>
          <a:xfrm xmlns:a="http://schemas.openxmlformats.org/drawingml/2006/main">
            <a:off x="4762500" y="14763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FFB84D"/>
                </a:solidFill>
                <a:latin typeface="Arial"/>
                <a:ea typeface="Arial"/>
                <a:cs typeface="Arial"/>
              </a:defRPr>
            </a:pPr>
            <a:r>
              <a:rPr sz="1425" b="1">
                <a:solidFill>
                  <a:srgbClr val="FFB84D"/>
                </a:solidFill>
                <a:latin typeface="Arial"/>
                <a:ea typeface="Arial"/>
                <a:cs typeface="Arial"/>
              </a:rPr>
              <a:t>UPDATE</a:t>
            </a:r>
          </a:p>
        </p:txBody>
      </p:sp>
      <p:sp>
        <p:nvSpPr>
          <p:cNvPr id="15" name="Rectangle: Rounded Corners 14">
            <a:extLst xmlns:a="http://schemas.openxmlformats.org/drawingml/2006/main">
              <a:ext uri="{FF2B5EF4-FFF2-40B4-BE49-F238E27FC236}">
                <a16:creationId xmlns:a16="http://schemas.microsoft.com/office/drawing/2014/main" id="{38D4D758-78D2-467C-BAE1-28087C4BC24A}"/>
              </a:ext>
            </a:extLst>
          </p:cNvPr>
          <p:cNvSpPr>
            <a:spLocks xmlns:a="http://schemas.openxmlformats.org/drawingml/2006/main" noGrp="1"/>
          </p:cNvSpPr>
          <p:nvPr/>
        </p:nvSpPr>
        <p:spPr>
          <a:xfrm xmlns:a="http://schemas.openxmlformats.org/drawingml/2006/main">
            <a:off x="4667250" y="1952625"/>
            <a:ext cx="2571750" cy="1028700"/>
          </a:xfrm>
          <a:prstGeom xmlns:a="http://schemas.openxmlformats.org/drawingml/2006/main" prst="roundRect">
            <a:avLst>
              <a:gd name="adj" fmla="val 11111"/>
            </a:avLst>
          </a:prstGeom>
          <a:solidFill xmlns:a="http://schemas.openxmlformats.org/drawingml/2006/main">
            <a:srgbClr val="0B2033"/>
          </a:solidFill>
          <a:ln xmlns:a="http://schemas.openxmlformats.org/drawingml/2006/main" w="19050">
            <a:solidFill>
              <a:srgbClr val="FFB84D"/>
            </a:solidFill>
            <a:prstDash val="solid"/>
          </a:ln>
        </p:spPr>
      </p:sp>
      <p:sp>
        <p:nvSpPr>
          <p:cNvPr id="16" name="Rectangle 15">
            <a:extLst xmlns:a="http://schemas.openxmlformats.org/drawingml/2006/main">
              <a:ext uri="{FF2B5EF4-FFF2-40B4-BE49-F238E27FC236}">
                <a16:creationId xmlns:a16="http://schemas.microsoft.com/office/drawing/2014/main" id="{B38BAE09-F706-48BC-B56C-C2D4F98B1185}"/>
              </a:ext>
            </a:extLst>
          </p:cNvPr>
          <p:cNvSpPr>
            <a:spLocks xmlns:a="http://schemas.openxmlformats.org/drawingml/2006/main" noGrp="1"/>
          </p:cNvSpPr>
          <p:nvPr/>
        </p:nvSpPr>
        <p:spPr>
          <a:xfrm xmlns:a="http://schemas.openxmlformats.org/drawingml/2006/main">
            <a:off x="4781550" y="2047875"/>
            <a:ext cx="23431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Frame error</a:t>
            </a:r>
          </a:p>
          <a:p xmlns:a="http://schemas.openxmlformats.org/drawingml/2006/main">
            <a:pPr>
              <a:buNone/>
              <a:defRPr sz="1575" b="1">
                <a:solidFill>
                  <a:srgbClr val="F4F8FC"/>
                </a:solidFill>
                <a:latin typeface="Arial"/>
                <a:ea typeface="Arial"/>
                <a:cs typeface="Arial"/>
              </a:defRPr>
            </a:pPr>
            <a:r>
              <a:rPr sz="1575" b="1">
                <a:solidFill>
                  <a:srgbClr val="F4F8FC"/>
                </a:solidFill>
                <a:latin typeface="Arial"/>
                <a:ea typeface="Arial"/>
                <a:cs typeface="Arial"/>
              </a:rPr>
              <a:t>1050 − 1000 = +50</a:t>
            </a:r>
          </a:p>
        </p:txBody>
      </p:sp>
      <p:sp>
        <p:nvSpPr>
          <p:cNvPr id="17" name="Rectangle 16">
            <a:extLst xmlns:a="http://schemas.openxmlformats.org/drawingml/2006/main">
              <a:ext uri="{FF2B5EF4-FFF2-40B4-BE49-F238E27FC236}">
                <a16:creationId xmlns:a16="http://schemas.microsoft.com/office/drawing/2014/main" id="{DF28049E-65A3-4F06-AABB-BDF5F0F7AB06}"/>
              </a:ext>
            </a:extLst>
          </p:cNvPr>
          <p:cNvSpPr>
            <a:spLocks xmlns:a="http://schemas.openxmlformats.org/drawingml/2006/main" noGrp="1"/>
          </p:cNvSpPr>
          <p:nvPr/>
        </p:nvSpPr>
        <p:spPr>
          <a:xfrm xmlns:a="http://schemas.openxmlformats.org/drawingml/2006/main">
            <a:off x="8429625" y="24384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8" name="Rectangle 17">
            <a:extLst xmlns:a="http://schemas.openxmlformats.org/drawingml/2006/main">
              <a:ext uri="{FF2B5EF4-FFF2-40B4-BE49-F238E27FC236}">
                <a16:creationId xmlns:a16="http://schemas.microsoft.com/office/drawing/2014/main" id="{E6C6EB08-548C-4862-93BC-E3A5B16F794B}"/>
              </a:ext>
            </a:extLst>
          </p:cNvPr>
          <p:cNvSpPr>
            <a:spLocks xmlns:a="http://schemas.openxmlformats.org/drawingml/2006/main" noGrp="1"/>
          </p:cNvSpPr>
          <p:nvPr/>
        </p:nvSpPr>
        <p:spPr>
          <a:xfrm xmlns:a="http://schemas.openxmlformats.org/drawingml/2006/main">
            <a:off x="7572375" y="24384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9" name="Straight Arrow Connector 49"/>
          <p:cNvCxnSpPr>
            <a:stCxn xmlns:a="http://schemas.openxmlformats.org/drawingml/2006/main" id="17" idx="1"/>
            <a:endCxn xmlns:a="http://schemas.openxmlformats.org/drawingml/2006/main" id="18" idx="3"/>
          </p:cNvCxnSpPr>
          <p:nvPr/>
        </p:nvCxnSpPr>
        <p:spPr>
          <a:xfrm xmlns:a="http://schemas.openxmlformats.org/drawingml/2006/main" flipH="1">
            <a:off x="7591425" y="2447925"/>
            <a:ext cx="8382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sp>
        <p:nvSpPr>
          <p:cNvPr id="20" name="Rectangle 19">
            <a:extLst xmlns:a="http://schemas.openxmlformats.org/drawingml/2006/main">
              <a:ext uri="{FF2B5EF4-FFF2-40B4-BE49-F238E27FC236}">
                <a16:creationId xmlns:a16="http://schemas.microsoft.com/office/drawing/2014/main" id="{6894578A-AB01-4E13-B008-E6742873EF5D}"/>
              </a:ext>
            </a:extLst>
          </p:cNvPr>
          <p:cNvSpPr>
            <a:spLocks xmlns:a="http://schemas.openxmlformats.org/drawingml/2006/main" noGrp="1"/>
          </p:cNvSpPr>
          <p:nvPr/>
        </p:nvSpPr>
        <p:spPr>
          <a:xfrm xmlns:a="http://schemas.openxmlformats.org/drawingml/2006/main">
            <a:off x="8667750" y="14763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47E6A4"/>
                </a:solidFill>
                <a:latin typeface="Arial"/>
                <a:ea typeface="Arial"/>
                <a:cs typeface="Arial"/>
              </a:defRPr>
            </a:pPr>
            <a:r>
              <a:rPr sz="1425" b="1">
                <a:solidFill>
                  <a:srgbClr val="47E6A4"/>
                </a:solidFill>
                <a:latin typeface="Arial"/>
                <a:ea typeface="Arial"/>
                <a:cs typeface="Arial"/>
              </a:rPr>
              <a:t>NEW BALANCE</a:t>
            </a:r>
          </a:p>
        </p:txBody>
      </p:sp>
      <p:sp>
        <p:nvSpPr>
          <p:cNvPr id="21" name="Rectangle: Rounded Corners 20">
            <a:extLst xmlns:a="http://schemas.openxmlformats.org/drawingml/2006/main">
              <a:ext uri="{FF2B5EF4-FFF2-40B4-BE49-F238E27FC236}">
                <a16:creationId xmlns:a16="http://schemas.microsoft.com/office/drawing/2014/main" id="{B3940D87-793D-4F36-8BAA-4F10C561DDEA}"/>
              </a:ext>
            </a:extLst>
          </p:cNvPr>
          <p:cNvSpPr>
            <a:spLocks xmlns:a="http://schemas.openxmlformats.org/drawingml/2006/main" noGrp="1"/>
          </p:cNvSpPr>
          <p:nvPr/>
        </p:nvSpPr>
        <p:spPr>
          <a:xfrm xmlns:a="http://schemas.openxmlformats.org/drawingml/2006/main">
            <a:off x="8572500" y="1952625"/>
            <a:ext cx="2762250" cy="1028700"/>
          </a:xfrm>
          <a:prstGeom xmlns:a="http://schemas.openxmlformats.org/drawingml/2006/main" prst="roundRect">
            <a:avLst>
              <a:gd name="adj" fmla="val 11111"/>
            </a:avLst>
          </a:prstGeom>
          <a:solidFill xmlns:a="http://schemas.openxmlformats.org/drawingml/2006/main">
            <a:srgbClr val="0B2033"/>
          </a:solidFill>
          <a:ln xmlns:a="http://schemas.openxmlformats.org/drawingml/2006/main" w="19050">
            <a:solidFill>
              <a:srgbClr val="47E6A4"/>
            </a:solidFill>
            <a:prstDash val="solid"/>
          </a:ln>
        </p:spPr>
      </p:sp>
      <p:sp>
        <p:nvSpPr>
          <p:cNvPr id="22" name="Rectangle 21">
            <a:extLst xmlns:a="http://schemas.openxmlformats.org/drawingml/2006/main">
              <a:ext uri="{FF2B5EF4-FFF2-40B4-BE49-F238E27FC236}">
                <a16:creationId xmlns:a16="http://schemas.microsoft.com/office/drawing/2014/main" id="{C11AD908-59B0-4CDC-AF2C-8A0C311C5B77}"/>
              </a:ext>
            </a:extLst>
          </p:cNvPr>
          <p:cNvSpPr>
            <a:spLocks xmlns:a="http://schemas.openxmlformats.org/drawingml/2006/main" noGrp="1"/>
          </p:cNvSpPr>
          <p:nvPr/>
        </p:nvSpPr>
        <p:spPr>
          <a:xfrm xmlns:a="http://schemas.openxmlformats.org/drawingml/2006/main">
            <a:off x="8686800" y="2047875"/>
            <a:ext cx="2533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200 + 50</a:t>
            </a:r>
          </a:p>
          <a:p xmlns:a="http://schemas.openxmlformats.org/drawingml/2006/main">
            <a:pPr>
              <a:buNone/>
              <a:defRPr sz="1650" b="1">
                <a:solidFill>
                  <a:srgbClr val="F4F8FC"/>
                </a:solidFill>
                <a:latin typeface="Arial"/>
                <a:ea typeface="Arial"/>
                <a:cs typeface="Arial"/>
              </a:defRPr>
            </a:pPr>
            <a:r>
              <a:rPr sz="1650" b="1">
                <a:solidFill>
                  <a:srgbClr val="F4F8FC"/>
                </a:solidFill>
                <a:latin typeface="Arial"/>
                <a:ea typeface="Arial"/>
                <a:cs typeface="Arial"/>
              </a:rPr>
              <a:t>= 250 bits over</a:t>
            </a:r>
          </a:p>
        </p:txBody>
      </p:sp>
      <p:sp>
        <p:nvSpPr>
          <p:cNvPr id="23" name="Rectangle 22">
            <a:extLst xmlns:a="http://schemas.openxmlformats.org/drawingml/2006/main">
              <a:ext uri="{FF2B5EF4-FFF2-40B4-BE49-F238E27FC236}">
                <a16:creationId xmlns:a16="http://schemas.microsoft.com/office/drawing/2014/main" id="{0719378E-1806-4183-8352-9B2C97E11A04}"/>
              </a:ext>
            </a:extLst>
          </p:cNvPr>
          <p:cNvSpPr>
            <a:spLocks xmlns:a="http://schemas.openxmlformats.org/drawingml/2006/main" noGrp="1"/>
          </p:cNvSpPr>
          <p:nvPr/>
        </p:nvSpPr>
        <p:spPr>
          <a:xfrm xmlns:a="http://schemas.openxmlformats.org/drawingml/2006/main">
            <a:off x="1476375" y="3857625"/>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667"/>
          </a:bodyPr>
          <a:lstStyle xmlns:a="http://schemas.openxmlformats.org/drawingml/2006/main"/>
          <a:p xmlns:a="http://schemas.openxmlformats.org/drawingml/2006/main">
            <a:pPr>
              <a:buNone/>
              <a:defRPr sz="1875" b="1">
                <a:solidFill>
                  <a:srgbClr val="F4F8FC"/>
                </a:solidFill>
                <a:latin typeface="Arial"/>
                <a:ea typeface="Arial"/>
                <a:cs typeface="Arial"/>
              </a:defRPr>
            </a:pPr>
            <a:r>
              <a:rPr sz="1875" b="1">
                <a:solidFill>
                  <a:srgbClr val="F4F8FC"/>
                </a:solidFill>
                <a:latin typeface="Arial"/>
                <a:ea typeface="Arial"/>
                <a:cs typeface="Arial"/>
              </a:rPr>
              <a:t>WHAT QP SHOULD FRAME 6 USE?</a:t>
            </a:r>
          </a:p>
        </p:txBody>
      </p:sp>
      <p:sp>
        <p:nvSpPr>
          <p:cNvPr id="24" name="Rectangle: Rounded Corners 23">
            <a:extLst xmlns:a="http://schemas.openxmlformats.org/drawingml/2006/main">
              <a:ext uri="{FF2B5EF4-FFF2-40B4-BE49-F238E27FC236}">
                <a16:creationId xmlns:a16="http://schemas.microsoft.com/office/drawing/2014/main" id="{2A195339-3140-4AAC-80D7-964E7DB2F2C4}"/>
              </a:ext>
            </a:extLst>
          </p:cNvPr>
          <p:cNvSpPr>
            <a:spLocks xmlns:a="http://schemas.openxmlformats.org/drawingml/2006/main" noGrp="1"/>
          </p:cNvSpPr>
          <p:nvPr/>
        </p:nvSpPr>
        <p:spPr>
          <a:xfrm xmlns:a="http://schemas.openxmlformats.org/drawingml/2006/main">
            <a:off x="809625" y="4524375"/>
            <a:ext cx="3143250" cy="895350"/>
          </a:xfrm>
          <a:prstGeom xmlns:a="http://schemas.openxmlformats.org/drawingml/2006/main" prst="roundRect">
            <a:avLst>
              <a:gd name="adj" fmla="val 12766"/>
            </a:avLst>
          </a:prstGeom>
          <a:solidFill xmlns:a="http://schemas.openxmlformats.org/drawingml/2006/main">
            <a:srgbClr val="0B2033"/>
          </a:solidFill>
          <a:ln xmlns:a="http://schemas.openxmlformats.org/drawingml/2006/main" w="19050">
            <a:solidFill>
              <a:srgbClr val="FF6577"/>
            </a:solidFill>
            <a:prstDash val="solid"/>
          </a:ln>
        </p:spPr>
      </p:sp>
      <p:sp>
        <p:nvSpPr>
          <p:cNvPr id="25" name="Rectangle 24">
            <a:extLst xmlns:a="http://schemas.openxmlformats.org/drawingml/2006/main">
              <a:ext uri="{FF2B5EF4-FFF2-40B4-BE49-F238E27FC236}">
                <a16:creationId xmlns:a16="http://schemas.microsoft.com/office/drawing/2014/main" id="{675F5675-882F-4C40-9180-F2D3EE0E6EAE}"/>
              </a:ext>
            </a:extLst>
          </p:cNvPr>
          <p:cNvSpPr>
            <a:spLocks xmlns:a="http://schemas.openxmlformats.org/drawingml/2006/main" noGrp="1"/>
          </p:cNvSpPr>
          <p:nvPr/>
        </p:nvSpPr>
        <p:spPr>
          <a:xfrm xmlns:a="http://schemas.openxmlformats.org/drawingml/2006/main">
            <a:off x="923925" y="4619625"/>
            <a:ext cx="2914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RAISE</a:t>
            </a:r>
          </a:p>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if the controller reacts strongly to any positive overspend</a:t>
            </a:r>
          </a:p>
        </p:txBody>
      </p:sp>
      <p:sp>
        <p:nvSpPr>
          <p:cNvPr id="26" name="Rectangle: Rounded Corners 25">
            <a:extLst xmlns:a="http://schemas.openxmlformats.org/drawingml/2006/main">
              <a:ext uri="{FF2B5EF4-FFF2-40B4-BE49-F238E27FC236}">
                <a16:creationId xmlns:a16="http://schemas.microsoft.com/office/drawing/2014/main" id="{D9ACDDA7-D4B7-42BD-9763-E39B814BCB57}"/>
              </a:ext>
            </a:extLst>
          </p:cNvPr>
          <p:cNvSpPr>
            <a:spLocks xmlns:a="http://schemas.openxmlformats.org/drawingml/2006/main" noGrp="1"/>
          </p:cNvSpPr>
          <p:nvPr/>
        </p:nvSpPr>
        <p:spPr>
          <a:xfrm xmlns:a="http://schemas.openxmlformats.org/drawingml/2006/main">
            <a:off x="4524375" y="4524375"/>
            <a:ext cx="3143250" cy="895350"/>
          </a:xfrm>
          <a:prstGeom xmlns:a="http://schemas.openxmlformats.org/drawingml/2006/main" prst="roundRect">
            <a:avLst>
              <a:gd name="adj" fmla="val 12766"/>
            </a:avLst>
          </a:prstGeom>
          <a:solidFill xmlns:a="http://schemas.openxmlformats.org/drawingml/2006/main">
            <a:srgbClr val="0B2033"/>
          </a:solidFill>
          <a:ln xmlns:a="http://schemas.openxmlformats.org/drawingml/2006/main" w="19050">
            <a:solidFill>
              <a:srgbClr val="47E6A4"/>
            </a:solidFill>
            <a:prstDash val="solid"/>
          </a:ln>
        </p:spPr>
      </p:sp>
      <p:sp>
        <p:nvSpPr>
          <p:cNvPr id="27" name="Rectangle 26">
            <a:extLst xmlns:a="http://schemas.openxmlformats.org/drawingml/2006/main">
              <a:ext uri="{FF2B5EF4-FFF2-40B4-BE49-F238E27FC236}">
                <a16:creationId xmlns:a16="http://schemas.microsoft.com/office/drawing/2014/main" id="{09A453B8-F61B-424F-B4DE-A031A4B6FCCF}"/>
              </a:ext>
            </a:extLst>
          </p:cNvPr>
          <p:cNvSpPr>
            <a:spLocks xmlns:a="http://schemas.openxmlformats.org/drawingml/2006/main" noGrp="1"/>
          </p:cNvSpPr>
          <p:nvPr/>
        </p:nvSpPr>
        <p:spPr>
          <a:xfrm xmlns:a="http://schemas.openxmlformats.org/drawingml/2006/main">
            <a:off x="4638675" y="4619625"/>
            <a:ext cx="2914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HOLD</a:t>
            </a:r>
          </a:p>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if 250 bits lies inside its tolerance band</a:t>
            </a:r>
          </a:p>
        </p:txBody>
      </p:sp>
      <p:sp>
        <p:nvSpPr>
          <p:cNvPr id="28" name="Rectangle: Rounded Corners 27">
            <a:extLst xmlns:a="http://schemas.openxmlformats.org/drawingml/2006/main">
              <a:ext uri="{FF2B5EF4-FFF2-40B4-BE49-F238E27FC236}">
                <a16:creationId xmlns:a16="http://schemas.microsoft.com/office/drawing/2014/main" id="{36F67701-E646-47E6-8719-8C345A8C3F9F}"/>
              </a:ext>
            </a:extLst>
          </p:cNvPr>
          <p:cNvSpPr>
            <a:spLocks xmlns:a="http://schemas.openxmlformats.org/drawingml/2006/main" noGrp="1"/>
          </p:cNvSpPr>
          <p:nvPr/>
        </p:nvSpPr>
        <p:spPr>
          <a:xfrm xmlns:a="http://schemas.openxmlformats.org/drawingml/2006/main">
            <a:off x="8239125" y="4524375"/>
            <a:ext cx="3143250" cy="895350"/>
          </a:xfrm>
          <a:prstGeom xmlns:a="http://schemas.openxmlformats.org/drawingml/2006/main" prst="roundRect">
            <a:avLst>
              <a:gd name="adj" fmla="val 12766"/>
            </a:avLst>
          </a:prstGeom>
          <a:solidFill xmlns:a="http://schemas.openxmlformats.org/drawingml/2006/main">
            <a:srgbClr val="0B2033"/>
          </a:solidFill>
          <a:ln xmlns:a="http://schemas.openxmlformats.org/drawingml/2006/main" w="19050">
            <a:solidFill>
              <a:srgbClr val="2E9BFF"/>
            </a:solidFill>
            <a:prstDash val="solid"/>
          </a:ln>
        </p:spPr>
      </p:sp>
      <p:sp>
        <p:nvSpPr>
          <p:cNvPr id="29" name="Rectangle 28">
            <a:extLst xmlns:a="http://schemas.openxmlformats.org/drawingml/2006/main">
              <a:ext uri="{FF2B5EF4-FFF2-40B4-BE49-F238E27FC236}">
                <a16:creationId xmlns:a16="http://schemas.microsoft.com/office/drawing/2014/main" id="{12D61701-7055-46C1-88F3-D20358A54287}"/>
              </a:ext>
            </a:extLst>
          </p:cNvPr>
          <p:cNvSpPr>
            <a:spLocks xmlns:a="http://schemas.openxmlformats.org/drawingml/2006/main" noGrp="1"/>
          </p:cNvSpPr>
          <p:nvPr/>
        </p:nvSpPr>
        <p:spPr>
          <a:xfrm xmlns:a="http://schemas.openxmlformats.org/drawingml/2006/main">
            <a:off x="8353425" y="4619625"/>
            <a:ext cx="2914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LOWER</a:t>
            </a:r>
          </a:p>
          <a:p xmlns:a="http://schemas.openxmlformats.org/drawingml/2006/main">
            <a:pPr>
              <a:buNone/>
              <a:defRPr sz="1200" b="1">
                <a:solidFill>
                  <a:srgbClr val="F4F8FC"/>
                </a:solidFill>
                <a:latin typeface="Arial"/>
                <a:ea typeface="Arial"/>
                <a:cs typeface="Arial"/>
              </a:defRPr>
            </a:pPr>
            <a:r>
              <a:rPr sz="1200" b="1">
                <a:solidFill>
                  <a:srgbClr val="F4F8FC"/>
                </a:solidFill>
                <a:latin typeface="Arial"/>
                <a:ea typeface="Arial"/>
                <a:cs typeface="Arial"/>
              </a:rPr>
              <a:t>only if complexity prediction or another constraint justifies it</a:t>
            </a:r>
          </a:p>
        </p:txBody>
      </p:sp>
      <p:sp>
        <p:nvSpPr>
          <p:cNvPr id="30" name="Rectangle: Rounded Corners 29">
            <a:extLst xmlns:a="http://schemas.openxmlformats.org/drawingml/2006/main">
              <a:ext uri="{FF2B5EF4-FFF2-40B4-BE49-F238E27FC236}">
                <a16:creationId xmlns:a16="http://schemas.microsoft.com/office/drawing/2014/main" id="{A1A8A9A8-2F8B-4E42-A904-C78EBC618AAC}"/>
              </a:ext>
            </a:extLst>
          </p:cNvPr>
          <p:cNvSpPr>
            <a:spLocks xmlns:a="http://schemas.openxmlformats.org/drawingml/2006/main" noGrp="1"/>
          </p:cNvSpPr>
          <p:nvPr/>
        </p:nvSpPr>
        <p:spPr>
          <a:xfrm xmlns:a="http://schemas.openxmlformats.org/drawingml/2006/main">
            <a:off x="1381125" y="5810250"/>
            <a:ext cx="9429750" cy="590550"/>
          </a:xfrm>
          <a:prstGeom xmlns:a="http://schemas.openxmlformats.org/drawingml/2006/main" prst="roundRect">
            <a:avLst>
              <a:gd name="adj" fmla="val 19355"/>
            </a:avLst>
          </a:prstGeom>
          <a:solidFill xmlns:a="http://schemas.openxmlformats.org/drawingml/2006/main">
            <a:srgbClr val="132536"/>
          </a:solidFill>
          <a:ln xmlns:a="http://schemas.openxmlformats.org/drawingml/2006/main" w="19050">
            <a:solidFill>
              <a:srgbClr val="FFB84D"/>
            </a:solidFill>
            <a:prstDash val="solid"/>
          </a:ln>
        </p:spPr>
      </p:sp>
      <p:sp>
        <p:nvSpPr>
          <p:cNvPr id="31" name="Rectangle 30">
            <a:extLst xmlns:a="http://schemas.openxmlformats.org/drawingml/2006/main">
              <a:ext uri="{FF2B5EF4-FFF2-40B4-BE49-F238E27FC236}">
                <a16:creationId xmlns:a16="http://schemas.microsoft.com/office/drawing/2014/main" id="{0DFD331B-4D7A-451C-9F4A-A758D6E1879B}"/>
              </a:ext>
            </a:extLst>
          </p:cNvPr>
          <p:cNvSpPr>
            <a:spLocks xmlns:a="http://schemas.openxmlformats.org/drawingml/2006/main" noGrp="1"/>
          </p:cNvSpPr>
          <p:nvPr/>
        </p:nvSpPr>
        <p:spPr>
          <a:xfrm xmlns:a="http://schemas.openxmlformats.org/drawingml/2006/main">
            <a:off x="1495425" y="5905500"/>
            <a:ext cx="920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097"/>
          </a:bodyPr>
          <a:lstStyle xmlns:a="http://schemas.openxmlformats.org/drawingml/2006/main"/>
          <a:p xmlns:a="http://schemas.openxmlformats.org/drawingml/2006/main">
            <a:pPr>
              <a:buNone/>
              <a:defRPr sz="1350" b="1">
                <a:solidFill>
                  <a:srgbClr val="F4F8FC"/>
                </a:solidFill>
                <a:latin typeface="Arial"/>
                <a:ea typeface="Arial"/>
                <a:cs typeface="Arial"/>
              </a:defRPr>
            </a:pPr>
            <a:r>
              <a:rPr sz="1350" b="1">
                <a:solidFill>
                  <a:srgbClr val="F4F8FC"/>
                </a:solidFill>
                <a:latin typeface="Arial"/>
                <a:ea typeface="Arial"/>
                <a:cs typeface="Arial"/>
              </a:rPr>
              <a:t>Answer for the arithmetic: +50 this frame and +250 overall. A unique next QP cannot be inferred until the controller rule is specified.</a:t>
            </a:r>
          </a:p>
        </p:txBody>
      </p:sp>
    </p:spTree>
    <p:extLst>
      <p:ext uri="{BB962C8B-B14F-4D97-AF65-F5344CB8AC3E}">
        <p14:creationId xmlns:p14="http://schemas.microsoft.com/office/powerpoint/2010/main" val="1437255924"/>
      </p:ext>
    </p:extLst>
  </p:cSld>
</p:sld>
</file>

<file path=ppt/slides/slide48.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8" name="Oval 47">
            <a:extLst xmlns:a="http://schemas.openxmlformats.org/drawingml/2006/main">
              <a:ext uri="{FF2B5EF4-FFF2-40B4-BE49-F238E27FC236}">
                <a16:creationId xmlns:a16="http://schemas.microsoft.com/office/drawing/2014/main" id="{D1606932-6275-46DD-B627-FE4D67044BBC}"/>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F69376C0-D219-46E9-8AE2-9981AB12ACB5}"/>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DD33908D-F366-4BEE-B078-8603687228BF}"/>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175" b="1">
                <a:solidFill>
                  <a:srgbClr val="F4F8FC"/>
                </a:solidFill>
                <a:latin typeface="Arial"/>
                <a:ea typeface="Arial"/>
                <a:cs typeface="Arial"/>
              </a:defRPr>
            </a:pPr>
            <a:r>
              <a:rPr sz="2175" b="1">
                <a:solidFill>
                  <a:srgbClr val="F4F8FC"/>
                </a:solidFill>
                <a:latin typeface="Arial"/>
                <a:ea typeface="Arial"/>
                <a:cs typeface="Arial"/>
              </a:rPr>
              <a:t>Block X's journey through the High Efficiency Video Coding (HEVC) encoder</a:t>
            </a:r>
          </a:p>
        </p:txBody>
      </p:sp>
      <p:sp>
        <p:nvSpPr>
          <p:cNvPr id="4" name="Straight Connector 3">
            <a:extLst xmlns:a="http://schemas.openxmlformats.org/drawingml/2006/main">
              <a:ext uri="{FF2B5EF4-FFF2-40B4-BE49-F238E27FC236}">
                <a16:creationId xmlns:a16="http://schemas.microsoft.com/office/drawing/2014/main" id="{7BADDDC4-5499-4A3C-A050-C7D4BDA894C4}"/>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B621971E-277A-4DB0-AA8E-3465026A8379}"/>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6" name="Rectangle 5">
            <a:extLst xmlns:a="http://schemas.openxmlformats.org/drawingml/2006/main">
              <a:ext uri="{FF2B5EF4-FFF2-40B4-BE49-F238E27FC236}">
                <a16:creationId xmlns:a16="http://schemas.microsoft.com/office/drawing/2014/main" id="{9561B708-0A97-4564-B33D-E8E7ECD5F15C}"/>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48 / 49</a:t>
            </a:r>
          </a:p>
        </p:txBody>
      </p:sp>
      <p:pic>
        <p:nvPicPr>
          <p:cNvPr id="96" name="Picture 53"/>
          <p:cNvPicPr>
            <a:picLocks xmlns:a="http://schemas.openxmlformats.org/drawingml/2006/main" noChangeAspect="1"/>
          </p:cNvPicPr>
          <p:nvPr/>
        </p:nvPicPr>
        <p:blipFill>
          <a:blip xmlns:r="http://schemas.openxmlformats.org/officeDocument/2006/relationships" xmlns:a="http://schemas.openxmlformats.org/drawingml/2006/main" r:embed="R36c7aae8965b4e13"/>
          <a:srcRect xmlns:a="http://schemas.openxmlformats.org/drawingml/2006/main" l="0" t="10714" r="0" b="10714"/>
          <a:stretch xmlns:a="http://schemas.openxmlformats.org/drawingml/2006/main">
            <a:fillRect l="0" t="0" r="0" b="0"/>
          </a:stretch>
        </p:blipFill>
        <p:spPr>
          <a:xfrm xmlns:a="http://schemas.openxmlformats.org/drawingml/2006/main">
            <a:off x="333375" y="1524000"/>
            <a:ext cx="2000250" cy="1571625"/>
          </a:xfrm>
          <a:prstGeom xmlns:a="http://schemas.openxmlformats.org/drawingml/2006/main" prst="roundRect">
            <a:avLst>
              <a:gd name="adj" fmla="val 7273"/>
            </a:avLst>
          </a:prstGeom>
        </p:spPr>
      </p:pic>
      <p:sp>
        <p:nvSpPr>
          <p:cNvPr id="8" name="Rectangle 7">
            <a:extLst xmlns:a="http://schemas.openxmlformats.org/drawingml/2006/main">
              <a:ext uri="{FF2B5EF4-FFF2-40B4-BE49-F238E27FC236}">
                <a16:creationId xmlns:a16="http://schemas.microsoft.com/office/drawing/2014/main" id="{AE586624-5FEE-4FB1-AEB5-A88B9B32FBCD}"/>
              </a:ext>
            </a:extLst>
          </p:cNvPr>
          <p:cNvSpPr>
            <a:spLocks xmlns:a="http://schemas.openxmlformats.org/drawingml/2006/main" noGrp="1"/>
          </p:cNvSpPr>
          <p:nvPr/>
        </p:nvSpPr>
        <p:spPr>
          <a:xfrm xmlns:a="http://schemas.openxmlformats.org/drawingml/2006/main">
            <a:off x="333375" y="1524000"/>
            <a:ext cx="2000250" cy="1571625"/>
          </a:xfrm>
          <a:prstGeom xmlns:a="http://schemas.openxmlformats.org/drawingml/2006/main" prst="rect">
            <a:avLst/>
          </a:prstGeom>
          <a:noFill xmlns:a="http://schemas.openxmlformats.org/drawingml/2006/main"/>
          <a:ln xmlns:a="http://schemas.openxmlformats.org/drawingml/2006/main" w="28575">
            <a:solidFill>
              <a:srgbClr val="22D3EE"/>
            </a:solidFill>
            <a:prstDash val="solid"/>
          </a:ln>
        </p:spPr>
      </p:sp>
      <p:sp>
        <p:nvSpPr>
          <p:cNvPr id="9" name="Straight Connector 8">
            <a:extLst xmlns:a="http://schemas.openxmlformats.org/drawingml/2006/main">
              <a:ext uri="{FF2B5EF4-FFF2-40B4-BE49-F238E27FC236}">
                <a16:creationId xmlns:a16="http://schemas.microsoft.com/office/drawing/2014/main" id="{0E761335-AE94-47CB-AF0D-BCD46C065A63}"/>
              </a:ext>
            </a:extLst>
          </p:cNvPr>
          <p:cNvSpPr>
            <a:spLocks xmlns:a="http://schemas.openxmlformats.org/drawingml/2006/main" noGrp="1"/>
          </p:cNvSpPr>
          <p:nvPr/>
        </p:nvSpPr>
        <p:spPr>
          <a:xfrm xmlns:a="http://schemas.openxmlformats.org/drawingml/2006/main">
            <a:off x="1333500" y="1524000"/>
            <a:ext cx="9525" cy="1571625"/>
          </a:xfrm>
          <a:prstGeom xmlns:a="http://schemas.openxmlformats.org/drawingml/2006/main" prst="line">
            <a:avLst/>
          </a:prstGeom>
          <a:noFill xmlns:a="http://schemas.openxmlformats.org/drawingml/2006/main"/>
          <a:ln xmlns:a="http://schemas.openxmlformats.org/drawingml/2006/main" w="19050">
            <a:solidFill>
              <a:srgbClr val="2E9BFF"/>
            </a:solidFill>
            <a:prstDash val="solid"/>
          </a:ln>
        </p:spPr>
      </p:sp>
      <p:sp>
        <p:nvSpPr>
          <p:cNvPr id="10" name="Straight Connector 9">
            <a:extLst xmlns:a="http://schemas.openxmlformats.org/drawingml/2006/main">
              <a:ext uri="{FF2B5EF4-FFF2-40B4-BE49-F238E27FC236}">
                <a16:creationId xmlns:a16="http://schemas.microsoft.com/office/drawing/2014/main" id="{F93CBA1F-FD42-44F2-B089-CD7A5285FA4B}"/>
              </a:ext>
            </a:extLst>
          </p:cNvPr>
          <p:cNvSpPr>
            <a:spLocks xmlns:a="http://schemas.openxmlformats.org/drawingml/2006/main" noGrp="1"/>
          </p:cNvSpPr>
          <p:nvPr/>
        </p:nvSpPr>
        <p:spPr>
          <a:xfrm xmlns:a="http://schemas.openxmlformats.org/drawingml/2006/main">
            <a:off x="333375" y="2309813"/>
            <a:ext cx="2000250" cy="9525"/>
          </a:xfrm>
          <a:prstGeom xmlns:a="http://schemas.openxmlformats.org/drawingml/2006/main" prst="line">
            <a:avLst/>
          </a:prstGeom>
          <a:noFill xmlns:a="http://schemas.openxmlformats.org/drawingml/2006/main"/>
          <a:ln xmlns:a="http://schemas.openxmlformats.org/drawingml/2006/main" w="19050">
            <a:solidFill>
              <a:srgbClr val="2E9BFF"/>
            </a:solidFill>
            <a:prstDash val="solid"/>
          </a:ln>
        </p:spPr>
      </p:sp>
      <p:sp>
        <p:nvSpPr>
          <p:cNvPr id="11" name="Rectangle 10">
            <a:extLst xmlns:a="http://schemas.openxmlformats.org/drawingml/2006/main">
              <a:ext uri="{FF2B5EF4-FFF2-40B4-BE49-F238E27FC236}">
                <a16:creationId xmlns:a16="http://schemas.microsoft.com/office/drawing/2014/main" id="{8D525608-4941-4564-8211-933F2F1D0F17}"/>
              </a:ext>
            </a:extLst>
          </p:cNvPr>
          <p:cNvSpPr>
            <a:spLocks xmlns:a="http://schemas.openxmlformats.org/drawingml/2006/main" noGrp="1"/>
          </p:cNvSpPr>
          <p:nvPr/>
        </p:nvSpPr>
        <p:spPr>
          <a:xfrm xmlns:a="http://schemas.openxmlformats.org/drawingml/2006/main">
            <a:off x="1333500" y="1524000"/>
            <a:ext cx="1000125" cy="785813"/>
          </a:xfrm>
          <a:prstGeom xmlns:a="http://schemas.openxmlformats.org/drawingml/2006/main" prst="rect">
            <a:avLst/>
          </a:prstGeom>
          <a:noFill xmlns:a="http://schemas.openxmlformats.org/drawingml/2006/main"/>
          <a:ln xmlns:a="http://schemas.openxmlformats.org/drawingml/2006/main" w="38100">
            <a:solidFill>
              <a:srgbClr val="FFB84D"/>
            </a:solidFill>
            <a:prstDash val="solid"/>
          </a:ln>
        </p:spPr>
      </p:sp>
      <p:sp>
        <p:nvSpPr>
          <p:cNvPr id="12" name="Rectangle 11">
            <a:extLst xmlns:a="http://schemas.openxmlformats.org/drawingml/2006/main">
              <a:ext uri="{FF2B5EF4-FFF2-40B4-BE49-F238E27FC236}">
                <a16:creationId xmlns:a16="http://schemas.microsoft.com/office/drawing/2014/main" id="{E3A64EE9-57A5-4639-AA1F-38D7FFC6B620}"/>
              </a:ext>
            </a:extLst>
          </p:cNvPr>
          <p:cNvSpPr>
            <a:spLocks xmlns:a="http://schemas.openxmlformats.org/drawingml/2006/main" noGrp="1"/>
          </p:cNvSpPr>
          <p:nvPr/>
        </p:nvSpPr>
        <p:spPr>
          <a:xfrm xmlns:a="http://schemas.openxmlformats.org/drawingml/2006/main">
            <a:off x="333375" y="3286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22D3EE"/>
                </a:solidFill>
                <a:latin typeface="Arial"/>
                <a:ea typeface="Arial"/>
                <a:cs typeface="Arial"/>
              </a:defRPr>
            </a:pPr>
            <a:r>
              <a:rPr sz="1200" b="1">
                <a:solidFill>
                  <a:srgbClr val="22D3EE"/>
                </a:solidFill>
                <a:latin typeface="Arial"/>
                <a:ea typeface="Arial"/>
                <a:cs typeface="Arial"/>
              </a:rPr>
              <a:t>1  PARTITION</a:t>
            </a:r>
          </a:p>
        </p:txBody>
      </p:sp>
      <p:sp>
        <p:nvSpPr>
          <p:cNvPr id="13" name="Rectangle 12">
            <a:extLst xmlns:a="http://schemas.openxmlformats.org/drawingml/2006/main">
              <a:ext uri="{FF2B5EF4-FFF2-40B4-BE49-F238E27FC236}">
                <a16:creationId xmlns:a16="http://schemas.microsoft.com/office/drawing/2014/main" id="{EDA8EE80-6D16-4260-AB05-601ABDD27A4C}"/>
              </a:ext>
            </a:extLst>
          </p:cNvPr>
          <p:cNvSpPr>
            <a:spLocks xmlns:a="http://schemas.openxmlformats.org/drawingml/2006/main" noGrp="1"/>
          </p:cNvSpPr>
          <p:nvPr/>
        </p:nvSpPr>
        <p:spPr>
          <a:xfrm xmlns:a="http://schemas.openxmlformats.org/drawingml/2006/main">
            <a:off x="381000" y="36385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Select one leaf CU</a:t>
            </a:r>
          </a:p>
        </p:txBody>
      </p:sp>
      <p:sp>
        <p:nvSpPr>
          <p:cNvPr id="14" name="Rectangle 13">
            <a:extLst xmlns:a="http://schemas.openxmlformats.org/drawingml/2006/main">
              <a:ext uri="{FF2B5EF4-FFF2-40B4-BE49-F238E27FC236}">
                <a16:creationId xmlns:a16="http://schemas.microsoft.com/office/drawing/2014/main" id="{7AB8733F-F4B0-4E89-97F5-F53090563EDE}"/>
              </a:ext>
            </a:extLst>
          </p:cNvPr>
          <p:cNvSpPr>
            <a:spLocks xmlns:a="http://schemas.openxmlformats.org/drawingml/2006/main" noGrp="1"/>
          </p:cNvSpPr>
          <p:nvPr/>
        </p:nvSpPr>
        <p:spPr>
          <a:xfrm xmlns:a="http://schemas.openxmlformats.org/drawingml/2006/main">
            <a:off x="264795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69B640C6-541B-46D8-9739-529129AED819}"/>
              </a:ext>
            </a:extLst>
          </p:cNvPr>
          <p:cNvSpPr>
            <a:spLocks xmlns:a="http://schemas.openxmlformats.org/drawingml/2006/main" noGrp="1"/>
          </p:cNvSpPr>
          <p:nvPr/>
        </p:nvSpPr>
        <p:spPr>
          <a:xfrm xmlns:a="http://schemas.openxmlformats.org/drawingml/2006/main">
            <a:off x="236220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 name="Straight Arrow Connector 62"/>
          <p:cNvCxnSpPr>
            <a:stCxn xmlns:a="http://schemas.openxmlformats.org/drawingml/2006/main" id="14" idx="1"/>
            <a:endCxn xmlns:a="http://schemas.openxmlformats.org/drawingml/2006/main" id="15" idx="3"/>
          </p:cNvCxnSpPr>
          <p:nvPr/>
        </p:nvCxnSpPr>
        <p:spPr>
          <a:xfrm xmlns:a="http://schemas.openxmlformats.org/drawingml/2006/main" flipH="1">
            <a:off x="2381250" y="2295525"/>
            <a:ext cx="2667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pic>
        <p:nvPicPr>
          <p:cNvPr id="106" name="Picture 63"/>
          <p:cNvPicPr>
            <a:picLocks xmlns:a="http://schemas.openxmlformats.org/drawingml/2006/main" noChangeAspect="1"/>
          </p:cNvPicPr>
          <p:nvPr/>
        </p:nvPicPr>
        <p:blipFill>
          <a:blip xmlns:r="http://schemas.openxmlformats.org/officeDocument/2006/relationships" xmlns:a="http://schemas.openxmlformats.org/drawingml/2006/main" r:embed="R76edc49188fc45dc"/>
          <a:srcRect xmlns:a="http://schemas.openxmlformats.org/drawingml/2006/main" l="0" t="10714" r="0" b="10714"/>
          <a:stretch xmlns:a="http://schemas.openxmlformats.org/drawingml/2006/main">
            <a:fillRect l="0" t="0" r="0" b="0"/>
          </a:stretch>
        </p:blipFill>
        <p:spPr>
          <a:xfrm xmlns:a="http://schemas.openxmlformats.org/drawingml/2006/main">
            <a:off x="2695575" y="1524000"/>
            <a:ext cx="2000250" cy="1571625"/>
          </a:xfrm>
          <a:prstGeom xmlns:a="http://schemas.openxmlformats.org/drawingml/2006/main" prst="roundRect">
            <a:avLst>
              <a:gd name="adj" fmla="val 7273"/>
            </a:avLst>
          </a:prstGeom>
        </p:spPr>
      </p:pic>
      <p:sp>
        <p:nvSpPr>
          <p:cNvPr id="18" name="Rectangle 17">
            <a:extLst xmlns:a="http://schemas.openxmlformats.org/drawingml/2006/main">
              <a:ext uri="{FF2B5EF4-FFF2-40B4-BE49-F238E27FC236}">
                <a16:creationId xmlns:a16="http://schemas.microsoft.com/office/drawing/2014/main" id="{44668E14-C0F5-4EF1-A5A5-0B92515A1734}"/>
              </a:ext>
            </a:extLst>
          </p:cNvPr>
          <p:cNvSpPr>
            <a:spLocks xmlns:a="http://schemas.openxmlformats.org/drawingml/2006/main" noGrp="1"/>
          </p:cNvSpPr>
          <p:nvPr/>
        </p:nvSpPr>
        <p:spPr>
          <a:xfrm xmlns:a="http://schemas.openxmlformats.org/drawingml/2006/main">
            <a:off x="2695575" y="1524000"/>
            <a:ext cx="2000250" cy="1571625"/>
          </a:xfrm>
          <a:prstGeom xmlns:a="http://schemas.openxmlformats.org/drawingml/2006/main" prst="rect">
            <a:avLst/>
          </a:prstGeom>
          <a:noFill xmlns:a="http://schemas.openxmlformats.org/drawingml/2006/main"/>
          <a:ln xmlns:a="http://schemas.openxmlformats.org/drawingml/2006/main" w="28575">
            <a:solidFill>
              <a:srgbClr val="47E6A4"/>
            </a:solidFill>
            <a:prstDash val="solid"/>
          </a:ln>
        </p:spPr>
      </p:sp>
      <p:sp>
        <p:nvSpPr>
          <p:cNvPr id="19" name="Rectangle 18">
            <a:extLst xmlns:a="http://schemas.openxmlformats.org/drawingml/2006/main">
              <a:ext uri="{FF2B5EF4-FFF2-40B4-BE49-F238E27FC236}">
                <a16:creationId xmlns:a16="http://schemas.microsoft.com/office/drawing/2014/main" id="{825CA618-DB48-455C-A23B-6BC9E67771A3}"/>
              </a:ext>
            </a:extLst>
          </p:cNvPr>
          <p:cNvSpPr>
            <a:spLocks xmlns:a="http://schemas.openxmlformats.org/drawingml/2006/main" noGrp="1"/>
          </p:cNvSpPr>
          <p:nvPr/>
        </p:nvSpPr>
        <p:spPr>
          <a:xfrm xmlns:a="http://schemas.openxmlformats.org/drawingml/2006/main">
            <a:off x="2695575" y="3286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2  PREDICT</a:t>
            </a:r>
          </a:p>
        </p:txBody>
      </p:sp>
      <p:sp>
        <p:nvSpPr>
          <p:cNvPr id="20" name="Rectangle 19">
            <a:extLst xmlns:a="http://schemas.openxmlformats.org/drawingml/2006/main">
              <a:ext uri="{FF2B5EF4-FFF2-40B4-BE49-F238E27FC236}">
                <a16:creationId xmlns:a16="http://schemas.microsoft.com/office/drawing/2014/main" id="{6B12F5E5-FBB5-46D5-86A1-04B048AF087A}"/>
              </a:ext>
            </a:extLst>
          </p:cNvPr>
          <p:cNvSpPr>
            <a:spLocks xmlns:a="http://schemas.openxmlformats.org/drawingml/2006/main" noGrp="1"/>
          </p:cNvSpPr>
          <p:nvPr/>
        </p:nvSpPr>
        <p:spPr>
          <a:xfrm xmlns:a="http://schemas.openxmlformats.org/drawingml/2006/main">
            <a:off x="2743200" y="36385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Use a reference and motion vector</a:t>
            </a:r>
          </a:p>
        </p:txBody>
      </p:sp>
      <p:sp>
        <p:nvSpPr>
          <p:cNvPr id="21" name="Rectangle 20">
            <a:extLst xmlns:a="http://schemas.openxmlformats.org/drawingml/2006/main">
              <a:ext uri="{FF2B5EF4-FFF2-40B4-BE49-F238E27FC236}">
                <a16:creationId xmlns:a16="http://schemas.microsoft.com/office/drawing/2014/main" id="{570EAD22-C773-449B-B737-17835FE04ADB}"/>
              </a:ext>
            </a:extLst>
          </p:cNvPr>
          <p:cNvSpPr>
            <a:spLocks xmlns:a="http://schemas.openxmlformats.org/drawingml/2006/main" noGrp="1"/>
          </p:cNvSpPr>
          <p:nvPr/>
        </p:nvSpPr>
        <p:spPr>
          <a:xfrm xmlns:a="http://schemas.openxmlformats.org/drawingml/2006/main">
            <a:off x="501015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1A0507BE-9A4B-461B-A93D-283FB9CEF6E5}"/>
              </a:ext>
            </a:extLst>
          </p:cNvPr>
          <p:cNvSpPr>
            <a:spLocks xmlns:a="http://schemas.openxmlformats.org/drawingml/2006/main" noGrp="1"/>
          </p:cNvSpPr>
          <p:nvPr/>
        </p:nvSpPr>
        <p:spPr>
          <a:xfrm xmlns:a="http://schemas.openxmlformats.org/drawingml/2006/main">
            <a:off x="472440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12" name="Straight Arrow Connector 69"/>
          <p:cNvCxnSpPr>
            <a:stCxn xmlns:a="http://schemas.openxmlformats.org/drawingml/2006/main" id="21" idx="1"/>
            <a:endCxn xmlns:a="http://schemas.openxmlformats.org/drawingml/2006/main" id="22" idx="3"/>
          </p:cNvCxnSpPr>
          <p:nvPr/>
        </p:nvCxnSpPr>
        <p:spPr>
          <a:xfrm xmlns:a="http://schemas.openxmlformats.org/drawingml/2006/main" flipH="1">
            <a:off x="4743450" y="2295525"/>
            <a:ext cx="2667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pic>
        <p:nvPicPr>
          <p:cNvPr id="113" name="Picture 70"/>
          <p:cNvPicPr>
            <a:picLocks xmlns:a="http://schemas.openxmlformats.org/drawingml/2006/main" noChangeAspect="1"/>
          </p:cNvPicPr>
          <p:nvPr/>
        </p:nvPicPr>
        <p:blipFill>
          <a:blip xmlns:r="http://schemas.openxmlformats.org/officeDocument/2006/relationships" xmlns:a="http://schemas.openxmlformats.org/drawingml/2006/main" r:embed="R88475a099175420e"/>
          <a:srcRect xmlns:a="http://schemas.openxmlformats.org/drawingml/2006/main" l="0" t="10714" r="0" b="10714"/>
          <a:stretch xmlns:a="http://schemas.openxmlformats.org/drawingml/2006/main">
            <a:fillRect l="0" t="0" r="0" b="0"/>
          </a:stretch>
        </p:blipFill>
        <p:spPr>
          <a:xfrm xmlns:a="http://schemas.openxmlformats.org/drawingml/2006/main">
            <a:off x="5057775" y="1524000"/>
            <a:ext cx="2000250" cy="1571625"/>
          </a:xfrm>
          <a:prstGeom xmlns:a="http://schemas.openxmlformats.org/drawingml/2006/main" prst="roundRect">
            <a:avLst>
              <a:gd name="adj" fmla="val 7273"/>
            </a:avLst>
          </a:prstGeom>
        </p:spPr>
      </p:pic>
      <p:sp>
        <p:nvSpPr>
          <p:cNvPr id="25" name="Rectangle 24">
            <a:extLst xmlns:a="http://schemas.openxmlformats.org/drawingml/2006/main">
              <a:ext uri="{FF2B5EF4-FFF2-40B4-BE49-F238E27FC236}">
                <a16:creationId xmlns:a16="http://schemas.microsoft.com/office/drawing/2014/main" id="{53916986-BDDF-4D9C-B52F-BDAA631E260B}"/>
              </a:ext>
            </a:extLst>
          </p:cNvPr>
          <p:cNvSpPr>
            <a:spLocks xmlns:a="http://schemas.openxmlformats.org/drawingml/2006/main" noGrp="1"/>
          </p:cNvSpPr>
          <p:nvPr/>
        </p:nvSpPr>
        <p:spPr>
          <a:xfrm xmlns:a="http://schemas.openxmlformats.org/drawingml/2006/main">
            <a:off x="5057775" y="1524000"/>
            <a:ext cx="2000250" cy="1571625"/>
          </a:xfrm>
          <a:prstGeom xmlns:a="http://schemas.openxmlformats.org/drawingml/2006/main" prst="rect">
            <a:avLst/>
          </a:prstGeom>
          <a:noFill xmlns:a="http://schemas.openxmlformats.org/drawingml/2006/main"/>
          <a:ln xmlns:a="http://schemas.openxmlformats.org/drawingml/2006/main" w="28575">
            <a:solidFill>
              <a:srgbClr val="2E9BFF"/>
            </a:solidFill>
            <a:prstDash val="solid"/>
          </a:ln>
        </p:spPr>
      </p:sp>
      <p:sp>
        <p:nvSpPr>
          <p:cNvPr id="26" name="Rectangle 25">
            <a:extLst xmlns:a="http://schemas.openxmlformats.org/drawingml/2006/main">
              <a:ext uri="{FF2B5EF4-FFF2-40B4-BE49-F238E27FC236}">
                <a16:creationId xmlns:a16="http://schemas.microsoft.com/office/drawing/2014/main" id="{C5C79E3F-B444-4650-9D96-84C55A665D8A}"/>
              </a:ext>
            </a:extLst>
          </p:cNvPr>
          <p:cNvSpPr>
            <a:spLocks xmlns:a="http://schemas.openxmlformats.org/drawingml/2006/main" noGrp="1"/>
          </p:cNvSpPr>
          <p:nvPr/>
        </p:nvSpPr>
        <p:spPr>
          <a:xfrm xmlns:a="http://schemas.openxmlformats.org/drawingml/2006/main">
            <a:off x="5057775" y="3286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2E9BFF"/>
                </a:solidFill>
                <a:latin typeface="Arial"/>
                <a:ea typeface="Arial"/>
                <a:cs typeface="Arial"/>
              </a:defRPr>
            </a:pPr>
            <a:r>
              <a:rPr sz="1200" b="1">
                <a:solidFill>
                  <a:srgbClr val="2E9BFF"/>
                </a:solidFill>
                <a:latin typeface="Arial"/>
                <a:ea typeface="Arial"/>
                <a:cs typeface="Arial"/>
              </a:rPr>
              <a:t>3  RESIDUAL</a:t>
            </a:r>
          </a:p>
        </p:txBody>
      </p:sp>
      <p:sp>
        <p:nvSpPr>
          <p:cNvPr id="27" name="Rectangle 26">
            <a:extLst xmlns:a="http://schemas.openxmlformats.org/drawingml/2006/main">
              <a:ext uri="{FF2B5EF4-FFF2-40B4-BE49-F238E27FC236}">
                <a16:creationId xmlns:a16="http://schemas.microsoft.com/office/drawing/2014/main" id="{2E34A153-63E2-49C3-B42F-8B2E2946B6A6}"/>
              </a:ext>
            </a:extLst>
          </p:cNvPr>
          <p:cNvSpPr>
            <a:spLocks xmlns:a="http://schemas.openxmlformats.org/drawingml/2006/main" noGrp="1"/>
          </p:cNvSpPr>
          <p:nvPr/>
        </p:nvSpPr>
        <p:spPr>
          <a:xfrm xmlns:a="http://schemas.openxmlformats.org/drawingml/2006/main">
            <a:off x="5105400" y="36385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Subtract from the same CU</a:t>
            </a:r>
          </a:p>
        </p:txBody>
      </p:sp>
      <p:sp>
        <p:nvSpPr>
          <p:cNvPr id="28" name="Rectangle 27">
            <a:extLst xmlns:a="http://schemas.openxmlformats.org/drawingml/2006/main">
              <a:ext uri="{FF2B5EF4-FFF2-40B4-BE49-F238E27FC236}">
                <a16:creationId xmlns:a16="http://schemas.microsoft.com/office/drawing/2014/main" id="{E8C746D2-CD1A-451F-BF75-0FB06534439E}"/>
              </a:ext>
            </a:extLst>
          </p:cNvPr>
          <p:cNvSpPr>
            <a:spLocks xmlns:a="http://schemas.openxmlformats.org/drawingml/2006/main" noGrp="1"/>
          </p:cNvSpPr>
          <p:nvPr/>
        </p:nvSpPr>
        <p:spPr>
          <a:xfrm xmlns:a="http://schemas.openxmlformats.org/drawingml/2006/main">
            <a:off x="737235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9" name="Rectangle 28">
            <a:extLst xmlns:a="http://schemas.openxmlformats.org/drawingml/2006/main">
              <a:ext uri="{FF2B5EF4-FFF2-40B4-BE49-F238E27FC236}">
                <a16:creationId xmlns:a16="http://schemas.microsoft.com/office/drawing/2014/main" id="{61ABF63F-6490-49D1-8253-92627A09D497}"/>
              </a:ext>
            </a:extLst>
          </p:cNvPr>
          <p:cNvSpPr>
            <a:spLocks xmlns:a="http://schemas.openxmlformats.org/drawingml/2006/main" noGrp="1"/>
          </p:cNvSpPr>
          <p:nvPr/>
        </p:nvSpPr>
        <p:spPr>
          <a:xfrm xmlns:a="http://schemas.openxmlformats.org/drawingml/2006/main">
            <a:off x="708660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19" name="Straight Arrow Connector 76"/>
          <p:cNvCxnSpPr>
            <a:stCxn xmlns:a="http://schemas.openxmlformats.org/drawingml/2006/main" id="28" idx="1"/>
            <a:endCxn xmlns:a="http://schemas.openxmlformats.org/drawingml/2006/main" id="29" idx="3"/>
          </p:cNvCxnSpPr>
          <p:nvPr/>
        </p:nvCxnSpPr>
        <p:spPr>
          <a:xfrm xmlns:a="http://schemas.openxmlformats.org/drawingml/2006/main" flipH="1">
            <a:off x="7105650" y="2295525"/>
            <a:ext cx="2667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pic>
        <p:nvPicPr>
          <p:cNvPr id="120" name="Picture 77"/>
          <p:cNvPicPr>
            <a:picLocks xmlns:a="http://schemas.openxmlformats.org/drawingml/2006/main" noChangeAspect="1"/>
          </p:cNvPicPr>
          <p:nvPr/>
        </p:nvPicPr>
        <p:blipFill>
          <a:blip xmlns:r="http://schemas.openxmlformats.org/officeDocument/2006/relationships" xmlns:a="http://schemas.openxmlformats.org/drawingml/2006/main" r:embed="R5aeb66f4d948482c"/>
          <a:srcRect xmlns:a="http://schemas.openxmlformats.org/drawingml/2006/main" l="0" t="10714" r="0" b="10714"/>
          <a:stretch xmlns:a="http://schemas.openxmlformats.org/drawingml/2006/main">
            <a:fillRect l="0" t="0" r="0" b="0"/>
          </a:stretch>
        </p:blipFill>
        <p:spPr>
          <a:xfrm xmlns:a="http://schemas.openxmlformats.org/drawingml/2006/main">
            <a:off x="7419975" y="1524000"/>
            <a:ext cx="2000250" cy="1571625"/>
          </a:xfrm>
          <a:prstGeom xmlns:a="http://schemas.openxmlformats.org/drawingml/2006/main" prst="roundRect">
            <a:avLst>
              <a:gd name="adj" fmla="val 7273"/>
            </a:avLst>
          </a:prstGeom>
        </p:spPr>
      </p:pic>
      <p:sp>
        <p:nvSpPr>
          <p:cNvPr id="32" name="Rectangle 31">
            <a:extLst xmlns:a="http://schemas.openxmlformats.org/drawingml/2006/main">
              <a:ext uri="{FF2B5EF4-FFF2-40B4-BE49-F238E27FC236}">
                <a16:creationId xmlns:a16="http://schemas.microsoft.com/office/drawing/2014/main" id="{34F86845-4742-4E7F-B814-865BA1248DAA}"/>
              </a:ext>
            </a:extLst>
          </p:cNvPr>
          <p:cNvSpPr>
            <a:spLocks xmlns:a="http://schemas.openxmlformats.org/drawingml/2006/main" noGrp="1"/>
          </p:cNvSpPr>
          <p:nvPr/>
        </p:nvSpPr>
        <p:spPr>
          <a:xfrm xmlns:a="http://schemas.openxmlformats.org/drawingml/2006/main">
            <a:off x="7419975" y="1524000"/>
            <a:ext cx="2000250" cy="1571625"/>
          </a:xfrm>
          <a:prstGeom xmlns:a="http://schemas.openxmlformats.org/drawingml/2006/main" prst="rect">
            <a:avLst/>
          </a:prstGeom>
          <a:noFill xmlns:a="http://schemas.openxmlformats.org/drawingml/2006/main"/>
          <a:ln xmlns:a="http://schemas.openxmlformats.org/drawingml/2006/main" w="28575">
            <a:solidFill>
              <a:srgbClr val="FFB84D"/>
            </a:solidFill>
            <a:prstDash val="solid"/>
          </a:ln>
        </p:spPr>
      </p:sp>
      <p:sp>
        <p:nvSpPr>
          <p:cNvPr id="33" name="Rectangle 32">
            <a:extLst xmlns:a="http://schemas.openxmlformats.org/drawingml/2006/main">
              <a:ext uri="{FF2B5EF4-FFF2-40B4-BE49-F238E27FC236}">
                <a16:creationId xmlns:a16="http://schemas.microsoft.com/office/drawing/2014/main" id="{54180C54-D386-4723-A2C5-64F6F265990E}"/>
              </a:ext>
            </a:extLst>
          </p:cNvPr>
          <p:cNvSpPr>
            <a:spLocks xmlns:a="http://schemas.openxmlformats.org/drawingml/2006/main" noGrp="1"/>
          </p:cNvSpPr>
          <p:nvPr/>
        </p:nvSpPr>
        <p:spPr>
          <a:xfrm xmlns:a="http://schemas.openxmlformats.org/drawingml/2006/main">
            <a:off x="7419975" y="3286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FFB84D"/>
                </a:solidFill>
                <a:latin typeface="Arial"/>
                <a:ea typeface="Arial"/>
                <a:cs typeface="Arial"/>
              </a:defRPr>
            </a:pPr>
            <a:r>
              <a:rPr sz="1200" b="1">
                <a:solidFill>
                  <a:srgbClr val="FFB84D"/>
                </a:solidFill>
                <a:latin typeface="Arial"/>
                <a:ea typeface="Arial"/>
                <a:cs typeface="Arial"/>
              </a:rPr>
              <a:t>4  COMPRESS</a:t>
            </a:r>
          </a:p>
        </p:txBody>
      </p:sp>
      <p:sp>
        <p:nvSpPr>
          <p:cNvPr id="34" name="Rectangle 33">
            <a:extLst xmlns:a="http://schemas.openxmlformats.org/drawingml/2006/main">
              <a:ext uri="{FF2B5EF4-FFF2-40B4-BE49-F238E27FC236}">
                <a16:creationId xmlns:a16="http://schemas.microsoft.com/office/drawing/2014/main" id="{3199B710-7746-4DE7-BC7F-7F8A658B412A}"/>
              </a:ext>
            </a:extLst>
          </p:cNvPr>
          <p:cNvSpPr>
            <a:spLocks xmlns:a="http://schemas.openxmlformats.org/drawingml/2006/main" noGrp="1"/>
          </p:cNvSpPr>
          <p:nvPr/>
        </p:nvSpPr>
        <p:spPr>
          <a:xfrm xmlns:a="http://schemas.openxmlformats.org/drawingml/2006/main">
            <a:off x="7467600" y="36385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Transform, quantize, then code</a:t>
            </a:r>
          </a:p>
        </p:txBody>
      </p:sp>
      <p:sp>
        <p:nvSpPr>
          <p:cNvPr id="35" name="Rectangle 34">
            <a:extLst xmlns:a="http://schemas.openxmlformats.org/drawingml/2006/main">
              <a:ext uri="{FF2B5EF4-FFF2-40B4-BE49-F238E27FC236}">
                <a16:creationId xmlns:a16="http://schemas.microsoft.com/office/drawing/2014/main" id="{D6B82125-2593-4357-9862-C053FB739CE8}"/>
              </a:ext>
            </a:extLst>
          </p:cNvPr>
          <p:cNvSpPr>
            <a:spLocks xmlns:a="http://schemas.openxmlformats.org/drawingml/2006/main" noGrp="1"/>
          </p:cNvSpPr>
          <p:nvPr/>
        </p:nvSpPr>
        <p:spPr>
          <a:xfrm xmlns:a="http://schemas.openxmlformats.org/drawingml/2006/main">
            <a:off x="973455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6" name="Rectangle 35">
            <a:extLst xmlns:a="http://schemas.openxmlformats.org/drawingml/2006/main">
              <a:ext uri="{FF2B5EF4-FFF2-40B4-BE49-F238E27FC236}">
                <a16:creationId xmlns:a16="http://schemas.microsoft.com/office/drawing/2014/main" id="{6918E4BC-224C-4553-8651-B802FF5BD51C}"/>
              </a:ext>
            </a:extLst>
          </p:cNvPr>
          <p:cNvSpPr>
            <a:spLocks xmlns:a="http://schemas.openxmlformats.org/drawingml/2006/main" noGrp="1"/>
          </p:cNvSpPr>
          <p:nvPr/>
        </p:nvSpPr>
        <p:spPr>
          <a:xfrm xmlns:a="http://schemas.openxmlformats.org/drawingml/2006/main">
            <a:off x="9448800" y="22860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26" name="Straight Arrow Connector 83"/>
          <p:cNvCxnSpPr>
            <a:stCxn xmlns:a="http://schemas.openxmlformats.org/drawingml/2006/main" id="35" idx="1"/>
            <a:endCxn xmlns:a="http://schemas.openxmlformats.org/drawingml/2006/main" id="36" idx="3"/>
          </p:cNvCxnSpPr>
          <p:nvPr/>
        </p:nvCxnSpPr>
        <p:spPr>
          <a:xfrm xmlns:a="http://schemas.openxmlformats.org/drawingml/2006/main" flipH="1">
            <a:off x="9467850" y="2295525"/>
            <a:ext cx="266700" cy="0"/>
          </a:xfrm>
          <a:prstGeom xmlns:a="http://schemas.openxmlformats.org/drawingml/2006/main" prst="straightConnector1">
            <a:avLst/>
          </a:prstGeom>
          <a:ln xmlns:a="http://schemas.openxmlformats.org/drawingml/2006/main" w="19050" cap="rnd">
            <a:solidFill>
              <a:srgbClr val="2A5876"/>
            </a:solidFill>
            <a:prstDash val="solid"/>
            <a:headEnd type="triangle" w="sm" len="sm"/>
          </a:ln>
        </p:spPr>
      </p:cxnSp>
      <p:pic>
        <p:nvPicPr>
          <p:cNvPr id="127" name="Picture 84"/>
          <p:cNvPicPr>
            <a:picLocks xmlns:a="http://schemas.openxmlformats.org/drawingml/2006/main" noChangeAspect="1"/>
          </p:cNvPicPr>
          <p:nvPr/>
        </p:nvPicPr>
        <p:blipFill>
          <a:blip xmlns:r="http://schemas.openxmlformats.org/officeDocument/2006/relationships" xmlns:a="http://schemas.openxmlformats.org/drawingml/2006/main" r:embed="R2a2c4ee6099040c3"/>
          <a:srcRect xmlns:a="http://schemas.openxmlformats.org/drawingml/2006/main" l="0" t="10714" r="0" b="10714"/>
          <a:stretch xmlns:a="http://schemas.openxmlformats.org/drawingml/2006/main">
            <a:fillRect l="0" t="0" r="0" b="0"/>
          </a:stretch>
        </p:blipFill>
        <p:spPr>
          <a:xfrm xmlns:a="http://schemas.openxmlformats.org/drawingml/2006/main">
            <a:off x="9782175" y="1524000"/>
            <a:ext cx="2000250" cy="1571625"/>
          </a:xfrm>
          <a:prstGeom xmlns:a="http://schemas.openxmlformats.org/drawingml/2006/main" prst="roundRect">
            <a:avLst>
              <a:gd name="adj" fmla="val 7273"/>
            </a:avLst>
          </a:prstGeom>
        </p:spPr>
      </p:pic>
      <p:sp>
        <p:nvSpPr>
          <p:cNvPr id="39" name="Rectangle 38">
            <a:extLst xmlns:a="http://schemas.openxmlformats.org/drawingml/2006/main">
              <a:ext uri="{FF2B5EF4-FFF2-40B4-BE49-F238E27FC236}">
                <a16:creationId xmlns:a16="http://schemas.microsoft.com/office/drawing/2014/main" id="{F869C6BF-3919-4726-A84F-0CF35A2F812D}"/>
              </a:ext>
            </a:extLst>
          </p:cNvPr>
          <p:cNvSpPr>
            <a:spLocks xmlns:a="http://schemas.openxmlformats.org/drawingml/2006/main" noGrp="1"/>
          </p:cNvSpPr>
          <p:nvPr/>
        </p:nvSpPr>
        <p:spPr>
          <a:xfrm xmlns:a="http://schemas.openxmlformats.org/drawingml/2006/main">
            <a:off x="9782175" y="1524000"/>
            <a:ext cx="2000250" cy="1571625"/>
          </a:xfrm>
          <a:prstGeom xmlns:a="http://schemas.openxmlformats.org/drawingml/2006/main" prst="rect">
            <a:avLst/>
          </a:prstGeom>
          <a:noFill xmlns:a="http://schemas.openxmlformats.org/drawingml/2006/main"/>
          <a:ln xmlns:a="http://schemas.openxmlformats.org/drawingml/2006/main" w="28575">
            <a:solidFill>
              <a:srgbClr val="47E6A4"/>
            </a:solidFill>
            <a:prstDash val="solid"/>
          </a:ln>
        </p:spPr>
      </p:sp>
      <p:sp>
        <p:nvSpPr>
          <p:cNvPr id="40" name="Rectangle 39">
            <a:extLst xmlns:a="http://schemas.openxmlformats.org/drawingml/2006/main">
              <a:ext uri="{FF2B5EF4-FFF2-40B4-BE49-F238E27FC236}">
                <a16:creationId xmlns:a16="http://schemas.microsoft.com/office/drawing/2014/main" id="{A9D07677-EAFB-4C1A-B6F4-50D7CB684D37}"/>
              </a:ext>
            </a:extLst>
          </p:cNvPr>
          <p:cNvSpPr>
            <a:spLocks xmlns:a="http://schemas.openxmlformats.org/drawingml/2006/main" noGrp="1"/>
          </p:cNvSpPr>
          <p:nvPr/>
        </p:nvSpPr>
        <p:spPr>
          <a:xfrm xmlns:a="http://schemas.openxmlformats.org/drawingml/2006/main">
            <a:off x="9782175" y="3286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47E6A4"/>
                </a:solidFill>
                <a:latin typeface="Arial"/>
                <a:ea typeface="Arial"/>
                <a:cs typeface="Arial"/>
              </a:defRPr>
            </a:pPr>
            <a:r>
              <a:rPr sz="1200" b="1">
                <a:solidFill>
                  <a:srgbClr val="47E6A4"/>
                </a:solidFill>
                <a:latin typeface="Arial"/>
                <a:ea typeface="Arial"/>
                <a:cs typeface="Arial"/>
              </a:rPr>
              <a:t>5  RECONSTRUCT</a:t>
            </a:r>
          </a:p>
        </p:txBody>
      </p:sp>
      <p:sp>
        <p:nvSpPr>
          <p:cNvPr id="41" name="Rectangle 40">
            <a:extLst xmlns:a="http://schemas.openxmlformats.org/drawingml/2006/main">
              <a:ext uri="{FF2B5EF4-FFF2-40B4-BE49-F238E27FC236}">
                <a16:creationId xmlns:a16="http://schemas.microsoft.com/office/drawing/2014/main" id="{57B49645-AD3B-4B91-A075-16B2C63123A5}"/>
              </a:ext>
            </a:extLst>
          </p:cNvPr>
          <p:cNvSpPr>
            <a:spLocks xmlns:a="http://schemas.openxmlformats.org/drawingml/2006/main" noGrp="1"/>
          </p:cNvSpPr>
          <p:nvPr/>
        </p:nvSpPr>
        <p:spPr>
          <a:xfrm xmlns:a="http://schemas.openxmlformats.org/drawingml/2006/main">
            <a:off x="9829800" y="36385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125" b="0">
                <a:solidFill>
                  <a:srgbClr val="F4F8FC"/>
                </a:solidFill>
                <a:latin typeface="Arial"/>
                <a:ea typeface="Arial"/>
                <a:cs typeface="Arial"/>
              </a:defRPr>
            </a:pPr>
            <a:r>
              <a:rPr sz="1125" b="0">
                <a:solidFill>
                  <a:srgbClr val="F4F8FC"/>
                </a:solidFill>
                <a:latin typeface="Arial"/>
                <a:ea typeface="Arial"/>
                <a:cs typeface="Arial"/>
              </a:rPr>
              <a:t>Add the signed decoded residual</a:t>
            </a:r>
          </a:p>
        </p:txBody>
      </p:sp>
      <p:sp>
        <p:nvSpPr>
          <p:cNvPr id="42" name="Straight Connector 41">
            <a:extLst xmlns:a="http://schemas.openxmlformats.org/drawingml/2006/main">
              <a:ext uri="{FF2B5EF4-FFF2-40B4-BE49-F238E27FC236}">
                <a16:creationId xmlns:a16="http://schemas.microsoft.com/office/drawing/2014/main" id="{BED99093-F985-4467-BCE5-BF3CBF94DBE8}"/>
              </a:ext>
            </a:extLst>
          </p:cNvPr>
          <p:cNvSpPr>
            <a:spLocks xmlns:a="http://schemas.openxmlformats.org/drawingml/2006/main" noGrp="1"/>
          </p:cNvSpPr>
          <p:nvPr/>
        </p:nvSpPr>
        <p:spPr>
          <a:xfrm xmlns:a="http://schemas.openxmlformats.org/drawingml/2006/main">
            <a:off x="10477500" y="4429125"/>
            <a:ext cx="9525" cy="571500"/>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43" name="Straight Connector 42">
            <a:extLst xmlns:a="http://schemas.openxmlformats.org/drawingml/2006/main">
              <a:ext uri="{FF2B5EF4-FFF2-40B4-BE49-F238E27FC236}">
                <a16:creationId xmlns:a16="http://schemas.microsoft.com/office/drawing/2014/main" id="{216D1228-21AC-4BC9-AC57-10EE8478B2AC}"/>
              </a:ext>
            </a:extLst>
          </p:cNvPr>
          <p:cNvSpPr>
            <a:spLocks xmlns:a="http://schemas.openxmlformats.org/drawingml/2006/main" noGrp="1"/>
          </p:cNvSpPr>
          <p:nvPr/>
        </p:nvSpPr>
        <p:spPr>
          <a:xfrm xmlns:a="http://schemas.openxmlformats.org/drawingml/2006/main" flipH="1">
            <a:off x="1428750" y="5000625"/>
            <a:ext cx="9048750" cy="9525"/>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44" name="Straight Connector 43">
            <a:extLst xmlns:a="http://schemas.openxmlformats.org/drawingml/2006/main">
              <a:ext uri="{FF2B5EF4-FFF2-40B4-BE49-F238E27FC236}">
                <a16:creationId xmlns:a16="http://schemas.microsoft.com/office/drawing/2014/main" id="{AAC875A4-FDF9-4B23-9A78-9209DDE50E9B}"/>
              </a:ext>
            </a:extLst>
          </p:cNvPr>
          <p:cNvSpPr>
            <a:spLocks xmlns:a="http://schemas.openxmlformats.org/drawingml/2006/main" noGrp="1"/>
          </p:cNvSpPr>
          <p:nvPr/>
        </p:nvSpPr>
        <p:spPr>
          <a:xfrm xmlns:a="http://schemas.openxmlformats.org/drawingml/2006/main" flipV="1">
            <a:off x="1428750" y="4333875"/>
            <a:ext cx="9525" cy="666750"/>
          </a:xfrm>
          <a:prstGeom xmlns:a="http://schemas.openxmlformats.org/drawingml/2006/main" prst="line">
            <a:avLst/>
          </a:prstGeom>
          <a:noFill xmlns:a="http://schemas.openxmlformats.org/drawingml/2006/main"/>
          <a:ln xmlns:a="http://schemas.openxmlformats.org/drawingml/2006/main" w="19050">
            <a:solidFill>
              <a:srgbClr val="47E6A4"/>
            </a:solidFill>
            <a:prstDash val="solid"/>
          </a:ln>
        </p:spPr>
      </p:sp>
      <p:sp>
        <p:nvSpPr>
          <p:cNvPr id="45" name="Rectangle 44">
            <a:extLst xmlns:a="http://schemas.openxmlformats.org/drawingml/2006/main">
              <a:ext uri="{FF2B5EF4-FFF2-40B4-BE49-F238E27FC236}">
                <a16:creationId xmlns:a16="http://schemas.microsoft.com/office/drawing/2014/main" id="{AEAA0E97-8DCA-4253-B846-842974551A44}"/>
              </a:ext>
            </a:extLst>
          </p:cNvPr>
          <p:cNvSpPr>
            <a:spLocks xmlns:a="http://schemas.openxmlformats.org/drawingml/2006/main" noGrp="1"/>
          </p:cNvSpPr>
          <p:nvPr/>
        </p:nvSpPr>
        <p:spPr>
          <a:xfrm xmlns:a="http://schemas.openxmlformats.org/drawingml/2006/main">
            <a:off x="2381250" y="51625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137"/>
          </a:bodyPr>
          <a:lstStyle xmlns:a="http://schemas.openxmlformats.org/drawingml/2006/main"/>
          <a:p xmlns:a="http://schemas.openxmlformats.org/drawingml/2006/main">
            <a:pPr>
              <a:buNone/>
              <a:defRPr sz="1500" b="1">
                <a:solidFill>
                  <a:srgbClr val="47E6A4"/>
                </a:solidFill>
                <a:latin typeface="Arial"/>
                <a:ea typeface="Arial"/>
                <a:cs typeface="Arial"/>
              </a:defRPr>
            </a:pPr>
            <a:r>
              <a:rPr sz="1500" b="1">
                <a:solidFill>
                  <a:srgbClr val="47E6A4"/>
                </a:solidFill>
                <a:latin typeface="Arial"/>
                <a:ea typeface="Arial"/>
                <a:cs typeface="Arial"/>
              </a:rPr>
              <a:t>The filtered reconstruction becomes the reference used for future inter prediction</a:t>
            </a:r>
          </a:p>
        </p:txBody>
      </p:sp>
      <p:sp>
        <p:nvSpPr>
          <p:cNvPr id="46" name="Rectangle: Rounded Corners 45">
            <a:extLst xmlns:a="http://schemas.openxmlformats.org/drawingml/2006/main">
              <a:ext uri="{FF2B5EF4-FFF2-40B4-BE49-F238E27FC236}">
                <a16:creationId xmlns:a16="http://schemas.microsoft.com/office/drawing/2014/main" id="{583280CC-25C3-4F03-B399-4AEADAA503EA}"/>
              </a:ext>
            </a:extLst>
          </p:cNvPr>
          <p:cNvSpPr>
            <a:spLocks xmlns:a="http://schemas.openxmlformats.org/drawingml/2006/main" noGrp="1"/>
          </p:cNvSpPr>
          <p:nvPr/>
        </p:nvSpPr>
        <p:spPr>
          <a:xfrm xmlns:a="http://schemas.openxmlformats.org/drawingml/2006/main">
            <a:off x="1666875" y="5810250"/>
            <a:ext cx="8858250" cy="552450"/>
          </a:xfrm>
          <a:prstGeom xmlns:a="http://schemas.openxmlformats.org/drawingml/2006/main" prst="roundRect">
            <a:avLst>
              <a:gd name="adj" fmla="val 20690"/>
            </a:avLst>
          </a:prstGeom>
          <a:solidFill xmlns:a="http://schemas.openxmlformats.org/drawingml/2006/main">
            <a:srgbClr val="092034"/>
          </a:solidFill>
          <a:ln xmlns:a="http://schemas.openxmlformats.org/drawingml/2006/main" w="19050">
            <a:solidFill>
              <a:srgbClr val="22D3EE"/>
            </a:solidFill>
            <a:prstDash val="solid"/>
          </a:ln>
        </p:spPr>
      </p:sp>
      <p:sp>
        <p:nvSpPr>
          <p:cNvPr id="47" name="Rectangle 46">
            <a:extLst xmlns:a="http://schemas.openxmlformats.org/drawingml/2006/main">
              <a:ext uri="{FF2B5EF4-FFF2-40B4-BE49-F238E27FC236}">
                <a16:creationId xmlns:a16="http://schemas.microsoft.com/office/drawing/2014/main" id="{2B970617-FE3F-40E8-8A8A-812C728DA22D}"/>
              </a:ext>
            </a:extLst>
          </p:cNvPr>
          <p:cNvSpPr>
            <a:spLocks xmlns:a="http://schemas.openxmlformats.org/drawingml/2006/main" noGrp="1"/>
          </p:cNvSpPr>
          <p:nvPr/>
        </p:nvSpPr>
        <p:spPr>
          <a:xfrm xmlns:a="http://schemas.openxmlformats.org/drawingml/2006/main">
            <a:off x="1781175" y="5905500"/>
            <a:ext cx="8629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500" b="1">
                <a:solidFill>
                  <a:srgbClr val="F4F8FC"/>
                </a:solidFill>
                <a:latin typeface="Arial"/>
                <a:ea typeface="Arial"/>
                <a:cs typeface="Arial"/>
              </a:defRPr>
            </a:pPr>
            <a:r>
              <a:rPr sz="1500" b="1">
                <a:solidFill>
                  <a:srgbClr val="F4F8FC"/>
                </a:solidFill>
                <a:latin typeface="Arial"/>
                <a:ea typeface="Arial"/>
                <a:cs typeface="Arial"/>
              </a:rPr>
              <a:t>Every panel follows the same selected Coding Unit from partition to reconstruction</a:t>
            </a:r>
          </a:p>
        </p:txBody>
      </p:sp>
    </p:spTree>
    <p:extLst>
      <p:ext uri="{BB962C8B-B14F-4D97-AF65-F5344CB8AC3E}">
        <p14:creationId xmlns:p14="http://schemas.microsoft.com/office/powerpoint/2010/main" val="1026766596"/>
      </p:ext>
    </p:extLst>
  </p:cSld>
</p:sld>
</file>

<file path=ppt/slides/slide49.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1" name="Oval 10">
            <a:extLst xmlns:a="http://schemas.openxmlformats.org/drawingml/2006/main">
              <a:ext uri="{FF2B5EF4-FFF2-40B4-BE49-F238E27FC236}">
                <a16:creationId xmlns:a16="http://schemas.microsoft.com/office/drawing/2014/main" id="{805F09C7-CC6C-4F8F-823F-7E3D52F2FDFC}"/>
              </a:ext>
            </a:extLst>
          </p:cNvPr>
          <p:cNvSpPr>
            <a:spLocks xmlns:a="http://schemas.openxmlformats.org/drawingml/2006/main" noGrp="1"/>
          </p:cNvSpPr>
          <p:nvPr/>
        </p:nvSpPr>
        <p:spPr>
          <a:xfrm xmlns:a="http://schemas.openxmlformats.org/drawingml/2006/main">
            <a:off x="10382250" y="-809625"/>
            <a:ext cx="2571750" cy="2571750"/>
          </a:xfrm>
          <a:prstGeom xmlns:a="http://schemas.openxmlformats.org/drawingml/2006/main" prst="ellipse">
            <a:avLst/>
          </a:prstGeom>
          <a:solidFill xmlns:a="http://schemas.openxmlformats.org/drawingml/2006/main">
            <a:srgbClr val="0B2A48"/>
          </a:solidFill>
          <a:ln xmlns:a="http://schemas.openxmlformats.org/drawingml/2006/main" w="0">
            <a:noFill/>
            <a:prstDash val="solid"/>
          </a:ln>
        </p:spPr>
      </p:sp>
      <p:sp>
        <p:nvSpPr>
          <p:cNvPr id="2" name="Oval 1">
            <a:extLst xmlns:a="http://schemas.openxmlformats.org/drawingml/2006/main">
              <a:ext uri="{FF2B5EF4-FFF2-40B4-BE49-F238E27FC236}">
                <a16:creationId xmlns:a16="http://schemas.microsoft.com/office/drawing/2014/main" id="{7FC82A43-0D63-4556-B65D-4BB8B61BE9BA}"/>
              </a:ext>
            </a:extLst>
          </p:cNvPr>
          <p:cNvSpPr>
            <a:spLocks xmlns:a="http://schemas.openxmlformats.org/drawingml/2006/main" noGrp="1"/>
          </p:cNvSpPr>
          <p:nvPr/>
        </p:nvSpPr>
        <p:spPr>
          <a:xfrm xmlns:a="http://schemas.openxmlformats.org/drawingml/2006/main">
            <a:off x="-1047750" y="5810250"/>
            <a:ext cx="2190750" cy="2190750"/>
          </a:xfrm>
          <a:prstGeom xmlns:a="http://schemas.openxmlformats.org/drawingml/2006/main" prst="ellipse">
            <a:avLst/>
          </a:prstGeom>
          <a:solidFill xmlns:a="http://schemas.openxmlformats.org/drawingml/2006/main">
            <a:srgbClr val="07303C"/>
          </a:solidFill>
          <a:ln xmlns:a="http://schemas.openxmlformats.org/drawingml/2006/main" w="0">
            <a:noFill/>
            <a:prstDash val="solid"/>
          </a:ln>
        </p:spPr>
      </p:sp>
      <p:sp>
        <p:nvSpPr>
          <p:cNvPr id="3" name="Rectangle 2">
            <a:extLst xmlns:a="http://schemas.openxmlformats.org/drawingml/2006/main">
              <a:ext uri="{FF2B5EF4-FFF2-40B4-BE49-F238E27FC236}">
                <a16:creationId xmlns:a16="http://schemas.microsoft.com/office/drawing/2014/main" id="{34381E70-BD0D-4F63-B931-C80B7133AB7C}"/>
              </a:ext>
            </a:extLst>
          </p:cNvPr>
          <p:cNvSpPr>
            <a:spLocks xmlns:a="http://schemas.openxmlformats.org/drawingml/2006/main" noGrp="1"/>
          </p:cNvSpPr>
          <p:nvPr/>
        </p:nvSpPr>
        <p:spPr>
          <a:xfrm xmlns:a="http://schemas.openxmlformats.org/drawingml/2006/main">
            <a:off x="400050" y="22860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2550" b="1">
                <a:solidFill>
                  <a:srgbClr val="F4F8FC"/>
                </a:solidFill>
                <a:latin typeface="Arial"/>
                <a:ea typeface="Arial"/>
                <a:cs typeface="Arial"/>
              </a:defRPr>
            </a:pPr>
            <a:r>
              <a:rPr sz="2550" b="1">
                <a:solidFill>
                  <a:srgbClr val="F4F8FC"/>
                </a:solidFill>
                <a:latin typeface="Arial"/>
                <a:ea typeface="Arial"/>
                <a:cs typeface="Arial"/>
              </a:rPr>
              <a:t>Block X's numeric journey and evidence status</a:t>
            </a:r>
          </a:p>
        </p:txBody>
      </p:sp>
      <p:sp>
        <p:nvSpPr>
          <p:cNvPr id="4" name="Straight Connector 3">
            <a:extLst xmlns:a="http://schemas.openxmlformats.org/drawingml/2006/main">
              <a:ext uri="{FF2B5EF4-FFF2-40B4-BE49-F238E27FC236}">
                <a16:creationId xmlns:a16="http://schemas.microsoft.com/office/drawing/2014/main" id="{A0FD50A0-AE7E-4226-B01E-D92B0CE11773}"/>
              </a:ext>
            </a:extLst>
          </p:cNvPr>
          <p:cNvSpPr>
            <a:spLocks xmlns:a="http://schemas.openxmlformats.org/drawingml/2006/main" noGrp="1"/>
          </p:cNvSpPr>
          <p:nvPr/>
        </p:nvSpPr>
        <p:spPr>
          <a:xfrm xmlns:a="http://schemas.openxmlformats.org/drawingml/2006/main">
            <a:off x="400050" y="914400"/>
            <a:ext cx="11391900" cy="9525"/>
          </a:xfrm>
          <a:prstGeom xmlns:a="http://schemas.openxmlformats.org/drawingml/2006/main" prst="line">
            <a:avLst/>
          </a:prstGeom>
          <a:noFill xmlns:a="http://schemas.openxmlformats.org/drawingml/2006/main"/>
          <a:ln xmlns:a="http://schemas.openxmlformats.org/drawingml/2006/main" w="9525">
            <a:solidFill>
              <a:srgbClr val="2A5876"/>
            </a:solidFill>
            <a:prstDash val="solid"/>
          </a:ln>
        </p:spPr>
      </p:sp>
      <p:sp>
        <p:nvSpPr>
          <p:cNvPr id="5" name="Rectangle 4">
            <a:extLst xmlns:a="http://schemas.openxmlformats.org/drawingml/2006/main">
              <a:ext uri="{FF2B5EF4-FFF2-40B4-BE49-F238E27FC236}">
                <a16:creationId xmlns:a16="http://schemas.microsoft.com/office/drawing/2014/main" id="{64DD731A-08AA-4976-AEB8-F78163D809FA}"/>
              </a:ext>
            </a:extLst>
          </p:cNvPr>
          <p:cNvSpPr>
            <a:spLocks xmlns:a="http://schemas.openxmlformats.org/drawingml/2006/main" noGrp="1"/>
          </p:cNvSpPr>
          <p:nvPr/>
        </p:nvSpPr>
        <p:spPr>
          <a:xfrm xmlns:a="http://schemas.openxmlformats.org/drawingml/2006/main">
            <a:off x="419100" y="990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AFC0D0"/>
                </a:solidFill>
                <a:latin typeface="Arial"/>
                <a:ea typeface="Arial"/>
                <a:cs typeface="Arial"/>
              </a:defRPr>
            </a:pPr>
            <a:r>
              <a:rPr sz="1200" b="0">
                <a:solidFill>
                  <a:srgbClr val="AFC0D0"/>
                </a:solidFill>
                <a:latin typeface="Arial"/>
                <a:ea typeface="Arial"/>
                <a:cs typeface="Arial"/>
              </a:rPr>
              <a:t>Every value below belongs to the running teaching example; the next presentation follows these decisions into the bitstream</a:t>
            </a:r>
          </a:p>
        </p:txBody>
      </p:sp>
      <p:sp>
        <p:nvSpPr>
          <p:cNvPr id="6" name="Rectangle 5">
            <a:extLst xmlns:a="http://schemas.openxmlformats.org/drawingml/2006/main">
              <a:ext uri="{FF2B5EF4-FFF2-40B4-BE49-F238E27FC236}">
                <a16:creationId xmlns:a16="http://schemas.microsoft.com/office/drawing/2014/main" id="{2D56D2B8-D721-47D7-9E58-BCBD8E39D44C}"/>
              </a:ext>
            </a:extLst>
          </p:cNvPr>
          <p:cNvSpPr>
            <a:spLocks xmlns:a="http://schemas.openxmlformats.org/drawingml/2006/main" noGrp="1"/>
          </p:cNvSpPr>
          <p:nvPr/>
        </p:nvSpPr>
        <p:spPr>
          <a:xfrm xmlns:a="http://schemas.openxmlformats.org/drawingml/2006/main">
            <a:off x="1238250" y="64865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3333"/>
          </a:bodyPr>
          <a:lstStyle xmlns:a="http://schemas.openxmlformats.org/drawingml/2006/main"/>
          <a:p xmlns:a="http://schemas.openxmlformats.org/drawingml/2006/main">
            <a:pPr>
              <a:buNone/>
              <a:defRPr sz="750" b="0">
                <a:solidFill>
                  <a:srgbClr val="AFC0D0"/>
                </a:solidFill>
                <a:latin typeface="Arial"/>
                <a:ea typeface="Arial"/>
                <a:cs typeface="Arial"/>
              </a:defRPr>
            </a:pPr>
            <a:r>
              <a:rPr sz="750" b="0">
                <a:solidFill>
                  <a:srgbClr val="AFC0D0"/>
                </a:solidFill>
                <a:latin typeface="Arial"/>
                <a:ea typeface="Arial"/>
                <a:cs typeface="Arial"/>
              </a:rPr>
              <a:t>Sources and evidence: speaker notes</a:t>
            </a:r>
          </a:p>
        </p:txBody>
      </p:sp>
      <p:sp>
        <p:nvSpPr>
          <p:cNvPr id="7" name="Rectangle 6">
            <a:extLst xmlns:a="http://schemas.openxmlformats.org/drawingml/2006/main">
              <a:ext uri="{FF2B5EF4-FFF2-40B4-BE49-F238E27FC236}">
                <a16:creationId xmlns:a16="http://schemas.microsoft.com/office/drawing/2014/main" id="{B67FBA75-CF24-4134-9B1F-8BDCB2EF9D29}"/>
              </a:ext>
            </a:extLst>
          </p:cNvPr>
          <p:cNvSpPr>
            <a:spLocks xmlns:a="http://schemas.openxmlformats.org/drawingml/2006/main" noGrp="1"/>
          </p:cNvSpPr>
          <p:nvPr/>
        </p:nvSpPr>
        <p:spPr>
          <a:xfrm xmlns:a="http://schemas.openxmlformats.org/drawingml/2006/main">
            <a:off x="11029950" y="64579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p xmlns:a="http://schemas.openxmlformats.org/drawingml/2006/main">
            <a:pPr>
              <a:buNone/>
              <a:defRPr sz="975" b="1">
                <a:solidFill>
                  <a:srgbClr val="22D3EE"/>
                </a:solidFill>
                <a:latin typeface="Arial"/>
                <a:ea typeface="Arial"/>
                <a:cs typeface="Arial"/>
              </a:defRPr>
            </a:pPr>
            <a:r>
              <a:rPr sz="975" b="1">
                <a:solidFill>
                  <a:srgbClr val="22D3EE"/>
                </a:solidFill>
                <a:latin typeface="Arial"/>
                <a:ea typeface="Arial"/>
                <a:cs typeface="Arial"/>
              </a:rPr>
              <a:t>49 / 49</a:t>
            </a:r>
          </a:p>
        </p:txBody>
      </p:sp>
      <p:graphicFrame>
        <p:nvGraphicFramePr>
          <p:cNvPr id="20" name="Table 17"/>
          <p:cNvGraphicFramePr/>
          <p:nvPr/>
        </p:nvGraphicFramePr>
        <p:xfrm>
          <a:off xmlns:a="http://schemas.openxmlformats.org/drawingml/2006/main" x="428625" y="1476375"/>
          <a:ext xmlns:a="http://schemas.openxmlformats.org/drawingml/2006/main" cx="11334750" cy="4000500"/>
        </p:xfrm>
        <a:graphic xmlns:a="http://schemas.openxmlformats.org/drawingml/2006/main">
          <a:graphicData uri="http://schemas.openxmlformats.org/drawingml/2006/table">
            <a:tbl>
              <a:tblPr/>
              <a:tblGrid>
                <a:gridCol w="1428750"/>
                <a:gridCol w="6191250"/>
                <a:gridCol w="3714750"/>
              </a:tblGrid>
              <a:tr h="571500">
                <a:tc>
                  <a:txBody>
                    <a:bodyPr/>
                    <a:lstStyle/>
                    <a:p>
                      <a:r>
                        <a:rPr sz="1125" b="1">
                          <a:solidFill>
                            <a:srgbClr val="22D3EE"/>
                          </a:solidFill>
                          <a:latin typeface="Arial"/>
                          <a:ea typeface="Arial"/>
                          <a:cs typeface="Arial"/>
                        </a:rPr>
                        <a:t>Stage</a:t>
                      </a:r>
                    </a:p>
                  </a:txBody>
                  <a:tcPr marL="57150" marR="57150" marT="28575" marB="28575" anchor="ctr">
                    <a:solidFill>
                      <a:srgbClr val="102A40"/>
                    </a:solidFill>
                  </a:tcPr>
                </a:tc>
                <a:tc>
                  <a:txBody>
                    <a:bodyPr/>
                    <a:lstStyle/>
                    <a:p>
                      <a:r>
                        <a:rPr sz="1125" b="1">
                          <a:solidFill>
                            <a:srgbClr val="22D3EE"/>
                          </a:solidFill>
                          <a:latin typeface="Arial"/>
                          <a:ea typeface="Arial"/>
                          <a:cs typeface="Arial"/>
                        </a:rPr>
                        <a:t>Block X result used in this deck</a:t>
                      </a:r>
                    </a:p>
                  </a:txBody>
                  <a:tcPr marL="57150" marR="57150" marT="28575" marB="28575" anchor="ctr">
                    <a:solidFill>
                      <a:srgbClr val="102A40"/>
                    </a:solidFill>
                  </a:tcPr>
                </a:tc>
                <a:tc>
                  <a:txBody>
                    <a:bodyPr/>
                    <a:lstStyle/>
                    <a:p>
                      <a:r>
                        <a:rPr sz="1125" b="1">
                          <a:solidFill>
                            <a:srgbClr val="22D3EE"/>
                          </a:solidFill>
                          <a:latin typeface="Arial"/>
                          <a:ea typeface="Arial"/>
                          <a:cs typeface="Arial"/>
                        </a:rPr>
                        <a:t>Evidence status</a:t>
                      </a:r>
                    </a:p>
                  </a:txBody>
                  <a:tcPr marL="57150" marR="57150" marT="28575" marB="28575" anchor="ctr">
                    <a:solidFill>
                      <a:srgbClr val="102A40"/>
                    </a:solidFill>
                  </a:tcPr>
                </a:tc>
              </a:tr>
              <a:tr h="571500">
                <a:tc>
                  <a:txBody>
                    <a:bodyPr/>
                    <a:lstStyle/>
                    <a:p>
                      <a:r>
                        <a:rPr sz="975">
                          <a:solidFill>
                            <a:srgbClr val="F4F8FC"/>
                          </a:solidFill>
                          <a:latin typeface="Arial"/>
                          <a:ea typeface="Arial"/>
                          <a:cs typeface="Arial"/>
                        </a:rPr>
                        <a:t>Partition</a:t>
                      </a:r>
                    </a:p>
                  </a:txBody>
                  <a:tcPr marL="57150" marR="57150" marT="28575" marB="28575" anchor="ctr">
                    <a:solidFill>
                      <a:srgbClr val="0B2033"/>
                    </a:solidFill>
                  </a:tcPr>
                </a:tc>
                <a:tc>
                  <a:txBody>
                    <a:bodyPr/>
                    <a:lstStyle/>
                    <a:p>
                      <a:r>
                        <a:rPr sz="975">
                          <a:solidFill>
                            <a:srgbClr val="F4F8FC"/>
                          </a:solidFill>
                          <a:latin typeface="Arial"/>
                          <a:ea typeface="Arial"/>
                          <a:cs typeface="Arial"/>
                        </a:rPr>
                        <a:t>Selected leaf CU with two vertical PUs and four TUs</a:t>
                      </a:r>
                    </a:p>
                  </a:txBody>
                  <a:tcPr marL="57150" marR="57150" marT="28575" marB="28575" anchor="ctr">
                    <a:solidFill>
                      <a:srgbClr val="0B2033"/>
                    </a:solidFill>
                  </a:tcPr>
                </a:tc>
                <a:tc>
                  <a:txBody>
                    <a:bodyPr/>
                    <a:lstStyle/>
                    <a:p>
                      <a:r>
                        <a:rPr sz="975">
                          <a:solidFill>
                            <a:srgbClr val="F4F8FC"/>
                          </a:solidFill>
                          <a:latin typeface="Arial"/>
                          <a:ea typeface="Arial"/>
                          <a:cs typeface="Arial"/>
                        </a:rPr>
                        <a:t>Illustrative structure; not an encoder trace</a:t>
                      </a:r>
                    </a:p>
                  </a:txBody>
                  <a:tcPr marL="57150" marR="57150" marT="28575" marB="28575" anchor="ctr">
                    <a:solidFill>
                      <a:srgbClr val="0B2033"/>
                    </a:solidFill>
                  </a:tcPr>
                </a:tc>
              </a:tr>
              <a:tr h="571500">
                <a:tc>
                  <a:txBody>
                    <a:bodyPr/>
                    <a:lstStyle/>
                    <a:p>
                      <a:r>
                        <a:rPr sz="975">
                          <a:solidFill>
                            <a:srgbClr val="F4F8FC"/>
                          </a:solidFill>
                          <a:latin typeface="Arial"/>
                          <a:ea typeface="Arial"/>
                          <a:cs typeface="Arial"/>
                        </a:rPr>
                        <a:t>Transform</a:t>
                      </a:r>
                    </a:p>
                  </a:txBody>
                  <a:tcPr marL="57150" marR="57150" marT="28575" marB="28575" anchor="ctr">
                    <a:solidFill>
                      <a:srgbClr val="0B2033"/>
                    </a:solidFill>
                  </a:tcPr>
                </a:tc>
                <a:tc>
                  <a:txBody>
                    <a:bodyPr/>
                    <a:lstStyle/>
                    <a:p>
                      <a:r>
                        <a:rPr sz="975">
                          <a:solidFill>
                            <a:srgbClr val="F4F8FC"/>
                          </a:solidFill>
                          <a:latin typeface="Arial"/>
                          <a:ea typeface="Arial"/>
                          <a:cs typeface="Arial"/>
                        </a:rPr>
                        <a:t>42, −12, 4, 1 / −9, 5, −2, 0 / 3, −1, 1, 0 / 1, 0, 0, 0</a:t>
                      </a:r>
                    </a:p>
                  </a:txBody>
                  <a:tcPr marL="57150" marR="57150" marT="28575" marB="28575" anchor="ctr">
                    <a:solidFill>
                      <a:srgbClr val="0B2033"/>
                    </a:solidFill>
                  </a:tcPr>
                </a:tc>
                <a:tc>
                  <a:txBody>
                    <a:bodyPr/>
                    <a:lstStyle/>
                    <a:p>
                      <a:r>
                        <a:rPr sz="975">
                          <a:solidFill>
                            <a:srgbClr val="F4F8FC"/>
                          </a:solidFill>
                          <a:latin typeface="Arial"/>
                          <a:ea typeface="Arial"/>
                          <a:cs typeface="Arial"/>
                        </a:rPr>
                        <a:t>Supplied coefficient example; remaining positions are zero</a:t>
                      </a:r>
                    </a:p>
                  </a:txBody>
                  <a:tcPr marL="57150" marR="57150" marT="28575" marB="28575" anchor="ctr">
                    <a:solidFill>
                      <a:srgbClr val="0B2033"/>
                    </a:solidFill>
                  </a:tcPr>
                </a:tc>
              </a:tr>
              <a:tr h="571500">
                <a:tc>
                  <a:txBody>
                    <a:bodyPr/>
                    <a:lstStyle/>
                    <a:p>
                      <a:r>
                        <a:rPr sz="975" b="1">
                          <a:solidFill>
                            <a:srgbClr val="FFB84D"/>
                          </a:solidFill>
                          <a:latin typeface="Arial"/>
                          <a:ea typeface="Arial"/>
                          <a:cs typeface="Arial"/>
                        </a:rPr>
                        <a:t>Quantization</a:t>
                      </a:r>
                    </a:p>
                  </a:txBody>
                  <a:tcPr marL="57150" marR="57150" marT="28575" marB="28575" anchor="ctr">
                    <a:solidFill>
                      <a:srgbClr val="2A1720"/>
                    </a:solidFill>
                  </a:tcPr>
                </a:tc>
                <a:tc>
                  <a:txBody>
                    <a:bodyPr/>
                    <a:lstStyle/>
                    <a:p>
                      <a:r>
                        <a:rPr sz="975" b="1">
                          <a:solidFill>
                            <a:srgbClr val="FFB84D"/>
                          </a:solidFill>
                          <a:latin typeface="Arial"/>
                          <a:ea typeface="Arial"/>
                          <a:cs typeface="Arial"/>
                        </a:rPr>
                        <a:t>Step 8 produces 5, −2, 1, −1, 1; 5 of 64 positions remain nonzero</a:t>
                      </a:r>
                    </a:p>
                  </a:txBody>
                  <a:tcPr marL="57150" marR="57150" marT="28575" marB="28575" anchor="ctr">
                    <a:solidFill>
                      <a:srgbClr val="2A1720"/>
                    </a:solidFill>
                  </a:tcPr>
                </a:tc>
                <a:tc>
                  <a:txBody>
                    <a:bodyPr/>
                    <a:lstStyle/>
                    <a:p>
                      <a:r>
                        <a:rPr sz="975" b="1">
                          <a:solidFill>
                            <a:srgbClr val="FFB84D"/>
                          </a:solidFill>
                          <a:latin typeface="Arial"/>
                          <a:ea typeface="Arial"/>
                          <a:cs typeface="Arial"/>
                        </a:rPr>
                        <a:t>Worked arithmetic from the supplied coefficients</a:t>
                      </a:r>
                    </a:p>
                  </a:txBody>
                  <a:tcPr marL="57150" marR="57150" marT="28575" marB="28575" anchor="ctr">
                    <a:solidFill>
                      <a:srgbClr val="2A1720"/>
                    </a:solidFill>
                  </a:tcPr>
                </a:tc>
              </a:tr>
              <a:tr h="571500">
                <a:tc>
                  <a:txBody>
                    <a:bodyPr/>
                    <a:lstStyle/>
                    <a:p>
                      <a:r>
                        <a:rPr sz="975">
                          <a:solidFill>
                            <a:srgbClr val="F4F8FC"/>
                          </a:solidFill>
                          <a:latin typeface="Arial"/>
                          <a:ea typeface="Arial"/>
                          <a:cs typeface="Arial"/>
                        </a:rPr>
                        <a:t>CABAC</a:t>
                      </a:r>
                    </a:p>
                  </a:txBody>
                  <a:tcPr marL="57150" marR="57150" marT="28575" marB="28575" anchor="ctr">
                    <a:solidFill>
                      <a:srgbClr val="0B2033"/>
                    </a:solidFill>
                  </a:tcPr>
                </a:tc>
                <a:tc>
                  <a:txBody>
                    <a:bodyPr/>
                    <a:lstStyle/>
                    <a:p>
                      <a:r>
                        <a:rPr sz="975">
                          <a:solidFill>
                            <a:srgbClr val="F4F8FC"/>
                          </a:solidFill>
                          <a:latin typeface="Arial"/>
                          <a:ea typeface="Arial"/>
                          <a:cs typeface="Arial"/>
                        </a:rPr>
                        <a:t>Locations, levels, and signs follow residual_coding syntax; CABAC codes each requested bin</a:t>
                      </a:r>
                    </a:p>
                  </a:txBody>
                  <a:tcPr marL="57150" marR="57150" marT="28575" marB="28575" anchor="ctr">
                    <a:solidFill>
                      <a:srgbClr val="0B2033"/>
                    </a:solidFill>
                  </a:tcPr>
                </a:tc>
                <a:tc>
                  <a:txBody>
                    <a:bodyPr/>
                    <a:lstStyle/>
                    <a:p>
                      <a:r>
                        <a:rPr sz="975">
                          <a:solidFill>
                            <a:srgbClr val="F4F8FC"/>
                          </a:solidFill>
                          <a:latin typeface="Arial"/>
                          <a:ea typeface="Arial"/>
                          <a:cs typeface="Arial"/>
                        </a:rPr>
                        <a:t>Normative syntax order shown; no invented standalone Block X bit string</a:t>
                      </a:r>
                    </a:p>
                  </a:txBody>
                  <a:tcPr marL="57150" marR="57150" marT="28575" marB="28575" anchor="ctr">
                    <a:solidFill>
                      <a:srgbClr val="0B2033"/>
                    </a:solidFill>
                  </a:tcPr>
                </a:tc>
              </a:tr>
              <a:tr h="571500">
                <a:tc>
                  <a:txBody>
                    <a:bodyPr/>
                    <a:lstStyle/>
                    <a:p>
                      <a:r>
                        <a:rPr sz="975">
                          <a:solidFill>
                            <a:srgbClr val="F4F8FC"/>
                          </a:solidFill>
                          <a:latin typeface="Arial"/>
                          <a:ea typeface="Arial"/>
                          <a:cs typeface="Arial"/>
                        </a:rPr>
                        <a:t>Reconstruction</a:t>
                      </a:r>
                    </a:p>
                  </a:txBody>
                  <a:tcPr marL="57150" marR="57150" marT="28575" marB="28575" anchor="ctr">
                    <a:solidFill>
                      <a:srgbClr val="0B2033"/>
                    </a:solidFill>
                  </a:tcPr>
                </a:tc>
                <a:tc>
                  <a:txBody>
                    <a:bodyPr/>
                    <a:lstStyle/>
                    <a:p>
                      <a:r>
                        <a:rPr sz="975">
                          <a:solidFill>
                            <a:srgbClr val="F4F8FC"/>
                          </a:solidFill>
                          <a:latin typeface="Arial"/>
                          <a:ea typeface="Arial"/>
                          <a:cs typeface="Arial"/>
                        </a:rPr>
                        <a:t>Dequantized nonzeros: 40, −16, 8, −8, 8; inverse transform and add prediction</a:t>
                      </a:r>
                    </a:p>
                  </a:txBody>
                  <a:tcPr marL="57150" marR="57150" marT="28575" marB="28575" anchor="ctr">
                    <a:solidFill>
                      <a:srgbClr val="0B2033"/>
                    </a:solidFill>
                  </a:tcPr>
                </a:tc>
                <a:tc>
                  <a:txBody>
                    <a:bodyPr/>
                    <a:lstStyle/>
                    <a:p>
                      <a:r>
                        <a:rPr sz="975">
                          <a:solidFill>
                            <a:srgbClr val="F4F8FC"/>
                          </a:solidFill>
                          <a:latin typeface="Arial"/>
                          <a:ea typeface="Arial"/>
                          <a:cs typeface="Arial"/>
                        </a:rPr>
                        <a:t>Worked continuation; filters operate on reconstructed pixels</a:t>
                      </a:r>
                    </a:p>
                  </a:txBody>
                  <a:tcPr marL="57150" marR="57150" marT="28575" marB="28575" anchor="ctr">
                    <a:solidFill>
                      <a:srgbClr val="0B2033"/>
                    </a:solidFill>
                  </a:tcPr>
                </a:tc>
              </a:tr>
              <a:tr h="571500">
                <a:tc>
                  <a:txBody>
                    <a:bodyPr/>
                    <a:lstStyle/>
                    <a:p>
                      <a:r>
                        <a:rPr sz="975" b="1">
                          <a:solidFill>
                            <a:srgbClr val="FFB84D"/>
                          </a:solidFill>
                          <a:latin typeface="Arial"/>
                          <a:ea typeface="Arial"/>
                          <a:cs typeface="Arial"/>
                        </a:rPr>
                        <a:t>Decision</a:t>
                      </a:r>
                    </a:p>
                  </a:txBody>
                  <a:tcPr marL="57150" marR="57150" marT="28575" marB="28575" anchor="ctr">
                    <a:solidFill>
                      <a:srgbClr val="2A1720"/>
                    </a:solidFill>
                  </a:tcPr>
                </a:tc>
                <a:tc>
                  <a:txBody>
                    <a:bodyPr/>
                    <a:lstStyle/>
                    <a:p>
                      <a:r>
                        <a:rPr sz="975" b="1">
                          <a:solidFill>
                            <a:srgbClr val="FFB84D"/>
                          </a:solidFill>
                          <a:latin typeface="Arial"/>
                          <a:ea typeface="Arial"/>
                          <a:cs typeface="Arial"/>
                        </a:rPr>
                        <a:t>Coefficient-domain teaching distortion D = 63; A/B/C RDO table uses separate illustrative values</a:t>
                      </a:r>
                    </a:p>
                  </a:txBody>
                  <a:tcPr marL="57150" marR="57150" marT="28575" marB="28575" anchor="ctr">
                    <a:solidFill>
                      <a:srgbClr val="2A1720"/>
                    </a:solidFill>
                  </a:tcPr>
                </a:tc>
                <a:tc>
                  <a:txBody>
                    <a:bodyPr/>
                    <a:lstStyle/>
                    <a:p>
                      <a:r>
                        <a:rPr sz="975" b="1">
                          <a:solidFill>
                            <a:srgbClr val="FFB84D"/>
                          </a:solidFill>
                          <a:latin typeface="Arial"/>
                          <a:ea typeface="Arial"/>
                          <a:cs typeface="Arial"/>
                        </a:rPr>
                        <a:t>No claim that Option B was Block X's measured encoder decision</a:t>
                      </a:r>
                    </a:p>
                  </a:txBody>
                  <a:tcPr marL="57150" marR="57150" marT="28575" marB="28575" anchor="ctr">
                    <a:solidFill>
                      <a:srgbClr val="2A1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E9C37645-44DB-415B-BC13-4BF9C57313F2}"/>
              </a:ext>
            </a:extLst>
          </p:cNvPr>
          <p:cNvSpPr>
            <a:spLocks xmlns:a="http://schemas.openxmlformats.org/drawingml/2006/main" noGrp="1"/>
          </p:cNvSpPr>
          <p:nvPr/>
        </p:nvSpPr>
        <p:spPr>
          <a:xfrm xmlns:a="http://schemas.openxmlformats.org/drawingml/2006/main">
            <a:off x="1143000" y="5762625"/>
            <a:ext cx="9906000" cy="571500"/>
          </a:xfrm>
          <a:prstGeom xmlns:a="http://schemas.openxmlformats.org/drawingml/2006/main" prst="roundRect">
            <a:avLst>
              <a:gd name="adj" fmla="val 20000"/>
            </a:avLst>
          </a:prstGeom>
          <a:solidFill xmlns:a="http://schemas.openxmlformats.org/drawingml/2006/main">
            <a:srgbClr val="092034"/>
          </a:solidFill>
          <a:ln xmlns:a="http://schemas.openxmlformats.org/drawingml/2006/main" w="19050">
            <a:solidFill>
              <a:srgbClr val="22D3EE"/>
            </a:solidFill>
            <a:prstDash val="solid"/>
          </a:ln>
        </p:spPr>
      </p:sp>
      <p:sp>
        <p:nvSpPr>
          <p:cNvPr id="10" name="Rectangle 9">
            <a:extLst xmlns:a="http://schemas.openxmlformats.org/drawingml/2006/main">
              <a:ext uri="{FF2B5EF4-FFF2-40B4-BE49-F238E27FC236}">
                <a16:creationId xmlns:a16="http://schemas.microsoft.com/office/drawing/2014/main" id="{298FFB50-5552-446A-87B5-CC79210CF8EB}"/>
              </a:ext>
            </a:extLst>
          </p:cNvPr>
          <p:cNvSpPr>
            <a:spLocks xmlns:a="http://schemas.openxmlformats.org/drawingml/2006/main" noGrp="1"/>
          </p:cNvSpPr>
          <p:nvPr/>
        </p:nvSpPr>
        <p:spPr>
          <a:xfrm xmlns:a="http://schemas.openxmlformats.org/drawingml/2006/main">
            <a:off x="1257300" y="5857875"/>
            <a:ext cx="967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p xmlns:a="http://schemas.openxmlformats.org/drawingml/2006/main">
            <a:pPr>
              <a:buNone/>
              <a:defRPr sz="1275" b="1">
                <a:solidFill>
                  <a:srgbClr val="F4F8FC"/>
                </a:solidFill>
                <a:latin typeface="Arial"/>
                <a:ea typeface="Arial"/>
                <a:cs typeface="Arial"/>
              </a:defRPr>
            </a:pPr>
            <a:r>
              <a:rPr sz="1275" b="1">
                <a:solidFill>
                  <a:srgbClr val="F4F8FC"/>
                </a:solidFill>
                <a:latin typeface="Arial"/>
                <a:ea typeface="Arial"/>
                <a:cs typeface="Arial"/>
              </a:rPr>
              <a:t>Next presentation: how syntax elements, quantized coefficients, and headers form the HEVC bitstream.</a:t>
            </a:r>
          </a:p>
        </p:txBody>
      </p:sp>
    </p:spTree>
    <p:extLst>
      <p:ext uri="{BB962C8B-B14F-4D97-AF65-F5344CB8AC3E}">
        <p14:creationId xmlns:p14="http://schemas.microsoft.com/office/powerpoint/2010/main" val="100801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2026-09-15T05:44:39.2930000Z</dcterms:created>
  <dcterms:modified xsi:type="dcterms:W3CDTF">2026-09-15T05:44:39.2940000Z</dcterms:modified>
</coreProperties>
</file>